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4" r:id="rId1"/>
  </p:sldMasterIdLst>
  <p:notesMasterIdLst>
    <p:notesMasterId r:id="rId28"/>
  </p:notesMasterIdLst>
  <p:sldIdLst>
    <p:sldId id="256" r:id="rId2"/>
    <p:sldId id="257" r:id="rId3"/>
    <p:sldId id="258" r:id="rId4"/>
    <p:sldId id="278" r:id="rId5"/>
    <p:sldId id="259" r:id="rId6"/>
    <p:sldId id="275" r:id="rId7"/>
    <p:sldId id="260" r:id="rId8"/>
    <p:sldId id="261" r:id="rId9"/>
    <p:sldId id="279" r:id="rId10"/>
    <p:sldId id="280" r:id="rId11"/>
    <p:sldId id="262" r:id="rId12"/>
    <p:sldId id="276" r:id="rId13"/>
    <p:sldId id="282" r:id="rId14"/>
    <p:sldId id="281" r:id="rId15"/>
    <p:sldId id="283" r:id="rId16"/>
    <p:sldId id="263" r:id="rId17"/>
    <p:sldId id="277" r:id="rId18"/>
    <p:sldId id="264" r:id="rId19"/>
    <p:sldId id="265" r:id="rId20"/>
    <p:sldId id="266" r:id="rId21"/>
    <p:sldId id="267" r:id="rId22"/>
    <p:sldId id="268" r:id="rId23"/>
    <p:sldId id="269" r:id="rId24"/>
    <p:sldId id="270" r:id="rId25"/>
    <p:sldId id="271" r:id="rId26"/>
    <p:sldId id="272" r:id="rId2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C3C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348" autoAdjust="0"/>
    <p:restoredTop sz="94716"/>
  </p:normalViewPr>
  <p:slideViewPr>
    <p:cSldViewPr snapToGrid="0">
      <p:cViewPr varScale="1">
        <p:scale>
          <a:sx n="103" d="100"/>
          <a:sy n="103" d="100"/>
        </p:scale>
        <p:origin x="952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701986F-2A69-6944-A5AA-E18175DD8AD7}" type="datetimeFigureOut">
              <a:rPr lang="en-US" smtClean="0"/>
              <a:t>7/14/26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31BD11-F73A-2D4D-A88A-33317B5A2E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63003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31BD11-F73A-2D4D-A88A-33317B5A2EEC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56838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55600" y="3991335"/>
            <a:ext cx="9144000" cy="1395551"/>
          </a:xfrm>
        </p:spPr>
        <p:txBody>
          <a:bodyPr anchor="b"/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55600" y="5386885"/>
            <a:ext cx="9144000" cy="556715"/>
          </a:xfrm>
        </p:spPr>
        <p:txBody>
          <a:bodyPr/>
          <a:lstStyle>
            <a:lvl1pPr marL="0" indent="0" algn="l">
              <a:buNone/>
              <a:defRPr sz="2400" b="0" i="0">
                <a:solidFill>
                  <a:srgbClr val="B50043"/>
                </a:solidFill>
                <a:latin typeface="Franklin Gothic Medium Cond" panose="020B0606030402020204" pitchFamily="34" charset="0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5" name="Google Shape;11;p9">
            <a:extLst>
              <a:ext uri="{FF2B5EF4-FFF2-40B4-BE49-F238E27FC236}">
                <a16:creationId xmlns:a16="http://schemas.microsoft.com/office/drawing/2014/main" id="{F562F608-3FAF-F944-B5A5-1195B295175B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53899" y="6267274"/>
            <a:ext cx="440951" cy="44095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36025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406843"/>
            <a:ext cx="9144000" cy="3070496"/>
          </a:xfrm>
        </p:spPr>
        <p:txBody>
          <a:bodyPr anchor="b"/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4489609"/>
            <a:ext cx="9144000" cy="623015"/>
          </a:xfrm>
        </p:spPr>
        <p:txBody>
          <a:bodyPr/>
          <a:lstStyle>
            <a:lvl1pPr marL="0" indent="0" algn="ctr">
              <a:buNone/>
              <a:defRPr sz="2400" b="0" i="0">
                <a:solidFill>
                  <a:srgbClr val="B50043"/>
                </a:solidFill>
                <a:latin typeface="Franklin Gothic Medium Cond" panose="020B0606030402020204" pitchFamily="34" charset="0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6" name="Google Shape;11;p9">
            <a:extLst>
              <a:ext uri="{FF2B5EF4-FFF2-40B4-BE49-F238E27FC236}">
                <a16:creationId xmlns:a16="http://schemas.microsoft.com/office/drawing/2014/main" id="{9843B12E-2970-164E-96C4-CA89A1450BBC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53899" y="6267274"/>
            <a:ext cx="440951" cy="44095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4324800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>
            <a:normAutofit/>
          </a:bodyPr>
          <a:lstStyle>
            <a:lvl1pPr>
              <a:defRPr sz="426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rgbClr val="B50043"/>
                </a:solidFill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6" name="Google Shape;11;p9">
            <a:extLst>
              <a:ext uri="{FF2B5EF4-FFF2-40B4-BE49-F238E27FC236}">
                <a16:creationId xmlns:a16="http://schemas.microsoft.com/office/drawing/2014/main" id="{42BD6F60-39BB-9B49-8AE1-7982FC4CA8D7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53899" y="6267274"/>
            <a:ext cx="440951" cy="44095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9082733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pic>
        <p:nvPicPr>
          <p:cNvPr id="5" name="Google Shape;19;p11">
            <a:extLst>
              <a:ext uri="{FF2B5EF4-FFF2-40B4-BE49-F238E27FC236}">
                <a16:creationId xmlns:a16="http://schemas.microsoft.com/office/drawing/2014/main" id="{56B763D1-B56A-134D-84FC-A52CB9F6A543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590525" y="6280526"/>
            <a:ext cx="440951" cy="44095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4597508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6287372-0917-854E-8E17-C067520FD8C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8200" y="1434167"/>
            <a:ext cx="5365749" cy="539751"/>
          </a:xfrm>
        </p:spPr>
        <p:txBody>
          <a:bodyPr anchor="t">
            <a:normAutofit/>
          </a:bodyPr>
          <a:lstStyle>
            <a:lvl1pPr marL="0" indent="0">
              <a:buNone/>
              <a:defRPr sz="2400" b="0" i="0">
                <a:solidFill>
                  <a:srgbClr val="B50043"/>
                </a:solidFill>
                <a:latin typeface="Franklin Gothic Medium Cond" panose="020B06060304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111297"/>
            <a:ext cx="10515600" cy="406566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pic>
        <p:nvPicPr>
          <p:cNvPr id="7" name="Google Shape;19;p11">
            <a:extLst>
              <a:ext uri="{FF2B5EF4-FFF2-40B4-BE49-F238E27FC236}">
                <a16:creationId xmlns:a16="http://schemas.microsoft.com/office/drawing/2014/main" id="{D1EBC6D6-B7A7-8349-BB7D-34239AFEBBC0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590525" y="6280526"/>
            <a:ext cx="440951" cy="44095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8570113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8851" y="976617"/>
            <a:ext cx="10515600" cy="1003801"/>
          </a:xfrm>
        </p:spPr>
        <p:txBody>
          <a:bodyPr anchor="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6287372-0917-854E-8E17-C067520FD8C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28851" y="378638"/>
            <a:ext cx="5365749" cy="539751"/>
          </a:xfrm>
        </p:spPr>
        <p:txBody>
          <a:bodyPr anchor="b">
            <a:normAutofit/>
          </a:bodyPr>
          <a:lstStyle>
            <a:lvl1pPr marL="0" indent="0" algn="l">
              <a:buNone/>
              <a:defRPr sz="2400" b="0" i="0">
                <a:solidFill>
                  <a:srgbClr val="B50043"/>
                </a:solidFill>
                <a:latin typeface="Franklin Gothic Medium Cond" panose="020B06060304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8851" y="2111297"/>
            <a:ext cx="10515600" cy="20558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AFE203F3-27C1-6942-B96E-19FD27429AF2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4294496"/>
            <a:ext cx="12192000" cy="2563504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4414956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8695" y="1081798"/>
            <a:ext cx="5365271" cy="1571093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8CF1844-CC72-4345-BCB4-9F4A8382CE1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8584" y="542605"/>
            <a:ext cx="5365749" cy="539751"/>
          </a:xfrm>
        </p:spPr>
        <p:txBody>
          <a:bodyPr anchor="b"/>
          <a:lstStyle>
            <a:lvl1pPr marL="0" indent="0">
              <a:buNone/>
              <a:defRPr b="0" i="0">
                <a:solidFill>
                  <a:srgbClr val="B50043"/>
                </a:solidFill>
                <a:latin typeface="Franklin Gothic Medium Cond" panose="020B06060304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695" y="2756452"/>
            <a:ext cx="11071829" cy="34205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pic>
        <p:nvPicPr>
          <p:cNvPr id="7" name="Google Shape;19;p11">
            <a:extLst>
              <a:ext uri="{FF2B5EF4-FFF2-40B4-BE49-F238E27FC236}">
                <a16:creationId xmlns:a16="http://schemas.microsoft.com/office/drawing/2014/main" id="{960ADD97-4AD0-0A42-9114-EBC9F2ED4788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590525" y="6280526"/>
            <a:ext cx="440951" cy="44095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295639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1589" y="1174027"/>
            <a:ext cx="3665612" cy="1571093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8CF1844-CC72-4345-BCB4-9F4A8382CE1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1477" y="634834"/>
            <a:ext cx="3665939" cy="539751"/>
          </a:xfrm>
        </p:spPr>
        <p:txBody>
          <a:bodyPr anchor="b"/>
          <a:lstStyle>
            <a:lvl1pPr marL="0" indent="0">
              <a:buNone/>
              <a:defRPr b="0" i="0">
                <a:solidFill>
                  <a:srgbClr val="B50043"/>
                </a:solidFill>
                <a:latin typeface="Franklin Gothic Medium Cond" panose="020B06060304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76801" y="634834"/>
            <a:ext cx="6713723" cy="279416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1A4D5AD4-5321-1C4A-B2C2-36ACAEAE06A9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4294496"/>
            <a:ext cx="12192000" cy="2563504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9171024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9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1587" y="3586056"/>
            <a:ext cx="3665612" cy="1571093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8CF1844-CC72-4345-BCB4-9F4A8382CE1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1476" y="3046863"/>
            <a:ext cx="3665939" cy="539751"/>
          </a:xfrm>
        </p:spPr>
        <p:txBody>
          <a:bodyPr anchor="b"/>
          <a:lstStyle>
            <a:lvl1pPr marL="0" indent="0">
              <a:buNone/>
              <a:defRPr b="0" i="0">
                <a:solidFill>
                  <a:srgbClr val="B50043"/>
                </a:solidFill>
                <a:latin typeface="Franklin Gothic Medium Cond" panose="020B06060304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76800" y="3046863"/>
            <a:ext cx="6713723" cy="279416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1A4D5AD4-5321-1C4A-B2C2-36ACAEAE06A9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12192000" cy="2563504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pic>
        <p:nvPicPr>
          <p:cNvPr id="7" name="Google Shape;15;p10">
            <a:extLst>
              <a:ext uri="{FF2B5EF4-FFF2-40B4-BE49-F238E27FC236}">
                <a16:creationId xmlns:a16="http://schemas.microsoft.com/office/drawing/2014/main" id="{8A3194B9-CC43-E546-A5E4-9AD4D155F1B3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53899" y="6267274"/>
            <a:ext cx="440951" cy="44095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1995308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1589" y="1620991"/>
            <a:ext cx="3665612" cy="1571093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8CF1844-CC72-4345-BCB4-9F4A8382CE1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1477" y="1081798"/>
            <a:ext cx="3665939" cy="539751"/>
          </a:xfrm>
        </p:spPr>
        <p:txBody>
          <a:bodyPr anchor="b"/>
          <a:lstStyle>
            <a:lvl1pPr marL="0" indent="0">
              <a:buNone/>
              <a:defRPr b="0" i="0">
                <a:solidFill>
                  <a:srgbClr val="B50043"/>
                </a:solidFill>
                <a:latin typeface="Franklin Gothic Medium Cond" panose="020B06060304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76801" y="1081799"/>
            <a:ext cx="6713723" cy="23472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E61788CB-6A52-114B-B92E-F400D31CB6CB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4876801" y="3667447"/>
            <a:ext cx="6713723" cy="23472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pic>
        <p:nvPicPr>
          <p:cNvPr id="7" name="Google Shape;30;p13">
            <a:extLst>
              <a:ext uri="{FF2B5EF4-FFF2-40B4-BE49-F238E27FC236}">
                <a16:creationId xmlns:a16="http://schemas.microsoft.com/office/drawing/2014/main" id="{A7E0C015-0061-4141-B120-DD81D01FA98A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590525" y="6280526"/>
            <a:ext cx="440951" cy="44095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1472372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60128" y="1464895"/>
            <a:ext cx="6713723" cy="832525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8CF1844-CC72-4345-BCB4-9F4A8382CE1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860128" y="850839"/>
            <a:ext cx="3665939" cy="539751"/>
          </a:xfrm>
        </p:spPr>
        <p:txBody>
          <a:bodyPr anchor="b"/>
          <a:lstStyle>
            <a:lvl1pPr marL="0" indent="0">
              <a:buNone/>
              <a:defRPr b="0" i="0">
                <a:solidFill>
                  <a:srgbClr val="B50043"/>
                </a:solidFill>
                <a:latin typeface="Franklin Gothic Medium Cond" panose="020B06060304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60128" y="2371725"/>
            <a:ext cx="6713723" cy="31797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096B87FA-C788-0C43-A60C-5EB49C9779CF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-1" y="0"/>
            <a:ext cx="3839572" cy="685800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pic>
        <p:nvPicPr>
          <p:cNvPr id="7" name="Google Shape;30;p13">
            <a:extLst>
              <a:ext uri="{FF2B5EF4-FFF2-40B4-BE49-F238E27FC236}">
                <a16:creationId xmlns:a16="http://schemas.microsoft.com/office/drawing/2014/main" id="{DE36E4F5-5D6D-DF48-B7A4-0AC093DE6057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590525" y="6280526"/>
            <a:ext cx="440951" cy="44095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88202959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5633" y="1110976"/>
            <a:ext cx="5876111" cy="1363819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8CF1844-CC72-4345-BCB4-9F4A8382CE1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65632" y="533317"/>
            <a:ext cx="3665939" cy="539751"/>
          </a:xfrm>
        </p:spPr>
        <p:txBody>
          <a:bodyPr anchor="b"/>
          <a:lstStyle>
            <a:lvl1pPr marL="0" indent="0">
              <a:buNone/>
              <a:defRPr b="0" i="0">
                <a:solidFill>
                  <a:srgbClr val="B50043"/>
                </a:solidFill>
                <a:latin typeface="Franklin Gothic Medium Cond" panose="020B06060304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5633" y="2512705"/>
            <a:ext cx="5876111" cy="330862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096B87FA-C788-0C43-A60C-5EB49C9779CF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7642744" y="1600200"/>
            <a:ext cx="3657600" cy="365760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pic>
        <p:nvPicPr>
          <p:cNvPr id="7" name="Google Shape;30;p13">
            <a:extLst>
              <a:ext uri="{FF2B5EF4-FFF2-40B4-BE49-F238E27FC236}">
                <a16:creationId xmlns:a16="http://schemas.microsoft.com/office/drawing/2014/main" id="{24FE092B-3872-D545-8104-23189B691C17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590525" y="6280526"/>
            <a:ext cx="440951" cy="44095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11843158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7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8337" y="1078391"/>
            <a:ext cx="3665612" cy="1571093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8CF1844-CC72-4345-BCB4-9F4A8382CE1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8224" y="2671110"/>
            <a:ext cx="3665939" cy="539751"/>
          </a:xfrm>
        </p:spPr>
        <p:txBody>
          <a:bodyPr anchor="ctr"/>
          <a:lstStyle>
            <a:lvl1pPr marL="0" indent="0">
              <a:buNone/>
              <a:defRPr b="0" i="0">
                <a:solidFill>
                  <a:srgbClr val="B50043"/>
                </a:solidFill>
                <a:latin typeface="Franklin Gothic Medium Cond" panose="020B06060304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79675" y="1078391"/>
            <a:ext cx="3352799" cy="50009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E61788CB-6A52-114B-B92E-F400D31CB6CB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8250866" y="1078393"/>
            <a:ext cx="3352799" cy="500094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pic>
        <p:nvPicPr>
          <p:cNvPr id="7" name="Google Shape;30;p13">
            <a:extLst>
              <a:ext uri="{FF2B5EF4-FFF2-40B4-BE49-F238E27FC236}">
                <a16:creationId xmlns:a16="http://schemas.microsoft.com/office/drawing/2014/main" id="{0CAD2A9F-C0BE-1D4C-9CB5-9F353CB7EC5E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590525" y="6280526"/>
            <a:ext cx="440951" cy="44095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92742397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1586" y="1081242"/>
            <a:ext cx="8789076" cy="1082453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8CF1844-CC72-4345-BCB4-9F4A8382CE1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1476" y="542049"/>
            <a:ext cx="3665939" cy="539751"/>
          </a:xfrm>
        </p:spPr>
        <p:txBody>
          <a:bodyPr anchor="b"/>
          <a:lstStyle>
            <a:lvl1pPr marL="0" indent="0">
              <a:buNone/>
              <a:defRPr b="0" i="0">
                <a:solidFill>
                  <a:srgbClr val="B50043"/>
                </a:solidFill>
                <a:latin typeface="Franklin Gothic Medium Cond" panose="020B06060304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1476" y="2493845"/>
            <a:ext cx="4275325" cy="37866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E61788CB-6A52-114B-B92E-F400D31CB6CB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5115337" y="2493845"/>
            <a:ext cx="4275325" cy="37866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pic>
        <p:nvPicPr>
          <p:cNvPr id="7" name="Google Shape;30;p13">
            <a:extLst>
              <a:ext uri="{FF2B5EF4-FFF2-40B4-BE49-F238E27FC236}">
                <a16:creationId xmlns:a16="http://schemas.microsoft.com/office/drawing/2014/main" id="{7EF772DB-EBED-AC4E-A6B4-D6788D3D6168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590525" y="6280526"/>
            <a:ext cx="440951" cy="44095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24051996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89067" y="1620992"/>
            <a:ext cx="3665612" cy="1571093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8CF1844-CC72-4345-BCB4-9F4A8382CE1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089067" y="3187150"/>
            <a:ext cx="3665939" cy="539751"/>
          </a:xfrm>
        </p:spPr>
        <p:txBody>
          <a:bodyPr anchor="ctr"/>
          <a:lstStyle>
            <a:lvl1pPr marL="0" indent="0">
              <a:buNone/>
              <a:defRPr b="0" i="0">
                <a:solidFill>
                  <a:srgbClr val="B50043"/>
                </a:solidFill>
                <a:latin typeface="Franklin Gothic Medium Cond" panose="020B06060304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1305" y="447391"/>
            <a:ext cx="6713723" cy="15710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E61788CB-6A52-114B-B92E-F400D31CB6CB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331305" y="2401603"/>
            <a:ext cx="6713723" cy="15710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EDD728A0-FBA7-A944-9FC3-D964968E5F8D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331305" y="4349939"/>
            <a:ext cx="6713723" cy="15710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pic>
        <p:nvPicPr>
          <p:cNvPr id="10" name="Google Shape;30;p13">
            <a:extLst>
              <a:ext uri="{FF2B5EF4-FFF2-40B4-BE49-F238E27FC236}">
                <a16:creationId xmlns:a16="http://schemas.microsoft.com/office/drawing/2014/main" id="{64431A57-6760-9247-9E2A-0A0473D22C62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590525" y="6280526"/>
            <a:ext cx="440951" cy="44095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89190214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1587" y="1081242"/>
            <a:ext cx="8621925" cy="1082453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8CF1844-CC72-4345-BCB4-9F4A8382CE1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1476" y="542049"/>
            <a:ext cx="3665939" cy="539751"/>
          </a:xfrm>
        </p:spPr>
        <p:txBody>
          <a:bodyPr anchor="b"/>
          <a:lstStyle>
            <a:lvl1pPr marL="0" indent="0">
              <a:buNone/>
              <a:defRPr b="0" i="0">
                <a:solidFill>
                  <a:srgbClr val="B50043"/>
                </a:solidFill>
                <a:latin typeface="Franklin Gothic Medium Cond" panose="020B06060304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1476" y="2487447"/>
            <a:ext cx="3434496" cy="37866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E61788CB-6A52-114B-B92E-F400D31CB6CB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4378752" y="2487447"/>
            <a:ext cx="3434496" cy="37866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D99CB098-C913-FF47-8D6F-4433AECCD961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8156028" y="2487447"/>
            <a:ext cx="3434496" cy="37866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pic>
        <p:nvPicPr>
          <p:cNvPr id="10" name="Google Shape;30;p13">
            <a:extLst>
              <a:ext uri="{FF2B5EF4-FFF2-40B4-BE49-F238E27FC236}">
                <a16:creationId xmlns:a16="http://schemas.microsoft.com/office/drawing/2014/main" id="{96661309-1A64-9B40-8E09-EB7C41D02DD7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590525" y="6280526"/>
            <a:ext cx="440951" cy="44095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71508036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8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85038" y="361423"/>
            <a:ext cx="8621925" cy="1082453"/>
          </a:xfrm>
        </p:spPr>
        <p:txBody>
          <a:bodyPr anchor="b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8CF1844-CC72-4345-BCB4-9F4A8382CE1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263031" y="1502871"/>
            <a:ext cx="3665939" cy="539751"/>
          </a:xfrm>
        </p:spPr>
        <p:txBody>
          <a:bodyPr anchor="ctr"/>
          <a:lstStyle>
            <a:lvl1pPr marL="0" indent="0" algn="ctr">
              <a:buNone/>
              <a:defRPr b="0" i="0">
                <a:solidFill>
                  <a:srgbClr val="B50043"/>
                </a:solidFill>
                <a:latin typeface="Franklin Gothic Medium Cond" panose="020B06060304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9020D28-F0F0-5F4F-89FE-71791FFC55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87271" y="2273718"/>
            <a:ext cx="3657600" cy="399614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459AB6CD-55F5-B04D-A3C8-3780797289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8231" y="2584391"/>
            <a:ext cx="3535680" cy="560916"/>
          </a:xfrm>
        </p:spPr>
        <p:txBody>
          <a:bodyPr/>
          <a:lstStyle>
            <a:lvl1pPr marL="0" indent="0" algn="ctr">
              <a:buNone/>
              <a:defRPr b="0" i="0">
                <a:solidFill>
                  <a:schemeClr val="bg2">
                    <a:lumMod val="25000"/>
                  </a:schemeClr>
                </a:solidFill>
                <a:latin typeface="Franklin Gothic Medium Cond" panose="020B06060304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8231" y="3424738"/>
            <a:ext cx="3535680" cy="2855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1209A5E-98CB-7E4F-BAE0-DB3DEB04DA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250356" y="2273718"/>
            <a:ext cx="3657600" cy="399614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ADFEEC4C-3952-3241-AFFA-9FF6C2A44C5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311316" y="2584391"/>
            <a:ext cx="3535680" cy="560916"/>
          </a:xfrm>
        </p:spPr>
        <p:txBody>
          <a:bodyPr/>
          <a:lstStyle>
            <a:lvl1pPr marL="0" indent="0" algn="ctr">
              <a:buNone/>
              <a:defRPr b="0" i="0">
                <a:solidFill>
                  <a:schemeClr val="bg2">
                    <a:lumMod val="25000"/>
                  </a:schemeClr>
                </a:solidFill>
                <a:latin typeface="Franklin Gothic Medium Cond" panose="020B06060304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E61788CB-6A52-114B-B92E-F400D31CB6CB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4311316" y="3471305"/>
            <a:ext cx="3535680" cy="27985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23A0E7A-9763-0E4C-8BD0-CB8351B2D7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133508" y="2273718"/>
            <a:ext cx="3657600" cy="399614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15" name="Text Placeholder 12">
            <a:extLst>
              <a:ext uri="{FF2B5EF4-FFF2-40B4-BE49-F238E27FC236}">
                <a16:creationId xmlns:a16="http://schemas.microsoft.com/office/drawing/2014/main" id="{97BD52A3-D0F5-C34B-B923-D91286004F7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194468" y="2584391"/>
            <a:ext cx="3535680" cy="560916"/>
          </a:xfrm>
        </p:spPr>
        <p:txBody>
          <a:bodyPr/>
          <a:lstStyle>
            <a:lvl1pPr marL="0" indent="0" algn="ctr">
              <a:buNone/>
              <a:defRPr b="0" i="0">
                <a:solidFill>
                  <a:schemeClr val="bg2">
                    <a:lumMod val="25000"/>
                  </a:schemeClr>
                </a:solidFill>
                <a:latin typeface="Franklin Gothic Medium Cond" panose="020B06060304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D99CB098-C913-FF47-8D6F-4433AECCD961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8194468" y="3471305"/>
            <a:ext cx="3535680" cy="27985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pic>
        <p:nvPicPr>
          <p:cNvPr id="17" name="Google Shape;30;p13">
            <a:extLst>
              <a:ext uri="{FF2B5EF4-FFF2-40B4-BE49-F238E27FC236}">
                <a16:creationId xmlns:a16="http://schemas.microsoft.com/office/drawing/2014/main" id="{4B5F8AAA-BFCE-4243-BCCA-044109B0E3F0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590525" y="6280526"/>
            <a:ext cx="440951" cy="44095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0631619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85038" y="361423"/>
            <a:ext cx="8621925" cy="1082453"/>
          </a:xfrm>
        </p:spPr>
        <p:txBody>
          <a:bodyPr anchor="b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8CF1844-CC72-4345-BCB4-9F4A8382CE1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263031" y="1502871"/>
            <a:ext cx="3665939" cy="539751"/>
          </a:xfrm>
        </p:spPr>
        <p:txBody>
          <a:bodyPr anchor="ctr"/>
          <a:lstStyle>
            <a:lvl1pPr marL="0" indent="0" algn="ctr">
              <a:buNone/>
              <a:defRPr b="0" i="0">
                <a:solidFill>
                  <a:srgbClr val="B50043"/>
                </a:solidFill>
                <a:latin typeface="Franklin Gothic Medium Cond" panose="020B06060304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9020D28-F0F0-5F4F-89FE-71791FFC55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87271" y="2273718"/>
            <a:ext cx="3657600" cy="399614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459AB6CD-55F5-B04D-A3C8-3780797289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8231" y="2584391"/>
            <a:ext cx="3535680" cy="560916"/>
          </a:xfrm>
        </p:spPr>
        <p:txBody>
          <a:bodyPr/>
          <a:lstStyle>
            <a:lvl1pPr marL="0" indent="0" algn="ctr">
              <a:buNone/>
              <a:defRPr b="0" i="0">
                <a:solidFill>
                  <a:schemeClr val="bg2">
                    <a:lumMod val="25000"/>
                  </a:schemeClr>
                </a:solidFill>
                <a:latin typeface="Franklin Gothic Medium Cond" panose="020B06060304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Picture Placeholder 11">
            <a:extLst>
              <a:ext uri="{FF2B5EF4-FFF2-40B4-BE49-F238E27FC236}">
                <a16:creationId xmlns:a16="http://schemas.microsoft.com/office/drawing/2014/main" id="{12F6D154-7CC0-C540-AA65-63CBA5A00062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864514" y="3587178"/>
            <a:ext cx="2703116" cy="224082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1209A5E-98CB-7E4F-BAE0-DB3DEB04DA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250356" y="2273718"/>
            <a:ext cx="3657600" cy="399614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ADFEEC4C-3952-3241-AFFA-9FF6C2A44C5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311316" y="2584391"/>
            <a:ext cx="3535680" cy="560916"/>
          </a:xfrm>
        </p:spPr>
        <p:txBody>
          <a:bodyPr/>
          <a:lstStyle>
            <a:lvl1pPr marL="0" indent="0" algn="ctr">
              <a:buNone/>
              <a:defRPr b="0" i="0">
                <a:solidFill>
                  <a:schemeClr val="bg2">
                    <a:lumMod val="25000"/>
                  </a:schemeClr>
                </a:solidFill>
                <a:latin typeface="Franklin Gothic Medium Cond" panose="020B06060304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Picture Placeholder 11">
            <a:extLst>
              <a:ext uri="{FF2B5EF4-FFF2-40B4-BE49-F238E27FC236}">
                <a16:creationId xmlns:a16="http://schemas.microsoft.com/office/drawing/2014/main" id="{2EB95A51-2BFE-CF45-AF89-35310B6F2550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727599" y="3587177"/>
            <a:ext cx="2703116" cy="224082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23A0E7A-9763-0E4C-8BD0-CB8351B2D7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133508" y="2273718"/>
            <a:ext cx="3657600" cy="399614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15" name="Text Placeholder 12">
            <a:extLst>
              <a:ext uri="{FF2B5EF4-FFF2-40B4-BE49-F238E27FC236}">
                <a16:creationId xmlns:a16="http://schemas.microsoft.com/office/drawing/2014/main" id="{97BD52A3-D0F5-C34B-B923-D91286004F7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194468" y="2584391"/>
            <a:ext cx="3535680" cy="560916"/>
          </a:xfrm>
        </p:spPr>
        <p:txBody>
          <a:bodyPr/>
          <a:lstStyle>
            <a:lvl1pPr marL="0" indent="0" algn="ctr">
              <a:buNone/>
              <a:defRPr b="0" i="0">
                <a:solidFill>
                  <a:schemeClr val="bg2">
                    <a:lumMod val="25000"/>
                  </a:schemeClr>
                </a:solidFill>
                <a:latin typeface="Franklin Gothic Medium Cond" panose="020B06060304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Picture Placeholder 11">
            <a:extLst>
              <a:ext uri="{FF2B5EF4-FFF2-40B4-BE49-F238E27FC236}">
                <a16:creationId xmlns:a16="http://schemas.microsoft.com/office/drawing/2014/main" id="{50A9B9C3-F6C3-E14E-B1BC-001989E7BF8B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8610751" y="3587175"/>
            <a:ext cx="2703116" cy="224082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pic>
        <p:nvPicPr>
          <p:cNvPr id="20" name="Google Shape;30;p13">
            <a:extLst>
              <a:ext uri="{FF2B5EF4-FFF2-40B4-BE49-F238E27FC236}">
                <a16:creationId xmlns:a16="http://schemas.microsoft.com/office/drawing/2014/main" id="{F6FCBC8F-7CCE-2C4C-AAF7-4952D113F07E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590525" y="6280526"/>
            <a:ext cx="440951" cy="44095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86280975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4568" y="281392"/>
            <a:ext cx="8621925" cy="1082453"/>
          </a:xfrm>
        </p:spPr>
        <p:txBody>
          <a:bodyPr anchor="b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8CF1844-CC72-4345-BCB4-9F4A8382CE1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263031" y="1417981"/>
            <a:ext cx="3665939" cy="539751"/>
          </a:xfrm>
        </p:spPr>
        <p:txBody>
          <a:bodyPr anchor="ctr"/>
          <a:lstStyle>
            <a:lvl1pPr marL="0" indent="0" algn="ctr">
              <a:buNone/>
              <a:defRPr b="0" i="0">
                <a:solidFill>
                  <a:srgbClr val="B50043"/>
                </a:solidFill>
                <a:latin typeface="Franklin Gothic Medium Cond" panose="020B06060304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9020D28-F0F0-5F4F-89FE-71791FFC55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84605" y="2277977"/>
            <a:ext cx="2703116" cy="399614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459AB6CD-55F5-B04D-A3C8-3780797289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9474" y="2588653"/>
            <a:ext cx="2318105" cy="560916"/>
          </a:xfrm>
        </p:spPr>
        <p:txBody>
          <a:bodyPr/>
          <a:lstStyle>
            <a:lvl1pPr marL="0" indent="0" algn="ctr">
              <a:buNone/>
              <a:defRPr b="0" i="0">
                <a:solidFill>
                  <a:schemeClr val="bg2">
                    <a:lumMod val="25000"/>
                  </a:schemeClr>
                </a:solidFill>
                <a:latin typeface="Franklin Gothic Medium Cond" panose="020B06060304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29EF3CB1-11C9-364F-BB5B-A911A25998F3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58862" y="3591434"/>
            <a:ext cx="1939329" cy="1768557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1209A5E-98CB-7E4F-BAE0-DB3DEB04DA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292365" y="2277975"/>
            <a:ext cx="2703116" cy="399614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0" name="Text Placeholder 12">
            <a:extLst>
              <a:ext uri="{FF2B5EF4-FFF2-40B4-BE49-F238E27FC236}">
                <a16:creationId xmlns:a16="http://schemas.microsoft.com/office/drawing/2014/main" id="{4B1F5A97-5AAD-B944-ACE3-759382926FC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461978" y="2591402"/>
            <a:ext cx="2318105" cy="560916"/>
          </a:xfrm>
        </p:spPr>
        <p:txBody>
          <a:bodyPr/>
          <a:lstStyle>
            <a:lvl1pPr marL="0" indent="0" algn="ctr">
              <a:buNone/>
              <a:defRPr b="0" i="0">
                <a:solidFill>
                  <a:schemeClr val="bg2">
                    <a:lumMod val="25000"/>
                  </a:schemeClr>
                </a:solidFill>
                <a:latin typeface="Franklin Gothic Medium Cond" panose="020B06060304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Picture Placeholder 11">
            <a:extLst>
              <a:ext uri="{FF2B5EF4-FFF2-40B4-BE49-F238E27FC236}">
                <a16:creationId xmlns:a16="http://schemas.microsoft.com/office/drawing/2014/main" id="{D467BC90-669B-E145-A934-88F0093AEA08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3651366" y="3594183"/>
            <a:ext cx="1939329" cy="1768557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23A0E7A-9763-0E4C-8BD0-CB8351B2D7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00125" y="2277975"/>
            <a:ext cx="2703116" cy="399614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2" name="Text Placeholder 12">
            <a:extLst>
              <a:ext uri="{FF2B5EF4-FFF2-40B4-BE49-F238E27FC236}">
                <a16:creationId xmlns:a16="http://schemas.microsoft.com/office/drawing/2014/main" id="{20F56272-45A8-464E-A2EF-92E963522CC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384993" y="2591402"/>
            <a:ext cx="2318105" cy="560916"/>
          </a:xfrm>
        </p:spPr>
        <p:txBody>
          <a:bodyPr/>
          <a:lstStyle>
            <a:lvl1pPr marL="0" indent="0" algn="ctr">
              <a:buNone/>
              <a:defRPr b="0" i="0">
                <a:solidFill>
                  <a:schemeClr val="bg2">
                    <a:lumMod val="25000"/>
                  </a:schemeClr>
                </a:solidFill>
                <a:latin typeface="Franklin Gothic Medium Cond" panose="020B06060304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11">
            <a:extLst>
              <a:ext uri="{FF2B5EF4-FFF2-40B4-BE49-F238E27FC236}">
                <a16:creationId xmlns:a16="http://schemas.microsoft.com/office/drawing/2014/main" id="{91AC9B6C-283F-8246-AA1C-A18DA4F7E342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6574381" y="3594183"/>
            <a:ext cx="1939329" cy="1768557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66ABE50-ACB3-F540-B07F-B7E5E31B47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107883" y="2277978"/>
            <a:ext cx="2703116" cy="399614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4" name="Text Placeholder 12">
            <a:extLst>
              <a:ext uri="{FF2B5EF4-FFF2-40B4-BE49-F238E27FC236}">
                <a16:creationId xmlns:a16="http://schemas.microsoft.com/office/drawing/2014/main" id="{AEEAAA06-A9FA-5C44-BDE5-45762EF595D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9292753" y="2588653"/>
            <a:ext cx="2318105" cy="560916"/>
          </a:xfrm>
        </p:spPr>
        <p:txBody>
          <a:bodyPr/>
          <a:lstStyle>
            <a:lvl1pPr marL="0" indent="0" algn="ctr">
              <a:buNone/>
              <a:defRPr b="0" i="0">
                <a:solidFill>
                  <a:schemeClr val="bg2">
                    <a:lumMod val="25000"/>
                  </a:schemeClr>
                </a:solidFill>
                <a:latin typeface="Franklin Gothic Medium Cond" panose="020B06060304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Picture Placeholder 11">
            <a:extLst>
              <a:ext uri="{FF2B5EF4-FFF2-40B4-BE49-F238E27FC236}">
                <a16:creationId xmlns:a16="http://schemas.microsoft.com/office/drawing/2014/main" id="{AB995A1D-84D4-B04C-B7C1-C51D005CC92A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482141" y="3591434"/>
            <a:ext cx="1939329" cy="1768557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pic>
        <p:nvPicPr>
          <p:cNvPr id="19" name="Google Shape;30;p13">
            <a:extLst>
              <a:ext uri="{FF2B5EF4-FFF2-40B4-BE49-F238E27FC236}">
                <a16:creationId xmlns:a16="http://schemas.microsoft.com/office/drawing/2014/main" id="{846B281D-577A-2847-8901-3BC5DDAA2F4F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590525" y="6280526"/>
            <a:ext cx="440951" cy="44095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14324425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0" i="0">
                <a:solidFill>
                  <a:srgbClr val="B50043"/>
                </a:solidFill>
                <a:latin typeface="Franklin Gothic Medium Cond" panose="020B0606030402020204" pitchFamily="34" charset="0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>
            <a:lvl1pPr>
              <a:defRPr sz="1867"/>
            </a:lvl1pPr>
            <a:lvl2pPr>
              <a:defRPr sz="16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0" i="0">
                <a:solidFill>
                  <a:srgbClr val="B50043"/>
                </a:solidFill>
                <a:latin typeface="Franklin Gothic Medium Cond" panose="020B0606030402020204" pitchFamily="34" charset="0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>
            <a:lvl1pPr>
              <a:defRPr sz="1867"/>
            </a:lvl1pPr>
            <a:lvl2pPr>
              <a:defRPr sz="1600"/>
            </a:lvl2pPr>
            <a:lvl3pPr>
              <a:defRPr sz="1467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pic>
        <p:nvPicPr>
          <p:cNvPr id="9" name="Google Shape;30;p13">
            <a:extLst>
              <a:ext uri="{FF2B5EF4-FFF2-40B4-BE49-F238E27FC236}">
                <a16:creationId xmlns:a16="http://schemas.microsoft.com/office/drawing/2014/main" id="{52095448-BA23-8B4C-9877-FF23F4EB99C3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590525" y="6280526"/>
            <a:ext cx="440951" cy="44095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29346620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5" name="Google Shape;30;p13">
            <a:extLst>
              <a:ext uri="{FF2B5EF4-FFF2-40B4-BE49-F238E27FC236}">
                <a16:creationId xmlns:a16="http://schemas.microsoft.com/office/drawing/2014/main" id="{E74E0DDA-6146-E846-9C90-721AC3DB063A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590525" y="6280526"/>
            <a:ext cx="440951" cy="44095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90752609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oogle Shape;30;p13">
            <a:extLst>
              <a:ext uri="{FF2B5EF4-FFF2-40B4-BE49-F238E27FC236}">
                <a16:creationId xmlns:a16="http://schemas.microsoft.com/office/drawing/2014/main" id="{EF4D445F-0EE7-E74E-B0B3-D782FE7112F1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590525" y="6280526"/>
            <a:ext cx="440951" cy="44095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94586688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1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6"/>
            <a:ext cx="6172200" cy="4873625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133"/>
            </a:lvl2pPr>
            <a:lvl3pPr>
              <a:defRPr sz="1867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pic>
        <p:nvPicPr>
          <p:cNvPr id="7" name="Google Shape;30;p13">
            <a:extLst>
              <a:ext uri="{FF2B5EF4-FFF2-40B4-BE49-F238E27FC236}">
                <a16:creationId xmlns:a16="http://schemas.microsoft.com/office/drawing/2014/main" id="{7DCDAFC0-B225-9546-961B-DC5B9BDD7484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590525" y="6280526"/>
            <a:ext cx="440951" cy="44095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4030348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6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1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7" name="Google Shape;30;p13">
            <a:extLst>
              <a:ext uri="{FF2B5EF4-FFF2-40B4-BE49-F238E27FC236}">
                <a16:creationId xmlns:a16="http://schemas.microsoft.com/office/drawing/2014/main" id="{EE4A9134-7030-7749-89EA-6705EE975611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590525" y="6280526"/>
            <a:ext cx="440951" cy="44095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8863192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00380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572127"/>
            <a:ext cx="10515600" cy="46048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B9C6A4C-6C9C-1247-9E17-AAB2A147EAAC}"/>
              </a:ext>
            </a:extLst>
          </p:cNvPr>
          <p:cNvSpPr txBox="1"/>
          <p:nvPr/>
        </p:nvSpPr>
        <p:spPr>
          <a:xfrm>
            <a:off x="2052578" y="725348"/>
            <a:ext cx="1847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4983747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5" r:id="rId1"/>
    <p:sldLayoutId id="2147483716" r:id="rId2"/>
    <p:sldLayoutId id="2147483717" r:id="rId3"/>
    <p:sldLayoutId id="2147483718" r:id="rId4"/>
    <p:sldLayoutId id="2147483719" r:id="rId5"/>
    <p:sldLayoutId id="2147483720" r:id="rId6"/>
    <p:sldLayoutId id="2147483721" r:id="rId7"/>
    <p:sldLayoutId id="2147483722" r:id="rId8"/>
    <p:sldLayoutId id="2147483723" r:id="rId9"/>
    <p:sldLayoutId id="2147483724" r:id="rId10"/>
    <p:sldLayoutId id="2147483725" r:id="rId11"/>
    <p:sldLayoutId id="2147483726" r:id="rId12"/>
    <p:sldLayoutId id="2147483727" r:id="rId13"/>
    <p:sldLayoutId id="2147483728" r:id="rId14"/>
    <p:sldLayoutId id="2147483729" r:id="rId15"/>
    <p:sldLayoutId id="2147483730" r:id="rId16"/>
    <p:sldLayoutId id="2147483731" r:id="rId17"/>
    <p:sldLayoutId id="2147483732" r:id="rId18"/>
    <p:sldLayoutId id="2147483733" r:id="rId19"/>
    <p:sldLayoutId id="2147483734" r:id="rId20"/>
    <p:sldLayoutId id="2147483735" r:id="rId21"/>
    <p:sldLayoutId id="2147483736" r:id="rId22"/>
    <p:sldLayoutId id="2147483737" r:id="rId23"/>
    <p:sldLayoutId id="2147483738" r:id="rId24"/>
  </p:sldLayoutIdLst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4267" b="0" i="0" kern="1200">
          <a:solidFill>
            <a:schemeClr val="tx1"/>
          </a:solidFill>
          <a:latin typeface="Franklin Gothic Medium Cond" panose="020B0606030402020204" pitchFamily="34" charset="0"/>
          <a:ea typeface="+mj-ea"/>
          <a:cs typeface="+mj-cs"/>
        </a:defRPr>
      </a:lvl1pPr>
    </p:titleStyle>
    <p:bodyStyle>
      <a:lvl1pPr marL="228594" indent="-228594" algn="l" defTabSz="914377" rtl="0" eaLnBrk="1" latinLnBrk="0" hangingPunct="1">
        <a:lnSpc>
          <a:spcPct val="100000"/>
        </a:lnSpc>
        <a:spcBef>
          <a:spcPts val="1000"/>
        </a:spcBef>
        <a:buClr>
          <a:schemeClr val="bg2">
            <a:lumMod val="25000"/>
          </a:schemeClr>
        </a:buClr>
        <a:buSzPct val="85000"/>
        <a:buFont typeface="Arial" panose="020B0604020202020204" pitchFamily="34" charset="0"/>
        <a:buChar char="•"/>
        <a:defRPr sz="2667" b="0" i="0" kern="1200">
          <a:solidFill>
            <a:schemeClr val="bg2">
              <a:lumMod val="25000"/>
            </a:schemeClr>
          </a:solidFill>
          <a:latin typeface="Calibri Light" panose="020F0302020204030204" pitchFamily="34" charset="0"/>
          <a:ea typeface="+mn-ea"/>
          <a:cs typeface="Calibri Light" panose="020F0302020204030204" pitchFamily="34" charset="0"/>
        </a:defRPr>
      </a:lvl1pPr>
      <a:lvl2pPr marL="685783" indent="-228594" algn="l" defTabSz="914377" rtl="0" eaLnBrk="1" latinLnBrk="0" hangingPunct="1">
        <a:lnSpc>
          <a:spcPct val="100000"/>
        </a:lnSpc>
        <a:spcBef>
          <a:spcPts val="500"/>
        </a:spcBef>
        <a:buClr>
          <a:schemeClr val="bg2">
            <a:lumMod val="25000"/>
          </a:schemeClr>
        </a:buClr>
        <a:buSzPct val="85000"/>
        <a:buFont typeface="Courier New" panose="02070309020205020404" pitchFamily="49" charset="0"/>
        <a:buChar char="o"/>
        <a:defRPr sz="2400" b="0" i="0" kern="1200">
          <a:solidFill>
            <a:schemeClr val="bg2">
              <a:lumMod val="25000"/>
            </a:schemeClr>
          </a:solidFill>
          <a:latin typeface="Calibri Light" panose="020F0302020204030204" pitchFamily="34" charset="0"/>
          <a:ea typeface="+mn-ea"/>
          <a:cs typeface="Calibri Light" panose="020F0302020204030204" pitchFamily="34" charset="0"/>
        </a:defRPr>
      </a:lvl2pPr>
      <a:lvl3pPr marL="1142971" indent="-228594" algn="l" defTabSz="914377" rtl="0" eaLnBrk="1" latinLnBrk="0" hangingPunct="1">
        <a:lnSpc>
          <a:spcPct val="100000"/>
        </a:lnSpc>
        <a:spcBef>
          <a:spcPts val="500"/>
        </a:spcBef>
        <a:buClr>
          <a:schemeClr val="bg2">
            <a:lumMod val="25000"/>
          </a:schemeClr>
        </a:buClr>
        <a:buSzPct val="85000"/>
        <a:buFont typeface="Wingdings" pitchFamily="2" charset="2"/>
        <a:buChar char="§"/>
        <a:defRPr sz="2133" b="0" i="0" kern="1200">
          <a:solidFill>
            <a:schemeClr val="bg2">
              <a:lumMod val="25000"/>
            </a:schemeClr>
          </a:solidFill>
          <a:latin typeface="Calibri Light" panose="020F0302020204030204" pitchFamily="34" charset="0"/>
          <a:ea typeface="+mn-ea"/>
          <a:cs typeface="Calibri Light" panose="020F0302020204030204" pitchFamily="34" charset="0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67" b="0" i="0" kern="1200">
          <a:solidFill>
            <a:schemeClr val="tx1"/>
          </a:solidFill>
          <a:latin typeface="Helvetica Light" panose="020B0403020202020204" pitchFamily="34" charset="0"/>
          <a:ea typeface="+mn-ea"/>
          <a:cs typeface="+mn-cs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67" b="0" i="0" kern="1200">
          <a:solidFill>
            <a:schemeClr val="tx1"/>
          </a:solidFill>
          <a:latin typeface="Helvetica Light" panose="020B0403020202020204" pitchFamily="34" charset="0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gif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61872" y="758952"/>
            <a:ext cx="9418320" cy="3425422"/>
          </a:xfrm>
        </p:spPr>
        <p:txBody>
          <a:bodyPr/>
          <a:lstStyle/>
          <a:p>
            <a:r>
              <a:rPr lang="en-US"/>
              <a:t>Introduction</a:t>
            </a:r>
            <a:br>
              <a:rPr lang="en-US"/>
            </a:br>
            <a:r>
              <a:rPr lang="en-US"/>
              <a:t>to</a:t>
            </a:r>
            <a:br>
              <a:rPr lang="en-US"/>
            </a:br>
            <a:r>
              <a:rPr lang="en-US"/>
              <a:t>Big Data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61872" y="4874821"/>
            <a:ext cx="9144000" cy="556715"/>
          </a:xfrm>
        </p:spPr>
        <p:txBody>
          <a:bodyPr>
            <a:normAutofit fontScale="70000" lnSpcReduction="20000"/>
          </a:bodyPr>
          <a:lstStyle/>
          <a:p>
            <a:r>
              <a:rPr lang="en-US" dirty="0"/>
              <a:t>Mahmoud </a:t>
            </a:r>
            <a:r>
              <a:rPr lang="en-US" dirty="0" err="1"/>
              <a:t>Parsian</a:t>
            </a:r>
            <a:endParaRPr lang="en-US" dirty="0"/>
          </a:p>
          <a:p>
            <a:r>
              <a:rPr lang="en-US" sz="1400" dirty="0"/>
              <a:t>Ph.D. in Computer Science</a:t>
            </a:r>
          </a:p>
        </p:txBody>
      </p:sp>
    </p:spTree>
    <p:extLst>
      <p:ext uri="{BB962C8B-B14F-4D97-AF65-F5344CB8AC3E}">
        <p14:creationId xmlns:p14="http://schemas.microsoft.com/office/powerpoint/2010/main" val="31358625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Big Data?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8800" dirty="0">
                <a:solidFill>
                  <a:srgbClr val="002060"/>
                </a:solidFill>
              </a:rPr>
              <a:t>Large</a:t>
            </a:r>
            <a:br>
              <a:rPr lang="en-US" sz="2800" dirty="0">
                <a:solidFill>
                  <a:srgbClr val="002060"/>
                </a:solidFill>
              </a:rPr>
            </a:br>
            <a:r>
              <a:rPr lang="en-US" sz="2800" dirty="0">
                <a:solidFill>
                  <a:srgbClr val="002060"/>
                </a:solidFill>
              </a:rPr>
              <a:t>datasets, complex and changeable</a:t>
            </a:r>
          </a:p>
          <a:p>
            <a:pPr marL="0" indent="0" algn="ctr">
              <a:buNone/>
            </a:pPr>
            <a:endParaRPr lang="en-US" sz="2800" dirty="0"/>
          </a:p>
          <a:p>
            <a:pPr marL="0" indent="0" algn="ctr">
              <a:buNone/>
            </a:pPr>
            <a:r>
              <a:rPr lang="en-US" sz="2800" dirty="0"/>
              <a:t>Cannot be stored, managed, and processed adequately by traditional software management and software tools.</a:t>
            </a:r>
          </a:p>
        </p:txBody>
      </p:sp>
    </p:spTree>
    <p:extLst>
      <p:ext uri="{BB962C8B-B14F-4D97-AF65-F5344CB8AC3E}">
        <p14:creationId xmlns:p14="http://schemas.microsoft.com/office/powerpoint/2010/main" val="31852700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Solutions? Cluster Computing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72128"/>
            <a:ext cx="10515600" cy="457025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dirty="0">
                <a:solidFill>
                  <a:schemeClr val="tx1"/>
                </a:solidFill>
              </a:rPr>
              <a:t>Relying on the Technology that </a:t>
            </a:r>
            <a:r>
              <a:rPr lang="en-US" sz="3200" b="1" u="sng" dirty="0">
                <a:solidFill>
                  <a:schemeClr val="tx1"/>
                </a:solidFill>
              </a:rPr>
              <a:t>handle</a:t>
            </a:r>
            <a:r>
              <a:rPr lang="en-US" sz="3200" dirty="0">
                <a:solidFill>
                  <a:schemeClr val="tx1"/>
                </a:solidFill>
              </a:rPr>
              <a:t> , </a:t>
            </a:r>
            <a:r>
              <a:rPr lang="en-US" sz="3200" b="1" u="sng" dirty="0">
                <a:solidFill>
                  <a:schemeClr val="tx1"/>
                </a:solidFill>
              </a:rPr>
              <a:t>process</a:t>
            </a:r>
            <a:r>
              <a:rPr lang="en-US" sz="3200" dirty="0">
                <a:solidFill>
                  <a:schemeClr val="tx1"/>
                </a:solidFill>
              </a:rPr>
              <a:t> and </a:t>
            </a:r>
            <a:r>
              <a:rPr lang="en-US" sz="3200" b="1" u="sng" dirty="0">
                <a:solidFill>
                  <a:schemeClr val="tx1"/>
                </a:solidFill>
              </a:rPr>
              <a:t>analyze</a:t>
            </a:r>
            <a:r>
              <a:rPr lang="en-US" sz="3200" dirty="0">
                <a:solidFill>
                  <a:schemeClr val="tx1"/>
                </a:solidFill>
              </a:rPr>
              <a:t> </a:t>
            </a:r>
            <a:r>
              <a:rPr lang="en-US" sz="3200" b="1" u="sng" dirty="0">
                <a:solidFill>
                  <a:schemeClr val="tx1"/>
                </a:solidFill>
              </a:rPr>
              <a:t>large quantities of data</a:t>
            </a:r>
            <a:r>
              <a:rPr lang="en-US" sz="3200" dirty="0">
                <a:solidFill>
                  <a:schemeClr val="tx1"/>
                </a:solidFill>
              </a:rPr>
              <a:t>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3200" dirty="0"/>
              <a:t>MapReduce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3200" dirty="0"/>
              <a:t>Hadoop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3200" dirty="0"/>
              <a:t>Spark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3200" dirty="0"/>
              <a:t>Snowflake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3200" dirty="0"/>
              <a:t>Amazon Athena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3200" dirty="0"/>
              <a:t>Google BigQuery</a:t>
            </a:r>
          </a:p>
          <a:p>
            <a:pPr marL="0" indent="0">
              <a:buNone/>
            </a:pP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3464985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8239"/>
          </a:xfrm>
        </p:spPr>
        <p:txBody>
          <a:bodyPr/>
          <a:lstStyle/>
          <a:p>
            <a:r>
              <a:rPr lang="en-US" b="1" dirty="0"/>
              <a:t>Solutions? Types of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083365"/>
            <a:ext cx="10515600" cy="5059019"/>
          </a:xfrm>
        </p:spPr>
        <p:txBody>
          <a:bodyPr>
            <a:normAutofit lnSpcReduction="10000"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 </a:t>
            </a:r>
            <a:r>
              <a:rPr lang="en-US" sz="2800" dirty="0">
                <a:solidFill>
                  <a:schemeClr val="tx1"/>
                </a:solidFill>
              </a:rPr>
              <a:t>Technology that </a:t>
            </a:r>
            <a:r>
              <a:rPr lang="en-US" sz="2800" b="1" dirty="0">
                <a:solidFill>
                  <a:schemeClr val="tx1"/>
                </a:solidFill>
              </a:rPr>
              <a:t>handle</a:t>
            </a:r>
            <a:r>
              <a:rPr lang="en-US" sz="2800" dirty="0">
                <a:solidFill>
                  <a:schemeClr val="tx1"/>
                </a:solidFill>
              </a:rPr>
              <a:t> , </a:t>
            </a:r>
            <a:r>
              <a:rPr lang="en-US" sz="2800" b="1" dirty="0">
                <a:solidFill>
                  <a:schemeClr val="tx1"/>
                </a:solidFill>
              </a:rPr>
              <a:t>process</a:t>
            </a:r>
            <a:r>
              <a:rPr lang="en-US" sz="2800" dirty="0">
                <a:solidFill>
                  <a:schemeClr val="tx1"/>
                </a:solidFill>
              </a:rPr>
              <a:t> and </a:t>
            </a:r>
            <a:r>
              <a:rPr lang="en-US" sz="2800" b="1" dirty="0">
                <a:solidFill>
                  <a:schemeClr val="tx1"/>
                </a:solidFill>
              </a:rPr>
              <a:t>analyze</a:t>
            </a:r>
            <a:r>
              <a:rPr lang="en-US" sz="2800" dirty="0">
                <a:solidFill>
                  <a:schemeClr val="tx1"/>
                </a:solidFill>
              </a:rPr>
              <a:t> large quantities of data:</a:t>
            </a:r>
          </a:p>
          <a:p>
            <a:r>
              <a:rPr lang="en-US" sz="2800" b="1" dirty="0">
                <a:solidFill>
                  <a:srgbClr val="002060"/>
                </a:solidFill>
              </a:rPr>
              <a:t>Types of Data: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600" b="1" dirty="0">
                <a:solidFill>
                  <a:srgbClr val="C00000"/>
                </a:solidFill>
              </a:rPr>
              <a:t>Structured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US" sz="2333" dirty="0">
                <a:solidFill>
                  <a:srgbClr val="0070C0"/>
                </a:solidFill>
              </a:rPr>
              <a:t>XML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US" sz="2333" dirty="0">
                <a:solidFill>
                  <a:srgbClr val="0070C0"/>
                </a:solidFill>
              </a:rPr>
              <a:t>CSV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US" sz="2333" dirty="0">
                <a:solidFill>
                  <a:srgbClr val="0070C0"/>
                </a:solidFill>
              </a:rPr>
              <a:t>Parquet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600" b="1" dirty="0">
                <a:solidFill>
                  <a:srgbClr val="C00000"/>
                </a:solidFill>
              </a:rPr>
              <a:t>Semi</a:t>
            </a:r>
            <a:r>
              <a:rPr lang="en-US" sz="2800" b="1" dirty="0">
                <a:solidFill>
                  <a:srgbClr val="C00000"/>
                </a:solidFill>
              </a:rPr>
              <a:t>-Structured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US" sz="2533" dirty="0">
                <a:solidFill>
                  <a:srgbClr val="0070C0"/>
                </a:solidFill>
              </a:rPr>
              <a:t>JSON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US" sz="2533" dirty="0">
                <a:solidFill>
                  <a:srgbClr val="0070C0"/>
                </a:solidFill>
              </a:rPr>
              <a:t>XML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rgbClr val="C00000"/>
                </a:solidFill>
              </a:rPr>
              <a:t>Unstructured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US" sz="2533" dirty="0">
                <a:solidFill>
                  <a:srgbClr val="0070C0"/>
                </a:solidFill>
              </a:rPr>
              <a:t>Text files, log files</a:t>
            </a:r>
          </a:p>
          <a:p>
            <a:pPr marL="0" indent="0">
              <a:buNone/>
            </a:pP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4661101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08304" y="1100901"/>
            <a:ext cx="1848678" cy="134178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55797"/>
            <a:ext cx="10515600" cy="757998"/>
          </a:xfrm>
        </p:spPr>
        <p:txBody>
          <a:bodyPr/>
          <a:lstStyle/>
          <a:p>
            <a:r>
              <a:rPr lang="en-US" dirty="0"/>
              <a:t>The need of Big Data…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013795"/>
            <a:ext cx="10058400" cy="4293701"/>
          </a:xfrm>
        </p:spPr>
        <p:txBody>
          <a:bodyPr>
            <a:normAutofit/>
          </a:bodyPr>
          <a:lstStyle/>
          <a:p>
            <a:r>
              <a:rPr lang="en-US" sz="2800" dirty="0"/>
              <a:t>Data growth:  </a:t>
            </a:r>
          </a:p>
          <a:p>
            <a:pPr lvl="1"/>
            <a:r>
              <a:rPr lang="en-US" sz="2533" b="1" dirty="0"/>
              <a:t>Social networking (Twitter, Facebook, ..)</a:t>
            </a:r>
            <a:endParaRPr lang="en-US" sz="2533" dirty="0"/>
          </a:p>
          <a:p>
            <a:pPr lvl="1"/>
            <a:r>
              <a:rPr lang="en-US" sz="2533" b="1" dirty="0"/>
              <a:t>Media (Netflix, Cable TV, …)</a:t>
            </a:r>
          </a:p>
          <a:p>
            <a:pPr lvl="1"/>
            <a:r>
              <a:rPr lang="en-US" sz="2533" b="1" dirty="0"/>
              <a:t>Commerce sites (Amazon, </a:t>
            </a:r>
            <a:r>
              <a:rPr lang="en-US" sz="2533" b="1" dirty="0" err="1"/>
              <a:t>Ebay</a:t>
            </a:r>
            <a:r>
              <a:rPr lang="en-US" sz="2533" b="1" dirty="0"/>
              <a:t>, …)</a:t>
            </a:r>
            <a:endParaRPr lang="en-US" sz="2533" dirty="0"/>
          </a:p>
          <a:p>
            <a:pPr lvl="1"/>
            <a:r>
              <a:rPr lang="en-US" sz="2533" b="1" dirty="0"/>
              <a:t>Health and genomics</a:t>
            </a:r>
            <a:r>
              <a:rPr lang="en-US" sz="2533" dirty="0"/>
              <a:t>, data growth increasing exponentially and so on for the future.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Analyzing and managing these data properly is the key to business expansion and growth.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36496" y="1217544"/>
            <a:ext cx="1466572" cy="1341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40304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2060"/>
                </a:solidFill>
              </a:rPr>
              <a:t>Example of Big Data?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 Credit Card Transactions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 Billions of documents indexed for search engine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 Logs generated by web servers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 DNA &amp; Genomics data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 Twitter feeds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 Facebook Messages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 Medical records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 COVID data</a:t>
            </a:r>
          </a:p>
          <a:p>
            <a:pPr marL="0" indent="0">
              <a:buNone/>
            </a:pP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2230470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Creation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018986" y="1845734"/>
            <a:ext cx="4136693" cy="4023360"/>
          </a:xfrm>
        </p:spPr>
        <p:txBody>
          <a:bodyPr>
            <a:normAutofit fontScale="92500" lnSpcReduction="20000"/>
          </a:bodyPr>
          <a:lstStyle/>
          <a:p>
            <a:pPr algn="ctr"/>
            <a:r>
              <a:rPr lang="en-US" sz="3200" dirty="0"/>
              <a:t> Every Year, the world created</a:t>
            </a:r>
          </a:p>
          <a:p>
            <a:pPr algn="ctr"/>
            <a:r>
              <a:rPr lang="en-US" sz="3200" dirty="0"/>
              <a:t>more and more Zeta bytes of data</a:t>
            </a:r>
          </a:p>
          <a:p>
            <a:pPr algn="ctr"/>
            <a:r>
              <a:rPr lang="en-US" sz="3200" dirty="0"/>
              <a:t>Managing this data became crucial to extract more value in retail, finance, media and publishing.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4411" y="1981132"/>
            <a:ext cx="6124575" cy="4029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97227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2060"/>
                </a:solidFill>
              </a:rPr>
              <a:t>Big Data Challenges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6896" y="1855631"/>
            <a:ext cx="10584790" cy="34366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91177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48478"/>
            <a:ext cx="10515600" cy="1323147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002060"/>
                </a:solidFill>
              </a:rPr>
              <a:t>Google MapReduce Paper </a:t>
            </a:r>
            <a:br>
              <a:rPr lang="en-US" b="1" dirty="0">
                <a:solidFill>
                  <a:srgbClr val="002060"/>
                </a:solidFill>
              </a:rPr>
            </a:br>
            <a:r>
              <a:rPr lang="en-US" b="1" dirty="0">
                <a:solidFill>
                  <a:srgbClr val="002060"/>
                </a:solidFill>
              </a:rPr>
              <a:t>Revolutionized Big Data </a:t>
            </a:r>
            <a:r>
              <a:rPr lang="en-US" sz="1600" b="1" dirty="0">
                <a:solidFill>
                  <a:srgbClr val="002060"/>
                </a:solidFill>
              </a:rPr>
              <a:t>(2004)</a:t>
            </a:r>
          </a:p>
        </p:txBody>
      </p:sp>
      <p:pic>
        <p:nvPicPr>
          <p:cNvPr id="5" name="Content Placeholder 4" descr="Graphical user interface, text, application, email&#10;&#10;Description automatically generated">
            <a:extLst>
              <a:ext uri="{FF2B5EF4-FFF2-40B4-BE49-F238E27FC236}">
                <a16:creationId xmlns:a16="http://schemas.microsoft.com/office/drawing/2014/main" id="{4E9973C6-EF93-EC1B-FDD1-C6A84346A52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3501" y="1571625"/>
            <a:ext cx="8764998" cy="4605338"/>
          </a:xfrm>
        </p:spPr>
      </p:pic>
    </p:spTree>
    <p:extLst>
      <p:ext uri="{BB962C8B-B14F-4D97-AF65-F5344CB8AC3E}">
        <p14:creationId xmlns:p14="http://schemas.microsoft.com/office/powerpoint/2010/main" val="14943304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2060"/>
                </a:solidFill>
              </a:rPr>
              <a:t>Google MapReduce Paper </a:t>
            </a:r>
            <a:r>
              <a:rPr lang="en-US" b="1" dirty="0">
                <a:solidFill>
                  <a:srgbClr val="002060"/>
                </a:solidFill>
                <a:sym typeface="Wingdings" pitchFamily="2" charset="2"/>
              </a:rPr>
              <a:t> Hadoop</a:t>
            </a:r>
            <a:endParaRPr lang="en-US" b="1" dirty="0">
              <a:solidFill>
                <a:srgbClr val="00206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Google implemented MapReduce (2004)</a:t>
            </a:r>
          </a:p>
          <a:p>
            <a:pPr lvl="1"/>
            <a:r>
              <a:rPr lang="en-US" sz="2533" dirty="0"/>
              <a:t> index billions of documents for its search engine</a:t>
            </a:r>
          </a:p>
          <a:p>
            <a:r>
              <a:rPr lang="en-US" sz="2800" dirty="0"/>
              <a:t>Google did NOT release any MapReduce code to public</a:t>
            </a:r>
          </a:p>
          <a:p>
            <a:r>
              <a:rPr lang="en-US" sz="2800" dirty="0"/>
              <a:t>Hadoop was implemented based on Google’s MapReduce paper</a:t>
            </a:r>
          </a:p>
          <a:p>
            <a:r>
              <a:rPr lang="en-US" sz="2800" dirty="0"/>
              <a:t>Hadoop became an open-source Apache project (2006)</a:t>
            </a:r>
          </a:p>
        </p:txBody>
      </p:sp>
    </p:spTree>
    <p:extLst>
      <p:ext uri="{BB962C8B-B14F-4D97-AF65-F5344CB8AC3E}">
        <p14:creationId xmlns:p14="http://schemas.microsoft.com/office/powerpoint/2010/main" val="11214164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5875" y="1924903"/>
            <a:ext cx="5000328" cy="38464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4"/>
            <a:ext cx="5577840" cy="4023360"/>
          </a:xfrm>
        </p:spPr>
        <p:txBody>
          <a:bodyPr>
            <a:normAutofit lnSpcReduction="10000"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Hadoop came as the answer of software framework  that would support  technologies, tools and infrastructure and also more effective and efficient management and analysis of large datasets.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 err="1"/>
              <a:t>Hadoop</a:t>
            </a:r>
            <a:r>
              <a:rPr lang="en-US" sz="2800" dirty="0"/>
              <a:t> tools and services working together in completing its tasks, forming a </a:t>
            </a:r>
            <a:r>
              <a:rPr lang="en-US" sz="2800" dirty="0" err="1"/>
              <a:t>Hadoop</a:t>
            </a:r>
            <a:r>
              <a:rPr lang="en-US" sz="2800" dirty="0"/>
              <a:t> ecosystem.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6845" y="286603"/>
            <a:ext cx="6324600" cy="1638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96165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06709"/>
            <a:ext cx="10515600" cy="1003801"/>
          </a:xfrm>
        </p:spPr>
        <p:txBody>
          <a:bodyPr/>
          <a:lstStyle/>
          <a:p>
            <a:r>
              <a:rPr lang="en-US" dirty="0"/>
              <a:t>Hadoop Architecture</a:t>
            </a:r>
          </a:p>
        </p:txBody>
      </p:sp>
      <p:pic>
        <p:nvPicPr>
          <p:cNvPr id="9" name="Content Placeholder 8" descr="Diagram&#10;&#10;Description automatically generated">
            <a:extLst>
              <a:ext uri="{FF2B5EF4-FFF2-40B4-BE49-F238E27FC236}">
                <a16:creationId xmlns:a16="http://schemas.microsoft.com/office/drawing/2014/main" id="{C888BFB7-ADCB-FA3E-1659-4EF5D54EC03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8256" y="1353312"/>
            <a:ext cx="7120128" cy="3986784"/>
          </a:xfrm>
        </p:spPr>
      </p:pic>
    </p:spTree>
    <p:extLst>
      <p:ext uri="{BB962C8B-B14F-4D97-AF65-F5344CB8AC3E}">
        <p14:creationId xmlns:p14="http://schemas.microsoft.com/office/powerpoint/2010/main" val="42373954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06709"/>
            <a:ext cx="10515600" cy="1003801"/>
          </a:xfrm>
        </p:spPr>
        <p:txBody>
          <a:bodyPr/>
          <a:lstStyle/>
          <a:p>
            <a:r>
              <a:rPr lang="en-US" dirty="0"/>
              <a:t>Problems with Hadoop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11936" y="1192696"/>
            <a:ext cx="9942576" cy="4512365"/>
          </a:xfrm>
        </p:spPr>
        <p:txBody>
          <a:bodyPr>
            <a:normAutofit/>
          </a:bodyPr>
          <a:lstStyle/>
          <a:p>
            <a:r>
              <a:rPr lang="en-US" sz="2800" dirty="0">
                <a:solidFill>
                  <a:schemeClr val="tx1"/>
                </a:solidFill>
              </a:rPr>
              <a:t>Complex: write lots of code </a:t>
            </a:r>
          </a:p>
          <a:p>
            <a:r>
              <a:rPr lang="en-US" sz="2800" dirty="0">
                <a:solidFill>
                  <a:schemeClr val="tx1"/>
                </a:solidFill>
              </a:rPr>
              <a:t>Low level API</a:t>
            </a:r>
          </a:p>
          <a:p>
            <a:r>
              <a:rPr lang="en-US" sz="2800" dirty="0">
                <a:solidFill>
                  <a:schemeClr val="tx1"/>
                </a:solidFill>
              </a:rPr>
              <a:t>Uses disk I/O extensively</a:t>
            </a:r>
          </a:p>
          <a:p>
            <a:r>
              <a:rPr lang="en-US" sz="2800" dirty="0">
                <a:solidFill>
                  <a:schemeClr val="tx1"/>
                </a:solidFill>
              </a:rPr>
              <a:t>Did not use memory/RAM (RAM is 100 times faster than Disk I/O)</a:t>
            </a:r>
          </a:p>
          <a:p>
            <a:r>
              <a:rPr lang="en-US" sz="2800" dirty="0">
                <a:solidFill>
                  <a:schemeClr val="tx1"/>
                </a:solidFill>
              </a:rPr>
              <a:t>Only supported Text files</a:t>
            </a:r>
          </a:p>
          <a:p>
            <a:r>
              <a:rPr lang="en-US" sz="2800" dirty="0">
                <a:solidFill>
                  <a:schemeClr val="tx1"/>
                </a:solidFill>
              </a:rPr>
              <a:t>Not Multi-language support (Python, Java, Scala, SQL)</a:t>
            </a:r>
          </a:p>
          <a:p>
            <a:r>
              <a:rPr lang="en-US" sz="2800" b="1" dirty="0">
                <a:solidFill>
                  <a:srgbClr val="0070C0"/>
                </a:solidFill>
              </a:rPr>
              <a:t>Hadoop Problems </a:t>
            </a:r>
            <a:r>
              <a:rPr lang="en-US" sz="2800" b="1" dirty="0">
                <a:solidFill>
                  <a:srgbClr val="0070C0"/>
                </a:solidFill>
                <a:sym typeface="Wingdings" pitchFamily="2" charset="2"/>
              </a:rPr>
              <a:t> </a:t>
            </a:r>
            <a:r>
              <a:rPr lang="en-US" sz="2800" b="1" dirty="0">
                <a:solidFill>
                  <a:srgbClr val="0070C0"/>
                </a:solidFill>
              </a:rPr>
              <a:t>Apache Spark </a:t>
            </a:r>
          </a:p>
          <a:p>
            <a:pPr lvl="1"/>
            <a:r>
              <a:rPr lang="en-US" sz="2533" b="1" dirty="0">
                <a:solidFill>
                  <a:srgbClr val="0070C0"/>
                </a:solidFill>
              </a:rPr>
              <a:t>Spark addresses Hadoop Problems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0CAEFBD-AE94-3406-1A5D-DD7AC862FF7B}"/>
              </a:ext>
            </a:extLst>
          </p:cNvPr>
          <p:cNvSpPr txBox="1"/>
          <p:nvPr/>
        </p:nvSpPr>
        <p:spPr>
          <a:xfrm>
            <a:off x="795130" y="281277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44262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707770"/>
          </a:xfrm>
        </p:spPr>
        <p:txBody>
          <a:bodyPr/>
          <a:lstStyle/>
          <a:p>
            <a:r>
              <a:rPr lang="en-US" dirty="0"/>
              <a:t>Apache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11936" y="1393827"/>
            <a:ext cx="9942576" cy="5098413"/>
          </a:xfrm>
        </p:spPr>
        <p:txBody>
          <a:bodyPr>
            <a:normAutofit/>
          </a:bodyPr>
          <a:lstStyle/>
          <a:p>
            <a:r>
              <a:rPr lang="en-US" sz="2400" dirty="0"/>
              <a:t>Spark is a unified engine for large-scale data analytics</a:t>
            </a:r>
          </a:p>
          <a:p>
            <a:r>
              <a:rPr lang="en-US" sz="2400" dirty="0"/>
              <a:t>Spark is a multi-language engine for executing data engineering, data science, and machine learning on single-node machines or clusters.</a:t>
            </a:r>
          </a:p>
          <a:p>
            <a:r>
              <a:rPr lang="en-US" sz="2400" dirty="0">
                <a:solidFill>
                  <a:srgbClr val="0070C0"/>
                </a:solidFill>
              </a:rPr>
              <a:t>Use memory/RAM first, Then Disk</a:t>
            </a:r>
          </a:p>
          <a:p>
            <a:r>
              <a:rPr lang="en-US" sz="2400" dirty="0">
                <a:solidFill>
                  <a:srgbClr val="0070C0"/>
                </a:solidFill>
              </a:rPr>
              <a:t>Parallel Processing (superset of MapReduce)</a:t>
            </a:r>
          </a:p>
          <a:p>
            <a:r>
              <a:rPr lang="en-US" sz="2400" dirty="0">
                <a:solidFill>
                  <a:srgbClr val="0070C0"/>
                </a:solidFill>
              </a:rPr>
              <a:t>Data Partitioning</a:t>
            </a:r>
          </a:p>
          <a:p>
            <a:r>
              <a:rPr lang="en-US" sz="2400" dirty="0">
                <a:solidFill>
                  <a:srgbClr val="0070C0"/>
                </a:solidFill>
              </a:rPr>
              <a:t>Scalability</a:t>
            </a:r>
          </a:p>
          <a:p>
            <a:r>
              <a:rPr lang="en-US" sz="2400" dirty="0">
                <a:solidFill>
                  <a:srgbClr val="0070C0"/>
                </a:solidFill>
              </a:rPr>
              <a:t>Multi-language support (Python, Java, Scala, SQL)</a:t>
            </a:r>
          </a:p>
          <a:p>
            <a:r>
              <a:rPr lang="en-US" sz="2400" dirty="0">
                <a:solidFill>
                  <a:srgbClr val="0070C0"/>
                </a:solidFill>
              </a:rPr>
              <a:t>Data Abstractions: RDDs and DataFrames</a:t>
            </a:r>
          </a:p>
          <a:p>
            <a:r>
              <a:rPr lang="en-US" sz="2400" dirty="0">
                <a:solidFill>
                  <a:srgbClr val="0070C0"/>
                </a:solidFill>
              </a:rPr>
              <a:t>Enables SQL access to Big Data</a:t>
            </a:r>
          </a:p>
        </p:txBody>
      </p:sp>
      <p:pic>
        <p:nvPicPr>
          <p:cNvPr id="11" name="Picture 10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F52F41BD-1246-734B-B036-0DF9A5F8FB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75560" y="117349"/>
            <a:ext cx="1981200" cy="1028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33925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707770"/>
          </a:xfrm>
        </p:spPr>
        <p:txBody>
          <a:bodyPr/>
          <a:lstStyle/>
          <a:p>
            <a:r>
              <a:rPr lang="en-US" dirty="0"/>
              <a:t>Apache                       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11936" y="1393827"/>
            <a:ext cx="10515600" cy="509841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600" b="1" dirty="0">
                <a:solidFill>
                  <a:schemeClr val="tx1"/>
                </a:solidFill>
              </a:rPr>
              <a:t>Solving Classic Word Count Problem: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solidFill>
                  <a:schemeClr val="tx1"/>
                </a:solidFill>
                <a:latin typeface="Courier" pitchFamily="2" charset="0"/>
              </a:rPr>
              <a:t># </a:t>
            </a:r>
            <a:r>
              <a:rPr lang="en-US" sz="2300" dirty="0" err="1">
                <a:solidFill>
                  <a:schemeClr val="tx1"/>
                </a:solidFill>
                <a:latin typeface="Courier" pitchFamily="2" charset="0"/>
              </a:rPr>
              <a:t>word_frequencies</a:t>
            </a:r>
            <a:r>
              <a:rPr lang="en-US" sz="2300" dirty="0">
                <a:solidFill>
                  <a:schemeClr val="tx1"/>
                </a:solidFill>
                <a:latin typeface="Courier" pitchFamily="2" charset="0"/>
              </a:rPr>
              <a:t> : {(word1, freq1), (word2, freq2), …}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 err="1">
                <a:solidFill>
                  <a:schemeClr val="tx1"/>
                </a:solidFill>
                <a:latin typeface="Courier" pitchFamily="2" charset="0"/>
              </a:rPr>
              <a:t>input_path</a:t>
            </a:r>
            <a:r>
              <a:rPr lang="en-US" sz="2400" dirty="0">
                <a:solidFill>
                  <a:schemeClr val="tx1"/>
                </a:solidFill>
                <a:latin typeface="Courier" pitchFamily="2" charset="0"/>
              </a:rPr>
              <a:t> = “s3://</a:t>
            </a:r>
            <a:r>
              <a:rPr lang="en-US" sz="2400" dirty="0" err="1">
                <a:solidFill>
                  <a:schemeClr val="tx1"/>
                </a:solidFill>
                <a:latin typeface="Courier" pitchFamily="2" charset="0"/>
              </a:rPr>
              <a:t>my_bucket</a:t>
            </a:r>
            <a:r>
              <a:rPr lang="en-US" sz="2400" dirty="0">
                <a:solidFill>
                  <a:schemeClr val="tx1"/>
                </a:solidFill>
                <a:latin typeface="Courier" pitchFamily="2" charset="0"/>
              </a:rPr>
              <a:t>/project23/”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solidFill>
                  <a:schemeClr val="tx1"/>
                </a:solidFill>
                <a:latin typeface="Courier" pitchFamily="2" charset="0"/>
              </a:rPr>
              <a:t># spark: an instance of </a:t>
            </a:r>
            <a:r>
              <a:rPr lang="en-US" sz="2400" b="1" dirty="0" err="1">
                <a:solidFill>
                  <a:schemeClr val="tx1"/>
                </a:solidFill>
                <a:latin typeface="Courier" pitchFamily="2" charset="0"/>
              </a:rPr>
              <a:t>SparkSession</a:t>
            </a:r>
            <a:r>
              <a:rPr lang="en-US" sz="2400" dirty="0">
                <a:solidFill>
                  <a:schemeClr val="tx1"/>
                </a:solidFill>
                <a:latin typeface="Courier" pitchFamily="2" charset="0"/>
              </a:rPr>
              <a:t> object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 err="1">
                <a:solidFill>
                  <a:schemeClr val="tx1"/>
                </a:solidFill>
                <a:latin typeface="Courier" pitchFamily="2" charset="0"/>
              </a:rPr>
              <a:t>word_frequencies</a:t>
            </a:r>
            <a:r>
              <a:rPr lang="en-US" sz="2400" dirty="0">
                <a:solidFill>
                  <a:schemeClr val="tx1"/>
                </a:solidFill>
                <a:latin typeface="Courier" pitchFamily="2" charset="0"/>
              </a:rPr>
              <a:t> =   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solidFill>
                  <a:schemeClr val="tx1"/>
                </a:solidFill>
                <a:latin typeface="Courier" pitchFamily="2" charset="0"/>
              </a:rPr>
              <a:t>    </a:t>
            </a:r>
            <a:r>
              <a:rPr lang="en-US" sz="2400" dirty="0" err="1">
                <a:solidFill>
                  <a:schemeClr val="tx1"/>
                </a:solidFill>
                <a:latin typeface="Courier" pitchFamily="2" charset="0"/>
              </a:rPr>
              <a:t>spark.sparkContext.textFile</a:t>
            </a:r>
            <a:r>
              <a:rPr lang="en-US" sz="2400" dirty="0">
                <a:solidFill>
                  <a:schemeClr val="tx1"/>
                </a:solidFill>
                <a:latin typeface="Courier" pitchFamily="2" charset="0"/>
              </a:rPr>
              <a:t>(</a:t>
            </a:r>
            <a:r>
              <a:rPr lang="en-US" sz="2400" dirty="0" err="1">
                <a:solidFill>
                  <a:schemeClr val="tx1"/>
                </a:solidFill>
                <a:latin typeface="Courier" pitchFamily="2" charset="0"/>
              </a:rPr>
              <a:t>input_path</a:t>
            </a:r>
            <a:r>
              <a:rPr lang="en-US" sz="2400" dirty="0">
                <a:solidFill>
                  <a:schemeClr val="tx1"/>
                </a:solidFill>
                <a:latin typeface="Courier" pitchFamily="2" charset="0"/>
              </a:rPr>
              <a:t>)\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solidFill>
                  <a:schemeClr val="tx1"/>
                </a:solidFill>
                <a:latin typeface="Courier" pitchFamily="2" charset="0"/>
              </a:rPr>
              <a:t>    .</a:t>
            </a:r>
            <a:r>
              <a:rPr lang="en-US" sz="2400" dirty="0" err="1">
                <a:solidFill>
                  <a:schemeClr val="tx1"/>
                </a:solidFill>
                <a:latin typeface="Courier" pitchFamily="2" charset="0"/>
              </a:rPr>
              <a:t>flatMap</a:t>
            </a:r>
            <a:r>
              <a:rPr lang="en-US" sz="2400" dirty="0">
                <a:solidFill>
                  <a:schemeClr val="tx1"/>
                </a:solidFill>
                <a:latin typeface="Courier" pitchFamily="2" charset="0"/>
              </a:rPr>
              <a:t>(lambda x: </a:t>
            </a:r>
            <a:r>
              <a:rPr lang="en-US" sz="2400" dirty="0" err="1">
                <a:solidFill>
                  <a:schemeClr val="tx1"/>
                </a:solidFill>
                <a:latin typeface="Courier" pitchFamily="2" charset="0"/>
              </a:rPr>
              <a:t>x.split</a:t>
            </a:r>
            <a:r>
              <a:rPr lang="en-US" sz="2400" dirty="0">
                <a:solidFill>
                  <a:schemeClr val="tx1"/>
                </a:solidFill>
                <a:latin typeface="Courier" pitchFamily="2" charset="0"/>
              </a:rPr>
              <a:t>(' ')) \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solidFill>
                  <a:schemeClr val="tx1"/>
                </a:solidFill>
                <a:latin typeface="Courier" pitchFamily="2" charset="0"/>
              </a:rPr>
              <a:t>    .map(lambda x: (x, 1)) \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solidFill>
                  <a:schemeClr val="tx1"/>
                </a:solidFill>
                <a:latin typeface="Courier" pitchFamily="2" charset="0"/>
              </a:rPr>
              <a:t>    .</a:t>
            </a:r>
            <a:r>
              <a:rPr lang="en-US" sz="2400" dirty="0" err="1">
                <a:solidFill>
                  <a:schemeClr val="tx1"/>
                </a:solidFill>
                <a:latin typeface="Courier" pitchFamily="2" charset="0"/>
              </a:rPr>
              <a:t>reduceByKey</a:t>
            </a:r>
            <a:r>
              <a:rPr lang="en-US" sz="2400" dirty="0">
                <a:solidFill>
                  <a:schemeClr val="tx1"/>
                </a:solidFill>
                <a:latin typeface="Courier" pitchFamily="2" charset="0"/>
              </a:rPr>
              <a:t>(lambda </a:t>
            </a:r>
            <a:r>
              <a:rPr lang="en-US" sz="2400" dirty="0" err="1">
                <a:solidFill>
                  <a:schemeClr val="tx1"/>
                </a:solidFill>
                <a:latin typeface="Courier" pitchFamily="2" charset="0"/>
              </a:rPr>
              <a:t>a,b</a:t>
            </a:r>
            <a:r>
              <a:rPr lang="en-US" sz="2400" dirty="0">
                <a:solidFill>
                  <a:schemeClr val="tx1"/>
                </a:solidFill>
                <a:latin typeface="Courier" pitchFamily="2" charset="0"/>
              </a:rPr>
              <a:t> : </a:t>
            </a:r>
            <a:r>
              <a:rPr lang="en-US" sz="2400" dirty="0" err="1">
                <a:solidFill>
                  <a:schemeClr val="tx1"/>
                </a:solidFill>
                <a:latin typeface="Courier" pitchFamily="2" charset="0"/>
              </a:rPr>
              <a:t>a+b</a:t>
            </a:r>
            <a:r>
              <a:rPr lang="en-US" sz="2400" dirty="0">
                <a:solidFill>
                  <a:schemeClr val="tx1"/>
                </a:solidFill>
                <a:latin typeface="Courier" pitchFamily="2" charset="0"/>
              </a:rPr>
              <a:t>)</a:t>
            </a:r>
          </a:p>
        </p:txBody>
      </p:sp>
      <p:pic>
        <p:nvPicPr>
          <p:cNvPr id="11" name="Picture 10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F52F41BD-1246-734B-B036-0DF9A5F8FB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75560" y="117349"/>
            <a:ext cx="1981200" cy="1028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039426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83157" y="103031"/>
            <a:ext cx="6894443" cy="771445"/>
          </a:xfrm>
        </p:spPr>
        <p:txBody>
          <a:bodyPr/>
          <a:lstStyle/>
          <a:p>
            <a:r>
              <a:rPr lang="en-US" dirty="0"/>
              <a:t>Ecosystem Component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72766" y="1133341"/>
            <a:ext cx="5125792" cy="5550794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Primary component: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HDFS – Distributed file system for storage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MapReduce –Parallel processing framework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Spark: superset of MapReduce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Typical </a:t>
            </a:r>
            <a:r>
              <a:rPr lang="en-US" dirty="0" err="1"/>
              <a:t>Hadoop</a:t>
            </a:r>
            <a:r>
              <a:rPr lang="en-US" dirty="0"/>
              <a:t> eco-system project might use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err="1"/>
              <a:t>ZooKeeper</a:t>
            </a:r>
            <a:r>
              <a:rPr lang="en-US" dirty="0"/>
              <a:t> –Coordination framework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Hive – SQL-like </a:t>
            </a:r>
            <a:r>
              <a:rPr lang="en-US" dirty="0" err="1"/>
              <a:t>inferface</a:t>
            </a:r>
            <a:r>
              <a:rPr lang="en-US" dirty="0"/>
              <a:t> for querying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Pig – High level scripting language for batch processing and ETL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err="1"/>
              <a:t>Hbase</a:t>
            </a:r>
            <a:r>
              <a:rPr lang="en-US" dirty="0"/>
              <a:t> – Tabular/column storage (non-relational, distribution database)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Flume – Distribution, reliable, service for </a:t>
            </a:r>
            <a:r>
              <a:rPr lang="en-US" dirty="0" err="1"/>
              <a:t>collecting,aggregating</a:t>
            </a:r>
            <a:r>
              <a:rPr lang="en-US" dirty="0"/>
              <a:t>,</a:t>
            </a:r>
            <a:br>
              <a:rPr lang="en-US" dirty="0"/>
            </a:br>
            <a:r>
              <a:rPr lang="en-US" dirty="0"/>
              <a:t>and moving large data 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5158" y="3799019"/>
            <a:ext cx="2797605" cy="3011163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4431" y="345926"/>
            <a:ext cx="5308335" cy="35628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894112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1872" y="365760"/>
            <a:ext cx="9692640" cy="648031"/>
          </a:xfrm>
        </p:spPr>
        <p:txBody>
          <a:bodyPr>
            <a:normAutofit fontScale="90000"/>
          </a:bodyPr>
          <a:lstStyle/>
          <a:p>
            <a:r>
              <a:rPr lang="en-US" dirty="0"/>
              <a:t>Hadoop vs. Spark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11936" y="1192696"/>
            <a:ext cx="9942576" cy="5299544"/>
          </a:xfrm>
        </p:spPr>
        <p:txBody>
          <a:bodyPr>
            <a:normAutofit fontScale="85000" lnSpcReduction="20000"/>
          </a:bodyPr>
          <a:lstStyle/>
          <a:p>
            <a:r>
              <a:rPr lang="en-US" sz="2400" dirty="0">
                <a:solidFill>
                  <a:srgbClr val="0070C0"/>
                </a:solidFill>
              </a:rPr>
              <a:t>Hadoop: very hard to write MapReduce programs</a:t>
            </a:r>
          </a:p>
          <a:p>
            <a:pPr lvl="1"/>
            <a:r>
              <a:rPr lang="en-US" sz="2200" dirty="0">
                <a:solidFill>
                  <a:srgbClr val="0070C0"/>
                </a:solidFill>
              </a:rPr>
              <a:t>Long programs (complex, low-level API)</a:t>
            </a:r>
          </a:p>
          <a:p>
            <a:r>
              <a:rPr lang="en-US" sz="2400" dirty="0">
                <a:solidFill>
                  <a:srgbClr val="0070C0"/>
                </a:solidFill>
              </a:rPr>
              <a:t>Spark: very simple to write distributed programs and beyond</a:t>
            </a:r>
          </a:p>
          <a:p>
            <a:pPr lvl="1"/>
            <a:r>
              <a:rPr lang="en-US" sz="2200" dirty="0">
                <a:solidFill>
                  <a:srgbClr val="0070C0"/>
                </a:solidFill>
              </a:rPr>
              <a:t>Short programs (simple, powerful, high-level API)</a:t>
            </a:r>
          </a:p>
          <a:p>
            <a:r>
              <a:rPr lang="en-US" sz="2400" dirty="0">
                <a:solidFill>
                  <a:srgbClr val="00B050"/>
                </a:solidFill>
              </a:rPr>
              <a:t>Hadoop: Java support</a:t>
            </a:r>
          </a:p>
          <a:p>
            <a:r>
              <a:rPr lang="en-US" sz="2400" dirty="0">
                <a:solidFill>
                  <a:srgbClr val="00B050"/>
                </a:solidFill>
              </a:rPr>
              <a:t>Spark: Multi-language support (Python, Java, Scala, SQL)</a:t>
            </a:r>
          </a:p>
          <a:p>
            <a:r>
              <a:rPr lang="en-US" sz="2400" dirty="0">
                <a:solidFill>
                  <a:srgbClr val="0070C0"/>
                </a:solidFill>
              </a:rPr>
              <a:t>Hadoop: slow, uses disk I/O</a:t>
            </a:r>
          </a:p>
          <a:p>
            <a:r>
              <a:rPr lang="en-US" sz="2400" dirty="0">
                <a:solidFill>
                  <a:srgbClr val="0070C0"/>
                </a:solidFill>
              </a:rPr>
              <a:t>Spark: fast, uses RAM as much as possible</a:t>
            </a:r>
          </a:p>
          <a:p>
            <a:r>
              <a:rPr lang="en-US" sz="2400" dirty="0">
                <a:solidFill>
                  <a:srgbClr val="002060"/>
                </a:solidFill>
              </a:rPr>
              <a:t>Hadoop: Parallel Processing </a:t>
            </a:r>
          </a:p>
          <a:p>
            <a:r>
              <a:rPr lang="en-US" sz="2400" dirty="0">
                <a:solidFill>
                  <a:srgbClr val="002060"/>
                </a:solidFill>
              </a:rPr>
              <a:t>Spark: Parallel Processing</a:t>
            </a:r>
          </a:p>
          <a:p>
            <a:endParaRPr lang="en-US" sz="2400" dirty="0">
              <a:solidFill>
                <a:srgbClr val="0070C0"/>
              </a:solidFill>
            </a:endParaRPr>
          </a:p>
          <a:p>
            <a:pPr marL="0" indent="0">
              <a:buNone/>
            </a:pPr>
            <a:r>
              <a:rPr lang="en-US" sz="3600" dirty="0">
                <a:solidFill>
                  <a:srgbClr val="002060"/>
                </a:solidFill>
              </a:rPr>
              <a:t>Spark is (new technology, fast, de facto standard) </a:t>
            </a:r>
          </a:p>
          <a:p>
            <a:pPr marL="0" indent="0">
              <a:buNone/>
            </a:pPr>
            <a:r>
              <a:rPr lang="en-US" sz="3600" dirty="0">
                <a:solidFill>
                  <a:srgbClr val="002060"/>
                </a:solidFill>
              </a:rPr>
              <a:t>superior to Hadoop (old technology, slow)</a:t>
            </a:r>
          </a:p>
        </p:txBody>
      </p:sp>
    </p:spTree>
    <p:extLst>
      <p:ext uri="{BB962C8B-B14F-4D97-AF65-F5344CB8AC3E}">
        <p14:creationId xmlns:p14="http://schemas.microsoft.com/office/powerpoint/2010/main" val="12700483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3880" y="405516"/>
            <a:ext cx="9692640" cy="896510"/>
          </a:xfrm>
        </p:spPr>
        <p:txBody>
          <a:bodyPr/>
          <a:lstStyle/>
          <a:p>
            <a:r>
              <a:rPr lang="en-US" dirty="0">
                <a:solidFill>
                  <a:srgbClr val="002060"/>
                </a:solidFill>
              </a:rPr>
              <a:t>Big Data’s Characteristic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4400" dirty="0"/>
              <a:t>Volume</a:t>
            </a:r>
          </a:p>
          <a:p>
            <a:pPr marL="0" indent="0" algn="ctr">
              <a:buNone/>
            </a:pPr>
            <a:r>
              <a:rPr lang="en-US" sz="4400" dirty="0"/>
              <a:t>Variety</a:t>
            </a:r>
          </a:p>
          <a:p>
            <a:pPr marL="0" indent="0" algn="ctr">
              <a:buNone/>
            </a:pPr>
            <a:r>
              <a:rPr lang="en-US" sz="4400" dirty="0"/>
              <a:t>Velocity</a:t>
            </a:r>
          </a:p>
          <a:p>
            <a:pPr marL="0" indent="0" algn="ctr">
              <a:buNone/>
            </a:pPr>
            <a:r>
              <a:rPr lang="en-US" sz="4400" dirty="0"/>
              <a:t>Complexity</a:t>
            </a:r>
          </a:p>
          <a:p>
            <a:pPr marL="0" indent="0" algn="ctr">
              <a:buNone/>
            </a:pPr>
            <a:r>
              <a:rPr lang="en-US" sz="4400" dirty="0"/>
              <a:t>Validity</a:t>
            </a:r>
          </a:p>
        </p:txBody>
      </p:sp>
    </p:spTree>
    <p:extLst>
      <p:ext uri="{BB962C8B-B14F-4D97-AF65-F5344CB8AC3E}">
        <p14:creationId xmlns:p14="http://schemas.microsoft.com/office/powerpoint/2010/main" val="165488479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831851" y="1490871"/>
            <a:ext cx="10515600" cy="795130"/>
          </a:xfrm>
        </p:spPr>
        <p:txBody>
          <a:bodyPr/>
          <a:lstStyle/>
          <a:p>
            <a:r>
              <a:rPr lang="en-US" dirty="0"/>
              <a:t>Stored Data Processing 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"/>
          </p:nvPr>
        </p:nvSpPr>
        <p:spPr>
          <a:xfrm>
            <a:off x="831851" y="2395330"/>
            <a:ext cx="10515600" cy="2872409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3200" dirty="0"/>
              <a:t>Batch-based stored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3200" dirty="0"/>
              <a:t>Real-Time Data-stream processing</a:t>
            </a:r>
          </a:p>
        </p:txBody>
      </p:sp>
    </p:spTree>
    <p:extLst>
      <p:ext uri="{BB962C8B-B14F-4D97-AF65-F5344CB8AC3E}">
        <p14:creationId xmlns:p14="http://schemas.microsoft.com/office/powerpoint/2010/main" val="414995783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Batch Based Stored Data Processing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</a:t>
            </a:r>
            <a:r>
              <a:rPr lang="en-US" sz="2800" dirty="0"/>
              <a:t>Process large volumes of data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 Can be periodic or one-time processing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 Batch  results are produced after data is collected, entered and processed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 Separate techniques or programs for input, processing and output</a:t>
            </a:r>
          </a:p>
        </p:txBody>
      </p:sp>
    </p:spTree>
    <p:extLst>
      <p:ext uri="{BB962C8B-B14F-4D97-AF65-F5344CB8AC3E}">
        <p14:creationId xmlns:p14="http://schemas.microsoft.com/office/powerpoint/2010/main" val="242250844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777874"/>
          </a:xfrm>
        </p:spPr>
        <p:txBody>
          <a:bodyPr/>
          <a:lstStyle/>
          <a:p>
            <a:r>
              <a:rPr lang="en-US" dirty="0"/>
              <a:t>Real Time Data Processing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43001"/>
            <a:ext cx="10515600" cy="5033963"/>
          </a:xfrm>
        </p:spPr>
        <p:txBody>
          <a:bodyPr>
            <a:normAutofit/>
          </a:bodyPr>
          <a:lstStyle/>
          <a:p>
            <a:pPr algn="ctr"/>
            <a:r>
              <a:rPr lang="en-US" sz="4000" dirty="0"/>
              <a:t>Data captured, processed, and acted 24/7</a:t>
            </a:r>
          </a:p>
          <a:p>
            <a:pPr algn="ctr"/>
            <a:r>
              <a:rPr lang="en-US" sz="4000" dirty="0"/>
              <a:t>Computing data real-time</a:t>
            </a:r>
          </a:p>
          <a:p>
            <a:endParaRPr lang="en-US" dirty="0"/>
          </a:p>
          <a:p>
            <a:r>
              <a:rPr lang="en-US" sz="3200" dirty="0"/>
              <a:t>Advantages of Real-time:</a:t>
            </a:r>
          </a:p>
          <a:p>
            <a:pPr lvl="1"/>
            <a:r>
              <a:rPr lang="en-US" sz="2933" dirty="0"/>
              <a:t> System scales elastically based on need</a:t>
            </a:r>
          </a:p>
          <a:p>
            <a:pPr lvl="1"/>
            <a:r>
              <a:rPr lang="en-US" sz="2933" dirty="0"/>
              <a:t> Instant Results</a:t>
            </a:r>
          </a:p>
          <a:p>
            <a:pPr lvl="1"/>
            <a:r>
              <a:rPr lang="en-US" sz="2933" dirty="0"/>
              <a:t> Parallel processing is available</a:t>
            </a:r>
            <a:endParaRPr lang="en-US" sz="3733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128114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Tools and Techniques for analyzing big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3200" dirty="0"/>
              <a:t>The choice of tools mostly driven by:</a:t>
            </a:r>
          </a:p>
          <a:p>
            <a:pPr algn="ctr"/>
            <a:endParaRPr lang="en-US" sz="3200" dirty="0"/>
          </a:p>
          <a:p>
            <a:pPr marL="0" indent="0" algn="ctr">
              <a:buNone/>
            </a:pPr>
            <a:r>
              <a:rPr lang="en-US" sz="3200" dirty="0"/>
              <a:t>Who is going to use the data </a:t>
            </a:r>
          </a:p>
          <a:p>
            <a:pPr marL="0" indent="0" algn="ctr">
              <a:buNone/>
            </a:pPr>
            <a:r>
              <a:rPr lang="en-US" sz="3200" dirty="0"/>
              <a:t>+</a:t>
            </a:r>
          </a:p>
          <a:p>
            <a:pPr marL="0" indent="0" algn="ctr">
              <a:buNone/>
            </a:pPr>
            <a:r>
              <a:rPr lang="en-US" sz="3200" dirty="0"/>
              <a:t>the business requirement for a particular scenario</a:t>
            </a:r>
          </a:p>
        </p:txBody>
      </p:sp>
    </p:spTree>
    <p:extLst>
      <p:ext uri="{BB962C8B-B14F-4D97-AF65-F5344CB8AC3E}">
        <p14:creationId xmlns:p14="http://schemas.microsoft.com/office/powerpoint/2010/main" val="286539879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Where to Store Big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4"/>
            <a:ext cx="10058400" cy="444076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While traditional RDBMSs has many limitations, Big  Data provide alternatives address some of  these limitations.</a:t>
            </a:r>
          </a:p>
          <a:p>
            <a:r>
              <a:rPr lang="en-US" sz="2400" dirty="0"/>
              <a:t>HDFS (Hadoop Distributed File System)</a:t>
            </a:r>
          </a:p>
          <a:p>
            <a:r>
              <a:rPr lang="en-US" sz="2400" dirty="0"/>
              <a:t>Amazon S3</a:t>
            </a:r>
          </a:p>
          <a:p>
            <a:r>
              <a:rPr lang="en-US" sz="2400" dirty="0"/>
              <a:t>Database alternatives: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200" dirty="0"/>
              <a:t>Document Stores – Apache CouchDB, MongoDB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400" dirty="0"/>
              <a:t>Graph stores –Neo4j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200" dirty="0"/>
              <a:t>Key-Value Stores –Apache Cassandra, </a:t>
            </a:r>
            <a:r>
              <a:rPr lang="en-US" sz="2200" dirty="0" err="1"/>
              <a:t>Riak</a:t>
            </a:r>
            <a:endParaRPr lang="en-US" sz="2200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400" dirty="0"/>
              <a:t>Tabular stores –Apache </a:t>
            </a:r>
            <a:r>
              <a:rPr lang="en-US" sz="2400" dirty="0" err="1"/>
              <a:t>Hbase</a:t>
            </a:r>
            <a:endParaRPr lang="en-US" sz="2400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858217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Accessing the Big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540565"/>
            <a:ext cx="10058400" cy="4328529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SQL like connectivity initiates for big data: </a:t>
            </a:r>
          </a:p>
          <a:p>
            <a:pPr lvl="1"/>
            <a:r>
              <a:rPr lang="en-US" dirty="0"/>
              <a:t>Amazon Athena (JDBC), Snowflake (JDBC), Impala, Hive and Stinger</a:t>
            </a:r>
          </a:p>
          <a:p>
            <a:pPr lvl="1"/>
            <a:r>
              <a:rPr lang="en-US" dirty="0"/>
              <a:t>SQL access to Spark DataFrames (table of named columns)</a:t>
            </a:r>
            <a:br>
              <a:rPr lang="en-US" dirty="0"/>
            </a:br>
            <a:endParaRPr lang="en-US" dirty="0"/>
          </a:p>
          <a:p>
            <a:r>
              <a:rPr lang="en-US" dirty="0"/>
              <a:t>These big data later can be used in:</a:t>
            </a:r>
          </a:p>
          <a:p>
            <a:pPr lvl="1"/>
            <a:r>
              <a:rPr lang="en-US" dirty="0"/>
              <a:t>Sandboxes for data science projects</a:t>
            </a:r>
          </a:p>
          <a:p>
            <a:pPr lvl="1"/>
            <a:r>
              <a:rPr lang="en-US" dirty="0"/>
              <a:t>Analytics development using MapReduce</a:t>
            </a:r>
          </a:p>
          <a:p>
            <a:pPr lvl="1"/>
            <a:r>
              <a:rPr lang="en-US" dirty="0"/>
              <a:t>Analytics-query performance enablers</a:t>
            </a:r>
          </a:p>
          <a:p>
            <a:pPr lvl="1"/>
            <a:r>
              <a:rPr lang="en-US" dirty="0"/>
              <a:t>Search indexes on multi structured data in Hadoop</a:t>
            </a:r>
          </a:p>
          <a:p>
            <a:pPr lvl="1"/>
            <a:r>
              <a:rPr lang="en-US" dirty="0"/>
              <a:t>Analyzing multi structured Big data Using search</a:t>
            </a:r>
          </a:p>
          <a:p>
            <a:pPr lvl="1"/>
            <a:r>
              <a:rPr lang="en-US" dirty="0"/>
              <a:t>Data visualization and in memory data in big data environment</a:t>
            </a:r>
          </a:p>
        </p:txBody>
      </p:sp>
    </p:spTree>
    <p:extLst>
      <p:ext uri="{BB962C8B-B14F-4D97-AF65-F5344CB8AC3E}">
        <p14:creationId xmlns:p14="http://schemas.microsoft.com/office/powerpoint/2010/main" val="281784099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Considering Using big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61872" y="1441174"/>
            <a:ext cx="8595360" cy="4422913"/>
          </a:xfrm>
        </p:spPr>
        <p:txBody>
          <a:bodyPr>
            <a:normAutofit fontScale="62500" lnSpcReduction="20000"/>
          </a:bodyPr>
          <a:lstStyle/>
          <a:p>
            <a:r>
              <a:rPr lang="en-US" sz="5100" dirty="0"/>
              <a:t>Does your problem require a Big Data Solution?</a:t>
            </a:r>
          </a:p>
          <a:p>
            <a:r>
              <a:rPr lang="en-US" sz="5100" dirty="0"/>
              <a:t>Does the solution need to handle data variety?</a:t>
            </a:r>
          </a:p>
          <a:p>
            <a:r>
              <a:rPr lang="en-US" sz="5100" dirty="0"/>
              <a:t>Does the solution require ability to deal with high data velocity?</a:t>
            </a:r>
          </a:p>
          <a:p>
            <a:r>
              <a:rPr lang="en-US" sz="5100" dirty="0"/>
              <a:t>Does the solution handle high data volume?</a:t>
            </a:r>
          </a:p>
          <a:p>
            <a:r>
              <a:rPr lang="en-US" sz="5100" dirty="0"/>
              <a:t>Can the solution handle complexity?</a:t>
            </a:r>
          </a:p>
          <a:p>
            <a:r>
              <a:rPr lang="en-US" sz="5100" dirty="0"/>
              <a:t>How can you optimize the solution?</a:t>
            </a:r>
            <a:br>
              <a:rPr lang="en-US" sz="5100" dirty="0"/>
            </a:br>
            <a:endParaRPr lang="en-US" sz="5100" dirty="0"/>
          </a:p>
        </p:txBody>
      </p:sp>
    </p:spTree>
    <p:extLst>
      <p:ext uri="{BB962C8B-B14F-4D97-AF65-F5344CB8AC3E}">
        <p14:creationId xmlns:p14="http://schemas.microsoft.com/office/powerpoint/2010/main" val="7881326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1954" y="103030"/>
            <a:ext cx="9668590" cy="557655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914399"/>
            <a:ext cx="2137893" cy="2627291"/>
          </a:xfrm>
        </p:spPr>
        <p:txBody>
          <a:bodyPr>
            <a:normAutofit/>
          </a:bodyPr>
          <a:lstStyle/>
          <a:p>
            <a:r>
              <a:rPr lang="en-US" sz="3600" dirty="0"/>
              <a:t>Case Study: Social Media Analytics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307" y="5679583"/>
            <a:ext cx="9800823" cy="1235082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sz="2800" dirty="0"/>
              <a:t>Using people’s history on internet, what they buy, what they search giving a rough view of attitude on a product.</a:t>
            </a:r>
            <a:br>
              <a:rPr lang="en-US" sz="2800" dirty="0"/>
            </a:br>
            <a:br>
              <a:rPr lang="en-US" sz="2800" dirty="0"/>
            </a:br>
            <a:r>
              <a:rPr lang="en-US" sz="2800" dirty="0"/>
              <a:t>More, these output can be used to study:</a:t>
            </a:r>
            <a:br>
              <a:rPr lang="en-US" sz="2800" dirty="0"/>
            </a:br>
            <a:r>
              <a:rPr lang="en-US" sz="2800" dirty="0"/>
              <a:t>customer satisfaction, churn prediction, financial performance, stock performance.</a:t>
            </a:r>
          </a:p>
        </p:txBody>
      </p:sp>
    </p:spTree>
    <p:extLst>
      <p:ext uri="{BB962C8B-B14F-4D97-AF65-F5344CB8AC3E}">
        <p14:creationId xmlns:p14="http://schemas.microsoft.com/office/powerpoint/2010/main" val="733238334"/>
      </p:ext>
    </p:extLst>
  </p:cSld>
  <p:clrMapOvr>
    <a:masterClrMapping/>
  </p:clrMapOvr>
</p:sld>
</file>

<file path=ppt/theme/theme1.xml><?xml version="1.0" encoding="utf-8"?>
<a:theme xmlns:a="http://schemas.openxmlformats.org/drawingml/2006/main" name="scu-ppt-master">
  <a:themeElements>
    <a:clrScheme name="Grayscale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scu-ppt-master</Template>
  <TotalTime>1367</TotalTime>
  <Words>1141</Words>
  <Application>Microsoft Macintosh PowerPoint</Application>
  <PresentationFormat>Widescreen</PresentationFormat>
  <Paragraphs>172</Paragraphs>
  <Slides>26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5" baseType="lpstr">
      <vt:lpstr>Arial</vt:lpstr>
      <vt:lpstr>Calibri</vt:lpstr>
      <vt:lpstr>Calibri Light</vt:lpstr>
      <vt:lpstr>Courier</vt:lpstr>
      <vt:lpstr>Courier New</vt:lpstr>
      <vt:lpstr>Franklin Gothic Medium Cond</vt:lpstr>
      <vt:lpstr>Helvetica Light</vt:lpstr>
      <vt:lpstr>Wingdings</vt:lpstr>
      <vt:lpstr>scu-ppt-master</vt:lpstr>
      <vt:lpstr>Introduction to Big Data</vt:lpstr>
      <vt:lpstr>What is Big Data?</vt:lpstr>
      <vt:lpstr>Solutions? Cluster Computing</vt:lpstr>
      <vt:lpstr>Solutions? Types of Data</vt:lpstr>
      <vt:lpstr>The need of Big Data…</vt:lpstr>
      <vt:lpstr>Example of Big Data?</vt:lpstr>
      <vt:lpstr>Data Creation</vt:lpstr>
      <vt:lpstr>Big Data Challenges</vt:lpstr>
      <vt:lpstr>Google MapReduce Paper  Revolutionized Big Data (2004)</vt:lpstr>
      <vt:lpstr>Google MapReduce Paper  Hadoop</vt:lpstr>
      <vt:lpstr>PowerPoint Presentation</vt:lpstr>
      <vt:lpstr>Hadoop Architecture</vt:lpstr>
      <vt:lpstr>Problems with Hadoop</vt:lpstr>
      <vt:lpstr>Apache</vt:lpstr>
      <vt:lpstr>Apache                        Example</vt:lpstr>
      <vt:lpstr>Ecosystem Component</vt:lpstr>
      <vt:lpstr>Hadoop vs. Spark</vt:lpstr>
      <vt:lpstr>Big Data’s Characteristic</vt:lpstr>
      <vt:lpstr>Stored Data Processing </vt:lpstr>
      <vt:lpstr>Batch Based Stored Data Processing</vt:lpstr>
      <vt:lpstr>Real Time Data Processing</vt:lpstr>
      <vt:lpstr>Tools and Techniques for analyzing big Data</vt:lpstr>
      <vt:lpstr>Where to Store Big Data</vt:lpstr>
      <vt:lpstr>Accessing the Big Data</vt:lpstr>
      <vt:lpstr>Considering Using big Data</vt:lpstr>
      <vt:lpstr>Case Study: Social Media Analytics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1</dc:title>
  <dc:creator>DigitaCorp</dc:creator>
  <cp:lastModifiedBy>Mahmoud Parsian</cp:lastModifiedBy>
  <cp:revision>64</cp:revision>
  <dcterms:created xsi:type="dcterms:W3CDTF">2016-02-11T03:03:14Z</dcterms:created>
  <dcterms:modified xsi:type="dcterms:W3CDTF">2026-07-14T22:32:39Z</dcterms:modified>
</cp:coreProperties>
</file>