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Fira Code"/>
      <ns0:regular ns1:id="rIdFont18"/>
    </ns0:embeddedFon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74fd405b-bbb1-4115-95f6-268cff49a511.fntdata" /><ns0:Relationship Id="rIdFont19" Type="http://schemas.openxmlformats.org/officeDocument/2006/relationships/font" Target="fonts/e7651a5e-ec9b-43cb-b67e-f05009a653f3.fntdata" /><ns0:Relationship Id="rIdFont20" Type="http://schemas.openxmlformats.org/officeDocument/2006/relationships/font" Target="fonts/1ab9a5c3-94f0-43df-9f14-317a95b0019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759523"/>
            <a:ext cx="609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60376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97316"/>
                </a:solidFill>
                <a:latin typeface="Plus Jakarta Sans"/>
              </a:rPr>
              <a:t>DISTRIBUTED DATA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12801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Transitioning from MapReduce to PySpark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29942"/>
            <a:ext cx="6762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Evolving purely functional map, combine, and reduce patterns into high-performance Spark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1914"/>
            <a:ext cx="3505200" cy="1927621"/>
          </a:xfrm>
          <a:prstGeom prst="roundRect">
            <a:avLst>
              <a:gd name="adj" fmla="val 5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11958"/>
            <a:ext cx="3505200" cy="2167532"/>
          </a:xfrm>
          <a:prstGeom prst="roundRect">
            <a:avLst>
              <a:gd name="adj" fmla="val 52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1958"/>
            <a:ext cx="3505200" cy="2167532"/>
          </a:xfrm>
          <a:prstGeom prst="roundRect">
            <a:avLst>
              <a:gd name="adj" fmla="val 52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84339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64383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FUNCTIONAL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Classic MapReduce Triad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84389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map()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65389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Transforms individual records into key-value intermediate tuples.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564433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combine()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945433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Performs local in-memory pre-aggregation before network shuffle.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564433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reduce()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945433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Aggregates partitioned values globally across key boundary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62175"/>
            <a:ext cx="5257800" cy="3429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62175"/>
            <a:ext cx="52578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PARADIGM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Traditional MapReduce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04542"/>
            <a:ext cx="5353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Disk Overhead: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Mandatory intermediate disk writes between map and reduce stages.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36764"/>
            <a:ext cx="5353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High Latency: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Strict barrier synchronization slows multi-step data pipelines.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268985"/>
            <a:ext cx="5353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Rigid Chaining: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Complex workflows require manual multi-job stringing.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76712"/>
            <a:ext cx="537210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4176712"/>
            <a:ext cx="537210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IN-MEMORY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Spark Core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137" y="2490787"/>
            <a:ext cx="2964656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b="1" sz="7500" i="0" u="none">
                <a:solidFill>
                  <a:srgbClr val="0F172A"/>
                </a:solidFill>
                <a:latin typeface="Plus Jakarta Sans"/>
              </a:rPr>
              <a:t>100x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5137" y="3557587"/>
            <a:ext cx="7727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Plus Jakarta Sans"/>
              </a:rPr>
              <a:t>Faster in-memory computation compared to disk-bound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48" y="4414837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RAM Caching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743" y="4691062"/>
            <a:ext cx="6119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In-memory state persistence across iterations.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8571" y="4414837"/>
            <a:ext cx="63555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Lazy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6443" y="4691062"/>
            <a:ext cx="6119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Optimized DAG graphs compiled before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6081"/>
            <a:ext cx="5372100" cy="1843087"/>
          </a:xfrm>
          <a:prstGeom prst="roundRect">
            <a:avLst>
              <a:gd name="adj" fmla="val 620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828925"/>
            <a:ext cx="5372100" cy="2057400"/>
          </a:xfrm>
          <a:prstGeom prst="roundRect">
            <a:avLst>
              <a:gd name="adj" fmla="val 555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DIRECT EQUIVALENCE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Mapping Primitives to PySpark RDDs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164681"/>
            <a:ext cx="5010150" cy="1385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# Conceptual functional flow words = map(split_words, lines) pairs = map(make_pair, words) combined = combine(local_sum, pairs) result = reduce(global_sum, combined)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3057525"/>
            <a:ext cx="50101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# Idiomatic PySpark RDD word_counts = ( lines.flatMap(lambda line: line.split(" ")) .map(lambda word: (word, 1)) .reduceByKey(lambda a, b: a + b)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64681"/>
            <a:ext cx="614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97316"/>
                </a:solidFill>
                <a:latin typeface="Plus Jakarta Sans"/>
              </a:rPr>
              <a:t>Conceptual MapReduce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479006"/>
            <a:ext cx="5010150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Fira Code"/>
              </a:rPr>
              <a:t># Conceptual functional flow words = map(split_words, lines) pairs = map(make_pair, words) combined = combine(local_sum, pairs) result = reduce(global_sum, combined)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305752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PySpark RDD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371850"/>
            <a:ext cx="501015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Fira Code"/>
              </a:rPr>
              <a:t># Idiomatic PySpark RDD word_counts = ( lines.flatMap(lambda line: line.split(" ")) .map(lambda word: (word, 1)) .reduceByKey(lambda a, b: a + b)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8950"/>
            <a:ext cx="6583709" cy="165735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109" y="2571750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109" y="3952875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MAP-SIDE AGGREGATION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Replacing combine() with combineByKey()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57550"/>
            <a:ext cx="6221759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Plus Jakarta Sans"/>
              </a:rPr>
              <a:t># PySpark combineByKey for average calculation rdd.combineByKey( createCombiner=lambda v: (v, 1), mergeValue=lambda acc, v: (acc[0] + v, acc[1] + 1), mergeCombiners=lambda a, b: (a[0] + b[0], a[1] + b[1])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57550"/>
            <a:ext cx="6221759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# PySpark combineByKey for average calculation rdd.combineByKey( createCombiner=lambda v: (v, 1), mergeValue=lambda acc, v: (acc[0] + v, acc[1] + 1), mergeCombiners=lambda a, b: (a[0] + b[0], a[1] + b[1])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6234" y="2809875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Zero Spill Shuffle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6234" y="3086100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Aggregates records locally before partition transfer.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6234" y="4191000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Type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6234" y="4467225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Converts raw inputs into distinct tuple accumulators.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95637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95637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95637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MODERN SPARK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Beyond RDDs: Modern Spark DataFrames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099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Low-Level RDDs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43337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Explicit functional lambda transformations.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5099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DataFrame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843337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Schema-aware declarative query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099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Catalyst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43337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Automatic physical query plan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2628900" cy="1476375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157537"/>
            <a:ext cx="2628900" cy="1476375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157537"/>
            <a:ext cx="2628900" cy="1476375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157537"/>
            <a:ext cx="2628900" cy="1476375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57537"/>
            <a:ext cx="26289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0900" y="3157537"/>
            <a:ext cx="26289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3157537"/>
            <a:ext cx="26289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157537"/>
            <a:ext cx="26289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EXECUTION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PySpark Execution Stage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4242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718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Input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9671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Loads data into initial RDD partitions.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4242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6718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Lazy Transforms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39671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Builds transformation lineage graph.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42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718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Shuffle Exchange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671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Re-partitions data across network nodes.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34242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STAGE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6718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Action 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9671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Executes DAG and writes output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319462"/>
            <a:ext cx="221456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24162" y="3319462"/>
            <a:ext cx="303430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8470" y="3319462"/>
            <a:ext cx="253097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89441" y="3319462"/>
            <a:ext cx="319295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867150"/>
            <a:ext cx="2214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24162" y="3867150"/>
            <a:ext cx="3034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8470" y="3867150"/>
            <a:ext cx="2530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9441" y="3867150"/>
            <a:ext cx="31929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400550"/>
            <a:ext cx="2214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24162" y="4400550"/>
            <a:ext cx="3034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8470" y="4400550"/>
            <a:ext cx="2530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89441" y="4400550"/>
            <a:ext cx="31929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933950"/>
            <a:ext cx="2214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4162" y="4933950"/>
            <a:ext cx="3034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8470" y="4933950"/>
            <a:ext cx="2530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9441" y="4933950"/>
            <a:ext cx="31929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2805112"/>
          <a:ext cx="10972798" cy="21431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14562"/>
                <a:gridCol w="3034307"/>
                <a:gridCol w="2530971"/>
                <a:gridCol w="3192958"/>
              </a:tblGrid>
              <a:tr h="5357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Classic MapReduce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PySpark RDD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PySpark DataFrame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Disk 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In-Memory RAM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In-Memory Off-Heap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Aggregation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combine() / reduce()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reduceByKey()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groupBy().agg()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578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Optimization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Manual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DAG Lineage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Catalyst Optimizer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PARADIGM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Architectural Paradigm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62250" y="2347912"/>
            <a:ext cx="6667500" cy="83820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62250" y="3338512"/>
            <a:ext cx="6667500" cy="81915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62250" y="4310062"/>
            <a:ext cx="6667500" cy="81915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97015" y="1109662"/>
            <a:ext cx="2797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97316"/>
                </a:solidFill>
                <a:latin typeface="Plus Jakarta Sans"/>
              </a:rPr>
              <a:t>SUMMARY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0534" y="1462087"/>
            <a:ext cx="745093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Key Migration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8765" y="5510212"/>
            <a:ext cx="52744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94A3B8"/>
                </a:solidFill>
                <a:latin typeface="Plus Jakarta Sans"/>
              </a:rPr>
              <a:t>Ready to transform your distributed pipelines?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2750" y="2538412"/>
            <a:ext cx="6381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97316"/>
                </a:solidFill>
                <a:latin typeface="Plus Jakarta Sans"/>
              </a:rPr>
              <a:t>1. Combine Early: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Use </a:t>
            </a:r>
            <a:r>
              <a:rPr b="0" sz="1350" i="0" u="none">
                <a:solidFill>
                  <a:srgbClr val="38BDF8"/>
                </a:solidFill>
                <a:latin typeface="Plus Jakarta Sans"/>
              </a:rPr>
              <a:t>reduceByKey()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or </a:t>
            </a:r>
            <a:r>
              <a:rPr b="0" sz="1350" i="0" u="none">
                <a:solidFill>
                  <a:srgbClr val="38BDF8"/>
                </a:solidFill>
                <a:latin typeface="Plus Jakarta Sans"/>
              </a:rPr>
              <a:t>combineByKey()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to reduce shuffle overhead.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2750" y="3529012"/>
            <a:ext cx="6381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97316"/>
                </a:solidFill>
                <a:latin typeface="Plus Jakarta Sans"/>
              </a:rPr>
              <a:t>2. Eliminate Disk I/O: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Leverage Spark's in-memory caching for iterative computations.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2750" y="4500562"/>
            <a:ext cx="6381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97316"/>
                </a:solidFill>
                <a:latin typeface="Plus Jakarta Sans"/>
              </a:rPr>
              <a:t>3. Adopt DataFrames: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Transition from low-level RDD operations to catalyst-optimized DataFrames.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50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https://static.pingcap.com/files/2023/08/17235704/Distributed-SQL-Databases.png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500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www.pingcap.com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