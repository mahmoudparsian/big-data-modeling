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</ns0:sldIdLst>
  <ns0:sldSz cx="12192000" cy="6858000" type="screen4x3"/>
  <ns0:notesSz cx="6858000" cy="9144000"/>
  <ns0:embeddedFontLst>
    <ns0:embeddedFont>
      <ns0:font typeface="Plus Jakarta Sans"/>
      <ns0:bold ns1:id="rIdFont24"/>
      <ns0:regular ns1:id="rIdFont25"/>
    </ns0:embeddedFont>
    <ns0:embeddedFont>
      <ns0:font typeface="Fira Code"/>
      <ns0:regular ns1:id="rIdFont26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Font24" Type="http://schemas.openxmlformats.org/officeDocument/2006/relationships/font" Target="fonts/ca92720d-5aed-4632-a6e4-774fc4b51fd5.fntdata" /><ns0:Relationship Id="rIdFont25" Type="http://schemas.openxmlformats.org/officeDocument/2006/relationships/font" Target="fonts/24a7c4d6-7c26-4fdd-a6f2-01e7d9246049.fntdata" /><ns0:Relationship Id="rIdFont26" Type="http://schemas.openxmlformats.org/officeDocument/2006/relationships/font" Target="fonts/7cbd2c74-15d9-4358-bb5d-ac7c2e115de1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52788"/>
            <a:ext cx="6096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2366962"/>
            <a:ext cx="114300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284C7"/>
                </a:solidFill>
                <a:latin typeface="Plus Jakarta Sans"/>
              </a:rPr>
              <a:t>DISTRIBUTED DATA 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719387"/>
            <a:ext cx="11251406" cy="6133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b="1" sz="4200" i="0" u="none">
                <a:solidFill>
                  <a:srgbClr val="F8FAFC"/>
                </a:solidFill>
                <a:latin typeface="Plus Jakarta Sans"/>
              </a:rPr>
              <a:t>Introduction to PySpark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3523208"/>
            <a:ext cx="723900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10"/>
              </a:lnSpc>
            </a:pPr>
            <a:r>
              <a:rPr b="0" sz="1650" i="0" u="none">
                <a:solidFill>
                  <a:srgbClr val="94A3B8"/>
                </a:solidFill>
                <a:latin typeface="Plus Jakarta Sans"/>
              </a:rPr>
              <a:t>PySpark in Action: Building scalable, high-performance data pipelines with Apache Spark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1914"/>
            <a:ext cx="3505200" cy="1927621"/>
          </a:xfrm>
          <a:prstGeom prst="roundRect">
            <a:avLst>
              <a:gd name="adj" fmla="val 5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1914"/>
            <a:ext cx="3505200" cy="1927621"/>
          </a:xfrm>
          <a:prstGeom prst="roundRect">
            <a:avLst>
              <a:gd name="adj" fmla="val 5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1914"/>
            <a:ext cx="3505200" cy="1927621"/>
          </a:xfrm>
          <a:prstGeom prst="roundRect">
            <a:avLst>
              <a:gd name="adj" fmla="val 5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84339"/>
            <a:ext cx="20002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84339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84339"/>
            <a:ext cx="200025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FOUNDATIONAL CONCEPTS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What is Apache Spark &amp; PySpark?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84389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Unified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65389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Distributed cluster computing engine for massive analytical tasks.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84389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In-Memory Speed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65389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RAM caching eliminates disk bottlenecks for fast execution.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84389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Python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65389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PySpark exposes Spark Scala performance to Python developers.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4600" y="2162175"/>
            <a:ext cx="5257800" cy="3429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4600" y="2162175"/>
            <a:ext cx="52578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DISTRIBUTED TOPOLOGY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Spark Cluster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004542"/>
            <a:ext cx="5353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Driver Node: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Orchestrates execution, creates DAG graphs, schedules worker tasks.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3636764"/>
            <a:ext cx="5353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Cluster Manager: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Allocates resources across YARN, Kubernetes, or Standalone clusters.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4268985"/>
            <a:ext cx="535305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Executor Nodes: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Execute task partitions in parallel and cache in-memory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286000"/>
            <a:ext cx="6583709" cy="3143250"/>
          </a:xfrm>
          <a:prstGeom prst="roundRect">
            <a:avLst>
              <a:gd name="adj" fmla="val 3636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109" y="2571750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109" y="3952875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APPLICATION BOOTSTRAP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SparkSession: Unified Entry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514600"/>
            <a:ext cx="6221759" cy="2686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F8FAFC"/>
                </a:solidFill>
                <a:latin typeface="Plus Jakarta Sans"/>
              </a:rPr>
              <a:t>from pyspark.sql import SparkSession # Build or retrieve existing session spark = ( SparkSession.builder .appName("PySparkInAction") .config("spark.executor.memory", "4g") .getOrCreate() ) # Access low-level context sc = spark.sparkContext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514600"/>
            <a:ext cx="7658137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Python Session Initialization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8200" y="2800350"/>
            <a:ext cx="6221759" cy="240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from pyspark.sql import SparkSession # Build or retrieve existing session spark = ( SparkSession.builder .appName("PySparkInAction") .config("spark.executor.memory", "4g") .getOrCreate() ) # Access low-level context sc = spark.sparkContext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6234" y="2809875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Unified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6234" y="3086100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Combines SQLContext, HiveContext, and SparkContext.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6234" y="4191000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Declarative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6234" y="4467225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Sets runtime memory, cores, and package extensions.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796778"/>
            <a:ext cx="5334000" cy="2159793"/>
          </a:xfrm>
          <a:prstGeom prst="roundRect">
            <a:avLst>
              <a:gd name="adj" fmla="val 529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676822"/>
            <a:ext cx="5334000" cy="2399704"/>
          </a:xfrm>
          <a:prstGeom prst="roundRect">
            <a:avLst>
              <a:gd name="adj" fmla="val 4763"/>
            </a:avLst>
          </a:prstGeom>
          <a:solidFill>
            <a:srgbClr val="F0F9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ABSTRACTIONS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RDDs vs. Modern DataFrames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073003"/>
            <a:ext cx="6275784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Resilient Distributed Datasets (RDD)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24625" y="2953047"/>
            <a:ext cx="56673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PySpark DataFrames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492103"/>
            <a:ext cx="59769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Low-Level API: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Functional lambda transformations.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846314"/>
            <a:ext cx="5976937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Unstructured: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No built-in relational schema awareness.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825" y="4200525"/>
            <a:ext cx="487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Manual Tuning: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Lacks automatic execution plan optimization.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4625" y="3372147"/>
            <a:ext cx="487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284C7"/>
                </a:solidFill>
                <a:latin typeface="Plus Jakarta Sans"/>
              </a:rPr>
              <a:t>High-Level API:</a:t>
            </a:r>
            <a:r>
              <a:rPr b="0" sz="1350" i="0" u="none">
                <a:solidFill>
                  <a:srgbClr val="0369A1"/>
                </a:solidFill>
                <a:latin typeface="Plus Jakarta Sans"/>
              </a:rPr>
              <a:t> Tabular structure with named typed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4625" y="3966269"/>
            <a:ext cx="5667375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284C7"/>
                </a:solidFill>
                <a:latin typeface="Plus Jakarta Sans"/>
              </a:rPr>
              <a:t>Catalyst Engine:</a:t>
            </a:r>
            <a:r>
              <a:rPr b="0" sz="1350" i="0" u="none">
                <a:solidFill>
                  <a:srgbClr val="0369A1"/>
                </a:solidFill>
                <a:latin typeface="Plus Jakarta Sans"/>
              </a:rPr>
              <a:t> Automatic physical query optimization.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4625" y="4320480"/>
            <a:ext cx="4876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284C7"/>
                </a:solidFill>
                <a:latin typeface="Plus Jakarta Sans"/>
              </a:rPr>
              <a:t>Tungsten Memory:</a:t>
            </a:r>
            <a:r>
              <a:rPr b="0" sz="1350" i="0" u="none">
                <a:solidFill>
                  <a:srgbClr val="0369A1"/>
                </a:solidFill>
                <a:latin typeface="Plus Jakarta Sans"/>
              </a:rPr>
              <a:t> Off-heap memory storage and binary encoding.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33737"/>
            <a:ext cx="2600325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00425" y="3124200"/>
            <a:ext cx="2600325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91250" y="3124200"/>
            <a:ext cx="2600325" cy="1543050"/>
          </a:xfrm>
          <a:prstGeom prst="roundRect">
            <a:avLst>
              <a:gd name="adj" fmla="val 740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82075" y="3233737"/>
            <a:ext cx="2600325" cy="1323975"/>
          </a:xfrm>
          <a:prstGeom prst="roundRect">
            <a:avLst>
              <a:gd name="adj" fmla="val 863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INGESTION &amp; STORAGE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Multi-Format Data Ingestion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509962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CSV / 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5825" y="3843337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Schema inference with header parsing options.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6650" y="34004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JSON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6650" y="3733800"/>
            <a:ext cx="21431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Handles semi-structured nested documents seamlessly.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7475" y="3400425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Apache Parquet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7475" y="3733800"/>
            <a:ext cx="2143125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Columnar binary format with snippet compression.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8300" y="3509962"/>
            <a:ext cx="268783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Delta Lake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58300" y="3843337"/>
            <a:ext cx="2143125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ACID storage layer with time-travel versioning.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8887"/>
            <a:ext cx="6583709" cy="2657475"/>
          </a:xfrm>
          <a:prstGeom prst="roundRect">
            <a:avLst>
              <a:gd name="adj" fmla="val 430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109" y="2795587"/>
            <a:ext cx="4084290" cy="1095375"/>
          </a:xfrm>
          <a:prstGeom prst="roundRect">
            <a:avLst>
              <a:gd name="adj" fmla="val 1043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109" y="4043362"/>
            <a:ext cx="4084290" cy="876300"/>
          </a:xfrm>
          <a:prstGeom prst="roundRect">
            <a:avLst>
              <a:gd name="adj" fmla="val 130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DATA WRANGLING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Essential DataFrame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757487"/>
            <a:ext cx="6221759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Plus Jakarta Sans"/>
              </a:rPr>
              <a:t>from pyspark.sql.functions import col, when # Select, filter, and derive new columns processed_df = ( df.select("user_id", "status", "amount") .filter(col("status") == "COMPLETED") .withColumn("tier", when(col("amount") &gt; 500, "PREMIUM") .otherwise("STANDARD") 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57487"/>
            <a:ext cx="6221759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from pyspark.sql.functions import col, when # Select, filter, and derive new columns processed_df = ( df.select("user_id", "status", "amount") .filter(col("status") == "COMPLETED") .withColumn("tier", when(col("amount") &gt; 500, "PREMIUM") .otherwise("STANDARD")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98134" y="2995612"/>
            <a:ext cx="44938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Column Projections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98134" y="3252787"/>
            <a:ext cx="37794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Pushes column filtering down to source readers.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98134" y="4243387"/>
            <a:ext cx="44938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Conditional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98134" y="4500562"/>
            <a:ext cx="44938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Evaluates fast vectorized IF-ELSE branching.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97683"/>
            <a:ext cx="5334000" cy="1957982"/>
          </a:xfrm>
          <a:prstGeom prst="roundRect">
            <a:avLst>
              <a:gd name="adj" fmla="val 38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2897683"/>
            <a:ext cx="5334000" cy="1957982"/>
          </a:xfrm>
          <a:prstGeom prst="roundRect">
            <a:avLst>
              <a:gd name="adj" fmla="val 3891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9600" y="2897683"/>
            <a:ext cx="53340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48400" y="2897683"/>
            <a:ext cx="5334000" cy="38100"/>
          </a:xfrm>
          <a:prstGeom prst="rect">
            <a:avLst/>
          </a:prstGeom>
          <a:solidFill>
            <a:srgbClr val="F973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EXECUTION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Transformations vs.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3202483"/>
            <a:ext cx="6300787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Transformations (Lazy)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202483"/>
            <a:ext cx="5676900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Actions (Eager)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3621583"/>
            <a:ext cx="6000750" cy="258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Examples: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filter()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select()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groupBy()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994844"/>
            <a:ext cx="60007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Behavior: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Returns a new DataFrame without computing.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349055"/>
            <a:ext cx="600075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DAG Building: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Records computational graph instructions.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3621583"/>
            <a:ext cx="5676900" cy="2589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Examples: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count()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collect()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, </a:t>
            </a:r>
            <a:r>
              <a:rPr b="0" sz="1350" i="0" u="none">
                <a:solidFill>
                  <a:srgbClr val="0F172A"/>
                </a:solidFill>
                <a:latin typeface="Plus Jakarta Sans"/>
              </a:rPr>
              <a:t>write()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5100" y="3994844"/>
            <a:ext cx="56769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Behavior: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Triggers execution across the Spark cluster.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5100" y="4349055"/>
            <a:ext cx="5676900" cy="23991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1" sz="1350" i="0" u="none">
                <a:solidFill>
                  <a:srgbClr val="0F172A"/>
                </a:solidFill>
                <a:latin typeface="Plus Jakarta Sans"/>
              </a:rPr>
              <a:t>Materialization:</a:t>
            </a:r>
            <a:r>
              <a:rPr b="0" sz="1350" i="0" u="none">
                <a:solidFill>
                  <a:srgbClr val="334155"/>
                </a:solidFill>
                <a:latin typeface="Plus Jakarta Sans"/>
              </a:rPr>
              <a:t> Produces driver outputs or writes storage.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8887"/>
            <a:ext cx="6583709" cy="2657475"/>
          </a:xfrm>
          <a:prstGeom prst="roundRect">
            <a:avLst>
              <a:gd name="adj" fmla="val 430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109" y="2571750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109" y="3952875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ANALYTICAL REDUCTIONS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Aggregations &amp; Grouping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757487"/>
            <a:ext cx="6221759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Plus Jakarta Sans"/>
              </a:rPr>
              <a:t>from pyspark.sql import functions as F # Grouping and multiple column aggregations summary_df = ( df.groupBy("region", "category") .agg( F.count("order_id").alias("total_orders"), F.sum("amount").alias("total_revenue"), F.avg("amount").alias("avg_spend") 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57487"/>
            <a:ext cx="6221759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from pyspark.sql import functions as F # Grouping and multiple column aggregations summary_df = ( df.groupBy("region", "category") .agg( F.count("order_id").alias("total_orders"), F.sum("amount").alias("total_revenue"), F.avg("amount").alias("avg_spend") 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6234" y="2809875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Map-Side Combine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6234" y="3086100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Reduces local partition records before network transfer.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6234" y="4191000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Built-in Expressions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6234" y="4467225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Optimized Scala expression execution engine.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31914"/>
            <a:ext cx="3505200" cy="1927621"/>
          </a:xfrm>
          <a:prstGeom prst="roundRect">
            <a:avLst>
              <a:gd name="adj" fmla="val 5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31914"/>
            <a:ext cx="3505200" cy="1927621"/>
          </a:xfrm>
          <a:prstGeom prst="roundRect">
            <a:avLst>
              <a:gd name="adj" fmla="val 5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31914"/>
            <a:ext cx="3505200" cy="1927621"/>
          </a:xfrm>
          <a:prstGeom prst="roundRect">
            <a:avLst>
              <a:gd name="adj" fmla="val 592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284339"/>
            <a:ext cx="228600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284339"/>
            <a:ext cx="257175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284339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DISTRIBUTED JOINS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Joins &amp; Shuffle Mechanics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684389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Shuffle Hash Join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65389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Exchanges data over network partitions for large table joins.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684389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Broadcast Join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65389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Replicates small dimension lookup tables to every worker executor.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684389"/>
            <a:ext cx="3775471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Sort-Merge Join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65389"/>
            <a:ext cx="2971800" cy="4798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Sorts keys before joining massive skewed datasets cleanly.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5278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5278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52787"/>
            <a:ext cx="3505200" cy="1209675"/>
          </a:xfrm>
          <a:prstGeom prst="roundRect">
            <a:avLst>
              <a:gd name="adj" fmla="val 944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PERFORMANCE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Optimization Pillars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7725" y="3490912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Partitioning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7725" y="3767137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Aligns tasks with data blocks using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repartition()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81525" y="3490912"/>
            <a:ext cx="397549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Caching &amp; Persist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525" y="3767137"/>
            <a:ext cx="3124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Saves intermediate dataframes in memory using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cache()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5325" y="3490912"/>
            <a:ext cx="38766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AQE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5325" y="3767137"/>
            <a:ext cx="31242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Adaptive Query Execution optimizes runtime shuffle plans.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528887"/>
            <a:ext cx="6583709" cy="2657475"/>
          </a:xfrm>
          <a:prstGeom prst="roundRect">
            <a:avLst>
              <a:gd name="adj" fmla="val 430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498109" y="2571750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498109" y="3952875"/>
            <a:ext cx="4084290" cy="1190625"/>
          </a:xfrm>
          <a:prstGeom prst="roundRect">
            <a:avLst>
              <a:gd name="adj" fmla="val 960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DECLARATIVE QUERYING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PySpark SQL Integration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2757487"/>
            <a:ext cx="6221759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F8FAFC"/>
                </a:solidFill>
                <a:latin typeface="Plus Jakarta Sans"/>
              </a:rPr>
              <a:t># Register DataFrame as temporary SQL view df.createOrReplaceTempView("transactions") # Run pure ANSI SQL queries directly result_df = spark.sql(""" SELECT region, COUNT(*) as total_tx FROM transactions WHERE status = 'SUCCESS' GROUP BY region HAVING total_tx &gt; 100 """)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2757487"/>
            <a:ext cx="6221759" cy="22002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F8FAFC"/>
                </a:solidFill>
                <a:latin typeface="Fira Code"/>
              </a:rPr>
              <a:t># Register DataFrame as temporary SQL view df.createOrReplaceTempView("transactions") # Run pure ANSI SQL queries directly result_df = spark.sql(""" SELECT region, COUNT(*) as total_tx FROM transactions WHERE status = 'SUCCESS' GROUP BY region HAVING total_tx &gt; 100 """)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36234" y="2809875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ANSI Interoperability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36234" y="3086100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Blends standard SQL statements with Python code pipelines.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36234" y="4191000"/>
            <a:ext cx="445576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Shared Optimization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36234" y="4467225"/>
            <a:ext cx="370329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Translates SQL queries directly into Catalyst RDD plans.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67037"/>
            <a:ext cx="3505200" cy="1857375"/>
          </a:xfrm>
          <a:prstGeom prst="roundRect">
            <a:avLst>
              <a:gd name="adj" fmla="val 615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2976562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976562"/>
            <a:ext cx="3505200" cy="1838325"/>
          </a:xfrm>
          <a:prstGeom prst="roundRect">
            <a:avLst>
              <a:gd name="adj" fmla="val 621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319462"/>
            <a:ext cx="257175" cy="228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3328987"/>
            <a:ext cx="22860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91525" y="3328987"/>
            <a:ext cx="285750" cy="2286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DISTRIBUTED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PySpark MLlib Pipelines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719512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Feature Transformers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052887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Combines input feature columns using </a:t>
            </a:r>
            <a:r>
              <a:rPr b="0" sz="1350" i="0" u="none">
                <a:solidFill>
                  <a:srgbClr val="0284C7"/>
                </a:solidFill>
                <a:latin typeface="Plus Jakarta Sans"/>
              </a:rPr>
              <a:t>VectorAssembler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57725" y="37290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Distributed Estimators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725" y="406241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Trains parallel models using Random Forest or Logistic Regression.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1525" y="3729037"/>
            <a:ext cx="377547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Pipeline Execution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1525" y="4062412"/>
            <a:ext cx="29718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Chains transformation stages into reproducible workflows.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2628900" cy="1695450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3048000"/>
            <a:ext cx="2628900" cy="1695450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3048000"/>
            <a:ext cx="2628900" cy="1695450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3048000"/>
            <a:ext cx="2628900" cy="1695450"/>
          </a:xfrm>
          <a:prstGeom prst="roundRect">
            <a:avLst>
              <a:gd name="adj" fmla="val 4494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600" y="304800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90900" y="304800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72200" y="304800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953500" y="3048000"/>
            <a:ext cx="2628900" cy="3810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REAL-TIME DATA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Structured Streaming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8200" y="331470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8200" y="3562350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Stream Source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200" y="3857625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Reads live data streams from Kafka or Event Hubs.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9500" y="331470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9500" y="3562350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Micro-Batching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9500" y="3857625"/>
            <a:ext cx="22669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Processes continuous input streams in discrete batches.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31470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562350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State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857625"/>
            <a:ext cx="226695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Tracks event-time aggregations with watermarking.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2100" y="3314700"/>
            <a:ext cx="2714625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STAGE 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2100" y="3562350"/>
            <a:ext cx="285035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Sink 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2100" y="3857625"/>
            <a:ext cx="226695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Writes results out to Delta, Parquet, or databases.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1325"/>
            <a:ext cx="26289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390900" y="2981325"/>
            <a:ext cx="26289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172200" y="2981325"/>
            <a:ext cx="26289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953500" y="2981325"/>
            <a:ext cx="2628900" cy="1828800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257550"/>
            <a:ext cx="171450" cy="2286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025" y="3257550"/>
            <a:ext cx="228600" cy="2286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0325" y="3257550"/>
            <a:ext cx="171450" cy="22860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91625" y="3257550"/>
            <a:ext cx="200025" cy="228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END-TO-END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9600" y="70485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PySpark in Action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7725" y="361950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1.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3914775"/>
            <a:ext cx="22479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Reads S3/HDFS storage with explicit schema definition.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29025" y="361950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2. Wrangling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29025" y="3914775"/>
            <a:ext cx="22479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Applies column casting, null handling, and string cleansing.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0325" y="361950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3. Aggregation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0325" y="3914775"/>
            <a:ext cx="22479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Executes window functions and grouped metrics calculation.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91625" y="3619500"/>
            <a:ext cx="282535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4. Delta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91625" y="3914775"/>
            <a:ext cx="2247900" cy="657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Saves partitioned Delta tables for fast downstream analytics.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4125" y="2466975"/>
            <a:ext cx="7143750" cy="81915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524125" y="3438525"/>
            <a:ext cx="7143750" cy="600075"/>
          </a:xfrm>
          <a:prstGeom prst="roundRect">
            <a:avLst>
              <a:gd name="adj" fmla="val 12698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4125" y="4191000"/>
            <a:ext cx="7143750" cy="819150"/>
          </a:xfrm>
          <a:prstGeom prst="roundRect">
            <a:avLst>
              <a:gd name="adj" fmla="val 9302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697015" y="1228725"/>
            <a:ext cx="2797968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200" i="0" u="none">
                <a:solidFill>
                  <a:srgbClr val="0284C7"/>
                </a:solidFill>
                <a:latin typeface="Plus Jakarta Sans"/>
              </a:rPr>
              <a:t>SUMMARY &amp; NEXT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82985" y="1581150"/>
            <a:ext cx="8226028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8FAFC"/>
                </a:solidFill>
                <a:latin typeface="Plus Jakarta Sans"/>
              </a:rPr>
              <a:t>Mastering PySpark in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49265" y="5391150"/>
            <a:ext cx="4893468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500" i="0" u="none">
                <a:solidFill>
                  <a:srgbClr val="94A3B8"/>
                </a:solidFill>
                <a:latin typeface="Plus Jakarta Sans"/>
              </a:rPr>
              <a:t>Ready to scale your Python data pipelines?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14625" y="2657475"/>
            <a:ext cx="6858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1. Leverage DataFrames: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Prefer DataFrame/SQL APIs over low-level RDD transformations.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14625" y="3629025"/>
            <a:ext cx="8453437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2. Optimize Shuffles: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Use broadcast joins and tune partition sizes to prevent skew.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4625" y="4381500"/>
            <a:ext cx="6858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284C7"/>
                </a:solidFill>
                <a:latin typeface="Plus Jakarta Sans"/>
              </a:rPr>
              <a:t>3. Unify Workloads:</a:t>
            </a:r>
            <a:r>
              <a:rPr b="0" sz="1350" i="0" u="none">
                <a:solidFill>
                  <a:srgbClr val="F8FAFC"/>
                </a:solidFill>
                <a:latin typeface="Plus Jakarta Sans"/>
              </a:rPr>
              <a:t> Run batch, streaming, and MLlib modeling on one SparkSession.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000125"/>
            <a:ext cx="857250" cy="4762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71500" y="571500"/>
            <a:ext cx="2187773" cy="2857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66875" y="1038225"/>
            <a:ext cx="59055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F172A"/>
                </a:solidFill>
                <a:latin typeface="Plus Jakarta Sans"/>
              </a:rPr>
              <a:t>https://miro.medium.com/v2/resize:fit:666/1*vh1hFhWU0w0CzCiA64Xy3A.png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66875" y="1238250"/>
            <a:ext cx="197643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F172A"/>
                </a:solidFill>
                <a:latin typeface="Plus Jakarta Sans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Plus Jakarta Sans"/>
              </a:rPr>
              <a:t>medium.com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