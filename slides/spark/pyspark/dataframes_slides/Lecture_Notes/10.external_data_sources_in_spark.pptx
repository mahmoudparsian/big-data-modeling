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7" r:id="rId1"/>
  </p:sldMasterIdLst>
  <p:notesMasterIdLst>
    <p:notesMasterId r:id="rId55"/>
  </p:notesMasterIdLst>
  <p:handoutMasterIdLst>
    <p:handoutMasterId r:id="rId56"/>
  </p:handoutMasterIdLst>
  <p:sldIdLst>
    <p:sldId id="265" r:id="rId2"/>
    <p:sldId id="324" r:id="rId3"/>
    <p:sldId id="366" r:id="rId4"/>
    <p:sldId id="393" r:id="rId5"/>
    <p:sldId id="392" r:id="rId6"/>
    <p:sldId id="367" r:id="rId7"/>
    <p:sldId id="395" r:id="rId8"/>
    <p:sldId id="396" r:id="rId9"/>
    <p:sldId id="419" r:id="rId10"/>
    <p:sldId id="415" r:id="rId11"/>
    <p:sldId id="416" r:id="rId12"/>
    <p:sldId id="397" r:id="rId13"/>
    <p:sldId id="398" r:id="rId14"/>
    <p:sldId id="394" r:id="rId15"/>
    <p:sldId id="373" r:id="rId16"/>
    <p:sldId id="417" r:id="rId17"/>
    <p:sldId id="391" r:id="rId18"/>
    <p:sldId id="390" r:id="rId19"/>
    <p:sldId id="374" r:id="rId20"/>
    <p:sldId id="399" r:id="rId21"/>
    <p:sldId id="375" r:id="rId22"/>
    <p:sldId id="376" r:id="rId23"/>
    <p:sldId id="377" r:id="rId24"/>
    <p:sldId id="378" r:id="rId25"/>
    <p:sldId id="380" r:id="rId26"/>
    <p:sldId id="379" r:id="rId27"/>
    <p:sldId id="383" r:id="rId28"/>
    <p:sldId id="401" r:id="rId29"/>
    <p:sldId id="400" r:id="rId30"/>
    <p:sldId id="384" r:id="rId31"/>
    <p:sldId id="385" r:id="rId32"/>
    <p:sldId id="386" r:id="rId33"/>
    <p:sldId id="388" r:id="rId34"/>
    <p:sldId id="387" r:id="rId35"/>
    <p:sldId id="389" r:id="rId36"/>
    <p:sldId id="402" r:id="rId37"/>
    <p:sldId id="403" r:id="rId38"/>
    <p:sldId id="405" r:id="rId39"/>
    <p:sldId id="404" r:id="rId40"/>
    <p:sldId id="406" r:id="rId41"/>
    <p:sldId id="407" r:id="rId42"/>
    <p:sldId id="408" r:id="rId43"/>
    <p:sldId id="409" r:id="rId44"/>
    <p:sldId id="412" r:id="rId45"/>
    <p:sldId id="413" r:id="rId46"/>
    <p:sldId id="410" r:id="rId47"/>
    <p:sldId id="411" r:id="rId48"/>
    <p:sldId id="414" r:id="rId49"/>
    <p:sldId id="420" r:id="rId50"/>
    <p:sldId id="418" r:id="rId51"/>
    <p:sldId id="960" r:id="rId52"/>
    <p:sldId id="961" r:id="rId53"/>
    <p:sldId id="962" r:id="rId5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B9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81" autoAdjust="0"/>
    <p:restoredTop sz="88836" autoAdjust="0"/>
  </p:normalViewPr>
  <p:slideViewPr>
    <p:cSldViewPr snapToGrid="0" snapToObjects="1">
      <p:cViewPr varScale="1">
        <p:scale>
          <a:sx n="150" d="100"/>
          <a:sy n="150" d="100"/>
        </p:scale>
        <p:origin x="792" y="1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Blue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 </c:v>
                </c:pt>
                <c:pt idx="3">
                  <c:v>Q4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18-D943-8C40-52164BEEFE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Orange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 </c:v>
                </c:pt>
                <c:pt idx="3">
                  <c:v>Q4 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18-D943-8C40-52164BEEFE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Green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 </c:v>
                </c:pt>
                <c:pt idx="3">
                  <c:v>Q4 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18-D943-8C40-52164BEEF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108891544"/>
        <c:axId val="-2109382456"/>
      </c:barChart>
      <c:valAx>
        <c:axId val="-2109382456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Title</a:t>
                </a:r>
              </a:p>
            </c:rich>
          </c:tx>
          <c:overlay val="0"/>
        </c:title>
        <c:numFmt formatCode="0%" sourceLinked="1"/>
        <c:majorTickMark val="none"/>
        <c:minorTickMark val="none"/>
        <c:tickLblPos val="nextTo"/>
        <c:crossAx val="-2108891544"/>
        <c:crosses val="autoZero"/>
        <c:crossBetween val="between"/>
      </c:valAx>
      <c:catAx>
        <c:axId val="-210889154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09382456"/>
        <c:crosses val="autoZero"/>
        <c:auto val="1"/>
        <c:lblAlgn val="ctr"/>
        <c:lblOffset val="100"/>
        <c:noMultiLvlLbl val="0"/>
      </c:catAx>
    </c:plotArea>
    <c:legend>
      <c:legendPos val="r"/>
      <c:overlay val="0"/>
    </c:legend>
    <c:plotVisOnly val="1"/>
    <c:dispBlanksAs val="zero"/>
    <c:showDLblsOverMax val="0"/>
  </c:chart>
  <c:txPr>
    <a:bodyPr/>
    <a:lstStyle/>
    <a:p>
      <a:pPr>
        <a:defRPr sz="1200">
          <a:solidFill>
            <a:schemeClr val="tx1">
              <a:lumMod val="75000"/>
              <a:lumOff val="25000"/>
            </a:schemeClr>
          </a:solidFill>
          <a:latin typeface="Source Sans Pro Light"/>
        </a:defRPr>
      </a:pPr>
      <a:endParaRPr lang="en-US"/>
    </a:p>
  </c:txPr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F1A25-DA02-B94D-83E7-38F452A4DD0B}" type="datetimeFigureOut">
              <a:rPr lang="en-US" smtClean="0"/>
              <a:t>9/3/26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C09CB-2270-054A-9B13-647CA8C3F1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0393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D608E-326B-064D-8838-D0E4D51BA537}" type="datetimeFigureOut">
              <a:rPr lang="en-US" smtClean="0"/>
              <a:t>9/3/26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D4D4E-5193-8942-A6D2-CAFDBF6BEB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1427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459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042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66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195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303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9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84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180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281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906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864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489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7C4FBC-5220-9747-9139-414F213DFDAF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49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7C4FBC-5220-9747-9139-414F213DFDAF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04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7C4FBC-5220-9747-9139-414F213DFDAF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8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" y="2993501"/>
            <a:ext cx="6858000" cy="1046663"/>
          </a:xfrm>
        </p:spPr>
        <p:txBody>
          <a:bodyPr anchor="b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" y="4040164"/>
            <a:ext cx="6858000" cy="417536"/>
          </a:xfrm>
        </p:spPr>
        <p:txBody>
          <a:bodyPr/>
          <a:lstStyle>
            <a:lvl1pPr marL="0" indent="0" algn="l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4" y="4700455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40832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55132"/>
            <a:ext cx="6858000" cy="2302872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367206"/>
            <a:ext cx="6858000" cy="467261"/>
          </a:xfrm>
        </p:spPr>
        <p:txBody>
          <a:bodyPr/>
          <a:lstStyle>
            <a:lvl1pPr marL="0" indent="0" algn="ctr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4" y="4700455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6538633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B50043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4" y="4700455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5711467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3270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075625"/>
            <a:ext cx="4024312" cy="404813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83473"/>
            <a:ext cx="7886700" cy="304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757480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638" y="732462"/>
            <a:ext cx="7886700" cy="75285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638" y="283978"/>
            <a:ext cx="4024312" cy="404813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38" y="1583473"/>
            <a:ext cx="7886700" cy="1541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220872"/>
            <a:ext cx="9144000" cy="19226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19455073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021" y="811348"/>
            <a:ext cx="4023953" cy="11783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938" y="406953"/>
            <a:ext cx="4024312" cy="404813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021" y="2067339"/>
            <a:ext cx="8303872" cy="25653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7239330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1" y="880520"/>
            <a:ext cx="2749209" cy="11783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8" y="476125"/>
            <a:ext cx="2749454" cy="404813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1" y="476125"/>
            <a:ext cx="5035292" cy="2095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220872"/>
            <a:ext cx="9144000" cy="19226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077001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0" y="2689542"/>
            <a:ext cx="2749209" cy="11783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7" y="2285147"/>
            <a:ext cx="2749454" cy="404813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2285147"/>
            <a:ext cx="5035292" cy="2095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19226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4" y="4700455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890615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1" y="1215743"/>
            <a:ext cx="2749209" cy="11783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8" y="811348"/>
            <a:ext cx="2749454" cy="404813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1" y="811349"/>
            <a:ext cx="5035292" cy="176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657601" y="2750585"/>
            <a:ext cx="5035292" cy="176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578581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5096" y="1098671"/>
            <a:ext cx="5035292" cy="6243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5096" y="638129"/>
            <a:ext cx="2749454" cy="404813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5096" y="1778794"/>
            <a:ext cx="5035292" cy="2384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2879679" cy="51435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997060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24" y="833232"/>
            <a:ext cx="4407083" cy="1022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4224" y="399987"/>
            <a:ext cx="2749454" cy="404813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24" y="1884528"/>
            <a:ext cx="4407083" cy="24814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32058" y="1200150"/>
            <a:ext cx="2743200" cy="27432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251073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252" y="808793"/>
            <a:ext cx="2749209" cy="11783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1168" y="2003332"/>
            <a:ext cx="2749454" cy="404813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756" y="808793"/>
            <a:ext cx="2514599" cy="3750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88149" y="808794"/>
            <a:ext cx="2514599" cy="37507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5132069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89" y="810931"/>
            <a:ext cx="6591807" cy="8118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7" y="406536"/>
            <a:ext cx="2749454" cy="404813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107" y="1870384"/>
            <a:ext cx="3206494" cy="28400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36503" y="1870384"/>
            <a:ext cx="3206494" cy="28400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979533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6800" y="1215744"/>
            <a:ext cx="2749209" cy="11783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6800" y="2390362"/>
            <a:ext cx="2749454" cy="404813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479" y="335543"/>
            <a:ext cx="5035292" cy="1178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48479" y="1801202"/>
            <a:ext cx="5035292" cy="1178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48479" y="3262454"/>
            <a:ext cx="5035292" cy="1178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6999435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0" y="810931"/>
            <a:ext cx="6466444" cy="8118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7" y="406536"/>
            <a:ext cx="2749454" cy="404813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107" y="1865585"/>
            <a:ext cx="2575872" cy="28400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4064" y="1865585"/>
            <a:ext cx="2575872" cy="28400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17021" y="1865585"/>
            <a:ext cx="2575872" cy="28400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8976565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778" y="271067"/>
            <a:ext cx="6466444" cy="811840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7273" y="1127153"/>
            <a:ext cx="2749454" cy="404813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453" y="1705288"/>
            <a:ext cx="2743200" cy="2997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173" y="1938293"/>
            <a:ext cx="2651760" cy="42068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173" y="2568553"/>
            <a:ext cx="2651760" cy="2141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87767" y="1705288"/>
            <a:ext cx="2743200" cy="2997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3487" y="1938293"/>
            <a:ext cx="2651760" cy="42068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33487" y="2603479"/>
            <a:ext cx="2651760" cy="2098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0131" y="1705288"/>
            <a:ext cx="2743200" cy="2997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5851" y="1938293"/>
            <a:ext cx="2651760" cy="42068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45851" y="2603479"/>
            <a:ext cx="2651760" cy="2098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4246011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778" y="271067"/>
            <a:ext cx="6466444" cy="811840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7273" y="1127153"/>
            <a:ext cx="2749454" cy="404813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453" y="1705288"/>
            <a:ext cx="2743200" cy="2997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173" y="1938293"/>
            <a:ext cx="2651760" cy="42068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8385" y="2690383"/>
            <a:ext cx="2027337" cy="168061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87767" y="1705288"/>
            <a:ext cx="2743200" cy="2997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3487" y="1938293"/>
            <a:ext cx="2651760" cy="42068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45699" y="2690382"/>
            <a:ext cx="2027337" cy="168061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0131" y="1705288"/>
            <a:ext cx="2743200" cy="2997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5851" y="1938293"/>
            <a:ext cx="2651760" cy="42068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58063" y="2690381"/>
            <a:ext cx="2027337" cy="168061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5171442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426" y="211044"/>
            <a:ext cx="6466444" cy="811840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7273" y="1063485"/>
            <a:ext cx="2749454" cy="404813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453" y="1708482"/>
            <a:ext cx="2027337" cy="2997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105" y="1941489"/>
            <a:ext cx="1738579" cy="42068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9146" y="2693575"/>
            <a:ext cx="1454497" cy="132641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9273" y="1708481"/>
            <a:ext cx="2027337" cy="2997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96483" y="1943551"/>
            <a:ext cx="1738579" cy="42068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38524" y="2695637"/>
            <a:ext cx="1454497" cy="132641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0093" y="1708481"/>
            <a:ext cx="2027337" cy="2997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88744" y="1943551"/>
            <a:ext cx="1738579" cy="42068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30785" y="2695637"/>
            <a:ext cx="1454497" cy="132641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0912" y="1708483"/>
            <a:ext cx="2027337" cy="2997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9564" y="1941489"/>
            <a:ext cx="1738579" cy="42068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11605" y="2693575"/>
            <a:ext cx="1454497" cy="132641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264548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91880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9930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59750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5353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3" y="4710394"/>
            <a:ext cx="330713" cy="33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31151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36949" y="1728107"/>
            <a:ext cx="7027333" cy="1082229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Newslab Light"/>
              </a:defRPr>
            </a:lvl1pPr>
          </a:lstStyle>
          <a:p>
            <a:r>
              <a:rPr lang="en-US" dirty="0"/>
              <a:t>Title goes here. </a:t>
            </a:r>
            <a:br>
              <a:rPr lang="en-US" dirty="0"/>
            </a:br>
            <a:r>
              <a:rPr lang="en-US" dirty="0"/>
              <a:t>It can be one or two lines.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37099" y="2895008"/>
            <a:ext cx="6400800" cy="453863"/>
          </a:xfrm>
        </p:spPr>
        <p:txBody>
          <a:bodyPr lIns="91440" tIns="45720" rIns="91440" bIns="4572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 Goes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37099" y="3281888"/>
            <a:ext cx="6446838" cy="443446"/>
          </a:xfrm>
        </p:spPr>
        <p:txBody>
          <a:bodyPr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Date Here, 2015</a:t>
            </a:r>
          </a:p>
        </p:txBody>
      </p:sp>
    </p:spTree>
    <p:extLst>
      <p:ext uri="{BB962C8B-B14F-4D97-AF65-F5344CB8AC3E}">
        <p14:creationId xmlns:p14="http://schemas.microsoft.com/office/powerpoint/2010/main" val="11652448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Question or Section Blac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11906" y="4776336"/>
            <a:ext cx="6120189" cy="2831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Set Footer from Insert Dropdown Menu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460619" y="4785636"/>
            <a:ext cx="558806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0D15546-3768-674C-81B9-C40A1A080E8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209523" y="1029665"/>
            <a:ext cx="6930571" cy="2440157"/>
          </a:xfrm>
        </p:spPr>
        <p:txBody>
          <a:bodyPr anchor="ctr" anchorCtr="0"/>
          <a:lstStyle>
            <a:lvl1pPr algn="l">
              <a:defRPr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Newslab Light"/>
              </a:defRPr>
            </a:lvl1pPr>
          </a:lstStyle>
          <a:p>
            <a:r>
              <a:rPr lang="en-US" dirty="0"/>
              <a:t>Here is a big question. </a:t>
            </a:r>
            <a:br>
              <a:rPr lang="en-US" dirty="0"/>
            </a:br>
            <a:r>
              <a:rPr lang="en-US" dirty="0"/>
              <a:t>Or a section opener.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1209525" y="2866267"/>
            <a:ext cx="6851951" cy="138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sz="2400" b="0" i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 second bit of copy can go here if needed. </a:t>
            </a:r>
          </a:p>
        </p:txBody>
      </p:sp>
    </p:spTree>
    <p:extLst>
      <p:ext uri="{BB962C8B-B14F-4D97-AF65-F5344CB8AC3E}">
        <p14:creationId xmlns:p14="http://schemas.microsoft.com/office/powerpoint/2010/main" val="37153066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511906" y="4776336"/>
            <a:ext cx="6120189" cy="2831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Set Footer from Insert Dropdown Menu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460619" y="4785636"/>
            <a:ext cx="558806" cy="273844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16000" y="205979"/>
            <a:ext cx="7172477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1016000" y="1151335"/>
            <a:ext cx="3562048" cy="479822"/>
          </a:xfrm>
        </p:spPr>
        <p:txBody>
          <a:bodyPr anchor="b">
            <a:noAutofit/>
          </a:bodyPr>
          <a:lstStyle>
            <a:lvl1pPr marL="0" indent="0">
              <a:buNone/>
              <a:defRPr sz="2400" b="0" i="0">
                <a:latin typeface="Source Sans Pro Light"/>
                <a:cs typeface="Source Sans Pro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016000" y="1709780"/>
            <a:ext cx="3562048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 marL="1028700" indent="-114300"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3543451" cy="479822"/>
          </a:xfrm>
        </p:spPr>
        <p:txBody>
          <a:bodyPr anchor="b">
            <a:noAutofit/>
          </a:bodyPr>
          <a:lstStyle>
            <a:lvl1pPr marL="0" indent="0">
              <a:buNone/>
              <a:defRPr sz="2400" b="0" i="0">
                <a:latin typeface="Source Sans Pro Light"/>
                <a:cs typeface="Source Sans Pro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709780"/>
            <a:ext cx="3543451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 marL="1028700" indent="-114300"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129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11906" y="4776336"/>
            <a:ext cx="6120189" cy="2831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Set Footer from Insert Dropdown Menu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460619" y="4785636"/>
            <a:ext cx="558806" cy="273844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1016000" y="205979"/>
            <a:ext cx="7172477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Newslab Light"/>
                <a:ea typeface="+mj-ea"/>
                <a:cs typeface="Newslab Light"/>
              </a:defRPr>
            </a:lvl1pPr>
          </a:lstStyle>
          <a:p>
            <a:r>
              <a:rPr lang="en-US" dirty="0"/>
              <a:t>Use this Chart to Start</a:t>
            </a:r>
          </a:p>
        </p:txBody>
      </p:sp>
      <p:graphicFrame>
        <p:nvGraphicFramePr>
          <p:cNvPr id="8" name="Picture Placeholder 9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027209151"/>
              </p:ext>
            </p:extLst>
          </p:nvPr>
        </p:nvGraphicFramePr>
        <p:xfrm>
          <a:off x="1209524" y="1200150"/>
          <a:ext cx="7172325" cy="339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68174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7528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79095"/>
            <a:ext cx="7886700" cy="3453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1539433" y="5440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687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649" r:id="rId25"/>
    <p:sldLayoutId id="2147483663" r:id="rId26"/>
    <p:sldLayoutId id="2147483653" r:id="rId27"/>
    <p:sldLayoutId id="2147483665" r:id="rId2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0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18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16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moudparsian/pyspark-algorithms/blob/master/code/chap07/dataframe_creation_cvs_with_header.py" TargetMode="External"/><Relationship Id="rId2" Type="http://schemas.openxmlformats.org/officeDocument/2006/relationships/hyperlink" Target="https://github.com/mahmoudparsian/pyspark-algorithms/blob/master/code/chap07/dataframe_creation_cvs_with_header.sh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mahmoudparsian/pyspark-algorithms/blob/master/code/chap07/dataframe_creation_cvs_with_header.log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moudparsian/pyspark-algorithms/blob/master/code/chap07/dataframe_creation_cvs_no_header.py" TargetMode="External"/><Relationship Id="rId2" Type="http://schemas.openxmlformats.org/officeDocument/2006/relationships/hyperlink" Target="https://github.com/mahmoudparsian/pyspark-algorithms/blob/master/code/chap07/dataframe_creation_cvs_no_header.sh" TargetMode="Externa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moudparsian/pyspark-algorithms/blob/master/code/chap08/datasource_json_reader_single_line.py" TargetMode="External"/><Relationship Id="rId2" Type="http://schemas.openxmlformats.org/officeDocument/2006/relationships/hyperlink" Target="https://github.com/mahmoudparsian/pyspark-algorithms/blob/master/code/chap08/datasource_json_reader_single_line.sh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mahmoudparsian/pyspark-algorithms/blob/master/code/chap08/datasource_json_reader_single_line.log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hmoudparsian/pyspark-algorithms/blob/master/code/chap07/users4.parquet" TargetMode="Externa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moudparsian/pyspark-algorithms/blob/master/code/chap08/datasource_jdbc_reader.sh" TargetMode="External"/><Relationship Id="rId2" Type="http://schemas.openxmlformats.org/officeDocument/2006/relationships/hyperlink" Target="https://github.com/mahmoudparsian/pyspark-algorithms/blob/master/code/chap08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mahmoudparsian/pyspark-algorithms/blob/master/code/chap08/datasource_jdbc_reader.log" TargetMode="External"/><Relationship Id="rId4" Type="http://schemas.openxmlformats.org/officeDocument/2006/relationships/hyperlink" Target="https://github.com/mahmoudparsian/pyspark-algorithms/blob/master/code/chap08/datasource_jdbc_reader.py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moudparsian/pyspark-algorithms/blob/master/code/chap08/datasource_jdbc_writer.sh" TargetMode="External"/><Relationship Id="rId2" Type="http://schemas.openxmlformats.org/officeDocument/2006/relationships/hyperlink" Target="https://github.com/mahmoudparsian/pyspark-algorithms/blob/master/code/chap08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mahmoudparsian/pyspark-algorithms/blob/master/code/chap08/datasource_jdbc_writer.log" TargetMode="External"/><Relationship Id="rId4" Type="http://schemas.openxmlformats.org/officeDocument/2006/relationships/hyperlink" Target="https://github.com/mahmoudparsian/pyspark-algorithms/blob/master/code/chap08/datasource_jdbc_writer.py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.apache.org/docs/latest/sql-data-sources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towardsdatascience.com/graphframes-in-jupyter-a-practical-guide-9b3b346cebc5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graphframes-in-jupyter-a-practical-guide-9b3b346cebc5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analyticsvidhya.com/blog/2020/10/data-engineering-101-data-sources-apache-spark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graphframes-in-jupyter-a-practical-guide-9b3b346cebc5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ZBI1UFbEM4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71278"/>
            <a:ext cx="7772400" cy="1800472"/>
          </a:xfrm>
        </p:spPr>
        <p:txBody>
          <a:bodyPr>
            <a:normAutofit/>
          </a:bodyPr>
          <a:lstStyle/>
          <a:p>
            <a:r>
              <a:rPr lang="en-US" dirty="0"/>
              <a:t>External</a:t>
            </a:r>
            <a:br>
              <a:rPr lang="en-US" dirty="0"/>
            </a:br>
            <a:r>
              <a:rPr lang="en-US" dirty="0"/>
              <a:t>Data Sources </a:t>
            </a:r>
            <a:br>
              <a:rPr lang="en-US" dirty="0"/>
            </a:br>
            <a:r>
              <a:rPr lang="en-US" dirty="0"/>
              <a:t>in Spark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28294"/>
            <a:ext cx="6400800" cy="672087"/>
          </a:xfrm>
        </p:spPr>
        <p:txBody>
          <a:bodyPr>
            <a:normAutofit/>
          </a:bodyPr>
          <a:lstStyle/>
          <a:p>
            <a:r>
              <a:rPr lang="en-US" sz="2000" dirty="0"/>
              <a:t>Mahmoud Parsian</a:t>
            </a:r>
          </a:p>
          <a:p>
            <a:r>
              <a:rPr lang="en-US" sz="1100" dirty="0"/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59010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Solutions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Challenges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32912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dirty="0"/>
              <a:t>1. Perform ETL to and from various  data sources</a:t>
            </a:r>
          </a:p>
          <a:p>
            <a:pPr marL="685800" lvl="1" indent="-342900">
              <a:buFont typeface="Arial"/>
              <a:buChar char="•"/>
            </a:pPr>
            <a:r>
              <a:rPr lang="en-US" sz="1600" dirty="0"/>
              <a:t>Structured data sources (CSV files, Parquet, tables)</a:t>
            </a:r>
          </a:p>
          <a:p>
            <a:pPr marL="685800" lvl="1" indent="-342900">
              <a:buFont typeface="Arial"/>
              <a:buChar char="•"/>
            </a:pPr>
            <a:r>
              <a:rPr lang="en-US" sz="1600" dirty="0"/>
              <a:t>Semi-structured data sources (XML, JSON)</a:t>
            </a:r>
          </a:p>
          <a:p>
            <a:pPr marL="685800" lvl="1" indent="-342900">
              <a:buFont typeface="Arial"/>
              <a:buChar char="•"/>
            </a:pPr>
            <a:r>
              <a:rPr lang="en-US" sz="1600" dirty="0"/>
              <a:t>Unstructured data sources (text files)</a:t>
            </a:r>
          </a:p>
          <a:p>
            <a:pPr marL="342900" lvl="1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dirty="0"/>
              <a:t>2. Perform advanced analytics </a:t>
            </a:r>
          </a:p>
          <a:p>
            <a:pPr marL="685800" lvl="1" indent="-342900">
              <a:buFont typeface="Arial"/>
              <a:buChar char="•"/>
            </a:pPr>
            <a:r>
              <a:rPr lang="en-US" sz="1600" dirty="0"/>
              <a:t>machine learning</a:t>
            </a:r>
          </a:p>
          <a:p>
            <a:pPr marL="685800" lvl="1" indent="-342900">
              <a:buFont typeface="Arial"/>
              <a:buChar char="•"/>
            </a:pPr>
            <a:r>
              <a:rPr lang="en-US" sz="1600" dirty="0"/>
              <a:t>graph processing</a:t>
            </a:r>
          </a:p>
          <a:p>
            <a:pPr marL="342900" lvl="1" indent="0">
              <a:buNone/>
            </a:pPr>
            <a:r>
              <a:rPr lang="en-US" sz="1600" dirty="0"/>
              <a:t>that are hard to express in relational systems.</a:t>
            </a:r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rgbClr val="002060"/>
                </a:solidFill>
              </a:rPr>
              <a:t>ETL = Extract Transfer Load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000" dirty="0"/>
              <a:t>Solutions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4707467" y="1878806"/>
            <a:ext cx="3809074" cy="2329127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Arial"/>
              <a:buChar char="•"/>
            </a:pPr>
            <a:r>
              <a:rPr lang="en-US" sz="2300" dirty="0"/>
              <a:t>A </a:t>
            </a:r>
            <a:r>
              <a:rPr lang="en-US" sz="2300" b="1" i="1" dirty="0"/>
              <a:t>DataFrame</a:t>
            </a:r>
            <a:r>
              <a:rPr lang="en-US" sz="2300" dirty="0"/>
              <a:t> API that can perform relational operations on both external data sources and Spark’s built-in RDDs.</a:t>
            </a:r>
          </a:p>
          <a:p>
            <a:pPr marL="342900" indent="-342900">
              <a:buFont typeface="Arial"/>
              <a:buChar char="•"/>
            </a:pPr>
            <a:r>
              <a:rPr lang="en-US" sz="2300" b="1" u="sng" dirty="0">
                <a:solidFill>
                  <a:srgbClr val="7030A0"/>
                </a:solidFill>
                <a:highlight>
                  <a:srgbClr val="FFFF00"/>
                </a:highlight>
              </a:rPr>
              <a:t>READ</a:t>
            </a:r>
            <a:r>
              <a:rPr lang="en-US" sz="2300" dirty="0">
                <a:highlight>
                  <a:srgbClr val="FFFF00"/>
                </a:highlight>
              </a:rPr>
              <a:t>: A </a:t>
            </a:r>
            <a:r>
              <a:rPr lang="en-US" sz="2300" b="1" i="1" dirty="0">
                <a:highlight>
                  <a:srgbClr val="FFFF00"/>
                </a:highlight>
              </a:rPr>
              <a:t>DataFrame can be created from many external data sources (files, tables, …)</a:t>
            </a:r>
          </a:p>
          <a:p>
            <a:pPr marL="342900" indent="-342900">
              <a:buFont typeface="Arial"/>
              <a:buChar char="•"/>
            </a:pPr>
            <a:r>
              <a:rPr lang="en-US" sz="2300" b="1" u="sng" dirty="0">
                <a:solidFill>
                  <a:srgbClr val="7030A0"/>
                </a:solidFill>
                <a:highlight>
                  <a:srgbClr val="FFFF00"/>
                </a:highlight>
              </a:rPr>
              <a:t>WRITE</a:t>
            </a:r>
            <a:r>
              <a:rPr lang="en-US" sz="2300" dirty="0">
                <a:highlight>
                  <a:srgbClr val="FFFF00"/>
                </a:highlight>
              </a:rPr>
              <a:t>: A </a:t>
            </a:r>
            <a:r>
              <a:rPr lang="en-US" sz="2300" b="1" i="1" dirty="0">
                <a:highlight>
                  <a:srgbClr val="FFFF00"/>
                </a:highlight>
              </a:rPr>
              <a:t>DataFrame can be saved as an external data sources (files, tables, …)</a:t>
            </a:r>
          </a:p>
          <a:p>
            <a:pPr marL="342900" indent="-342900">
              <a:buFont typeface="Arial"/>
              <a:buChar char="•"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21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3"/>
            <a:ext cx="7886700" cy="835289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ourier" pitchFamily="2" charset="0"/>
              </a:rPr>
              <a:t>Read</a:t>
            </a:r>
            <a:r>
              <a:rPr lang="en-US" sz="2400" dirty="0">
                <a:latin typeface="Courier" pitchFamily="2" charset="0"/>
              </a:rPr>
              <a:t>: Data Source </a:t>
            </a:r>
            <a:r>
              <a:rPr lang="en-US" sz="2400" dirty="0">
                <a:latin typeface="Courier" pitchFamily="2" charset="0"/>
                <a:sym typeface="Wingdings" pitchFamily="2" charset="2"/>
              </a:rPr>
              <a:t> </a:t>
            </a:r>
            <a:r>
              <a:rPr lang="en-US" sz="2400" dirty="0">
                <a:latin typeface="Courier" pitchFamily="2" charset="0"/>
              </a:rPr>
              <a:t>DataFrame</a:t>
            </a:r>
            <a:br>
              <a:rPr lang="en-US" sz="2400" dirty="0">
                <a:latin typeface="Courier" pitchFamily="2" charset="0"/>
              </a:rPr>
            </a:br>
            <a:r>
              <a:rPr lang="en-US" sz="2400" b="1" dirty="0">
                <a:latin typeface="Courier" pitchFamily="2" charset="0"/>
              </a:rPr>
              <a:t>Write</a:t>
            </a:r>
            <a:r>
              <a:rPr lang="en-US" sz="2400" dirty="0">
                <a:latin typeface="Courier" pitchFamily="2" charset="0"/>
              </a:rPr>
              <a:t>: DataFrame  </a:t>
            </a:r>
            <a:r>
              <a:rPr lang="en-US" sz="2400" dirty="0">
                <a:latin typeface="Courier" pitchFamily="2" charset="0"/>
                <a:sym typeface="Wingdings" pitchFamily="2" charset="2"/>
              </a:rPr>
              <a:t> Data Source</a:t>
            </a:r>
            <a:endParaRPr lang="en-US" sz="2400" dirty="0">
              <a:latin typeface="Courier" pitchFamily="2" charset="0"/>
            </a:endParaRPr>
          </a:p>
        </p:txBody>
      </p:sp>
      <p:pic>
        <p:nvPicPr>
          <p:cNvPr id="15" name="Content Placeholder 14" descr="A picture containing table&#10;&#10;Description automatically generated">
            <a:extLst>
              <a:ext uri="{FF2B5EF4-FFF2-40B4-BE49-F238E27FC236}">
                <a16:creationId xmlns:a16="http://schemas.microsoft.com/office/drawing/2014/main" id="{7E42C557-9257-41C3-7745-14F4EC96E60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847789" y="1253068"/>
            <a:ext cx="7737411" cy="3533246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196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617934"/>
          </a:xfrm>
        </p:spPr>
        <p:txBody>
          <a:bodyPr/>
          <a:lstStyle/>
          <a:p>
            <a:r>
              <a:rPr lang="en-US" dirty="0"/>
              <a:t>Spark Read/Write Data Sources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52987-C374-355C-9447-47DE166E4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6748" y="1002890"/>
            <a:ext cx="7739793" cy="3639357"/>
          </a:xfrm>
        </p:spPr>
        <p:txBody>
          <a:bodyPr/>
          <a:lstStyle/>
          <a:p>
            <a:r>
              <a:rPr lang="en-US" sz="2800" dirty="0"/>
              <a:t>Spark can read from many different data sources</a:t>
            </a:r>
          </a:p>
          <a:p>
            <a:pPr marL="342900" lvl="1" indent="0">
              <a:buNone/>
            </a:pPr>
            <a:r>
              <a:rPr lang="en-US" sz="2600" b="1" dirty="0">
                <a:solidFill>
                  <a:srgbClr val="0070C0"/>
                </a:solidFill>
                <a:latin typeface="Courier" pitchFamily="2" charset="0"/>
              </a:rPr>
              <a:t>READ</a:t>
            </a:r>
            <a:r>
              <a:rPr lang="en-US" sz="2600" dirty="0">
                <a:solidFill>
                  <a:srgbClr val="0070C0"/>
                </a:solidFill>
                <a:latin typeface="Courier" pitchFamily="2" charset="0"/>
              </a:rPr>
              <a:t>: &lt;Data Source&gt; </a:t>
            </a:r>
            <a:r>
              <a:rPr lang="en-US" sz="2600" dirty="0">
                <a:solidFill>
                  <a:srgbClr val="0070C0"/>
                </a:solidFill>
                <a:latin typeface="Courier" pitchFamily="2" charset="0"/>
                <a:sym typeface="Wingdings" pitchFamily="2" charset="2"/>
              </a:rPr>
              <a:t> DataFrame</a:t>
            </a:r>
            <a:endParaRPr lang="en-US" sz="2600" dirty="0">
              <a:solidFill>
                <a:srgbClr val="0070C0"/>
              </a:solidFill>
              <a:latin typeface="Courier" pitchFamily="2" charset="0"/>
            </a:endParaRPr>
          </a:p>
          <a:p>
            <a:r>
              <a:rPr lang="en-US" sz="2800" dirty="0"/>
              <a:t>Spark can write to many different data sources </a:t>
            </a:r>
          </a:p>
          <a:p>
            <a:pPr marL="0" indent="0">
              <a:buNone/>
            </a:pPr>
            <a:r>
              <a:rPr lang="en-US" sz="2800" dirty="0"/>
              <a:t>    </a:t>
            </a:r>
            <a:r>
              <a:rPr lang="en-US" sz="28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0070C0"/>
                </a:solidFill>
                <a:latin typeface="Courier" pitchFamily="2" charset="0"/>
              </a:rPr>
              <a:t>DataFrame </a:t>
            </a:r>
            <a:r>
              <a:rPr lang="en-US" sz="2800" dirty="0">
                <a:solidFill>
                  <a:srgbClr val="0070C0"/>
                </a:solidFill>
                <a:latin typeface="Courier" pitchFamily="2" charset="0"/>
                <a:sym typeface="Wingdings" pitchFamily="2" charset="2"/>
              </a:rPr>
              <a:t> &lt;Data Source&gt;</a:t>
            </a:r>
            <a:endParaRPr lang="en-US" sz="2800" dirty="0">
              <a:solidFill>
                <a:srgbClr val="0070C0"/>
              </a:solidFill>
              <a:latin typeface="Courier" pitchFamily="2" charset="0"/>
            </a:endParaRPr>
          </a:p>
          <a:p>
            <a:r>
              <a:rPr lang="en-US" sz="2800" dirty="0"/>
              <a:t>You can create custom readers/writers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02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617934"/>
          </a:xfrm>
        </p:spPr>
        <p:txBody>
          <a:bodyPr/>
          <a:lstStyle/>
          <a:p>
            <a:r>
              <a:rPr lang="en-US" dirty="0"/>
              <a:t>Spark Data Sources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Content Placeholder 6" descr="A picture containing logo&#10;&#10;Description automatically generated">
            <a:extLst>
              <a:ext uri="{FF2B5EF4-FFF2-40B4-BE49-F238E27FC236}">
                <a16:creationId xmlns:a16="http://schemas.microsoft.com/office/drawing/2014/main" id="{8758E6F2-77E4-C6D6-0703-2689A995757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993059" y="891778"/>
            <a:ext cx="6341806" cy="3631061"/>
          </a:xfrm>
        </p:spPr>
      </p:pic>
    </p:spTree>
    <p:extLst>
      <p:ext uri="{BB962C8B-B14F-4D97-AF65-F5344CB8AC3E}">
        <p14:creationId xmlns:p14="http://schemas.microsoft.com/office/powerpoint/2010/main" val="3681816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483242"/>
          </a:xfrm>
        </p:spPr>
        <p:txBody>
          <a:bodyPr>
            <a:normAutofit fontScale="90000"/>
          </a:bodyPr>
          <a:lstStyle/>
          <a:p>
            <a:r>
              <a:rPr lang="en-US" dirty="0"/>
              <a:t>Spark Data Sources API Frame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E987-4C2D-051A-F3D2-830B5DD73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7588" y="757087"/>
            <a:ext cx="7788954" cy="2979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Spark Data Source API has two main features: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Generality</a:t>
            </a:r>
            <a:r>
              <a:rPr lang="en-US" sz="2400" b="1" dirty="0"/>
              <a:t>:</a:t>
            </a:r>
            <a:r>
              <a:rPr lang="en-US" sz="2400" dirty="0"/>
              <a:t> Support reading/writing most data management/storage systems.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Flexibility</a:t>
            </a:r>
            <a:r>
              <a:rPr lang="en-US" sz="2400" b="1" dirty="0"/>
              <a:t>:</a:t>
            </a:r>
            <a:r>
              <a:rPr lang="en-US" sz="2400" dirty="0"/>
              <a:t> Customize and optimize the read and write paths for different systems based on their capabilities</a:t>
            </a:r>
          </a:p>
          <a:p>
            <a:pPr lvl="1"/>
            <a:endParaRPr lang="en-US" sz="18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9128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483242"/>
          </a:xfrm>
        </p:spPr>
        <p:txBody>
          <a:bodyPr>
            <a:normAutofit fontScale="90000"/>
          </a:bodyPr>
          <a:lstStyle/>
          <a:p>
            <a:r>
              <a:rPr lang="en-US" dirty="0"/>
              <a:t>Spark Data Engineering 101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E987-4C2D-051A-F3D2-830B5DD73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7588" y="757086"/>
            <a:ext cx="7788954" cy="3713313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Structure of Spark’s Data Source API</a:t>
            </a:r>
          </a:p>
          <a:p>
            <a:pPr lvl="1"/>
            <a:r>
              <a:rPr lang="en-US" sz="1800" dirty="0"/>
              <a:t>Read API Structure</a:t>
            </a:r>
          </a:p>
          <a:p>
            <a:pPr lvl="1"/>
            <a:r>
              <a:rPr lang="en-US" sz="1800" dirty="0"/>
              <a:t>Write API Structure</a:t>
            </a:r>
          </a:p>
          <a:p>
            <a:r>
              <a:rPr lang="en-US" sz="2000" dirty="0"/>
              <a:t>Spark Data Sources you Should Know About</a:t>
            </a:r>
          </a:p>
          <a:p>
            <a:pPr lvl="1"/>
            <a:r>
              <a:rPr lang="en-US" sz="1800" dirty="0"/>
              <a:t>Python Collections (arrays, lists, …)</a:t>
            </a:r>
          </a:p>
          <a:p>
            <a:pPr lvl="1"/>
            <a:r>
              <a:rPr lang="en-US" sz="1800" dirty="0"/>
              <a:t>CSV</a:t>
            </a:r>
          </a:p>
          <a:p>
            <a:pPr lvl="1"/>
            <a:r>
              <a:rPr lang="en-US" sz="1800" dirty="0"/>
              <a:t>XML</a:t>
            </a:r>
          </a:p>
          <a:p>
            <a:pPr lvl="1"/>
            <a:r>
              <a:rPr lang="en-US" sz="1800" dirty="0"/>
              <a:t>JSON</a:t>
            </a:r>
          </a:p>
          <a:p>
            <a:pPr lvl="1"/>
            <a:r>
              <a:rPr lang="en-US" sz="1800" dirty="0"/>
              <a:t>Parquet (binary, columnar data: rows and columns)</a:t>
            </a:r>
          </a:p>
          <a:p>
            <a:pPr lvl="1"/>
            <a:r>
              <a:rPr lang="en-US" sz="1800" dirty="0"/>
              <a:t>ORC (binary, columnar data: rows and columns)</a:t>
            </a:r>
          </a:p>
          <a:p>
            <a:pPr lvl="1"/>
            <a:r>
              <a:rPr lang="en-US" sz="1800" dirty="0"/>
              <a:t>Text</a:t>
            </a:r>
          </a:p>
          <a:p>
            <a:pPr lvl="1"/>
            <a:r>
              <a:rPr lang="en-US" sz="1800" dirty="0"/>
              <a:t>JDBC/ODBC connections (read/write relational database tables)</a:t>
            </a:r>
          </a:p>
          <a:p>
            <a:pPr lvl="1"/>
            <a:endParaRPr lang="en-US" sz="18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1702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483242"/>
          </a:xfrm>
        </p:spPr>
        <p:txBody>
          <a:bodyPr>
            <a:normAutofit fontScale="90000"/>
          </a:bodyPr>
          <a:lstStyle/>
          <a:p>
            <a:r>
              <a:rPr lang="en-US" dirty="0"/>
              <a:t>Structure of  Spark’s Data Sources API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E987-4C2D-051A-F3D2-830B5DD73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7588" y="757086"/>
            <a:ext cx="7788954" cy="3713313"/>
          </a:xfrm>
        </p:spPr>
        <p:txBody>
          <a:bodyPr>
            <a:normAutofit/>
          </a:bodyPr>
          <a:lstStyle/>
          <a:p>
            <a:r>
              <a:rPr lang="en-US" sz="2400" dirty="0" err="1">
                <a:highlight>
                  <a:srgbClr val="00FF00"/>
                </a:highlight>
                <a:latin typeface="Courier" pitchFamily="2" charset="0"/>
              </a:rPr>
              <a:t>DataFrameReader</a:t>
            </a:r>
            <a:endParaRPr lang="en-US" sz="2400" dirty="0">
              <a:highlight>
                <a:srgbClr val="00FF00"/>
              </a:highlight>
              <a:latin typeface="Courier" pitchFamily="2" charset="0"/>
            </a:endParaRPr>
          </a:p>
          <a:p>
            <a:pPr lvl="1"/>
            <a:r>
              <a:rPr lang="en-US" sz="2200" dirty="0"/>
              <a:t> Create a DataFrame from an external data source</a:t>
            </a:r>
          </a:p>
          <a:p>
            <a:r>
              <a:rPr lang="en-US" sz="2400" dirty="0" err="1">
                <a:highlight>
                  <a:srgbClr val="00FF00"/>
                </a:highlight>
                <a:latin typeface="Courier" pitchFamily="2" charset="0"/>
              </a:rPr>
              <a:t>DataFrameWriter</a:t>
            </a:r>
            <a:endParaRPr lang="en-US" sz="2400" dirty="0">
              <a:highlight>
                <a:srgbClr val="00FF00"/>
              </a:highlight>
              <a:latin typeface="Courier" pitchFamily="2" charset="0"/>
            </a:endParaRPr>
          </a:p>
          <a:p>
            <a:pPr lvl="1"/>
            <a:r>
              <a:rPr lang="en-US" sz="2200" dirty="0"/>
              <a:t> Write an existing DataFrame to an external data source</a:t>
            </a:r>
          </a:p>
          <a:p>
            <a:pPr lvl="1"/>
            <a:endParaRPr lang="en-US" sz="18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6584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483242"/>
          </a:xfrm>
        </p:spPr>
        <p:txBody>
          <a:bodyPr>
            <a:normAutofit fontScale="90000"/>
          </a:bodyPr>
          <a:lstStyle/>
          <a:p>
            <a:r>
              <a:rPr lang="en-US" dirty="0"/>
              <a:t>Structure of  Spark’s Data Sources API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E987-4C2D-051A-F3D2-830B5DD73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7588" y="757086"/>
            <a:ext cx="7788954" cy="3713313"/>
          </a:xfrm>
        </p:spPr>
        <p:txBody>
          <a:bodyPr>
            <a:normAutofit/>
          </a:bodyPr>
          <a:lstStyle/>
          <a:p>
            <a:r>
              <a:rPr lang="en-US" sz="2400" dirty="0" err="1">
                <a:highlight>
                  <a:srgbClr val="00FF00"/>
                </a:highlight>
                <a:latin typeface="Courier" pitchFamily="2" charset="0"/>
              </a:rPr>
              <a:t>DataFrameReader</a:t>
            </a:r>
            <a:endParaRPr lang="en-US" sz="2400" dirty="0">
              <a:highlight>
                <a:srgbClr val="00FF00"/>
              </a:highlight>
              <a:latin typeface="Courier" pitchFamily="2" charset="0"/>
            </a:endParaRPr>
          </a:p>
          <a:p>
            <a:pPr lvl="1"/>
            <a:r>
              <a:rPr lang="en-US" sz="2200" dirty="0"/>
              <a:t>Interface used to load a dataset from external storage systems (e.g. file systems, key-value stores, </a:t>
            </a:r>
            <a:r>
              <a:rPr lang="en-US" sz="2200" dirty="0" err="1"/>
              <a:t>etc</a:t>
            </a:r>
            <a:r>
              <a:rPr lang="en-US" sz="2200" dirty="0"/>
              <a:t>). </a:t>
            </a:r>
          </a:p>
          <a:p>
            <a:pPr lvl="1"/>
            <a:r>
              <a:rPr lang="en-US" sz="2200" dirty="0"/>
              <a:t>Creates a new DataFrame</a:t>
            </a:r>
          </a:p>
          <a:p>
            <a:r>
              <a:rPr lang="en-US" sz="2400" dirty="0" err="1">
                <a:highlight>
                  <a:srgbClr val="00FF00"/>
                </a:highlight>
                <a:latin typeface="Courier" pitchFamily="2" charset="0"/>
              </a:rPr>
              <a:t>DataFrameWriter</a:t>
            </a:r>
            <a:endParaRPr lang="en-US" sz="2400" dirty="0">
              <a:highlight>
                <a:srgbClr val="00FF00"/>
              </a:highlight>
              <a:latin typeface="Courier" pitchFamily="2" charset="0"/>
            </a:endParaRPr>
          </a:p>
          <a:p>
            <a:pPr lvl="1"/>
            <a:r>
              <a:rPr lang="en-US" sz="2200" dirty="0"/>
              <a:t>Interface used to write a dataset to an external storage systems (e.g. file systems, key-value stores, </a:t>
            </a:r>
            <a:r>
              <a:rPr lang="en-US" sz="2200" dirty="0" err="1"/>
              <a:t>etc</a:t>
            </a:r>
            <a:r>
              <a:rPr lang="en-US" sz="2200" dirty="0"/>
              <a:t>). </a:t>
            </a:r>
          </a:p>
          <a:p>
            <a:pPr lvl="1"/>
            <a:r>
              <a:rPr lang="en-US" sz="2200" dirty="0"/>
              <a:t>Writes an existing DataFrame to an external data source</a:t>
            </a:r>
          </a:p>
          <a:p>
            <a:pPr marL="342900" lvl="1" indent="0">
              <a:buNone/>
            </a:pPr>
            <a:endParaRPr lang="en-US" sz="18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8601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483242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DataFrameReader</a:t>
            </a:r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E987-4C2D-051A-F3D2-830B5DD73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7588" y="757086"/>
            <a:ext cx="7788954" cy="3713313"/>
          </a:xfrm>
        </p:spPr>
        <p:txBody>
          <a:bodyPr>
            <a:normAutofit/>
          </a:bodyPr>
          <a:lstStyle/>
          <a:p>
            <a:r>
              <a:rPr lang="en-US" sz="2400" dirty="0"/>
              <a:t>Interface used to load a dataset from external storage systems (e.g. file systems, key-value stores, </a:t>
            </a:r>
            <a:r>
              <a:rPr lang="en-US" sz="2400" dirty="0" err="1"/>
              <a:t>etc</a:t>
            </a:r>
            <a:r>
              <a:rPr lang="en-US" sz="2400" dirty="0"/>
              <a:t>). </a:t>
            </a:r>
          </a:p>
          <a:p>
            <a:r>
              <a:rPr lang="en-US" sz="2400" dirty="0"/>
              <a:t>Use </a:t>
            </a:r>
            <a:r>
              <a:rPr lang="en-US" sz="2400" dirty="0" err="1">
                <a:latin typeface="Courier" pitchFamily="2" charset="0"/>
              </a:rPr>
              <a:t>SparkSession.read</a:t>
            </a:r>
            <a:r>
              <a:rPr lang="en-US" sz="2400" dirty="0"/>
              <a:t> to access this</a:t>
            </a:r>
          </a:p>
          <a:p>
            <a:r>
              <a:rPr lang="en-US" sz="2400" dirty="0"/>
              <a:t>Creates a new DataFrame</a:t>
            </a:r>
          </a:p>
          <a:p>
            <a:pPr lvl="1"/>
            <a:r>
              <a:rPr lang="en-US" sz="2200" dirty="0"/>
              <a:t> set of rows with named columns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 Data Source </a:t>
            </a:r>
            <a:r>
              <a:rPr lang="en-US" sz="2000" b="1" dirty="0">
                <a:highlight>
                  <a:srgbClr val="00FF00"/>
                </a:highlight>
                <a:sym typeface="Wingdings" pitchFamily="2" charset="2"/>
              </a:rPr>
              <a:t> DataFrame</a:t>
            </a:r>
            <a:endParaRPr lang="en-US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0953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483242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Courier" pitchFamily="2" charset="0"/>
              </a:rPr>
              <a:t>DataFrameWriter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E987-4C2D-051A-F3D2-830B5DD73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7588" y="757086"/>
            <a:ext cx="7788954" cy="3713313"/>
          </a:xfrm>
        </p:spPr>
        <p:txBody>
          <a:bodyPr>
            <a:normAutofit/>
          </a:bodyPr>
          <a:lstStyle/>
          <a:p>
            <a:r>
              <a:rPr lang="en-US" sz="2400" dirty="0"/>
              <a:t>Interface used to write a dataset to external storage systems (e.g. file systems, key-value stores, </a:t>
            </a:r>
            <a:r>
              <a:rPr lang="en-US" sz="2400" dirty="0" err="1"/>
              <a:t>etc</a:t>
            </a:r>
            <a:r>
              <a:rPr lang="en-US" sz="2400" dirty="0"/>
              <a:t>). </a:t>
            </a:r>
          </a:p>
          <a:p>
            <a:r>
              <a:rPr lang="en-US" sz="2400" dirty="0"/>
              <a:t>Use </a:t>
            </a:r>
            <a:r>
              <a:rPr lang="en-US" sz="2400" dirty="0" err="1">
                <a:latin typeface="Courier" pitchFamily="2" charset="0"/>
              </a:rPr>
              <a:t>DataFrame.write</a:t>
            </a:r>
            <a:r>
              <a:rPr lang="en-US" sz="2400" dirty="0">
                <a:latin typeface="Courier" pitchFamily="2" charset="0"/>
              </a:rPr>
              <a:t> </a:t>
            </a:r>
            <a:r>
              <a:rPr lang="en-US" sz="2400" dirty="0"/>
              <a:t>to access this</a:t>
            </a:r>
          </a:p>
          <a:p>
            <a:r>
              <a:rPr lang="en-US" sz="2400" dirty="0"/>
              <a:t>Writes an  existing DataFrame to an external data source</a:t>
            </a:r>
          </a:p>
          <a:p>
            <a:r>
              <a:rPr lang="en-US" sz="2400" dirty="0">
                <a:solidFill>
                  <a:schemeClr val="tx1"/>
                </a:solidFill>
                <a:highlight>
                  <a:srgbClr val="00FF00"/>
                </a:highlight>
              </a:rPr>
              <a:t>DataFrame </a:t>
            </a:r>
            <a:r>
              <a:rPr lang="en-US" sz="2400" dirty="0">
                <a:solidFill>
                  <a:schemeClr val="tx1"/>
                </a:solidFill>
                <a:highlight>
                  <a:srgbClr val="00FF00"/>
                </a:highlight>
                <a:sym typeface="Wingdings" pitchFamily="2" charset="2"/>
              </a:rPr>
              <a:t> Data Source</a:t>
            </a:r>
            <a:endParaRPr lang="en-US" sz="2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lvl="1"/>
            <a:endParaRPr lang="en-US" sz="18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7651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483242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Courier" pitchFamily="2" charset="0"/>
              </a:rPr>
              <a:t>DataFrameReader</a:t>
            </a:r>
            <a:r>
              <a:rPr lang="en-US" dirty="0">
                <a:latin typeface="Courier" pitchFamily="2" charset="0"/>
              </a:rPr>
              <a:t>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E987-4C2D-051A-F3D2-830B5DD73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7588" y="757086"/>
            <a:ext cx="7788954" cy="371331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# spark : </a:t>
            </a:r>
            <a:r>
              <a:rPr lang="en-US" sz="2000" dirty="0" err="1">
                <a:latin typeface="Courier" pitchFamily="2" charset="0"/>
              </a:rPr>
              <a:t>SparkSession</a:t>
            </a:r>
            <a:r>
              <a:rPr lang="en-US" sz="2000" dirty="0">
                <a:latin typeface="Courier" pitchFamily="2" charset="0"/>
              </a:rPr>
              <a:t> object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# </a:t>
            </a:r>
            <a:r>
              <a:rPr lang="en-US" sz="2000" dirty="0" err="1">
                <a:latin typeface="Courier" pitchFamily="2" charset="0"/>
              </a:rPr>
              <a:t>df</a:t>
            </a:r>
            <a:r>
              <a:rPr lang="en-US" sz="2000" dirty="0">
                <a:latin typeface="Courier" pitchFamily="2" charset="0"/>
              </a:rPr>
              <a:t> : a DataFrame object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Courier" pitchFamily="2" charset="0"/>
              </a:rPr>
              <a:t>df</a:t>
            </a:r>
            <a:r>
              <a:rPr lang="en-US" sz="2000" dirty="0">
                <a:latin typeface="Courier" pitchFamily="2" charset="0"/>
              </a:rPr>
              <a:t> = </a:t>
            </a:r>
            <a:r>
              <a:rPr lang="en-US" sz="2000" dirty="0" err="1">
                <a:latin typeface="Courier" pitchFamily="2" charset="0"/>
              </a:rPr>
              <a:t>spark.read</a:t>
            </a:r>
            <a:endParaRPr lang="en-US" sz="2000" dirty="0">
              <a:latin typeface="Courier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   .format("csv")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   .option("mode", "FAILFAST")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   .option("</a:t>
            </a:r>
            <a:r>
              <a:rPr lang="en-US" sz="2000" dirty="0" err="1">
                <a:latin typeface="Courier" pitchFamily="2" charset="0"/>
              </a:rPr>
              <a:t>inferSchema</a:t>
            </a:r>
            <a:r>
              <a:rPr lang="en-US" sz="2000" dirty="0">
                <a:latin typeface="Courier" pitchFamily="2" charset="0"/>
              </a:rPr>
              <a:t>", "true")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   .option("path", "path/to/file(s)")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   .schema(</a:t>
            </a:r>
            <a:r>
              <a:rPr lang="en-US" sz="2000" dirty="0" err="1">
                <a:latin typeface="Courier" pitchFamily="2" charset="0"/>
              </a:rPr>
              <a:t>someSchema</a:t>
            </a:r>
            <a:r>
              <a:rPr lang="en-US" sz="2000" dirty="0">
                <a:latin typeface="Courier" pitchFamily="2" charset="0"/>
              </a:rPr>
              <a:t>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   .load()</a:t>
            </a:r>
            <a:endParaRPr lang="en-US" sz="2000" b="1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18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483242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Courier" pitchFamily="2" charset="0"/>
              </a:rPr>
              <a:t>DataFrameWriter</a:t>
            </a:r>
            <a:r>
              <a:rPr lang="en-US" dirty="0">
                <a:latin typeface="Courier" pitchFamily="2" charset="0"/>
              </a:rPr>
              <a:t>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E987-4C2D-051A-F3D2-830B5DD73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7588" y="757086"/>
            <a:ext cx="7788954" cy="37133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# </a:t>
            </a:r>
            <a:r>
              <a:rPr lang="en-US" sz="2000" dirty="0" err="1">
                <a:latin typeface="Courier" pitchFamily="2" charset="0"/>
              </a:rPr>
              <a:t>df</a:t>
            </a:r>
            <a:r>
              <a:rPr lang="en-US" sz="2000" dirty="0">
                <a:latin typeface="Courier" pitchFamily="2" charset="0"/>
              </a:rPr>
              <a:t> : a DataFrame object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Courier" pitchFamily="2" charset="0"/>
              </a:rPr>
              <a:t>df.write</a:t>
            </a:r>
            <a:endParaRPr lang="en-US" sz="2000" dirty="0">
              <a:latin typeface="Courier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  .format("csv")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  .option("mode", "OVERWRITE")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  .option("</a:t>
            </a:r>
            <a:r>
              <a:rPr lang="en-US" sz="2000" dirty="0" err="1">
                <a:latin typeface="Courier" pitchFamily="2" charset="0"/>
              </a:rPr>
              <a:t>dateFormat</a:t>
            </a:r>
            <a:r>
              <a:rPr lang="en-US" sz="2000" dirty="0">
                <a:latin typeface="Courier" pitchFamily="2" charset="0"/>
              </a:rPr>
              <a:t>", "</a:t>
            </a:r>
            <a:r>
              <a:rPr lang="en-US" sz="2000" dirty="0" err="1">
                <a:latin typeface="Courier" pitchFamily="2" charset="0"/>
              </a:rPr>
              <a:t>yyyy</a:t>
            </a:r>
            <a:r>
              <a:rPr lang="en-US" sz="2000" dirty="0">
                <a:latin typeface="Courier" pitchFamily="2" charset="0"/>
              </a:rPr>
              <a:t>-MM-dd")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  .option("path", "path/to/file(s)")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urier" pitchFamily="2" charset="0"/>
              </a:rPr>
              <a:t>  .save()</a:t>
            </a:r>
            <a:endParaRPr lang="en-US" sz="2000" b="1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69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483242"/>
          </a:xfrm>
        </p:spPr>
        <p:txBody>
          <a:bodyPr>
            <a:normAutofit fontScale="90000"/>
          </a:bodyPr>
          <a:lstStyle/>
          <a:p>
            <a:r>
              <a:rPr lang="en-US" dirty="0"/>
              <a:t>Spark DataFrame: Features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E987-4C2D-051A-F3D2-830B5DD73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7588" y="757087"/>
            <a:ext cx="7788954" cy="354398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 DataFrame: a Table of rows with named columns               </a:t>
            </a:r>
          </a:p>
          <a:p>
            <a:pPr lvl="1"/>
            <a:r>
              <a:rPr lang="en-US" sz="1800" b="1" dirty="0">
                <a:highlight>
                  <a:srgbClr val="00FF00"/>
                </a:highlight>
              </a:rPr>
              <a:t>Easy to Use</a:t>
            </a:r>
          </a:p>
          <a:p>
            <a:r>
              <a:rPr lang="en-US" sz="2000" dirty="0"/>
              <a:t>A DataFrame may have billions of rows                </a:t>
            </a:r>
          </a:p>
          <a:p>
            <a:pPr lvl="1"/>
            <a:r>
              <a:rPr lang="en-US" sz="1800" b="1" dirty="0">
                <a:highlight>
                  <a:srgbClr val="00FF00"/>
                </a:highlight>
              </a:rPr>
              <a:t>Scalable</a:t>
            </a:r>
          </a:p>
          <a:p>
            <a:r>
              <a:rPr lang="en-US" sz="2000" dirty="0"/>
              <a:t>A DataFrame is immutable (READ-ONLY)                </a:t>
            </a:r>
          </a:p>
          <a:p>
            <a:pPr lvl="1"/>
            <a:r>
              <a:rPr lang="en-US" sz="1800" b="1" dirty="0">
                <a:highlight>
                  <a:srgbClr val="00FF00"/>
                </a:highlight>
              </a:rPr>
              <a:t>No Synchronization</a:t>
            </a:r>
          </a:p>
          <a:p>
            <a:r>
              <a:rPr lang="en-US" sz="2000" dirty="0"/>
              <a:t>A DataFrame is PARTITIONED                </a:t>
            </a:r>
          </a:p>
          <a:p>
            <a:pPr lvl="1"/>
            <a:r>
              <a:rPr lang="en-US" sz="1800" b="1" dirty="0">
                <a:highlight>
                  <a:srgbClr val="00FF00"/>
                </a:highlight>
              </a:rPr>
              <a:t>Parallelism</a:t>
            </a:r>
          </a:p>
          <a:p>
            <a:r>
              <a:rPr lang="en-US" sz="2000" dirty="0"/>
              <a:t>Powerful API to manipulate and query DataFrame</a:t>
            </a:r>
          </a:p>
          <a:p>
            <a:pPr lvl="1"/>
            <a:r>
              <a:rPr lang="en-US" sz="1800" b="1" dirty="0">
                <a:highlight>
                  <a:srgbClr val="00FF00"/>
                </a:highlight>
              </a:rPr>
              <a:t>Simple to use</a:t>
            </a:r>
          </a:p>
        </p:txBody>
      </p:sp>
    </p:spTree>
    <p:extLst>
      <p:ext uri="{BB962C8B-B14F-4D97-AF65-F5344CB8AC3E}">
        <p14:creationId xmlns:p14="http://schemas.microsoft.com/office/powerpoint/2010/main" val="264412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84475"/>
          </a:xfrm>
        </p:spPr>
        <p:txBody>
          <a:bodyPr/>
          <a:lstStyle/>
          <a:p>
            <a:r>
              <a:rPr lang="en-US" dirty="0"/>
              <a:t>Creating DataFrame: Reading Python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45574"/>
            <a:ext cx="7956550" cy="4213789"/>
          </a:xfrm>
        </p:spPr>
        <p:txBody>
          <a:bodyPr>
            <a:normAutofit/>
          </a:bodyPr>
          <a:lstStyle/>
          <a:p>
            <a:r>
              <a:rPr lang="en-US" sz="2400" dirty="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Python Collection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4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DataFrame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What are Python collections?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Lists</a:t>
            </a:r>
          </a:p>
          <a:p>
            <a:pPr marL="342900" lvl="1" indent="0" fontAlgn="base">
              <a:buNone/>
            </a:pPr>
            <a:r>
              <a:rPr lang="en-US" dirty="0" err="1">
                <a:latin typeface="Courier" pitchFamily="2" charset="0"/>
              </a:rPr>
              <a:t>sample_list</a:t>
            </a:r>
            <a:r>
              <a:rPr lang="en-US" dirty="0">
                <a:latin typeface="Courier" pitchFamily="2" charset="0"/>
              </a:rPr>
              <a:t> = [1, "Yes", ['</a:t>
            </a:r>
            <a:r>
              <a:rPr lang="en-US" dirty="0" err="1">
                <a:latin typeface="Courier" pitchFamily="2" charset="0"/>
              </a:rPr>
              <a:t>a','e</a:t>
            </a:r>
            <a:r>
              <a:rPr lang="en-US" dirty="0">
                <a:latin typeface="Courier" pitchFamily="2" charset="0"/>
              </a:rPr>
              <a:t>’]]</a:t>
            </a:r>
          </a:p>
          <a:p>
            <a:pPr marL="342900" lvl="1" indent="0" fontAlgn="base">
              <a:buNone/>
            </a:pPr>
            <a:r>
              <a:rPr lang="en-US" dirty="0" err="1">
                <a:latin typeface="Courier" pitchFamily="2" charset="0"/>
              </a:rPr>
              <a:t>Key_value</a:t>
            </a:r>
            <a:r>
              <a:rPr lang="en-US" dirty="0">
                <a:latin typeface="Courier" pitchFamily="2" charset="0"/>
              </a:rPr>
              <a:t> = [(“A”, 2), (“A”, 3), (“B”, 6), (“B”, 7)]</a:t>
            </a:r>
          </a:p>
          <a:p>
            <a:pPr lvl="1"/>
            <a:endParaRPr lang="en-US" dirty="0">
              <a:latin typeface="Consolas" panose="020B0609020204030204" pitchFamily="49" charset="0"/>
              <a:cs typeface="Consolas" panose="020B0609020204030204" pitchFamily="49" charset="0"/>
              <a:sym typeface="Wingdings" pitchFamily="2" charset="2"/>
            </a:endParaRP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Arrays</a:t>
            </a:r>
          </a:p>
          <a:p>
            <a:pPr marL="342900" lvl="1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Sample_array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= [1, 2, 3, 5, 0, 9, 10]</a:t>
            </a:r>
          </a:p>
          <a:p>
            <a:pPr marL="342900" lvl="1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  <a:sym typeface="Wingdings" pitchFamily="2" charset="2"/>
            </a:endParaRP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Dictionaries</a:t>
            </a:r>
          </a:p>
          <a:p>
            <a:pPr marL="342900" lvl="1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my_dictionary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= {“key1” : 10, “key2”: “fox jumped”}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539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84475"/>
          </a:xfrm>
        </p:spPr>
        <p:txBody>
          <a:bodyPr/>
          <a:lstStyle/>
          <a:p>
            <a:r>
              <a:rPr lang="en-US" dirty="0"/>
              <a:t>Creating DataFrame: Reading Python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45574"/>
            <a:ext cx="7956550" cy="421378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#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SparkSession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available as 'spark'.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tuples =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[('</a:t>
            </a: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', 20, 78000), ('jane', 30, 68000), ('</a:t>
            </a: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rafa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', 34, 98000)]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spark.createDataFrame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(tuples)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df.show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|_1  |_2 |_3    |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20| 78000|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|jane| 30| 68000|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rafa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34| 98000|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475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4137"/>
            <a:ext cx="7886700" cy="466624"/>
          </a:xfrm>
        </p:spPr>
        <p:txBody>
          <a:bodyPr>
            <a:noAutofit/>
          </a:bodyPr>
          <a:lstStyle/>
          <a:p>
            <a:r>
              <a:rPr lang="en-US" sz="2400" dirty="0"/>
              <a:t>Creating DataFrame: from Collection: rename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50761"/>
            <a:ext cx="7956550" cy="45244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df.show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0" indent="0">
              <a:buNone/>
            </a:pPr>
            <a:r>
              <a:rPr lang="en-US" sz="10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|_1  |_2 |_3    |</a:t>
            </a:r>
          </a:p>
          <a:p>
            <a:pPr marL="0" indent="0">
              <a:buNone/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0" indent="0">
              <a:buNone/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| 20| 78000|</a:t>
            </a:r>
          </a:p>
          <a:p>
            <a:pPr marL="0" indent="0">
              <a:buNone/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|jane| 30| 68000|</a:t>
            </a:r>
          </a:p>
          <a:p>
            <a:pPr marL="0" indent="0">
              <a:buNone/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rafa</a:t>
            </a: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| 34| 98000|</a:t>
            </a:r>
          </a:p>
          <a:p>
            <a:pPr marL="0" indent="0">
              <a:buNone/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0" indent="0">
              <a:buNone/>
            </a:pPr>
            <a:r>
              <a:rPr lang="en-US" sz="10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rename column names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df2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df.selectExpr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("_1 as name", "_2 as age”, "_3 as salary”)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df2.show()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+-----+----+--------+</a:t>
            </a:r>
          </a:p>
          <a:p>
            <a:pPr marL="0" indent="0">
              <a:buNone/>
            </a:pPr>
            <a:r>
              <a:rPr lang="en-US" sz="12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|name | age| salary |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+-----+----+--------+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|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|  20| 78000  |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| jane|  30| 68000  |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|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rafa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|  34| 98000  |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+-----+----+--------+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961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796824"/>
          </a:xfrm>
        </p:spPr>
        <p:txBody>
          <a:bodyPr>
            <a:normAutofit fontScale="90000"/>
          </a:bodyPr>
          <a:lstStyle/>
          <a:p>
            <a:r>
              <a:rPr lang="en-US" dirty="0"/>
              <a:t>Read Python Collection and Create DataFrame with named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83733"/>
            <a:ext cx="7956550" cy="3975630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#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SparkSession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available as 'spark'.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tuples =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[('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', 20, 78000), ('jane', 30, 68000), ('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rafa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', 34, 98000)]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column_names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["name", "age", "salary"]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spark.createDataFrame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(tuples,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column_names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df.show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name|age|salary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20| 78000|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|jane| 30| 68000|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rafa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34| 98000|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84475"/>
          </a:xfrm>
        </p:spPr>
        <p:txBody>
          <a:bodyPr/>
          <a:lstStyle/>
          <a:p>
            <a:r>
              <a:rPr lang="en-US" dirty="0"/>
              <a:t>Creating DataFrame: Inspect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45574"/>
            <a:ext cx="7956550" cy="41295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 &gt;&gt;&gt; 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endParaRPr lang="en-US" dirty="0"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DataFrame[name: string, age: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bigint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salary: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bigint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en-US" dirty="0">
              <a:highlight>
                <a:srgbClr val="00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 &gt;&gt;&gt; 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df.printSchema</a:t>
            </a: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|-- name: string (nullable = true)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|-- age: long (nullable = true)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|-- salary: long (nullable = true)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 &gt;&gt;&gt; 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df.count</a:t>
            </a: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997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84475"/>
          </a:xfrm>
        </p:spPr>
        <p:txBody>
          <a:bodyPr/>
          <a:lstStyle/>
          <a:p>
            <a:r>
              <a:rPr lang="en-US" dirty="0"/>
              <a:t>Writing a DataFrame in CSV Format: TAB Separated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45574"/>
            <a:ext cx="7956550" cy="412955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# </a:t>
            </a:r>
            <a:r>
              <a:rPr lang="en-US" dirty="0" err="1">
                <a:latin typeface="Courier" pitchFamily="2" charset="0"/>
              </a:rPr>
              <a:t>df</a:t>
            </a:r>
            <a:r>
              <a:rPr lang="en-US" dirty="0">
                <a:latin typeface="Courier" pitchFamily="2" charset="0"/>
              </a:rPr>
              <a:t> : a DataFrame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ourier" pitchFamily="2" charset="0"/>
              </a:rPr>
              <a:t>output_path</a:t>
            </a:r>
            <a:r>
              <a:rPr lang="en-US" dirty="0">
                <a:latin typeface="Courier" pitchFamily="2" charset="0"/>
              </a:rPr>
              <a:t> = "/</a:t>
            </a:r>
            <a:r>
              <a:rPr lang="en-US" dirty="0" err="1">
                <a:latin typeface="Courier" pitchFamily="2" charset="0"/>
              </a:rPr>
              <a:t>tmp</a:t>
            </a:r>
            <a:r>
              <a:rPr lang="en-US" dirty="0">
                <a:latin typeface="Courier" pitchFamily="2" charset="0"/>
              </a:rPr>
              <a:t>/project/output1/"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ourier" pitchFamily="2" charset="0"/>
              </a:rPr>
              <a:t>df.write</a:t>
            </a:r>
            <a:endParaRPr lang="en-US" dirty="0">
              <a:latin typeface="Courier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  .format("csv")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  .mode("overwrite")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  .option("</a:t>
            </a:r>
            <a:r>
              <a:rPr lang="en-US" dirty="0" err="1">
                <a:latin typeface="Courier" pitchFamily="2" charset="0"/>
              </a:rPr>
              <a:t>sep</a:t>
            </a:r>
            <a:r>
              <a:rPr lang="en-US" dirty="0">
                <a:latin typeface="Courier" pitchFamily="2" charset="0"/>
              </a:rPr>
              <a:t>", "\t")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  .save(</a:t>
            </a:r>
            <a:r>
              <a:rPr lang="en-US" dirty="0" err="1">
                <a:latin typeface="Courier" pitchFamily="2" charset="0"/>
              </a:rPr>
              <a:t>output_path</a:t>
            </a:r>
            <a:r>
              <a:rPr lang="en-US" dirty="0">
                <a:latin typeface="Courier" pitchFamily="2" charset="0"/>
              </a:rPr>
              <a:t>)</a:t>
            </a:r>
            <a:endParaRPr lang="en-US" dirty="0">
              <a:latin typeface="Courier" pitchFamily="2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702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84475"/>
          </a:xfrm>
        </p:spPr>
        <p:txBody>
          <a:bodyPr/>
          <a:lstStyle/>
          <a:p>
            <a:r>
              <a:rPr lang="en-US" dirty="0"/>
              <a:t>Creating DataFrame: from RDD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45574"/>
            <a:ext cx="7956550" cy="4213789"/>
          </a:xfrm>
        </p:spPr>
        <p:txBody>
          <a:bodyPr>
            <a:normAutofit fontScale="5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tuples = [('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', 20, 78000), ('jane', 30, 68000), ('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rafa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', 34, 98000)]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rdd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spark.sparkContext.parallelize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(tuples)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from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pyspark.sql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import Row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&gt;&gt;&gt;# Convert every element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rdd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to a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pyspark.sql.Row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rdd2 = 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rdd.map</a:t>
            </a: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(lambda x: Row(name=x[0], age=x[1], salary=x[2]))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rdd2.collect()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[Row(name='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', age=20, salary=78000), Row(name='jane', age=30, salary=68000), Row(name='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rafa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', age=34, salary=98000)]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df2 = rdd2.toDF()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df2.show()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name|age|salary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20| 78000|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|jane| 30| 68000|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rafa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34| 98000|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6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490385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Convert DataFrame to RDD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58762"/>
            <a:ext cx="7956550" cy="4400602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df.show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name|age|salary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| 20| 78000|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|jane| 30| 68000|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rafa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| 34| 98000|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+----+---+------+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&gt;&gt;&gt; rdd4 = </a:t>
            </a:r>
            <a:r>
              <a:rPr lang="en-US" b="1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df.rdd</a:t>
            </a:r>
            <a:endParaRPr lang="en-US" b="1" dirty="0"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&gt;&gt;&gt; rdd4.collect()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[Row(name='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', age=20, salary=78000),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Row(name='jane', age=30, salary=68000),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Row(name='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rafa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', age=34, salary=98000)]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12.  &gt;&gt;&gt;# apply a filter to rdd4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&gt;&gt;&gt;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rdd5 = rdd4.filter(lambda r: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r.age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&gt; 20)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13.  &gt;&gt;&gt; rdd5.collect()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[Row(name='jane', age=30, salary=68000),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Row(name='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rafa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', age=34, salary=98000)]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357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490385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DataFrame From CSV File with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58762"/>
            <a:ext cx="7956550" cy="440060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% cat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emps_with_header.txt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id,name,salary,dept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1001,alex,67000,SALES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1002,bob,24000,SALES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highlight>
                  <a:srgbClr val="00FF00"/>
                </a:highlight>
                <a:latin typeface="+mn-lt"/>
                <a:cs typeface="Consolas" panose="020B0609020204030204" pitchFamily="49" charset="0"/>
              </a:rPr>
              <a:t>How to Convert </a:t>
            </a:r>
            <a:r>
              <a:rPr lang="en-US" sz="2800" dirty="0">
                <a:highlight>
                  <a:srgbClr val="00FF00"/>
                </a:highlight>
                <a:latin typeface="+mn-lt"/>
              </a:rPr>
              <a:t>CSV File with Header to a DataFrame?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df.show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+----+-----+------+--------+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 id|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name|salary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   dept|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+----+-----+------+--------+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|1001|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67000|   SALES|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|1002|  bob| 24000|   SALES|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869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490385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DataFrame From CSV File with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58762"/>
            <a:ext cx="7956550" cy="4400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Complete Examples (as URLs) are: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DataFrame_creation_cvs_with_header.sh 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 basic shell script </a:t>
            </a:r>
          </a:p>
          <a:p>
            <a:pPr marL="342900" lvl="1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DataFrame_creation_cvs_with_header.py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PySpark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Program</a:t>
            </a:r>
          </a:p>
          <a:p>
            <a:pPr marL="342900" lvl="1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4"/>
              </a:rPr>
              <a:t>DataFrame_creation_cvs_with_header.log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Sample run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PySpark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Program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147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490385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DataFrame From CSV File without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58762"/>
            <a:ext cx="7956550" cy="440060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% cat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emps_no_header.txt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1001,alex,67000,SALES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1002,bob,24000,SALES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highlight>
                  <a:srgbClr val="00FF00"/>
                </a:highlight>
                <a:latin typeface="+mn-lt"/>
                <a:cs typeface="Consolas" panose="020B0609020204030204" pitchFamily="49" charset="0"/>
              </a:rPr>
              <a:t>How to Convert </a:t>
            </a:r>
            <a:r>
              <a:rPr lang="en-US" sz="2800" dirty="0">
                <a:highlight>
                  <a:srgbClr val="00FF00"/>
                </a:highlight>
                <a:latin typeface="+mn-lt"/>
              </a:rPr>
              <a:t>CSV File with Header to a DataFrame?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df.show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+----+-----+------+--------+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 id|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name|salary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   dept|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+----+-----+------+--------+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|1001|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alex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67000|   SALES|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|1002|  bob| 24000|   SALES|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617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490385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DataFrame From CSV File without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58762"/>
            <a:ext cx="7956550" cy="4400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Complete Examples (as URLs) are: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DataFrame_creation_cvs_no_header.sh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Shell script to run program</a:t>
            </a:r>
          </a:p>
          <a:p>
            <a:pPr marL="342900" lvl="1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DataFrame_creation_cvs_no_header.py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PySpark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Program</a:t>
            </a:r>
          </a:p>
          <a:p>
            <a:pPr lvl="1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DataFrame_creation_cvs_no_header.log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Sample run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PySpark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program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539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490385"/>
          </a:xfrm>
        </p:spPr>
        <p:txBody>
          <a:bodyPr>
            <a:normAutofit fontScale="90000"/>
          </a:bodyPr>
          <a:lstStyle/>
          <a:p>
            <a:r>
              <a:rPr lang="en-US" dirty="0"/>
              <a:t>Reading  JSON </a:t>
            </a:r>
            <a:r>
              <a:rPr lang="en-US" dirty="0">
                <a:sym typeface="Wingdings" pitchFamily="2" charset="2"/>
              </a:rPr>
              <a:t> Create a DataFrame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58762"/>
            <a:ext cx="7956550" cy="4400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 spark : a </a:t>
            </a:r>
            <a:r>
              <a:rPr lang="en-US" dirty="0" err="1">
                <a:latin typeface="Courier" pitchFamily="2" charset="0"/>
              </a:rPr>
              <a:t>SparkSession</a:t>
            </a:r>
            <a:r>
              <a:rPr lang="en-US" dirty="0">
                <a:latin typeface="Courier" pitchFamily="2" charset="0"/>
              </a:rPr>
              <a:t> object</a:t>
            </a: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input_as_json</a:t>
            </a:r>
            <a:r>
              <a:rPr lang="en-US" dirty="0">
                <a:latin typeface="Courier" pitchFamily="2" charset="0"/>
              </a:rPr>
              <a:t> = “/data/</a:t>
            </a:r>
            <a:r>
              <a:rPr lang="en-US" dirty="0" err="1">
                <a:latin typeface="Courier" pitchFamily="2" charset="0"/>
              </a:rPr>
              <a:t>movies.json</a:t>
            </a:r>
            <a:r>
              <a:rPr lang="en-US" dirty="0">
                <a:latin typeface="Courier" pitchFamily="2" charset="0"/>
              </a:rPr>
              <a:t>”</a:t>
            </a: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df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spark.read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.format("</a:t>
            </a:r>
            <a:r>
              <a:rPr lang="en-US" dirty="0" err="1">
                <a:latin typeface="Courier" pitchFamily="2" charset="0"/>
              </a:rPr>
              <a:t>json</a:t>
            </a:r>
            <a:r>
              <a:rPr lang="en-US" dirty="0">
                <a:latin typeface="Courier" pitchFamily="2" charset="0"/>
              </a:rPr>
              <a:t>")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.option("mode", "FAILFAST")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.option("</a:t>
            </a:r>
            <a:r>
              <a:rPr lang="en-US" dirty="0" err="1">
                <a:latin typeface="Courier" pitchFamily="2" charset="0"/>
              </a:rPr>
              <a:t>inferSchema</a:t>
            </a:r>
            <a:r>
              <a:rPr lang="en-US" dirty="0">
                <a:latin typeface="Courier" pitchFamily="2" charset="0"/>
              </a:rPr>
              <a:t>", "true")</a:t>
            </a:r>
          </a:p>
          <a:p>
            <a:pPr marL="0" indent="0">
              <a:buNone/>
            </a:pPr>
            <a:r>
              <a:rPr lang="en-US">
                <a:latin typeface="Courier" pitchFamily="2" charset="0"/>
              </a:rPr>
              <a:t>  .</a:t>
            </a:r>
            <a:r>
              <a:rPr lang="en-US" dirty="0">
                <a:latin typeface="Courier" pitchFamily="2" charset="0"/>
              </a:rPr>
              <a:t>load(</a:t>
            </a:r>
            <a:r>
              <a:rPr lang="en-US" dirty="0" err="1">
                <a:latin typeface="Courier" pitchFamily="2" charset="0"/>
              </a:rPr>
              <a:t>input_as_json</a:t>
            </a:r>
            <a:r>
              <a:rPr lang="en-US" dirty="0">
                <a:latin typeface="Courier" pitchFamily="2" charset="0"/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63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490385"/>
          </a:xfrm>
        </p:spPr>
        <p:txBody>
          <a:bodyPr>
            <a:normAutofit fontScale="90000"/>
          </a:bodyPr>
          <a:lstStyle/>
          <a:p>
            <a:r>
              <a:rPr lang="en-US" dirty="0"/>
              <a:t>Writing  a DataFrame as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58762"/>
            <a:ext cx="7956550" cy="440060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# </a:t>
            </a:r>
            <a:r>
              <a:rPr lang="en-US" dirty="0" err="1">
                <a:latin typeface="Courier" pitchFamily="2" charset="0"/>
              </a:rPr>
              <a:t>df</a:t>
            </a:r>
            <a:r>
              <a:rPr lang="en-US" dirty="0">
                <a:latin typeface="Courier" pitchFamily="2" charset="0"/>
              </a:rPr>
              <a:t> : a DataFrame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ourier" pitchFamily="2" charset="0"/>
              </a:rPr>
              <a:t>output_path</a:t>
            </a:r>
            <a:r>
              <a:rPr lang="en-US" dirty="0">
                <a:latin typeface="Courier" pitchFamily="2" charset="0"/>
              </a:rPr>
              <a:t> = “/</a:t>
            </a:r>
            <a:r>
              <a:rPr lang="en-US" dirty="0" err="1">
                <a:latin typeface="Courier" pitchFamily="2" charset="0"/>
              </a:rPr>
              <a:t>tmp</a:t>
            </a:r>
            <a:r>
              <a:rPr lang="en-US" dirty="0">
                <a:latin typeface="Courier" pitchFamily="2" charset="0"/>
              </a:rPr>
              <a:t>/output5/”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#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ourier" pitchFamily="2" charset="0"/>
              </a:rPr>
              <a:t>df.write</a:t>
            </a:r>
            <a:endParaRPr lang="en-US" dirty="0">
              <a:latin typeface="Courier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.format("</a:t>
            </a:r>
            <a:r>
              <a:rPr lang="en-US" dirty="0" err="1">
                <a:latin typeface="Courier" pitchFamily="2" charset="0"/>
              </a:rPr>
              <a:t>json</a:t>
            </a:r>
            <a:r>
              <a:rPr lang="en-US" dirty="0">
                <a:latin typeface="Courier" pitchFamily="2" charset="0"/>
              </a:rPr>
              <a:t>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.mode("overwrite")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.save(</a:t>
            </a:r>
            <a:r>
              <a:rPr lang="en-US" dirty="0" err="1">
                <a:latin typeface="Courier" pitchFamily="2" charset="0"/>
              </a:rPr>
              <a:t>output_path</a:t>
            </a:r>
            <a:r>
              <a:rPr lang="en-US" dirty="0">
                <a:latin typeface="Courier" pitchFamily="2" charset="0"/>
              </a:rPr>
              <a:t>)</a:t>
            </a:r>
            <a:br>
              <a:rPr lang="en-US" dirty="0">
                <a:latin typeface="Courier" pitchFamily="2" charset="0"/>
              </a:rPr>
            </a:br>
            <a:endParaRPr lang="en-US" dirty="0">
              <a:latin typeface="Courier" pitchFamily="2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716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490385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DataFrame From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58762"/>
            <a:ext cx="7956550" cy="44006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{"name":"alex","id":200,"scores":[1,2], …}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{"name":"bob","id":300,"scores":[1,2,4,6], … 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en-US" sz="2800" dirty="0">
                <a:highlight>
                  <a:srgbClr val="00FF00"/>
                </a:highlight>
                <a:latin typeface="+mn-lt"/>
                <a:cs typeface="Consolas" panose="020B0609020204030204" pitchFamily="49" charset="0"/>
              </a:rPr>
              <a:t>How to Convert </a:t>
            </a:r>
            <a:r>
              <a:rPr lang="en-US" sz="2800" dirty="0">
                <a:highlight>
                  <a:srgbClr val="00FF00"/>
                </a:highlight>
                <a:latin typeface="+mn-lt"/>
              </a:rPr>
              <a:t>JSON File to a DataFrame?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df.show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+---+----+------------+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|id |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name|scores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+---+----+------------+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|200|alex|[1, 2]      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|300|bob |[1, 2, 4, 6]|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|…  |…   | …          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+---+----+------------+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540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490385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DataFrame From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58762"/>
            <a:ext cx="7956550" cy="4400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Complete Examples (as URLs) are: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datasource_json_reader_single_line.sh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datasource_json_reader_single_line.py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  <a:hlinkClick r:id="rId4"/>
              </a:rPr>
              <a:t>datasource_json_reader_single_line.log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60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Create a DataFrame with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76748"/>
            <a:ext cx="7956550" cy="4282616"/>
          </a:xfrm>
        </p:spPr>
        <p:txBody>
          <a:bodyPr>
            <a:normAutofit/>
          </a:bodyPr>
          <a:lstStyle/>
          <a:p>
            <a:r>
              <a:rPr lang="en-US" sz="2800" dirty="0"/>
              <a:t>Specify the column names </a:t>
            </a:r>
          </a:p>
          <a:p>
            <a:r>
              <a:rPr lang="en-US" sz="2800" dirty="0"/>
              <a:t>Specify column data types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highlight>
                  <a:srgbClr val="00FF00"/>
                </a:highlight>
              </a:rPr>
              <a:t>HOW?</a:t>
            </a:r>
          </a:p>
          <a:p>
            <a:r>
              <a:rPr lang="en-US" sz="2800" dirty="0"/>
              <a:t>Create the </a:t>
            </a:r>
            <a:r>
              <a:rPr lang="en-US" sz="2800" dirty="0" err="1"/>
              <a:t>StructType</a:t>
            </a:r>
            <a:r>
              <a:rPr lang="en-US" sz="2800" dirty="0"/>
              <a:t> schema first and then </a:t>
            </a:r>
          </a:p>
          <a:p>
            <a:r>
              <a:rPr lang="en-US" sz="2800" dirty="0"/>
              <a:t>Assign schema while creating a DataFrame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34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Create a DataFrame with Schema -- 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76748"/>
            <a:ext cx="7956550" cy="4282616"/>
          </a:xfrm>
        </p:spPr>
        <p:txBody>
          <a:bodyPr>
            <a:normAutofit/>
          </a:bodyPr>
          <a:lstStyle/>
          <a:p>
            <a:r>
              <a:rPr lang="en-US" sz="2800" dirty="0"/>
              <a:t>Specify the column names </a:t>
            </a:r>
          </a:p>
          <a:p>
            <a:r>
              <a:rPr lang="en-US" sz="2800" dirty="0"/>
              <a:t>Specify column data types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highlight>
                  <a:srgbClr val="00FF00"/>
                </a:highlight>
              </a:rPr>
              <a:t>HOW?</a:t>
            </a:r>
          </a:p>
          <a:p>
            <a:r>
              <a:rPr lang="en-US" sz="2800" dirty="0"/>
              <a:t>Create the 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StructType</a:t>
            </a:r>
            <a:r>
              <a:rPr lang="en-US" sz="2800" dirty="0"/>
              <a:t> schema first and then </a:t>
            </a:r>
          </a:p>
          <a:p>
            <a:r>
              <a:rPr lang="en-US" sz="2800" dirty="0"/>
              <a:t>Assign schema while creating a DataFrame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4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Create a DataFrame with Schema -- 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76748"/>
            <a:ext cx="8235950" cy="4282616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pyspark.sql.types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StructType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StructField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pyspark.sql.types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StringType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IntegerType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emp_schema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StructType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([ \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StructField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StringType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(),True), \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StructField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StringType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(),True), \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StructField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("id",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IntegerType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(), True), \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StructField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("gender",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StringType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(), True), \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StructField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("salary",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IntegerType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(), True) \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])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095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Create a DataFrame with Schema -- 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76748"/>
            <a:ext cx="7956550" cy="4282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Define some data: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data2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("James", "Smith", 100, "M", 38000),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("Michael", "Rose", 200, "M", 49000),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("Robert", "Williams", 300, "M", 24000),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("Maria", "Jones", 600, "F", 94000),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("Mary", "Brown", 900, "F", 88000)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364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Create a DataFrame with Schema -- 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76748"/>
            <a:ext cx="7956550" cy="42826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spark.createDataFrame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(data=data2,schema=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emp_schema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df.show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(truncate=False)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+-----------+----------+-------+--------+--------+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| id    | gender | salary 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+-----------+----------+-------+--------+--------+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James     | Smith    |100    |  M     | 38000  |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Michael   | Rose     |200    |  M     | 49000  |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Robert    | Williams |300    |  M     | 24000  |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Maria     | Jones    |600    |  F     | 94000  |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 Mary      | Brown    |900    |  F     | 88000  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+-----------+----------+-------+--------+--------+</a:t>
            </a:r>
          </a:p>
          <a:p>
            <a:pPr marL="0" indent="0">
              <a:buNone/>
            </a:pP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5386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800" dirty="0"/>
              <a:t>Reading/Writing Parquet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76748"/>
            <a:ext cx="7956550" cy="4282616"/>
          </a:xfrm>
        </p:spPr>
        <p:txBody>
          <a:bodyPr>
            <a:normAutofit/>
          </a:bodyPr>
          <a:lstStyle/>
          <a:p>
            <a:r>
              <a:rPr lang="en-US" sz="2800" dirty="0"/>
              <a:t>Parquet is an open-source file format </a:t>
            </a:r>
          </a:p>
          <a:p>
            <a:r>
              <a:rPr lang="en-US" sz="2800" dirty="0"/>
              <a:t>Available to any project in the Hadoop ecosystem. </a:t>
            </a:r>
          </a:p>
          <a:p>
            <a:r>
              <a:rPr lang="en-US" sz="2800" dirty="0"/>
              <a:t>Apache Parquet is designed for efficiency as well as the performant flat columnar storage format of data compared to row-based files like CSV or TSV files.</a:t>
            </a:r>
          </a:p>
          <a:p>
            <a:r>
              <a:rPr lang="en-US" sz="2800" dirty="0">
                <a:latin typeface="Courier" pitchFamily="2" charset="0"/>
                <a:cs typeface="Consolas" panose="020B0609020204030204" pitchFamily="49" charset="0"/>
              </a:rPr>
              <a:t>https://</a:t>
            </a:r>
            <a:r>
              <a:rPr lang="en-US" sz="2800" dirty="0" err="1">
                <a:latin typeface="Courier" pitchFamily="2" charset="0"/>
                <a:cs typeface="Consolas" panose="020B0609020204030204" pitchFamily="49" charset="0"/>
              </a:rPr>
              <a:t>parquet.apache.org</a:t>
            </a:r>
            <a:endParaRPr lang="en-US" sz="2800" dirty="0">
              <a:latin typeface="Courier" pitchFamily="2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847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Parquet: Columnar Storage</a:t>
            </a:r>
          </a:p>
        </p:txBody>
      </p:sp>
      <p:pic>
        <p:nvPicPr>
          <p:cNvPr id="6" name="Content Placeholder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BE9A1CD7-AA92-A286-5E11-89E873240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773" y="776288"/>
            <a:ext cx="7618304" cy="4283075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877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Reading  Parquet </a:t>
            </a:r>
            <a:r>
              <a:rPr lang="en-US" sz="2400" dirty="0">
                <a:sym typeface="Wingdings" pitchFamily="2" charset="2"/>
              </a:rPr>
              <a:t> DataFrame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385379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# spark : </a:t>
            </a:r>
            <a:r>
              <a:rPr lang="en-US" dirty="0" err="1">
                <a:latin typeface="Courier" pitchFamily="2" charset="0"/>
              </a:rPr>
              <a:t>SparkSession</a:t>
            </a:r>
            <a:endParaRPr lang="en-US" dirty="0">
              <a:latin typeface="Courier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 err="1">
                <a:latin typeface="Courier" pitchFamily="2" charset="0"/>
              </a:rPr>
              <a:t>input_path</a:t>
            </a:r>
            <a:r>
              <a:rPr lang="en-US" sz="1800" dirty="0">
                <a:latin typeface="Courier" pitchFamily="2" charset="0"/>
              </a:rPr>
              <a:t> = "/data/movies/2020-summary.parquet"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ourier" pitchFamily="2" charset="0"/>
              </a:rPr>
              <a:t>df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spark.read</a:t>
            </a:r>
            <a:endParaRPr lang="en-US" dirty="0">
              <a:latin typeface="Courier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.format("parquet")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.load(</a:t>
            </a:r>
            <a:r>
              <a:rPr lang="en-US" dirty="0" err="1">
                <a:latin typeface="Courier" pitchFamily="2" charset="0"/>
              </a:rPr>
              <a:t>input_path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#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ourier" pitchFamily="2" charset="0"/>
              </a:rPr>
              <a:t>df.show</a:t>
            </a:r>
            <a:r>
              <a:rPr lang="en-US" dirty="0">
                <a:latin typeface="Courier" pitchFamily="2" charset="0"/>
              </a:rPr>
              <a:t>(5)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21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Writing </a:t>
            </a:r>
            <a:r>
              <a:rPr lang="en-US" sz="2400" dirty="0" err="1"/>
              <a:t>Dataframe</a:t>
            </a:r>
            <a:r>
              <a:rPr lang="en-US" sz="2400" dirty="0"/>
              <a:t>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Parquet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385379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 </a:t>
            </a:r>
            <a:r>
              <a:rPr lang="en-US" dirty="0" err="1">
                <a:latin typeface="Courier" pitchFamily="2" charset="0"/>
              </a:rPr>
              <a:t>df</a:t>
            </a:r>
            <a:r>
              <a:rPr lang="en-US" dirty="0">
                <a:latin typeface="Courier" pitchFamily="2" charset="0"/>
              </a:rPr>
              <a:t> : DataFrame</a:t>
            </a: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output_path</a:t>
            </a:r>
            <a:r>
              <a:rPr lang="en-US" dirty="0">
                <a:latin typeface="Courier" pitchFamily="2" charset="0"/>
              </a:rPr>
              <a:t> = "/</a:t>
            </a:r>
            <a:r>
              <a:rPr lang="en-US" dirty="0" err="1">
                <a:latin typeface="Courier" pitchFamily="2" charset="0"/>
              </a:rPr>
              <a:t>tmp</a:t>
            </a:r>
            <a:r>
              <a:rPr lang="en-US" dirty="0">
                <a:latin typeface="Courier" pitchFamily="2" charset="0"/>
              </a:rPr>
              <a:t>/my-parquet-</a:t>
            </a:r>
            <a:r>
              <a:rPr lang="en-US" dirty="0" err="1">
                <a:latin typeface="Courier" pitchFamily="2" charset="0"/>
              </a:rPr>
              <a:t>file.parquet</a:t>
            </a:r>
            <a:r>
              <a:rPr lang="en-US" dirty="0">
                <a:latin typeface="Courier" pitchFamily="2" charset="0"/>
              </a:rPr>
              <a:t>"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</a:t>
            </a: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df.write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.format("parquet")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.mode("overwrite")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.save(</a:t>
            </a:r>
            <a:r>
              <a:rPr lang="en-US" dirty="0" err="1">
                <a:latin typeface="Courier" pitchFamily="2" charset="0"/>
              </a:rPr>
              <a:t>output_path</a:t>
            </a:r>
            <a:r>
              <a:rPr lang="en-US" dirty="0">
                <a:latin typeface="Courier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12681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Reading/Writing Parquet: A Complete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3853790"/>
          </a:xfrm>
        </p:spPr>
        <p:txBody>
          <a:bodyPr/>
          <a:lstStyle/>
          <a:p>
            <a:r>
              <a:rPr lang="en-US" sz="2800" dirty="0"/>
              <a:t>Input data:</a:t>
            </a:r>
          </a:p>
          <a:p>
            <a:r>
              <a:rPr lang="en-US" sz="1400" dirty="0"/>
              <a:t>https://</a:t>
            </a:r>
            <a:r>
              <a:rPr lang="en-US" sz="1400" dirty="0" err="1"/>
              <a:t>github.com</a:t>
            </a:r>
            <a:r>
              <a:rPr lang="en-US" sz="1400" dirty="0"/>
              <a:t>/</a:t>
            </a:r>
            <a:r>
              <a:rPr lang="en-US" sz="1400" dirty="0" err="1"/>
              <a:t>mahmoudparsian</a:t>
            </a:r>
            <a:r>
              <a:rPr lang="en-US" sz="1400" dirty="0"/>
              <a:t>/</a:t>
            </a:r>
            <a:r>
              <a:rPr lang="en-US" sz="1400" dirty="0" err="1"/>
              <a:t>pyspark</a:t>
            </a:r>
            <a:r>
              <a:rPr lang="en-US" sz="1400" dirty="0"/>
              <a:t>-algorithms/blob/master/code/chap07/users4.parquet</a:t>
            </a:r>
          </a:p>
          <a:p>
            <a:r>
              <a:rPr lang="en-US" sz="2800" dirty="0"/>
              <a:t>Read users4.parquet file </a:t>
            </a:r>
            <a:r>
              <a:rPr lang="en-US" sz="2800" dirty="0">
                <a:sym typeface="Wingdings" pitchFamily="2" charset="2"/>
              </a:rPr>
              <a:t> a DataFrame</a:t>
            </a:r>
            <a:endParaRPr lang="en-US" sz="2800" dirty="0"/>
          </a:p>
          <a:p>
            <a:r>
              <a:rPr lang="en-US" sz="2800" dirty="0"/>
              <a:t>Inspect created DataFrame</a:t>
            </a:r>
          </a:p>
          <a:p>
            <a:r>
              <a:rPr lang="en-US" sz="2800" dirty="0"/>
              <a:t>Write a DataFrame as Parquet</a:t>
            </a:r>
          </a:p>
          <a:p>
            <a:r>
              <a:rPr lang="en-US" sz="2800" dirty="0"/>
              <a:t>Inspect output path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5417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Reading/Writing Parquet: Read Parquet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400738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800" dirty="0">
                <a:highlight>
                  <a:srgbClr val="FFFF00"/>
                </a:highlight>
                <a:latin typeface="Courier" pitchFamily="2" charset="0"/>
                <a:hlinkClick r:id="rId2"/>
              </a:rPr>
              <a:t>Data Download URL for users4.parquet</a:t>
            </a:r>
            <a:endParaRPr lang="en-US" sz="2800" dirty="0">
              <a:highlight>
                <a:srgbClr val="FFFF00"/>
              </a:highlight>
              <a:latin typeface="Courier" pitchFamily="2" charset="0"/>
            </a:endParaRPr>
          </a:p>
          <a:p>
            <a:pPr marL="0" indent="0">
              <a:buNone/>
            </a:pPr>
            <a:r>
              <a:rPr lang="en-US" sz="2800" dirty="0">
                <a:highlight>
                  <a:srgbClr val="FFFF00"/>
                </a:highlight>
                <a:latin typeface="Courier" pitchFamily="2" charset="0"/>
              </a:rPr>
              <a:t>Download users4.parquet file and place it to "/</a:t>
            </a:r>
            <a:r>
              <a:rPr lang="en-US" sz="2800" dirty="0" err="1">
                <a:highlight>
                  <a:srgbClr val="FFFF00"/>
                </a:highlight>
                <a:latin typeface="Courier" pitchFamily="2" charset="0"/>
              </a:rPr>
              <a:t>tmp</a:t>
            </a:r>
            <a:r>
              <a:rPr lang="en-US" sz="2800" dirty="0">
                <a:highlight>
                  <a:srgbClr val="FFFF00"/>
                </a:highlight>
                <a:latin typeface="Courier" pitchFamily="2" charset="0"/>
              </a:rPr>
              <a:t>/users4.parquet</a:t>
            </a:r>
          </a:p>
          <a:p>
            <a:pPr marL="0" indent="0">
              <a:buNone/>
            </a:pPr>
            <a:endParaRPr lang="en-US" sz="2800" dirty="0">
              <a:highlight>
                <a:srgbClr val="FFFF00"/>
              </a:highlight>
              <a:latin typeface="Courier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900" dirty="0">
                <a:latin typeface="Courier" pitchFamily="2" charset="0"/>
              </a:rPr>
              <a:t>&gt;&gt;&gt; </a:t>
            </a:r>
            <a:r>
              <a:rPr lang="en-US" sz="2900" dirty="0" err="1">
                <a:latin typeface="Courier" pitchFamily="2" charset="0"/>
              </a:rPr>
              <a:t>input_path</a:t>
            </a:r>
            <a:r>
              <a:rPr lang="en-US" sz="2900" dirty="0">
                <a:latin typeface="Courier" pitchFamily="2" charset="0"/>
              </a:rPr>
              <a:t> = "/</a:t>
            </a:r>
            <a:r>
              <a:rPr lang="en-US" sz="2900" dirty="0" err="1">
                <a:latin typeface="Courier" pitchFamily="2" charset="0"/>
              </a:rPr>
              <a:t>tmp</a:t>
            </a:r>
            <a:r>
              <a:rPr lang="en-US" sz="2900" dirty="0">
                <a:latin typeface="Courier" pitchFamily="2" charset="0"/>
              </a:rPr>
              <a:t>/users4.parquet"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900" dirty="0">
                <a:latin typeface="Courier" pitchFamily="2" charset="0"/>
              </a:rPr>
              <a:t>&gt;&gt;&gt;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900" dirty="0">
                <a:latin typeface="Courier" pitchFamily="2" charset="0"/>
              </a:rPr>
              <a:t>&gt;&gt;&gt; </a:t>
            </a:r>
            <a:r>
              <a:rPr lang="en-US" sz="2900" dirty="0" err="1">
                <a:latin typeface="Courier" pitchFamily="2" charset="0"/>
              </a:rPr>
              <a:t>spark.read.format</a:t>
            </a:r>
            <a:r>
              <a:rPr lang="en-US" sz="2900" dirty="0">
                <a:latin typeface="Courier" pitchFamily="2" charset="0"/>
              </a:rPr>
              <a:t>("parquet").load(</a:t>
            </a:r>
            <a:r>
              <a:rPr lang="en-US" sz="2900" dirty="0" err="1">
                <a:latin typeface="Courier" pitchFamily="2" charset="0"/>
              </a:rPr>
              <a:t>input_path</a:t>
            </a:r>
            <a:r>
              <a:rPr lang="en-US" sz="2900" dirty="0">
                <a:latin typeface="Courier" pitchFamily="2" charset="0"/>
              </a:rPr>
              <a:t>).show()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latin typeface="Courier" pitchFamily="2" charset="0"/>
              </a:rPr>
              <a:t>+-----+---------+---+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latin typeface="Courier" pitchFamily="2" charset="0"/>
              </a:rPr>
              <a:t>| name|     </a:t>
            </a:r>
            <a:r>
              <a:rPr lang="en-US" sz="3400" dirty="0" err="1">
                <a:latin typeface="Courier" pitchFamily="2" charset="0"/>
              </a:rPr>
              <a:t>city|age</a:t>
            </a:r>
            <a:r>
              <a:rPr lang="en-US" sz="3400" dirty="0">
                <a:latin typeface="Courier" pitchFamily="2" charset="0"/>
              </a:rPr>
              <a:t>|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latin typeface="Courier" pitchFamily="2" charset="0"/>
              </a:rPr>
              <a:t>+-----+---------+---+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latin typeface="Courier" pitchFamily="2" charset="0"/>
              </a:rPr>
              <a:t>| </a:t>
            </a:r>
            <a:r>
              <a:rPr lang="en-US" sz="3400" dirty="0" err="1">
                <a:latin typeface="Courier" pitchFamily="2" charset="0"/>
              </a:rPr>
              <a:t>alex|Sunnyvale</a:t>
            </a:r>
            <a:r>
              <a:rPr lang="en-US" sz="3400" dirty="0">
                <a:latin typeface="Courier" pitchFamily="2" charset="0"/>
              </a:rPr>
              <a:t>| 20|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latin typeface="Courier" pitchFamily="2" charset="0"/>
              </a:rPr>
              <a:t>| </a:t>
            </a:r>
            <a:r>
              <a:rPr lang="en-US" sz="3400" dirty="0" err="1">
                <a:latin typeface="Courier" pitchFamily="2" charset="0"/>
              </a:rPr>
              <a:t>jane|Cupertino</a:t>
            </a:r>
            <a:r>
              <a:rPr lang="en-US" sz="3400" dirty="0">
                <a:latin typeface="Courier" pitchFamily="2" charset="0"/>
              </a:rPr>
              <a:t>| 30|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latin typeface="Courier" pitchFamily="2" charset="0"/>
              </a:rPr>
              <a:t>|  </a:t>
            </a:r>
            <a:r>
              <a:rPr lang="en-US" sz="3400" dirty="0" err="1">
                <a:latin typeface="Courier" pitchFamily="2" charset="0"/>
              </a:rPr>
              <a:t>max|Sunnyvale</a:t>
            </a:r>
            <a:r>
              <a:rPr lang="en-US" sz="3400" dirty="0">
                <a:latin typeface="Courier" pitchFamily="2" charset="0"/>
              </a:rPr>
              <a:t>| 27|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latin typeface="Courier" pitchFamily="2" charset="0"/>
              </a:rPr>
              <a:t>|terry| Stanford| 60|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latin typeface="Courier" pitchFamily="2" charset="0"/>
              </a:rPr>
              <a:t>+-----+---------+---+</a:t>
            </a:r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056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Reading/Writing Parquet: Write a DataFrame as Parquet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385379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Courier" pitchFamily="2" charset="0"/>
              </a:rPr>
              <a:t>&gt;&gt;&gt; </a:t>
            </a:r>
            <a:r>
              <a:rPr lang="en-US" sz="1800" dirty="0" err="1">
                <a:latin typeface="Courier" pitchFamily="2" charset="0"/>
              </a:rPr>
              <a:t>output_path</a:t>
            </a:r>
            <a:r>
              <a:rPr lang="en-US" sz="1800" dirty="0">
                <a:latin typeface="Courier" pitchFamily="2" charset="0"/>
              </a:rPr>
              <a:t> = "/</a:t>
            </a:r>
            <a:r>
              <a:rPr lang="en-US" sz="1800" dirty="0" err="1">
                <a:latin typeface="Courier" pitchFamily="2" charset="0"/>
              </a:rPr>
              <a:t>tmp</a:t>
            </a:r>
            <a:r>
              <a:rPr lang="en-US" sz="1800" dirty="0">
                <a:latin typeface="Courier" pitchFamily="2" charset="0"/>
              </a:rPr>
              <a:t>/parquet/"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Courier" pitchFamily="2" charset="0"/>
              </a:rPr>
              <a:t># </a:t>
            </a:r>
            <a:r>
              <a:rPr lang="en-US" sz="1800" dirty="0" err="1">
                <a:latin typeface="Courier" pitchFamily="2" charset="0"/>
              </a:rPr>
              <a:t>df</a:t>
            </a:r>
            <a:r>
              <a:rPr lang="en-US" sz="1800" dirty="0">
                <a:latin typeface="Courier" pitchFamily="2" charset="0"/>
              </a:rPr>
              <a:t> : a DataFrame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 err="1">
                <a:latin typeface="Courier" pitchFamily="2" charset="0"/>
              </a:rPr>
              <a:t>df.write</a:t>
            </a:r>
            <a:endParaRPr lang="en-US" sz="1800" dirty="0">
              <a:latin typeface="Courier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Courier" pitchFamily="2" charset="0"/>
              </a:rPr>
              <a:t>.format("parquet")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Courier" pitchFamily="2" charset="0"/>
              </a:rPr>
              <a:t>.mode("overwrite")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Courier" pitchFamily="2" charset="0"/>
              </a:rPr>
              <a:t>.save(</a:t>
            </a:r>
            <a:r>
              <a:rPr lang="en-US" sz="1800" dirty="0" err="1">
                <a:latin typeface="Courier" pitchFamily="2" charset="0"/>
              </a:rPr>
              <a:t>output_path</a:t>
            </a:r>
            <a:r>
              <a:rPr lang="en-US" sz="1800" dirty="0">
                <a:latin typeface="Courier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45296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Reading/Writing Parquet: Inspect Output Path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38537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" pitchFamily="2" charset="0"/>
              </a:rPr>
              <a:t>% ls –l /</a:t>
            </a:r>
            <a:r>
              <a:rPr lang="en-US" sz="1800" dirty="0" err="1">
                <a:latin typeface="Courier" pitchFamily="2" charset="0"/>
              </a:rPr>
              <a:t>tmp</a:t>
            </a:r>
            <a:r>
              <a:rPr lang="en-US" sz="1800" dirty="0">
                <a:latin typeface="Courier" pitchFamily="2" charset="0"/>
              </a:rPr>
              <a:t>/parquet/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-</a:t>
            </a:r>
            <a:r>
              <a:rPr lang="en-US" sz="1600" dirty="0" err="1">
                <a:latin typeface="Courier" pitchFamily="2" charset="0"/>
              </a:rPr>
              <a:t>rw</a:t>
            </a:r>
            <a:r>
              <a:rPr lang="en-US" sz="1600" dirty="0">
                <a:latin typeface="Courier" pitchFamily="2" charset="0"/>
              </a:rPr>
              <a:t>-r--r--  1 </a:t>
            </a:r>
            <a:r>
              <a:rPr lang="en-US" sz="1600" dirty="0" err="1">
                <a:latin typeface="Courier" pitchFamily="2" charset="0"/>
              </a:rPr>
              <a:t>mparsian</a:t>
            </a:r>
            <a:r>
              <a:rPr lang="en-US" sz="1600" dirty="0">
                <a:latin typeface="Courier" pitchFamily="2" charset="0"/>
              </a:rPr>
              <a:t>  staff     0 Apr 25 22:41 _SUCCESS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-</a:t>
            </a:r>
            <a:r>
              <a:rPr lang="en-US" sz="1600" dirty="0" err="1">
                <a:latin typeface="Courier" pitchFamily="2" charset="0"/>
              </a:rPr>
              <a:t>rw</a:t>
            </a:r>
            <a:r>
              <a:rPr lang="en-US" sz="1600" dirty="0">
                <a:latin typeface="Courier" pitchFamily="2" charset="0"/>
              </a:rPr>
              <a:t>-r--r--  1 </a:t>
            </a:r>
            <a:r>
              <a:rPr lang="en-US" sz="1600" dirty="0" err="1">
                <a:latin typeface="Courier" pitchFamily="2" charset="0"/>
              </a:rPr>
              <a:t>mparsian</a:t>
            </a:r>
            <a:r>
              <a:rPr lang="en-US" sz="1600" dirty="0">
                <a:latin typeface="Courier" pitchFamily="2" charset="0"/>
              </a:rPr>
              <a:t>  staff  1056 Apr 25 22:41 part-00000-24773691-4c1c-47e2-ba9f-b18b58eede73-c000.snappy.parquet</a:t>
            </a:r>
          </a:p>
        </p:txBody>
      </p:sp>
    </p:spTree>
    <p:extLst>
      <p:ext uri="{BB962C8B-B14F-4D97-AF65-F5344CB8AC3E}">
        <p14:creationId xmlns:p14="http://schemas.microsoft.com/office/powerpoint/2010/main" val="9087971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Reading  Table from  a  JDBC Data Source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385379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# spark : </a:t>
            </a:r>
            <a:r>
              <a:rPr lang="en-US" dirty="0" err="1">
                <a:latin typeface="Courier" pitchFamily="2" charset="0"/>
              </a:rPr>
              <a:t>SparkSession</a:t>
            </a:r>
            <a:r>
              <a:rPr lang="en-US" dirty="0">
                <a:latin typeface="Courier" pitchFamily="2" charset="0"/>
              </a:rPr>
              <a:t> object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ourier" pitchFamily="2" charset="0"/>
              </a:rPr>
              <a:t>df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spark.read</a:t>
            </a:r>
            <a:endParaRPr lang="en-US" dirty="0">
              <a:latin typeface="Courier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.format("</a:t>
            </a:r>
            <a:r>
              <a:rPr lang="en-US" dirty="0" err="1">
                <a:latin typeface="Courier" pitchFamily="2" charset="0"/>
              </a:rPr>
              <a:t>jdbc</a:t>
            </a:r>
            <a:r>
              <a:rPr lang="en-US" dirty="0">
                <a:latin typeface="Courier" pitchFamily="2" charset="0"/>
              </a:rPr>
              <a:t>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.option("</a:t>
            </a:r>
            <a:r>
              <a:rPr lang="en-US" dirty="0" err="1">
                <a:latin typeface="Courier" pitchFamily="2" charset="0"/>
              </a:rPr>
              <a:t>url</a:t>
            </a:r>
            <a:r>
              <a:rPr lang="en-US" dirty="0">
                <a:latin typeface="Courier" pitchFamily="2" charset="0"/>
              </a:rPr>
              <a:t>", "</a:t>
            </a:r>
            <a:r>
              <a:rPr lang="en-US" dirty="0" err="1">
                <a:latin typeface="Courier" pitchFamily="2" charset="0"/>
              </a:rPr>
              <a:t>jdbc:postgresql:dbserver</a:t>
            </a:r>
            <a:r>
              <a:rPr lang="en-US" dirty="0">
                <a:latin typeface="Courier" pitchFamily="2" charset="0"/>
              </a:rPr>
              <a:t>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.option("</a:t>
            </a:r>
            <a:r>
              <a:rPr lang="en-US" dirty="0" err="1">
                <a:latin typeface="Courier" pitchFamily="2" charset="0"/>
              </a:rPr>
              <a:t>dbtable</a:t>
            </a:r>
            <a:r>
              <a:rPr lang="en-US" dirty="0">
                <a:latin typeface="Courier" pitchFamily="2" charset="0"/>
              </a:rPr>
              <a:t>", "</a:t>
            </a:r>
            <a:r>
              <a:rPr lang="en-US" dirty="0" err="1">
                <a:latin typeface="Courier" pitchFamily="2" charset="0"/>
              </a:rPr>
              <a:t>schema.tablename</a:t>
            </a:r>
            <a:r>
              <a:rPr lang="en-US" dirty="0">
                <a:latin typeface="Courier" pitchFamily="2" charset="0"/>
              </a:rPr>
              <a:t>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.option("user", "username")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.option("password", "password")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.load()</a:t>
            </a:r>
          </a:p>
        </p:txBody>
      </p:sp>
    </p:spTree>
    <p:extLst>
      <p:ext uri="{BB962C8B-B14F-4D97-AF65-F5344CB8AC3E}">
        <p14:creationId xmlns:p14="http://schemas.microsoft.com/office/powerpoint/2010/main" val="21927066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Writing a DataFrame to a JDBC Table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385379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ourier" pitchFamily="2" charset="0"/>
              </a:rPr>
              <a:t>df.write</a:t>
            </a:r>
            <a:endParaRPr lang="en-US" dirty="0">
              <a:latin typeface="Courier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.format("</a:t>
            </a:r>
            <a:r>
              <a:rPr lang="en-US" dirty="0" err="1">
                <a:latin typeface="Courier" pitchFamily="2" charset="0"/>
              </a:rPr>
              <a:t>jdbc</a:t>
            </a:r>
            <a:r>
              <a:rPr lang="en-US" dirty="0">
                <a:latin typeface="Courier" pitchFamily="2" charset="0"/>
              </a:rPr>
              <a:t>”)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.option("</a:t>
            </a:r>
            <a:r>
              <a:rPr lang="en-US" dirty="0" err="1">
                <a:latin typeface="Courier" pitchFamily="2" charset="0"/>
              </a:rPr>
              <a:t>url</a:t>
            </a:r>
            <a:r>
              <a:rPr lang="en-US" dirty="0">
                <a:latin typeface="Courier" pitchFamily="2" charset="0"/>
              </a:rPr>
              <a:t>", "</a:t>
            </a:r>
            <a:r>
              <a:rPr lang="en-US" dirty="0" err="1">
                <a:latin typeface="Courier" pitchFamily="2" charset="0"/>
              </a:rPr>
              <a:t>jdbc:postgresql:dbserver</a:t>
            </a:r>
            <a:r>
              <a:rPr lang="en-US" dirty="0">
                <a:latin typeface="Courier" pitchFamily="2" charset="0"/>
              </a:rPr>
              <a:t>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.option("</a:t>
            </a:r>
            <a:r>
              <a:rPr lang="en-US" dirty="0" err="1">
                <a:latin typeface="Courier" pitchFamily="2" charset="0"/>
              </a:rPr>
              <a:t>dbtable</a:t>
            </a:r>
            <a:r>
              <a:rPr lang="en-US" dirty="0">
                <a:latin typeface="Courier" pitchFamily="2" charset="0"/>
              </a:rPr>
              <a:t>", "</a:t>
            </a:r>
            <a:r>
              <a:rPr lang="en-US" dirty="0" err="1">
                <a:latin typeface="Courier" pitchFamily="2" charset="0"/>
              </a:rPr>
              <a:t>schema.tablename</a:t>
            </a:r>
            <a:r>
              <a:rPr lang="en-US" dirty="0">
                <a:latin typeface="Courier" pitchFamily="2" charset="0"/>
              </a:rPr>
              <a:t>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.option("user", "username")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.option("password", "password")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.save()</a:t>
            </a:r>
            <a:endParaRPr lang="en-US" sz="18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3267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Reading from Relational Database Tables (as URLs)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38537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" pitchFamily="2" charset="0"/>
                <a:hlinkClick r:id="rId2"/>
              </a:rPr>
              <a:t>Read a Relational Database Table and Create a </a:t>
            </a:r>
            <a:r>
              <a:rPr lang="en-US" sz="1800" dirty="0" err="1">
                <a:latin typeface="Courier" pitchFamily="2" charset="0"/>
                <a:hlinkClick r:id="rId2"/>
              </a:rPr>
              <a:t>DataFrame</a:t>
            </a:r>
            <a:endParaRPr lang="en-US" sz="1800" dirty="0">
              <a:latin typeface="Courier" pitchFamily="2" charset="0"/>
            </a:endParaRPr>
          </a:p>
          <a:p>
            <a:pPr lvl="1"/>
            <a:r>
              <a:rPr lang="en-US" sz="2800" dirty="0">
                <a:latin typeface="Courier" pitchFamily="2" charset="0"/>
                <a:hlinkClick r:id="rId3"/>
              </a:rPr>
              <a:t> datasource_jdbc_reader.sh</a:t>
            </a:r>
            <a:endParaRPr lang="en-US" sz="2800" dirty="0">
              <a:latin typeface="Courier" pitchFamily="2" charset="0"/>
            </a:endParaRPr>
          </a:p>
          <a:p>
            <a:pPr lvl="1"/>
            <a:r>
              <a:rPr lang="en-US" sz="2800" dirty="0">
                <a:latin typeface="Courier" pitchFamily="2" charset="0"/>
                <a:hlinkClick r:id="rId4"/>
              </a:rPr>
              <a:t> datasource_jdbc_reader.py</a:t>
            </a:r>
            <a:endParaRPr lang="en-US" sz="2800" dirty="0">
              <a:latin typeface="Courier" pitchFamily="2" charset="0"/>
            </a:endParaRPr>
          </a:p>
          <a:p>
            <a:pPr lvl="1"/>
            <a:r>
              <a:rPr lang="en-US" sz="2800" dirty="0">
                <a:latin typeface="Courier" pitchFamily="2" charset="0"/>
                <a:hlinkClick r:id="rId5"/>
              </a:rPr>
              <a:t> datasource_jdbc_reader.log</a:t>
            </a:r>
            <a:endParaRPr lang="en-US" sz="2800" dirty="0">
              <a:latin typeface="Courier" pitchFamily="2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16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6525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sz="2400" dirty="0"/>
              <a:t>Writing a DataFrame to a Relational Database Table (as URLs)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38537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hlinkClick r:id="rId2"/>
              </a:rPr>
              <a:t>Writing a </a:t>
            </a:r>
            <a:r>
              <a:rPr lang="en-US" sz="2800" dirty="0" err="1">
                <a:hlinkClick r:id="rId2"/>
              </a:rPr>
              <a:t>DataFrame</a:t>
            </a:r>
            <a:r>
              <a:rPr lang="en-US" sz="2800" dirty="0">
                <a:hlinkClick r:id="rId2"/>
              </a:rPr>
              <a:t> to a Relational Database Table</a:t>
            </a:r>
            <a:endParaRPr lang="en-US" sz="1200" dirty="0">
              <a:latin typeface="Courier" pitchFamily="2" charset="0"/>
            </a:endParaRPr>
          </a:p>
          <a:p>
            <a:pPr lvl="1"/>
            <a:r>
              <a:rPr lang="en-US" sz="2200" dirty="0">
                <a:latin typeface="Courier" pitchFamily="2" charset="0"/>
                <a:hlinkClick r:id="rId3"/>
              </a:rPr>
              <a:t>datasource_jdbc_writer.sh</a:t>
            </a:r>
            <a:endParaRPr lang="en-US" sz="2200" dirty="0">
              <a:latin typeface="Courier" pitchFamily="2" charset="0"/>
            </a:endParaRPr>
          </a:p>
          <a:p>
            <a:pPr lvl="1"/>
            <a:r>
              <a:rPr lang="en-US" sz="2200" dirty="0" err="1">
                <a:latin typeface="Courier" pitchFamily="2" charset="0"/>
                <a:hlinkClick r:id="rId4"/>
              </a:rPr>
              <a:t>datasource_jdbc_writer.py</a:t>
            </a:r>
            <a:endParaRPr lang="en-US" sz="2200" dirty="0">
              <a:latin typeface="Courier" pitchFamily="2" charset="0"/>
            </a:endParaRPr>
          </a:p>
          <a:p>
            <a:pPr lvl="1"/>
            <a:r>
              <a:rPr lang="en-US" sz="2200" dirty="0" err="1">
                <a:latin typeface="Courier" pitchFamily="2" charset="0"/>
                <a:hlinkClick r:id="rId5"/>
              </a:rPr>
              <a:t>datasource_jdbc_writer.log</a:t>
            </a:r>
            <a:endParaRPr lang="en-US" sz="2200" dirty="0">
              <a:latin typeface="Courier" pitchFamily="2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16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8311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dirty="0"/>
              <a:t>Summary: Readers and Writers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385379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ourier" pitchFamily="2" charset="0"/>
              </a:rPr>
              <a:t>Spark can read data (almost any format) from any data source </a:t>
            </a:r>
          </a:p>
          <a:p>
            <a:pPr lvl="3"/>
            <a:r>
              <a:rPr lang="en-US" sz="1900" dirty="0">
                <a:highlight>
                  <a:srgbClr val="FFFF00"/>
                </a:highlight>
                <a:latin typeface="Courier" pitchFamily="2" charset="0"/>
              </a:rPr>
              <a:t>and create a DataFrame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ourier" pitchFamily="2" charset="0"/>
              </a:rPr>
              <a:t>Spark can write a </a:t>
            </a:r>
            <a:r>
              <a:rPr lang="en-US" sz="2800" dirty="0" err="1">
                <a:latin typeface="Courier" pitchFamily="2" charset="0"/>
              </a:rPr>
              <a:t>DataFrame</a:t>
            </a:r>
            <a:r>
              <a:rPr lang="en-US" sz="2800" dirty="0">
                <a:latin typeface="Courier" pitchFamily="2" charset="0"/>
              </a:rPr>
              <a:t> to any data source</a:t>
            </a:r>
          </a:p>
          <a:p>
            <a:pPr lvl="3"/>
            <a:r>
              <a:rPr lang="en-US" sz="1900" dirty="0">
                <a:highlight>
                  <a:srgbClr val="FFFF00"/>
                </a:highlight>
                <a:latin typeface="Courier" pitchFamily="2" charset="0"/>
              </a:rPr>
              <a:t>Save a </a:t>
            </a:r>
            <a:r>
              <a:rPr lang="en-US" sz="1900" dirty="0" err="1">
                <a:highlight>
                  <a:srgbClr val="FFFF00"/>
                </a:highlight>
                <a:latin typeface="Courier" pitchFamily="2" charset="0"/>
              </a:rPr>
              <a:t>DataFrame</a:t>
            </a:r>
            <a:r>
              <a:rPr lang="en-US" sz="1900" dirty="0">
                <a:highlight>
                  <a:srgbClr val="FFFF00"/>
                </a:highlight>
                <a:latin typeface="Courier" pitchFamily="2" charset="0"/>
              </a:rPr>
              <a:t> to a Data Source </a:t>
            </a:r>
            <a:r>
              <a:rPr lang="en-US" sz="1900" dirty="0">
                <a:latin typeface="Courier" pitchFamily="2" charset="0"/>
              </a:rPr>
              <a:t>(such as Amazon S3, File system, …)</a:t>
            </a:r>
          </a:p>
        </p:txBody>
      </p:sp>
    </p:spTree>
    <p:extLst>
      <p:ext uri="{BB962C8B-B14F-4D97-AF65-F5344CB8AC3E}">
        <p14:creationId xmlns:p14="http://schemas.microsoft.com/office/powerpoint/2010/main" val="76388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dirty="0"/>
              <a:t>Summary: Readers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385379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ourier" pitchFamily="2" charset="0"/>
              </a:rPr>
              <a:t>Spark can read data (almost any format) from any data source </a:t>
            </a:r>
          </a:p>
          <a:p>
            <a:pPr lvl="3"/>
            <a:r>
              <a:rPr lang="en-US" sz="1900" dirty="0">
                <a:latin typeface="Courier" pitchFamily="2" charset="0"/>
              </a:rPr>
              <a:t>and create a DataFrame</a:t>
            </a:r>
          </a:p>
          <a:p>
            <a:r>
              <a:rPr lang="en-US" sz="2800" dirty="0">
                <a:latin typeface="Courier" pitchFamily="2" charset="0"/>
              </a:rPr>
              <a:t> Data Source Formats:</a:t>
            </a:r>
          </a:p>
          <a:p>
            <a:pPr lvl="1"/>
            <a:r>
              <a:rPr lang="en-US" sz="2600" dirty="0">
                <a:latin typeface="Courier" pitchFamily="2" charset="0"/>
              </a:rPr>
              <a:t> Text files (CSV files)</a:t>
            </a:r>
          </a:p>
          <a:p>
            <a:pPr lvl="1"/>
            <a:r>
              <a:rPr lang="en-US" sz="2600" dirty="0">
                <a:latin typeface="Courier" pitchFamily="2" charset="0"/>
              </a:rPr>
              <a:t> JSON format</a:t>
            </a:r>
          </a:p>
          <a:p>
            <a:pPr lvl="1"/>
            <a:r>
              <a:rPr lang="en-US" sz="2600" dirty="0">
                <a:latin typeface="Courier" pitchFamily="2" charset="0"/>
              </a:rPr>
              <a:t> XML format</a:t>
            </a:r>
          </a:p>
          <a:p>
            <a:pPr lvl="1"/>
            <a:r>
              <a:rPr lang="en-US" sz="2600" dirty="0">
                <a:latin typeface="Courier" pitchFamily="2" charset="0"/>
              </a:rPr>
              <a:t> Parquet format</a:t>
            </a:r>
          </a:p>
          <a:p>
            <a:pPr lvl="1"/>
            <a:r>
              <a:rPr lang="en-US" sz="2600" dirty="0">
                <a:latin typeface="Courier" pitchFamily="2" charset="0"/>
              </a:rPr>
              <a:t> ORC format</a:t>
            </a:r>
          </a:p>
          <a:p>
            <a:pPr lvl="1"/>
            <a:r>
              <a:rPr lang="en-US" sz="2600" dirty="0">
                <a:latin typeface="Courier" pitchFamily="2" charset="0"/>
              </a:rPr>
              <a:t> Relational database tables</a:t>
            </a:r>
          </a:p>
          <a:p>
            <a:pPr lvl="1"/>
            <a:r>
              <a:rPr lang="en-US" sz="2600" dirty="0">
                <a:latin typeface="Courier" pitchFamily="2" charset="0"/>
              </a:rPr>
              <a:t> + more</a:t>
            </a:r>
          </a:p>
        </p:txBody>
      </p:sp>
    </p:spTree>
    <p:extLst>
      <p:ext uri="{BB962C8B-B14F-4D97-AF65-F5344CB8AC3E}">
        <p14:creationId xmlns:p14="http://schemas.microsoft.com/office/powerpoint/2010/main" val="322461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8376"/>
            <a:ext cx="7886700" cy="519881"/>
          </a:xfrm>
        </p:spPr>
        <p:txBody>
          <a:bodyPr>
            <a:noAutofit/>
          </a:bodyPr>
          <a:lstStyle/>
          <a:p>
            <a:r>
              <a:rPr lang="en-US" dirty="0"/>
              <a:t>Summary, Writers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6F48F-5BE5-DEFE-E1BF-C2E7BA58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78933"/>
            <a:ext cx="7886700" cy="385379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ourier" pitchFamily="2" charset="0"/>
              </a:rPr>
              <a:t>Spark can write a DataFrame to any data source</a:t>
            </a:r>
          </a:p>
          <a:p>
            <a:pPr lvl="3"/>
            <a:r>
              <a:rPr lang="en-US" sz="1900" dirty="0">
                <a:latin typeface="Courier" pitchFamily="2" charset="0"/>
              </a:rPr>
              <a:t>Save a DataFrame to a Data Source (such as Amazon S3, File system, …)</a:t>
            </a:r>
          </a:p>
          <a:p>
            <a:r>
              <a:rPr lang="en-US" sz="2800" dirty="0">
                <a:latin typeface="Courier" pitchFamily="2" charset="0"/>
              </a:rPr>
              <a:t>Data Source Formats:</a:t>
            </a:r>
          </a:p>
          <a:p>
            <a:pPr lvl="1"/>
            <a:r>
              <a:rPr lang="en-US" sz="2600" dirty="0">
                <a:latin typeface="Courier" pitchFamily="2" charset="0"/>
              </a:rPr>
              <a:t> Text files (CSV files)</a:t>
            </a:r>
          </a:p>
          <a:p>
            <a:pPr lvl="1"/>
            <a:r>
              <a:rPr lang="en-US" sz="2600" dirty="0">
                <a:latin typeface="Courier" pitchFamily="2" charset="0"/>
              </a:rPr>
              <a:t> JSON format</a:t>
            </a:r>
          </a:p>
          <a:p>
            <a:pPr lvl="1"/>
            <a:r>
              <a:rPr lang="en-US" sz="2600" dirty="0">
                <a:latin typeface="Courier" pitchFamily="2" charset="0"/>
              </a:rPr>
              <a:t> XML format</a:t>
            </a:r>
          </a:p>
          <a:p>
            <a:pPr lvl="1"/>
            <a:r>
              <a:rPr lang="en-US" sz="2600" dirty="0">
                <a:latin typeface="Courier" pitchFamily="2" charset="0"/>
              </a:rPr>
              <a:t> Parquet format</a:t>
            </a:r>
          </a:p>
          <a:p>
            <a:pPr lvl="1"/>
            <a:r>
              <a:rPr lang="en-US" sz="2600" dirty="0">
                <a:latin typeface="Courier" pitchFamily="2" charset="0"/>
              </a:rPr>
              <a:t> ORC format</a:t>
            </a:r>
          </a:p>
          <a:p>
            <a:pPr lvl="1"/>
            <a:r>
              <a:rPr lang="en-US" sz="2600" dirty="0">
                <a:latin typeface="Courier" pitchFamily="2" charset="0"/>
              </a:rPr>
              <a:t> Relational database tables</a:t>
            </a:r>
          </a:p>
          <a:p>
            <a:pPr lvl="1"/>
            <a:r>
              <a:rPr lang="en-US" sz="2600" dirty="0">
                <a:latin typeface="Courier" pitchFamily="2" charset="0"/>
              </a:rPr>
              <a:t> + more</a:t>
            </a:r>
          </a:p>
          <a:p>
            <a:pPr marL="1028700" lvl="3" indent="0">
              <a:buNone/>
            </a:pPr>
            <a:endParaRPr lang="en-US" sz="19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62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991" y="424329"/>
            <a:ext cx="7172325" cy="3968377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External Data Sources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API &amp; Documentation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dirty="0"/>
          </a:p>
          <a:p>
            <a:pPr marL="0" indent="0">
              <a:buNone/>
            </a:pPr>
            <a:r>
              <a:rPr lang="en-US" sz="2800" b="1" dirty="0">
                <a:hlinkClick r:id="rId3"/>
              </a:rPr>
              <a:t>1. Spark Data Sources</a:t>
            </a:r>
            <a:endParaRPr lang="en-US" sz="2800" b="1" dirty="0"/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/>
            </a:pPr>
            <a:endParaRPr lang="en-US" sz="2400" b="1" dirty="0">
              <a:hlinkClick r:id="rId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F03A678-4452-844A-9F06-1DF79E40D900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1065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991" y="424329"/>
            <a:ext cx="7172325" cy="3968377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/>
              <a:t>Spark Data Sources Tutorials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/>
            </a:pPr>
            <a:endParaRPr lang="en-US" sz="2400" b="1" dirty="0">
              <a:hlinkClick r:id="rId3"/>
            </a:endParaRP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/>
            </a:pPr>
            <a:r>
              <a:rPr lang="en-US" sz="2800" b="1" dirty="0">
                <a:hlinkClick r:id="rId4"/>
              </a:rPr>
              <a:t>1. Data Engineering 101 – Data Sources in Spark</a:t>
            </a:r>
            <a:endParaRPr lang="en-US" sz="2800" b="1" dirty="0"/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/>
            </a:pPr>
            <a:endParaRPr lang="en-US" sz="2400" b="1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F03A678-4452-844A-9F06-1DF79E40D900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9529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991" y="424329"/>
            <a:ext cx="7172325" cy="4361984"/>
          </a:xfrm>
        </p:spPr>
        <p:txBody>
          <a:bodyPr>
            <a:normAutofit/>
          </a:bodyPr>
          <a:lstStyle/>
          <a:p>
            <a:pPr marL="0" indent="0" defTabSz="914400">
              <a:spcBef>
                <a:spcPts val="0"/>
              </a:spcBef>
              <a:buClrTx/>
              <a:buSzTx/>
              <a:buNone/>
              <a:defRPr/>
            </a:pPr>
            <a:r>
              <a:rPr lang="en-US" sz="4000" dirty="0"/>
              <a:t>Spark Data Sources Videos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/>
            </a:pPr>
            <a:endParaRPr lang="en-US" sz="2400" b="1" dirty="0">
              <a:hlinkClick r:id="rId3"/>
            </a:endParaRP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/>
            </a:pPr>
            <a:r>
              <a:rPr lang="en-US" sz="4400" dirty="0">
                <a:hlinkClick r:id="rId4"/>
              </a:rPr>
              <a:t>1. Spark Tutorial - Data Sources</a:t>
            </a:r>
            <a:endParaRPr lang="en-US" sz="2400" b="1" dirty="0"/>
          </a:p>
          <a:p>
            <a:pPr lvl="1" defTabSz="914400">
              <a:spcBef>
                <a:spcPts val="0"/>
              </a:spcBef>
              <a:buClrTx/>
              <a:buSzTx/>
              <a:defRPr/>
            </a:pPr>
            <a:r>
              <a:rPr lang="en-US" sz="3800" dirty="0"/>
              <a:t>  Video, </a:t>
            </a:r>
            <a:r>
              <a:rPr lang="en-US" sz="3800"/>
              <a:t>15 minutes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5200" y="4786313"/>
            <a:ext cx="558800" cy="2730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F03A678-4452-844A-9F06-1DF79E40D900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453297"/>
      </p:ext>
    </p:extLst>
  </p:cSld>
  <p:clrMapOvr>
    <a:masterClrMapping/>
  </p:clrMapOvr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DATABRICKS 150203_2">
    <a:dk1>
      <a:sysClr val="windowText" lastClr="000000"/>
    </a:dk1>
    <a:lt1>
      <a:sysClr val="window" lastClr="FFFFFF"/>
    </a:lt1>
    <a:dk2>
      <a:srgbClr val="2B2B2B"/>
    </a:dk2>
    <a:lt2>
      <a:srgbClr val="D5D2C3"/>
    </a:lt2>
    <a:accent1>
      <a:srgbClr val="1EA3B5"/>
    </a:accent1>
    <a:accent2>
      <a:srgbClr val="EC541B"/>
    </a:accent2>
    <a:accent3>
      <a:srgbClr val="1AA756"/>
    </a:accent3>
    <a:accent4>
      <a:srgbClr val="E2151C"/>
    </a:accent4>
    <a:accent5>
      <a:srgbClr val="646464"/>
    </a:accent5>
    <a:accent6>
      <a:srgbClr val="DC3D08"/>
    </a:accent6>
    <a:hlink>
      <a:srgbClr val="1EA2B4"/>
    </a:hlink>
    <a:folHlink>
      <a:srgbClr val="75527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DB_light_slides_16x9_150228.potx</Template>
  <TotalTime>20955</TotalTime>
  <Words>3207</Words>
  <Application>Microsoft Macintosh PowerPoint</Application>
  <PresentationFormat>On-screen Show (16:9)</PresentationFormat>
  <Paragraphs>528</Paragraphs>
  <Slides>53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Arial</vt:lpstr>
      <vt:lpstr>Calibri</vt:lpstr>
      <vt:lpstr>Calibri Light</vt:lpstr>
      <vt:lpstr>Consolas</vt:lpstr>
      <vt:lpstr>Courier</vt:lpstr>
      <vt:lpstr>Courier New</vt:lpstr>
      <vt:lpstr>Franklin Gothic Medium Cond</vt:lpstr>
      <vt:lpstr>Helvetica Light</vt:lpstr>
      <vt:lpstr>Newslab Light</vt:lpstr>
      <vt:lpstr>Source Sans Pro Light</vt:lpstr>
      <vt:lpstr>Wingdings</vt:lpstr>
      <vt:lpstr>scu-ppt-master</vt:lpstr>
      <vt:lpstr>External Data Sources  in Spark</vt:lpstr>
      <vt:lpstr>Challenges and Solutions</vt:lpstr>
      <vt:lpstr>Read: Data Source  DataFrame Write: DataFrame   Data Source</vt:lpstr>
      <vt:lpstr>Spark Read/Write Data Sources</vt:lpstr>
      <vt:lpstr>Spark Data Sources</vt:lpstr>
      <vt:lpstr>Spark Data Sources API Frame</vt:lpstr>
      <vt:lpstr>Spark Data Engineering 101</vt:lpstr>
      <vt:lpstr>Structure of  Spark’s Data Sources API</vt:lpstr>
      <vt:lpstr>Structure of  Spark’s Data Sources API</vt:lpstr>
      <vt:lpstr>DataFrameReader</vt:lpstr>
      <vt:lpstr>DataFrameWriter</vt:lpstr>
      <vt:lpstr>DataFrameReader Example</vt:lpstr>
      <vt:lpstr>DataFrameWriter Example</vt:lpstr>
      <vt:lpstr>Spark DataFrame: Features</vt:lpstr>
      <vt:lpstr>Creating DataFrame: Reading Python Collection</vt:lpstr>
      <vt:lpstr>Creating DataFrame: Reading Python Collection</vt:lpstr>
      <vt:lpstr>Creating DataFrame: from Collection: rename columns</vt:lpstr>
      <vt:lpstr>Read Python Collection and Create DataFrame with named columns</vt:lpstr>
      <vt:lpstr>Creating DataFrame: Inspect Schema</vt:lpstr>
      <vt:lpstr>Writing a DataFrame in CSV Format: TAB Separated</vt:lpstr>
      <vt:lpstr>Creating DataFrame: from RDD</vt:lpstr>
      <vt:lpstr>Convert DataFrame to RDD</vt:lpstr>
      <vt:lpstr>Create DataFrame From CSV File with Header</vt:lpstr>
      <vt:lpstr>Create DataFrame From CSV File with Header</vt:lpstr>
      <vt:lpstr>Create DataFrame From CSV File without Header</vt:lpstr>
      <vt:lpstr>Create DataFrame From CSV File without Header</vt:lpstr>
      <vt:lpstr>Reading  JSON  Create a DataFrame</vt:lpstr>
      <vt:lpstr>Writing  a DataFrame as JSON</vt:lpstr>
      <vt:lpstr>Create DataFrame From JSON</vt:lpstr>
      <vt:lpstr>Create DataFrame From JSON</vt:lpstr>
      <vt:lpstr>Create a DataFrame with Schema</vt:lpstr>
      <vt:lpstr>Create a DataFrame with Schema --  Example</vt:lpstr>
      <vt:lpstr>Create a DataFrame with Schema --  Example</vt:lpstr>
      <vt:lpstr>Create a DataFrame with Schema --  Example</vt:lpstr>
      <vt:lpstr>Create a DataFrame with Schema --  Example</vt:lpstr>
      <vt:lpstr>Reading/Writing Parquet Format</vt:lpstr>
      <vt:lpstr>Parquet: Columnar Storage</vt:lpstr>
      <vt:lpstr>Reading  Parquet  DataFrame</vt:lpstr>
      <vt:lpstr>Writing Dataframe  Parquet</vt:lpstr>
      <vt:lpstr>Reading/Writing Parquet: A Complete Example</vt:lpstr>
      <vt:lpstr>Reading/Writing Parquet: Read Parquet</vt:lpstr>
      <vt:lpstr>Reading/Writing Parquet: Write a DataFrame as Parquet</vt:lpstr>
      <vt:lpstr>Reading/Writing Parquet: Inspect Output Path</vt:lpstr>
      <vt:lpstr>Reading  Table from  a  JDBC Data Source</vt:lpstr>
      <vt:lpstr>Writing a DataFrame to a JDBC Table</vt:lpstr>
      <vt:lpstr>Reading from Relational Database Tables (as URLs)</vt:lpstr>
      <vt:lpstr>Writing a DataFrame to a Relational Database Table (as URLs)</vt:lpstr>
      <vt:lpstr>Summary: Readers and Writers</vt:lpstr>
      <vt:lpstr>Summary: Readers</vt:lpstr>
      <vt:lpstr>Summary, Writers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 d'Orito</dc:creator>
  <cp:lastModifiedBy>Mahmoud Parsian</cp:lastModifiedBy>
  <cp:revision>261</cp:revision>
  <dcterms:created xsi:type="dcterms:W3CDTF">2015-02-13T19:56:21Z</dcterms:created>
  <dcterms:modified xsi:type="dcterms:W3CDTF">2026-09-04T04:52:41Z</dcterms:modified>
</cp:coreProperties>
</file>