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  <p:sldMasterId id="2147483735" r:id="rId2"/>
    <p:sldMasterId id="2147483776" r:id="rId3"/>
  </p:sldMasterIdLst>
  <p:notesMasterIdLst>
    <p:notesMasterId r:id="rId57"/>
  </p:notesMasterIdLst>
  <p:handoutMasterIdLst>
    <p:handoutMasterId r:id="rId58"/>
  </p:handoutMasterIdLst>
  <p:sldIdLst>
    <p:sldId id="263" r:id="rId4"/>
    <p:sldId id="290" r:id="rId5"/>
    <p:sldId id="337" r:id="rId6"/>
    <p:sldId id="305" r:id="rId7"/>
    <p:sldId id="393" r:id="rId8"/>
    <p:sldId id="307" r:id="rId9"/>
    <p:sldId id="331" r:id="rId10"/>
    <p:sldId id="395" r:id="rId11"/>
    <p:sldId id="396" r:id="rId12"/>
    <p:sldId id="397" r:id="rId13"/>
    <p:sldId id="398" r:id="rId14"/>
    <p:sldId id="394" r:id="rId15"/>
    <p:sldId id="392" r:id="rId16"/>
    <p:sldId id="312" r:id="rId17"/>
    <p:sldId id="306" r:id="rId18"/>
    <p:sldId id="399" r:id="rId19"/>
    <p:sldId id="338" r:id="rId20"/>
    <p:sldId id="339" r:id="rId21"/>
    <p:sldId id="333" r:id="rId22"/>
    <p:sldId id="332" r:id="rId23"/>
    <p:sldId id="400" r:id="rId24"/>
    <p:sldId id="341" r:id="rId25"/>
    <p:sldId id="334" r:id="rId26"/>
    <p:sldId id="336" r:id="rId27"/>
    <p:sldId id="308" r:id="rId28"/>
    <p:sldId id="403" r:id="rId29"/>
    <p:sldId id="309" r:id="rId30"/>
    <p:sldId id="327" r:id="rId31"/>
    <p:sldId id="330" r:id="rId32"/>
    <p:sldId id="329" r:id="rId33"/>
    <p:sldId id="310" r:id="rId34"/>
    <p:sldId id="311" r:id="rId35"/>
    <p:sldId id="335" r:id="rId36"/>
    <p:sldId id="300" r:id="rId37"/>
    <p:sldId id="401" r:id="rId38"/>
    <p:sldId id="313" r:id="rId39"/>
    <p:sldId id="314" r:id="rId40"/>
    <p:sldId id="342" r:id="rId41"/>
    <p:sldId id="315" r:id="rId42"/>
    <p:sldId id="340" r:id="rId43"/>
    <p:sldId id="316" r:id="rId44"/>
    <p:sldId id="317" r:id="rId45"/>
    <p:sldId id="402" r:id="rId46"/>
    <p:sldId id="318" r:id="rId47"/>
    <p:sldId id="319" r:id="rId48"/>
    <p:sldId id="320" r:id="rId49"/>
    <p:sldId id="324" r:id="rId50"/>
    <p:sldId id="322" r:id="rId51"/>
    <p:sldId id="323" r:id="rId52"/>
    <p:sldId id="321" r:id="rId53"/>
    <p:sldId id="326" r:id="rId54"/>
    <p:sldId id="328" r:id="rId55"/>
    <p:sldId id="325" r:id="rId56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66">
          <p15:clr>
            <a:srgbClr val="A4A3A4"/>
          </p15:clr>
        </p15:guide>
        <p15:guide id="2" pos="176">
          <p15:clr>
            <a:srgbClr val="A4A3A4"/>
          </p15:clr>
        </p15:guide>
        <p15:guide id="3" pos="558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FB441"/>
    <a:srgbClr val="FFFF66"/>
    <a:srgbClr val="D6E4F2"/>
    <a:srgbClr val="69DCD9"/>
    <a:srgbClr val="33CCCC"/>
    <a:srgbClr val="AD73AC"/>
    <a:srgbClr val="ADBF69"/>
    <a:srgbClr val="9F9F9F"/>
    <a:srgbClr val="4D4D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 autoAdjust="0"/>
    <p:restoredTop sz="87808" autoAdjust="0"/>
  </p:normalViewPr>
  <p:slideViewPr>
    <p:cSldViewPr>
      <p:cViewPr varScale="1">
        <p:scale>
          <a:sx n="111" d="100"/>
          <a:sy n="111" d="100"/>
        </p:scale>
        <p:origin x="2136" y="192"/>
      </p:cViewPr>
      <p:guideLst>
        <p:guide orient="horz" pos="3966"/>
        <p:guide pos="176"/>
        <p:guide pos="55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116"/>
    </p:cViewPr>
  </p:sorterViewPr>
  <p:notesViewPr>
    <p:cSldViewPr snapToGrid="0">
      <p:cViewPr varScale="1">
        <p:scale>
          <a:sx n="111" d="100"/>
          <a:sy n="111" d="100"/>
        </p:scale>
        <p:origin x="4272" y="20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61" Type="http://schemas.openxmlformats.org/officeDocument/2006/relationships/theme" Target="theme/theme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matei:workspace:spark_paper:nsdi_2012:analysis:PregelResults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0806089812543899"/>
          <c:y val="9.0798515050483503E-2"/>
          <c:w val="0.53520473875191799"/>
          <c:h val="0.63942990234328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'New results'!$A$12</c:f>
              <c:strCache>
                <c:ptCount val="1"/>
                <c:pt idx="0">
                  <c:v>Hadoop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100000"/>
                    <a:shade val="100000"/>
                    <a:satMod val="130000"/>
                  </a:schemeClr>
                </a:gs>
                <a:gs pos="100000">
                  <a:schemeClr val="accent2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dLbls>
            <c:dLbl>
              <c:idx val="0"/>
              <c:layout>
                <c:manualLayout>
                  <c:x val="9.10746812386156E-4"/>
                  <c:y val="-2.102102102102099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7CD-994D-95D3-4ADDC326E928}"/>
                </c:ext>
              </c:extLst>
            </c:dLbl>
            <c:dLbl>
              <c:idx val="1"/>
              <c:layout>
                <c:manualLayout>
                  <c:x val="-4.5537340619307802E-3"/>
                  <c:y val="-5.405405405405400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7CD-994D-95D3-4ADDC326E928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errBars>
            <c:errBarType val="both"/>
            <c:errValType val="cust"/>
            <c:noEndCap val="0"/>
            <c:plus>
              <c:numRef>
                <c:f>'New results'!$E$6:$F$6</c:f>
                <c:numCache>
                  <c:formatCode>General</c:formatCode>
                  <c:ptCount val="2"/>
                  <c:pt idx="0">
                    <c:v>6.8303620807279399</c:v>
                  </c:pt>
                  <c:pt idx="1">
                    <c:v>3.9778231387377998</c:v>
                  </c:pt>
                </c:numCache>
              </c:numRef>
            </c:plus>
            <c:minus>
              <c:numRef>
                <c:f>'New results'!$E$6:$F$6</c:f>
                <c:numCache>
                  <c:formatCode>General</c:formatCode>
                  <c:ptCount val="2"/>
                  <c:pt idx="0">
                    <c:v>6.8303620807279399</c:v>
                  </c:pt>
                  <c:pt idx="1">
                    <c:v>3.9778231387377998</c:v>
                  </c:pt>
                </c:numCache>
              </c:numRef>
            </c:minus>
          </c:errBars>
          <c:cat>
            <c:numRef>
              <c:f>'New results'!$B$5:$C$5</c:f>
              <c:numCache>
                <c:formatCode>General</c:formatCode>
                <c:ptCount val="2"/>
                <c:pt idx="0">
                  <c:v>30</c:v>
                </c:pt>
                <c:pt idx="1">
                  <c:v>60</c:v>
                </c:pt>
              </c:numCache>
            </c:numRef>
          </c:cat>
          <c:val>
            <c:numRef>
              <c:f>'New results'!$B$12:$C$12</c:f>
              <c:numCache>
                <c:formatCode>General</c:formatCode>
                <c:ptCount val="2"/>
                <c:pt idx="0">
                  <c:v>170.75</c:v>
                </c:pt>
                <c:pt idx="1">
                  <c:v>80.349999999999994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7CD-994D-95D3-4ADDC326E928}"/>
            </c:ext>
          </c:extLst>
        </c:ser>
        <c:ser>
          <c:idx val="1"/>
          <c:order val="1"/>
          <c:tx>
            <c:strRef>
              <c:f>'New results'!$A$13</c:f>
              <c:strCache>
                <c:ptCount val="1"/>
                <c:pt idx="0">
                  <c:v>Spark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100000"/>
                    <a:shade val="100000"/>
                    <a:satMod val="130000"/>
                  </a:schemeClr>
                </a:gs>
                <a:gs pos="100000">
                  <a:schemeClr val="accent4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dLbls>
            <c:dLbl>
              <c:idx val="0"/>
              <c:layout>
                <c:manualLayout>
                  <c:x val="9.10746812386156E-4"/>
                  <c:y val="-5.405405405405400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7CD-994D-95D3-4ADDC326E928}"/>
                </c:ext>
              </c:extLst>
            </c:dLbl>
            <c:dLbl>
              <c:idx val="1"/>
              <c:layout>
                <c:manualLayout>
                  <c:x val="-9.10746812386156E-4"/>
                  <c:y val="-3.453453453453449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7CD-994D-95D3-4ADDC326E928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errBars>
            <c:errBarType val="both"/>
            <c:errValType val="cust"/>
            <c:noEndCap val="0"/>
            <c:plus>
              <c:numRef>
                <c:f>'New results'!$E$7:$F$7</c:f>
                <c:numCache>
                  <c:formatCode>General</c:formatCode>
                  <c:ptCount val="2"/>
                  <c:pt idx="0">
                    <c:v>10.03497478873512</c:v>
                  </c:pt>
                  <c:pt idx="1">
                    <c:v>3.47</c:v>
                  </c:pt>
                </c:numCache>
              </c:numRef>
            </c:plus>
            <c:minus>
              <c:numRef>
                <c:f>'New results'!$E$7:$F$7</c:f>
                <c:numCache>
                  <c:formatCode>General</c:formatCode>
                  <c:ptCount val="2"/>
                  <c:pt idx="0">
                    <c:v>10.03497478873512</c:v>
                  </c:pt>
                  <c:pt idx="1">
                    <c:v>3.47</c:v>
                  </c:pt>
                </c:numCache>
              </c:numRef>
            </c:minus>
          </c:errBars>
          <c:cat>
            <c:numRef>
              <c:f>'New results'!$B$5:$C$5</c:f>
              <c:numCache>
                <c:formatCode>General</c:formatCode>
                <c:ptCount val="2"/>
                <c:pt idx="0">
                  <c:v>30</c:v>
                </c:pt>
                <c:pt idx="1">
                  <c:v>60</c:v>
                </c:pt>
              </c:numCache>
            </c:numRef>
          </c:cat>
          <c:val>
            <c:numRef>
              <c:f>'New results'!$B$14:$C$14</c:f>
              <c:numCache>
                <c:formatCode>General</c:formatCode>
                <c:ptCount val="2"/>
                <c:pt idx="0">
                  <c:v>23.01</c:v>
                </c:pt>
                <c:pt idx="1">
                  <c:v>13.74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7CD-994D-95D3-4ADDC326E9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110444952"/>
        <c:axId val="-2110439432"/>
      </c:barChart>
      <c:catAx>
        <c:axId val="-211044495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Number of machines</a:t>
                </a:r>
              </a:p>
            </c:rich>
          </c:tx>
          <c:layout>
            <c:manualLayout>
              <c:xMode val="edge"/>
              <c:yMode val="edge"/>
              <c:x val="0.27275655092293799"/>
              <c:y val="0.86427407722683303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crossAx val="-2110439432"/>
        <c:crosses val="autoZero"/>
        <c:auto val="1"/>
        <c:lblAlgn val="ctr"/>
        <c:lblOffset val="100"/>
        <c:noMultiLvlLbl val="0"/>
      </c:catAx>
      <c:valAx>
        <c:axId val="-2110439432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Iteration time (s)</a:t>
                </a:r>
              </a:p>
            </c:rich>
          </c:tx>
          <c:layout>
            <c:manualLayout>
              <c:xMode val="edge"/>
              <c:yMode val="edge"/>
              <c:x val="6.8941382327209104E-3"/>
              <c:y val="0.18642217020169799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crossAx val="-211044495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270477460809203"/>
          <c:y val="0.16695721601233399"/>
          <c:w val="0.23655120978730099"/>
          <c:h val="0.22999917240074699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22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7752113570891401"/>
          <c:y val="0.109570385865619"/>
          <c:w val="0.60874602798576305"/>
          <c:h val="0.558572704696196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Spark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Logistic Regression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0.96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62-7640-8632-19E70973BD5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Hadoop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Logistic Regression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162-7640-8632-19E70973BD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109439640"/>
        <c:axId val="-2109436664"/>
      </c:barChart>
      <c:catAx>
        <c:axId val="-2109439640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09436664"/>
        <c:crosses val="autoZero"/>
        <c:auto val="1"/>
        <c:lblAlgn val="ctr"/>
        <c:lblOffset val="100"/>
        <c:noMultiLvlLbl val="0"/>
      </c:catAx>
      <c:valAx>
        <c:axId val="-2109436664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109439640"/>
        <c:crosses val="autoZero"/>
        <c:crossBetween val="between"/>
        <c:majorUnit val="25"/>
      </c:valAx>
    </c:plotArea>
    <c:plotVisOnly val="1"/>
    <c:dispBlanksAs val="gap"/>
    <c:showDLblsOverMax val="0"/>
  </c:chart>
  <c:txPr>
    <a:bodyPr/>
    <a:lstStyle/>
    <a:p>
      <a:pPr>
        <a:defRPr sz="2000">
          <a:latin typeface="+mn-lt"/>
          <a:cs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4177493438320199"/>
          <c:y val="0.109570385865619"/>
          <c:w val="0.52609333989501295"/>
          <c:h val="0.558572704696196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Spark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K-Means Clustering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0E-2B4A-8D4A-D72CEB699D1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Hadoop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K-Means Clustering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E0E-2B4A-8D4A-D72CEB699D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109252360"/>
        <c:axId val="-2109249384"/>
      </c:barChart>
      <c:catAx>
        <c:axId val="-2109252360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09249384"/>
        <c:crosses val="autoZero"/>
        <c:auto val="1"/>
        <c:lblAlgn val="ctr"/>
        <c:lblOffset val="100"/>
        <c:noMultiLvlLbl val="0"/>
      </c:catAx>
      <c:valAx>
        <c:axId val="-2109249384"/>
        <c:scaling>
          <c:orientation val="minMax"/>
          <c:min val="0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109252360"/>
        <c:crosses val="autoZero"/>
        <c:crossBetween val="between"/>
        <c:majorUnit val="30"/>
      </c:valAx>
    </c:plotArea>
    <c:legend>
      <c:legendPos val="r"/>
      <c:layout>
        <c:manualLayout>
          <c:xMode val="edge"/>
          <c:yMode val="edge"/>
          <c:x val="0.81117313460817397"/>
          <c:y val="6.8804118284059704E-2"/>
          <c:w val="0.13525543682039701"/>
          <c:h val="0.65767706898074296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2000">
          <a:latin typeface="+mn-lt"/>
          <a:cs typeface="Arial"/>
        </a:defRPr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4" tIns="46582" rIns="93164" bIns="46582" numCol="1" anchor="t" anchorCtr="0" compatLnSpc="1">
            <a:prstTxWarp prst="textNoShape">
              <a:avLst/>
            </a:prstTxWarp>
          </a:bodyPr>
          <a:lstStyle>
            <a:lvl1pPr defTabSz="931863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4" tIns="46582" rIns="93164" bIns="46582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4" tIns="46582" rIns="93164" bIns="46582" numCol="1" anchor="b" anchorCtr="0" compatLnSpc="1">
            <a:prstTxWarp prst="textNoShape">
              <a:avLst/>
            </a:prstTxWarp>
          </a:bodyPr>
          <a:lstStyle>
            <a:lvl1pPr defTabSz="931863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4" tIns="46582" rIns="93164" bIns="46582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/>
            </a:lvl1pPr>
          </a:lstStyle>
          <a:p>
            <a:pPr>
              <a:defRPr/>
            </a:pPr>
            <a:fld id="{9FB021FE-9EB7-4E5C-BB0C-0290341750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6956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4" tIns="46582" rIns="93164" bIns="46582" numCol="1" anchor="t" anchorCtr="0" compatLnSpc="1">
            <a:prstTxWarp prst="textNoShape">
              <a:avLst/>
            </a:prstTxWarp>
          </a:bodyPr>
          <a:lstStyle>
            <a:lvl1pPr defTabSz="931863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4" tIns="46582" rIns="93164" bIns="46582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4" tIns="46582" rIns="93164" bIns="465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42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4" tIns="46582" rIns="93164" bIns="46582" numCol="1" anchor="b" anchorCtr="0" compatLnSpc="1">
            <a:prstTxWarp prst="textNoShape">
              <a:avLst/>
            </a:prstTxWarp>
          </a:bodyPr>
          <a:lstStyle>
            <a:lvl1pPr defTabSz="931863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42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4" tIns="46582" rIns="93164" bIns="46582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/>
            </a:lvl1pPr>
          </a:lstStyle>
          <a:p>
            <a:pPr>
              <a:defRPr/>
            </a:pPr>
            <a:fld id="{CE2FECC4-DAC2-40AD-A553-8B55346ACC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09064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E2FECC4-DAC2-40AD-A553-8B55346ACC9D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45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D4D4E-5193-8942-A6D2-CAFDBF6BEBF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5669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E2FECC4-DAC2-40AD-A553-8B55346ACC9D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118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E2FECC4-DAC2-40AD-A553-8B55346ACC9D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718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E2FECC4-DAC2-40AD-A553-8B55346ACC9D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0149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5B260-FE6E-D048-9DA9-096E9E98A9D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5941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RDD </a:t>
            </a:r>
            <a:r>
              <a:rPr lang="en-US" dirty="0">
                <a:sym typeface="Wingdings"/>
              </a:rPr>
              <a:t> </a:t>
            </a:r>
            <a:r>
              <a:rPr lang="en-US" dirty="0"/>
              <a:t>Colloquially referred to as RDDs</a:t>
            </a:r>
          </a:p>
          <a:p>
            <a:r>
              <a:rPr lang="en-US" dirty="0"/>
              <a:t> (e.g. caching in RAM)</a:t>
            </a:r>
          </a:p>
          <a:p>
            <a:pPr marL="0" lvl="1" defTabSz="46588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Lazy operations to build RDDs from other RDDs</a:t>
            </a:r>
          </a:p>
          <a:p>
            <a:pPr marL="0" lvl="1" defTabSz="46588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Return a result or write it to storage</a:t>
            </a:r>
          </a:p>
          <a:p>
            <a:pPr marL="0" lvl="1" defTabSz="46588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5B260-FE6E-D048-9DA9-096E9E98A9D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6858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E2FECC4-DAC2-40AD-A553-8B55346ACC9D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7188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465887">
              <a:defRPr/>
            </a:pPr>
            <a:r>
              <a:rPr lang="en-US" dirty="0"/>
              <a:t>Add</a:t>
            </a:r>
            <a:r>
              <a:rPr lang="en-US" baseline="0" dirty="0"/>
              <a:t> “variables” to the “functions” in functional programming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19AE34-0624-8F4B-9FB8-27D0EFDF760C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5B260-FE6E-D048-9DA9-096E9E98A9D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1166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5B260-FE6E-D048-9DA9-096E9E98A9D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2043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lazy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19AE34-0624-8F4B-9FB8-27D0EFDF760C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9831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lazy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19AE34-0624-8F4B-9FB8-27D0EFDF760C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2906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Launch</a:t>
            </a:r>
            <a:r>
              <a:rPr lang="en-US" baseline="0" dirty="0"/>
              <a:t> computations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19AE34-0624-8F4B-9FB8-27D0EFDF760C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3806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54 GB Wikipedia</a:t>
            </a:r>
            <a:r>
              <a:rPr lang="en-US" baseline="0" dirty="0"/>
              <a:t> dataset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19AE34-0624-8F4B-9FB8-27D0EFDF760C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661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 GB datasets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19AE34-0624-8F4B-9FB8-27D0EFDF760C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7294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Generalize</a:t>
            </a:r>
            <a:r>
              <a:rPr lang="en-US" baseline="0" dirty="0"/>
              <a:t> the map/reduce framework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5B260-FE6E-D048-9DA9-096E9E98A9DF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6602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E2FECC4-DAC2-40AD-A553-8B55346ACC9D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172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7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3.jpe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 userDrawn="1"/>
        </p:nvSpPr>
        <p:spPr bwMode="auto">
          <a:xfrm rot="10800000">
            <a:off x="0" y="4772025"/>
            <a:ext cx="7053263" cy="1677988"/>
          </a:xfrm>
          <a:prstGeom prst="rect">
            <a:avLst/>
          </a:prstGeom>
          <a:gradFill rotWithShape="1">
            <a:gsLst>
              <a:gs pos="0">
                <a:schemeClr val="bg1">
                  <a:gamma/>
                  <a:tint val="0"/>
                  <a:invGamma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 w="127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12" name="Picture 11" descr="seqBar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6438900"/>
            <a:ext cx="9144000" cy="419100"/>
          </a:xfrm>
          <a:prstGeom prst="rect">
            <a:avLst/>
          </a:prstGeom>
        </p:spPr>
      </p:pic>
      <p:sp>
        <p:nvSpPr>
          <p:cNvPr id="11" name="Title 10"/>
          <p:cNvSpPr>
            <a:spLocks noGrp="1" noChangeArrowheads="1"/>
          </p:cNvSpPr>
          <p:nvPr>
            <p:ph type="ctrTitle"/>
          </p:nvPr>
        </p:nvSpPr>
        <p:spPr>
          <a:xfrm>
            <a:off x="397920" y="3210128"/>
            <a:ext cx="6810276" cy="1617426"/>
          </a:xfrm>
          <a:prstGeom prst="rect">
            <a:avLst/>
          </a:prstGeom>
        </p:spPr>
        <p:txBody>
          <a:bodyPr anchor="ctr" anchorCtr="0"/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Rectangle 11"/>
          <p:cNvSpPr>
            <a:spLocks noGrp="1" noChangeArrowheads="1"/>
          </p:cNvSpPr>
          <p:nvPr>
            <p:ph type="subTitle" idx="1"/>
          </p:nvPr>
        </p:nvSpPr>
        <p:spPr>
          <a:xfrm>
            <a:off x="397920" y="4936280"/>
            <a:ext cx="4294187" cy="1060450"/>
          </a:xfrm>
        </p:spPr>
        <p:txBody>
          <a:bodyPr anchor="t" anchorCtr="0"/>
          <a:lstStyle>
            <a:lvl1pPr marL="0" indent="0" algn="l">
              <a:spcBef>
                <a:spcPct val="0"/>
              </a:spcBef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DNA-Seq_only2"/>
          <p:cNvPicPr>
            <a:picLocks noChangeAspect="1" noChangeArrowheads="1"/>
          </p:cNvPicPr>
          <p:nvPr userDrawn="1"/>
        </p:nvPicPr>
        <p:blipFill>
          <a:blip r:embed="rId2" cstate="print"/>
          <a:srcRect t="1222" b="21623"/>
          <a:stretch>
            <a:fillRect/>
          </a:stretch>
        </p:blipFill>
        <p:spPr bwMode="auto">
          <a:xfrm>
            <a:off x="0" y="0"/>
            <a:ext cx="9144000" cy="340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10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69900" y="3602038"/>
            <a:ext cx="8257241" cy="2330450"/>
          </a:xfrm>
          <a:prstGeom prst="rect">
            <a:avLst/>
          </a:prstGeom>
        </p:spPr>
        <p:txBody>
          <a:bodyPr anchor="t"/>
          <a:lstStyle>
            <a:lvl1pPr algn="l">
              <a:defRPr sz="3200" b="0" baseline="0"/>
            </a:lvl1pPr>
          </a:lstStyle>
          <a:p>
            <a:r>
              <a:rPr lang="en-US" dirty="0"/>
              <a:t>Click to edit section title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9400" y="1423987"/>
            <a:ext cx="3973512" cy="48720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5850" y="1423987"/>
            <a:ext cx="3975100" cy="48720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369438"/>
      </p:ext>
    </p:extLst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6537"/>
            <a:ext cx="4038600" cy="4197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6537"/>
            <a:ext cx="4038600" cy="4197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40316" y="6356352"/>
            <a:ext cx="1371600" cy="365125"/>
          </a:xfrm>
          <a:prstGeom prst="rect">
            <a:avLst/>
          </a:prstGeom>
        </p:spPr>
        <p:txBody>
          <a:bodyPr/>
          <a:lstStyle/>
          <a:p>
            <a:fld id="{D105E92A-1E01-7944-A861-7A5F229C6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476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40316" y="6356352"/>
            <a:ext cx="1371600" cy="365125"/>
          </a:xfrm>
          <a:prstGeom prst="rect">
            <a:avLst/>
          </a:prstGeom>
        </p:spPr>
        <p:txBody>
          <a:bodyPr/>
          <a:lstStyle/>
          <a:p>
            <a:fld id="{D105E92A-1E01-7944-A861-7A5F229C6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284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ChangeArrowheads="1"/>
          </p:cNvSpPr>
          <p:nvPr userDrawn="1"/>
        </p:nvSpPr>
        <p:spPr bwMode="auto">
          <a:xfrm rot="10800000">
            <a:off x="0" y="4772025"/>
            <a:ext cx="7053263" cy="1677988"/>
          </a:xfrm>
          <a:prstGeom prst="rect">
            <a:avLst/>
          </a:prstGeom>
          <a:gradFill rotWithShape="1">
            <a:gsLst>
              <a:gs pos="0">
                <a:schemeClr val="bg1">
                  <a:gamma/>
                  <a:tint val="0"/>
                  <a:invGamma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 w="127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7" name="Picture 5" descr="ILLUMINA_LOGO_RGB_new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16850" y="5969000"/>
            <a:ext cx="1106488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4" descr="seqBar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6438900"/>
            <a:ext cx="9144000" cy="419100"/>
          </a:xfrm>
          <a:prstGeom prst="rect">
            <a:avLst/>
          </a:prstGeom>
        </p:spPr>
      </p:pic>
      <p:sp>
        <p:nvSpPr>
          <p:cNvPr id="9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397920" y="3210128"/>
            <a:ext cx="6810276" cy="1617426"/>
          </a:xfrm>
          <a:prstGeom prst="rect">
            <a:avLst/>
          </a:prstGeom>
        </p:spPr>
        <p:txBody>
          <a:bodyPr anchor="ctr" anchorCtr="0"/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Rectangle 11"/>
          <p:cNvSpPr>
            <a:spLocks noGrp="1" noChangeArrowheads="1"/>
          </p:cNvSpPr>
          <p:nvPr>
            <p:ph type="subTitle" idx="1"/>
          </p:nvPr>
        </p:nvSpPr>
        <p:spPr>
          <a:xfrm>
            <a:off x="397920" y="4936280"/>
            <a:ext cx="4294187" cy="1060450"/>
          </a:xfrm>
        </p:spPr>
        <p:txBody>
          <a:bodyPr anchor="t" anchorCtr="0"/>
          <a:lstStyle>
            <a:lvl1pPr marL="0" indent="0" algn="l">
              <a:spcBef>
                <a:spcPct val="0"/>
              </a:spcBef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6" name="Picture 7" descr="DNA-Seq_only2"/>
          <p:cNvPicPr>
            <a:picLocks noChangeAspect="1" noChangeArrowheads="1"/>
          </p:cNvPicPr>
          <p:nvPr userDrawn="1"/>
        </p:nvPicPr>
        <p:blipFill>
          <a:blip r:embed="rId4" cstate="print"/>
          <a:srcRect l="2710" t="8926" b="21623"/>
          <a:stretch>
            <a:fillRect/>
          </a:stretch>
        </p:blipFill>
        <p:spPr bwMode="auto">
          <a:xfrm>
            <a:off x="0" y="727196"/>
            <a:ext cx="9144000" cy="28534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Rounded Rectangle 16"/>
          <p:cNvSpPr/>
          <p:nvPr userDrawn="1"/>
        </p:nvSpPr>
        <p:spPr bwMode="auto">
          <a:xfrm>
            <a:off x="7279684" y="423512"/>
            <a:ext cx="1486877" cy="1129694"/>
          </a:xfrm>
          <a:prstGeom prst="roundRect">
            <a:avLst>
              <a:gd name="adj" fmla="val 7143"/>
            </a:avLst>
          </a:prstGeom>
          <a:blipFill>
            <a:blip r:embed="rId5" cstate="print"/>
            <a:stretch>
              <a:fillRect/>
            </a:stretch>
          </a:blip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07950" dist="12700" dir="5400000" algn="ctr">
              <a:srgbClr val="000000"/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Rounded Rectangle 17"/>
          <p:cNvSpPr/>
          <p:nvPr userDrawn="1"/>
        </p:nvSpPr>
        <p:spPr bwMode="auto">
          <a:xfrm>
            <a:off x="5296609" y="423512"/>
            <a:ext cx="1486877" cy="1129694"/>
          </a:xfrm>
          <a:prstGeom prst="roundRect">
            <a:avLst>
              <a:gd name="adj" fmla="val 7143"/>
            </a:avLst>
          </a:prstGeom>
          <a:blipFill>
            <a:blip r:embed="rId6" cstate="print"/>
            <a:stretch>
              <a:fillRect/>
            </a:stretch>
          </a:blip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07950" dist="12700" dir="5400000" algn="ctr">
              <a:srgbClr val="000000"/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Rounded Rectangle 18"/>
          <p:cNvSpPr/>
          <p:nvPr userDrawn="1"/>
        </p:nvSpPr>
        <p:spPr bwMode="auto">
          <a:xfrm>
            <a:off x="3313533" y="423512"/>
            <a:ext cx="1486877" cy="1129694"/>
          </a:xfrm>
          <a:prstGeom prst="roundRect">
            <a:avLst>
              <a:gd name="adj" fmla="val 7143"/>
            </a:avLst>
          </a:prstGeom>
          <a:blipFill>
            <a:blip r:embed="rId7" cstate="print"/>
            <a:stretch>
              <a:fillRect/>
            </a:stretch>
          </a:blip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07950" dist="12700" dir="5400000" algn="ctr">
              <a:srgbClr val="000000"/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Text Box 6"/>
          <p:cNvSpPr txBox="1">
            <a:spLocks noChangeArrowheads="1"/>
          </p:cNvSpPr>
          <p:nvPr userDrawn="1"/>
        </p:nvSpPr>
        <p:spPr bwMode="auto">
          <a:xfrm>
            <a:off x="122237" y="5902325"/>
            <a:ext cx="722025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2010 Illumina, Inc. All rights reserved.</a:t>
            </a:r>
          </a:p>
          <a:p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Illumina, </a:t>
            </a:r>
            <a:r>
              <a:rPr lang="en-US" sz="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illumina</a:t>
            </a:r>
            <a:r>
              <a:rPr lang="en-US" sz="6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Dx</a:t>
            </a:r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Solexa</a:t>
            </a:r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Making Sense Out of Life, </a:t>
            </a:r>
            <a:r>
              <a:rPr lang="en-US" sz="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Oligator</a:t>
            </a:r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Sentrix</a:t>
            </a:r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GoldenGate</a:t>
            </a:r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GoldenGate</a:t>
            </a:r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Indexing, DASL, </a:t>
            </a:r>
            <a:r>
              <a:rPr lang="en-US" sz="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BeadArray</a:t>
            </a:r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Array of Arrays, </a:t>
            </a:r>
            <a:r>
              <a:rPr lang="en-US" sz="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Infinium</a:t>
            </a:r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BeadXpress</a:t>
            </a:r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VeraCode</a:t>
            </a:r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IntelliHyb</a:t>
            </a:r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iSelect</a:t>
            </a:r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CSPro</a:t>
            </a:r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GenomeStudio</a:t>
            </a:r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Genetic Energy, </a:t>
            </a:r>
            <a:r>
              <a:rPr lang="en-US" sz="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HiSeq</a:t>
            </a:r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and </a:t>
            </a:r>
            <a:r>
              <a:rPr lang="en-US" sz="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HiScan</a:t>
            </a:r>
            <a:r>
              <a:rPr lang="en-US" sz="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registered trademarks or trademarks of Illumina, Inc. All other brands and names contained herein are the property of their respective owners.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DNA-Seq_only2"/>
          <p:cNvPicPr>
            <a:picLocks noChangeAspect="1" noChangeArrowheads="1"/>
          </p:cNvPicPr>
          <p:nvPr userDrawn="1"/>
        </p:nvPicPr>
        <p:blipFill>
          <a:blip r:embed="rId2" cstate="print"/>
          <a:srcRect t="1222" b="21623"/>
          <a:stretch>
            <a:fillRect/>
          </a:stretch>
        </p:blipFill>
        <p:spPr bwMode="auto">
          <a:xfrm>
            <a:off x="0" y="0"/>
            <a:ext cx="9144000" cy="340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0312" y="1435608"/>
            <a:ext cx="8595360" cy="4882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0312" y="1435608"/>
            <a:ext cx="3973512" cy="45466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21200" y="1435608"/>
            <a:ext cx="3975100" cy="45466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700" y="3991335"/>
            <a:ext cx="6858000" cy="1395551"/>
          </a:xfrm>
        </p:spPr>
        <p:txBody>
          <a:bodyPr anchor="b"/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" y="5386885"/>
            <a:ext cx="6858000" cy="556715"/>
          </a:xfrm>
        </p:spPr>
        <p:txBody>
          <a:bodyPr/>
          <a:lstStyle>
            <a:lvl1pPr marL="0" indent="0" algn="l">
              <a:buNone/>
              <a:defRPr sz="18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Google Shape;11;p9">
            <a:extLst>
              <a:ext uri="{FF2B5EF4-FFF2-40B4-BE49-F238E27FC236}">
                <a16:creationId xmlns:a16="http://schemas.microsoft.com/office/drawing/2014/main" id="{F562F608-3FAF-F944-B5A5-1195B295175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425" y="6267274"/>
            <a:ext cx="330713" cy="4409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4B430D4-07DF-665F-4720-A6ACC9D9B44E}"/>
              </a:ext>
            </a:extLst>
          </p:cNvPr>
          <p:cNvSpPr>
            <a:spLocks noChangeArrowheads="1"/>
          </p:cNvSpPr>
          <p:nvPr userDrawn="1"/>
        </p:nvSpPr>
        <p:spPr bwMode="auto">
          <a:xfrm rot="10800000">
            <a:off x="0" y="4772025"/>
            <a:ext cx="7053263" cy="1677988"/>
          </a:xfrm>
          <a:prstGeom prst="rect">
            <a:avLst/>
          </a:prstGeom>
          <a:gradFill rotWithShape="1">
            <a:gsLst>
              <a:gs pos="0">
                <a:schemeClr val="bg1">
                  <a:gamma/>
                  <a:tint val="0"/>
                  <a:invGamma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 w="127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7" name="Picture 6" descr="seqBar.jpg">
            <a:extLst>
              <a:ext uri="{FF2B5EF4-FFF2-40B4-BE49-F238E27FC236}">
                <a16:creationId xmlns:a16="http://schemas.microsoft.com/office/drawing/2014/main" id="{DF8CD100-2FA1-B1B7-BC15-965C3FD52C7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6438900"/>
            <a:ext cx="9144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870373"/>
      </p:ext>
    </p:extLst>
  </p:cSld>
  <p:clrMapOvr>
    <a:masterClrMapping/>
  </p:clrMapOvr>
  <p:transition spd="med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406843"/>
            <a:ext cx="6858000" cy="3070496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489609"/>
            <a:ext cx="6858000" cy="623015"/>
          </a:xfrm>
        </p:spPr>
        <p:txBody>
          <a:bodyPr/>
          <a:lstStyle>
            <a:lvl1pPr marL="0" indent="0" algn="ctr">
              <a:buNone/>
              <a:defRPr sz="18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Google Shape;11;p9">
            <a:extLst>
              <a:ext uri="{FF2B5EF4-FFF2-40B4-BE49-F238E27FC236}">
                <a16:creationId xmlns:a16="http://schemas.microsoft.com/office/drawing/2014/main" id="{9843B12E-2970-164E-96C4-CA89A1450BB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425" y="6267274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16257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B50043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oogle Shape;11;p9">
            <a:extLst>
              <a:ext uri="{FF2B5EF4-FFF2-40B4-BE49-F238E27FC236}">
                <a16:creationId xmlns:a16="http://schemas.microsoft.com/office/drawing/2014/main" id="{42BD6F60-39BB-9B49-8AE1-7982FC4CA8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425" y="6267274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482610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5" name="Google Shape;19;p11">
            <a:extLst>
              <a:ext uri="{FF2B5EF4-FFF2-40B4-BE49-F238E27FC236}">
                <a16:creationId xmlns:a16="http://schemas.microsoft.com/office/drawing/2014/main" id="{56B763D1-B56A-134D-84FC-A52CB9F6A54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0170578"/>
      </p:ext>
    </p:extLst>
  </p:cSld>
  <p:clrMapOvr>
    <a:masterClrMapping/>
  </p:clrMapOvr>
  <p:transition spd="med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87372-0917-854E-8E17-C067520FD8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0" y="1434167"/>
            <a:ext cx="4024312" cy="539751"/>
          </a:xfrm>
        </p:spPr>
        <p:txBody>
          <a:bodyPr anchor="t">
            <a:normAutofit/>
          </a:bodyPr>
          <a:lstStyle>
            <a:lvl1pPr marL="0" indent="0">
              <a:buNone/>
              <a:defRPr sz="18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111297"/>
            <a:ext cx="7886700" cy="40656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19;p11">
            <a:extLst>
              <a:ext uri="{FF2B5EF4-FFF2-40B4-BE49-F238E27FC236}">
                <a16:creationId xmlns:a16="http://schemas.microsoft.com/office/drawing/2014/main" id="{D1EBC6D6-B7A7-8349-BB7D-34239AFEBBC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7389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638" y="976617"/>
            <a:ext cx="7886700" cy="1003801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87372-0917-854E-8E17-C067520FD8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6638" y="378638"/>
            <a:ext cx="4024312" cy="539751"/>
          </a:xfrm>
        </p:spPr>
        <p:txBody>
          <a:bodyPr anchor="b">
            <a:normAutofit/>
          </a:bodyPr>
          <a:lstStyle>
            <a:lvl1pPr marL="0" indent="0" algn="l">
              <a:buNone/>
              <a:defRPr sz="18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38" y="2111297"/>
            <a:ext cx="7886700" cy="2055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FE203F3-27C1-6942-B96E-19FD27429AF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294496"/>
            <a:ext cx="9144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8027156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022" y="1081798"/>
            <a:ext cx="4023953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8938" y="542605"/>
            <a:ext cx="4024312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9021" y="2756452"/>
            <a:ext cx="8303872" cy="3420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19;p11">
            <a:extLst>
              <a:ext uri="{FF2B5EF4-FFF2-40B4-BE49-F238E27FC236}">
                <a16:creationId xmlns:a16="http://schemas.microsoft.com/office/drawing/2014/main" id="{960ADD97-4AD0-0A42-9114-EBC9F2ED478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876810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192" y="1174027"/>
            <a:ext cx="2749209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1108" y="634834"/>
            <a:ext cx="2749454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1" y="634834"/>
            <a:ext cx="5035292" cy="2794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A4D5AD4-5321-1C4A-B2C2-36ACAEAE06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294496"/>
            <a:ext cx="9144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643361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191" y="3586056"/>
            <a:ext cx="2749209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1107" y="3046863"/>
            <a:ext cx="2749454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3046863"/>
            <a:ext cx="5035292" cy="2794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A4D5AD4-5321-1C4A-B2C2-36ACAEAE06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9144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15;p10">
            <a:extLst>
              <a:ext uri="{FF2B5EF4-FFF2-40B4-BE49-F238E27FC236}">
                <a16:creationId xmlns:a16="http://schemas.microsoft.com/office/drawing/2014/main" id="{8A3194B9-CC43-E546-A5E4-9AD4D155F1B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425" y="6267274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282224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192" y="1620991"/>
            <a:ext cx="2749209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1108" y="1081798"/>
            <a:ext cx="2749454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1" y="1081799"/>
            <a:ext cx="5035292" cy="2347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657601" y="3667447"/>
            <a:ext cx="5035292" cy="2347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A7E0C015-0061-4141-B120-DD81D01FA98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33248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5096" y="1464895"/>
            <a:ext cx="5035292" cy="83252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5096" y="850839"/>
            <a:ext cx="2749454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5096" y="2371725"/>
            <a:ext cx="5035292" cy="31797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B87FA-C788-0C43-A60C-5EB49C9779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1" y="0"/>
            <a:ext cx="2879679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DE36E4F5-5D6D-DF48-B7A4-0AC093DE605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50695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225" y="1110976"/>
            <a:ext cx="4407083" cy="13638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4224" y="533317"/>
            <a:ext cx="2749454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225" y="2512705"/>
            <a:ext cx="4407083" cy="33086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B87FA-C788-0C43-A60C-5EB49C9779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32058" y="1600200"/>
            <a:ext cx="2743200" cy="36576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24FE092B-3872-D545-8104-23189B691C1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39455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253" y="1078391"/>
            <a:ext cx="2749209" cy="157109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1168" y="2671110"/>
            <a:ext cx="2749454" cy="539751"/>
          </a:xfrm>
        </p:spPr>
        <p:txBody>
          <a:bodyPr anchor="ctr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9757" y="1078391"/>
            <a:ext cx="2514599" cy="5000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88150" y="1078393"/>
            <a:ext cx="2514599" cy="50009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0CAD2A9F-C0BE-1D4C-9CB5-9F353CB7EC5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04123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190" y="1081242"/>
            <a:ext cx="6591807" cy="108245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1107" y="542049"/>
            <a:ext cx="2749454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107" y="2493845"/>
            <a:ext cx="3206494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836503" y="2493845"/>
            <a:ext cx="3206494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7EF772DB-EBED-AC4E-A6B4-D6788D3D616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4550526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6801" y="1620992"/>
            <a:ext cx="2749209" cy="157109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66800" y="3187150"/>
            <a:ext cx="2749454" cy="539751"/>
          </a:xfrm>
        </p:spPr>
        <p:txBody>
          <a:bodyPr anchor="ctr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479" y="447391"/>
            <a:ext cx="5035292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248479" y="2401603"/>
            <a:ext cx="5035292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DD728A0-FBA7-A944-9FC3-D964968E5F8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248479" y="4349939"/>
            <a:ext cx="5035292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Google Shape;30;p13">
            <a:extLst>
              <a:ext uri="{FF2B5EF4-FFF2-40B4-BE49-F238E27FC236}">
                <a16:creationId xmlns:a16="http://schemas.microsoft.com/office/drawing/2014/main" id="{64431A57-6760-9247-9E2A-0A0473D22C6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887778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190" y="1081242"/>
            <a:ext cx="6466444" cy="108245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1107" y="542049"/>
            <a:ext cx="2749454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107" y="2487447"/>
            <a:ext cx="2575872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284064" y="2487447"/>
            <a:ext cx="2575872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9CB098-C913-FF47-8D6F-4433AECCD96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17021" y="2487447"/>
            <a:ext cx="2575872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Google Shape;30;p13">
            <a:extLst>
              <a:ext uri="{FF2B5EF4-FFF2-40B4-BE49-F238E27FC236}">
                <a16:creationId xmlns:a16="http://schemas.microsoft.com/office/drawing/2014/main" id="{96661309-1A64-9B40-8E09-EB7C41D02D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139469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8778" y="361423"/>
            <a:ext cx="6466444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97273" y="1502871"/>
            <a:ext cx="2749454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0453" y="2273718"/>
            <a:ext cx="27432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173" y="2584391"/>
            <a:ext cx="265176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173" y="3424738"/>
            <a:ext cx="2651760" cy="2855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87767" y="2273718"/>
            <a:ext cx="27432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DFEEC4C-3952-3241-AFFA-9FF6C2A44C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3487" y="2584391"/>
            <a:ext cx="265176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233487" y="3471305"/>
            <a:ext cx="2651760" cy="2798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00131" y="2273718"/>
            <a:ext cx="27432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7BD52A3-D0F5-C34B-B923-D91286004F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5851" y="2584391"/>
            <a:ext cx="265176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9CB098-C913-FF47-8D6F-4433AECCD96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45851" y="3471305"/>
            <a:ext cx="2651760" cy="2798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7" name="Google Shape;30;p13">
            <a:extLst>
              <a:ext uri="{FF2B5EF4-FFF2-40B4-BE49-F238E27FC236}">
                <a16:creationId xmlns:a16="http://schemas.microsoft.com/office/drawing/2014/main" id="{4B5F8AAA-BFCE-4243-BCCA-044109B0E3F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9486201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8778" y="361423"/>
            <a:ext cx="6466444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97273" y="1502871"/>
            <a:ext cx="2749454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0453" y="2273718"/>
            <a:ext cx="27432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173" y="2584391"/>
            <a:ext cx="265176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12F6D154-7CC0-C540-AA65-63CBA5A000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48386" y="3587178"/>
            <a:ext cx="2027337" cy="22408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87767" y="2273718"/>
            <a:ext cx="27432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DFEEC4C-3952-3241-AFFA-9FF6C2A44C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3487" y="2584391"/>
            <a:ext cx="265176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2EB95A51-2BFE-CF45-AF89-35310B6F255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45700" y="3587177"/>
            <a:ext cx="2027337" cy="22408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00131" y="2273718"/>
            <a:ext cx="27432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7BD52A3-D0F5-C34B-B923-D91286004F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5851" y="2584391"/>
            <a:ext cx="265176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50A9B9C3-F6C3-E14E-B1BC-001989E7BF8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458064" y="3587175"/>
            <a:ext cx="2027337" cy="22408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0" name="Google Shape;30;p13">
            <a:extLst>
              <a:ext uri="{FF2B5EF4-FFF2-40B4-BE49-F238E27FC236}">
                <a16:creationId xmlns:a16="http://schemas.microsoft.com/office/drawing/2014/main" id="{F6FCBC8F-7CCE-2C4C-AAF7-4952D113F07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9818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8426" y="281392"/>
            <a:ext cx="6466444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97273" y="1417981"/>
            <a:ext cx="2749454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8454" y="2277977"/>
            <a:ext cx="2027337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7106" y="2588653"/>
            <a:ext cx="1738579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9EF3CB1-11C9-364F-BB5B-A911A25998F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69147" y="3591434"/>
            <a:ext cx="1454497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69274" y="2277975"/>
            <a:ext cx="2027337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4B1F5A97-5AAD-B944-ACE3-759382926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596484" y="2591402"/>
            <a:ext cx="1738579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D467BC90-669B-E145-A934-88F0093AEA0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738525" y="3594183"/>
            <a:ext cx="1454497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50094" y="2277975"/>
            <a:ext cx="2027337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20F56272-45A8-464E-A2EF-92E963522C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88745" y="2591402"/>
            <a:ext cx="1738579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91AC9B6C-283F-8246-AA1C-A18DA4F7E34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30786" y="3594183"/>
            <a:ext cx="1454497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6ABE50-ACB3-F540-B07F-B7E5E31B4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30913" y="2277978"/>
            <a:ext cx="2027337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AEEAAA06-A9FA-5C44-BDE5-45762EF595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9565" y="2588653"/>
            <a:ext cx="1738579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11">
            <a:extLst>
              <a:ext uri="{FF2B5EF4-FFF2-40B4-BE49-F238E27FC236}">
                <a16:creationId xmlns:a16="http://schemas.microsoft.com/office/drawing/2014/main" id="{AB995A1D-84D4-B04C-B7C1-C51D005CC92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111606" y="3591434"/>
            <a:ext cx="1454497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9" name="Google Shape;30;p13">
            <a:extLst>
              <a:ext uri="{FF2B5EF4-FFF2-40B4-BE49-F238E27FC236}">
                <a16:creationId xmlns:a16="http://schemas.microsoft.com/office/drawing/2014/main" id="{846B281D-577A-2847-8901-3BC5DDAA2F4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898931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9" name="Google Shape;30;p13">
            <a:extLst>
              <a:ext uri="{FF2B5EF4-FFF2-40B4-BE49-F238E27FC236}">
                <a16:creationId xmlns:a16="http://schemas.microsoft.com/office/drawing/2014/main" id="{52095448-BA23-8B4C-9877-FF23F4EB99C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28262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Google Shape;30;p13">
            <a:extLst>
              <a:ext uri="{FF2B5EF4-FFF2-40B4-BE49-F238E27FC236}">
                <a16:creationId xmlns:a16="http://schemas.microsoft.com/office/drawing/2014/main" id="{E74E0DDA-6146-E846-9C90-721AC3DB063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720208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30;p13">
            <a:extLst>
              <a:ext uri="{FF2B5EF4-FFF2-40B4-BE49-F238E27FC236}">
                <a16:creationId xmlns:a16="http://schemas.microsoft.com/office/drawing/2014/main" id="{EF4D445F-0EE7-E74E-B0B3-D782FE7112F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005707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1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7DCDAFC0-B225-9546-961B-DC5B9BDD748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97200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1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EE4A9134-7030-7749-89EA-6705EE97561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137776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6537"/>
            <a:ext cx="4038600" cy="4197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6537"/>
            <a:ext cx="4038600" cy="4197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40316" y="6356352"/>
            <a:ext cx="1371600" cy="365125"/>
          </a:xfrm>
          <a:prstGeom prst="rect">
            <a:avLst/>
          </a:prstGeom>
        </p:spPr>
        <p:txBody>
          <a:bodyPr/>
          <a:lstStyle/>
          <a:p>
            <a:fld id="{D105E92A-1E01-7944-A861-7A5F229C6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867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0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3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eqBar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0" y="6438900"/>
            <a:ext cx="9144000" cy="419100"/>
          </a:xfrm>
          <a:prstGeom prst="rect">
            <a:avLst/>
          </a:prstGeom>
        </p:spPr>
      </p:pic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6183" y="1424459"/>
            <a:ext cx="8595360" cy="48828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 rot="5400000">
            <a:off x="7324723" y="6315087"/>
            <a:ext cx="466725" cy="619122"/>
          </a:xfrm>
          <a:prstGeom prst="rect">
            <a:avLst/>
          </a:prstGeom>
          <a:gradFill rotWithShape="1">
            <a:gsLst>
              <a:gs pos="0">
                <a:schemeClr val="bg1">
                  <a:gamma/>
                  <a:tint val="0"/>
                  <a:invGamma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 w="127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 rot="16200000">
            <a:off x="8591551" y="6305550"/>
            <a:ext cx="466725" cy="638173"/>
          </a:xfrm>
          <a:prstGeom prst="rect">
            <a:avLst/>
          </a:prstGeom>
          <a:gradFill rotWithShape="1">
            <a:gsLst>
              <a:gs pos="60000">
                <a:schemeClr val="bg1">
                  <a:gamma/>
                  <a:tint val="0"/>
                  <a:invGamma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 w="127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71462" y="228600"/>
            <a:ext cx="8601075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29" r:id="rId2"/>
    <p:sldLayoutId id="2147483739" r:id="rId3"/>
    <p:sldLayoutId id="2147483744" r:id="rId4"/>
    <p:sldLayoutId id="2147483747" r:id="rId5"/>
    <p:sldLayoutId id="2147483748" r:id="rId6"/>
    <p:sldLayoutId id="2147483749" r:id="rId7"/>
  </p:sldLayoutIdLst>
  <p:transition spd="med">
    <p:wipe dir="r"/>
  </p:transition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9pPr>
    </p:titleStyle>
    <p:bodyStyle>
      <a:lvl1pPr marL="234950" indent="-234950" algn="l" rtl="0" eaLnBrk="1" fontAlgn="base" hangingPunct="1">
        <a:spcBef>
          <a:spcPct val="50000"/>
        </a:spcBef>
        <a:spcAft>
          <a:spcPct val="0"/>
        </a:spcAft>
        <a:buClr>
          <a:srgbClr val="F89D21"/>
        </a:buClr>
        <a:buSzPct val="60000"/>
        <a:buBlip>
          <a:blip r:embed="rId10"/>
        </a:buBlip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692150" indent="-2349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2pPr>
      <a:lvl3pPr marL="1149350" indent="-2349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3pPr>
      <a:lvl4pPr marL="1606550" indent="-2349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80000"/>
        <a:buFont typeface="Arial" charset="0"/>
        <a:buChar char="–"/>
        <a:defRPr sz="1200">
          <a:solidFill>
            <a:schemeClr val="tx1"/>
          </a:solidFill>
          <a:latin typeface="+mn-lt"/>
        </a:defRPr>
      </a:lvl4pPr>
      <a:lvl5pPr marL="2063750" indent="-234950" algn="l" rtl="0" eaLnBrk="1" fontAlgn="base" hangingPunct="1">
        <a:spcBef>
          <a:spcPct val="20000"/>
        </a:spcBef>
        <a:spcAft>
          <a:spcPct val="0"/>
        </a:spcAft>
        <a:buClr>
          <a:srgbClr val="535353"/>
        </a:buClr>
        <a:buFont typeface="Arial" charset="0"/>
        <a:buChar char="-"/>
        <a:defRPr sz="1200">
          <a:solidFill>
            <a:schemeClr val="tx1"/>
          </a:solidFill>
          <a:latin typeface="+mn-lt"/>
        </a:defRPr>
      </a:lvl5pPr>
      <a:lvl6pPr marL="2520950" indent="-234950" algn="l" rtl="0" eaLnBrk="1" fontAlgn="base" hangingPunct="1">
        <a:spcBef>
          <a:spcPct val="20000"/>
        </a:spcBef>
        <a:spcAft>
          <a:spcPct val="0"/>
        </a:spcAft>
        <a:buClr>
          <a:srgbClr val="535353"/>
        </a:buClr>
        <a:buFont typeface="Arial" charset="0"/>
        <a:buChar char="-"/>
        <a:defRPr sz="1200">
          <a:solidFill>
            <a:schemeClr val="tx1"/>
          </a:solidFill>
          <a:latin typeface="+mn-lt"/>
        </a:defRPr>
      </a:lvl6pPr>
      <a:lvl7pPr marL="2978150" indent="-234950" algn="l" rtl="0" eaLnBrk="1" fontAlgn="base" hangingPunct="1">
        <a:spcBef>
          <a:spcPct val="20000"/>
        </a:spcBef>
        <a:spcAft>
          <a:spcPct val="0"/>
        </a:spcAft>
        <a:buClr>
          <a:srgbClr val="535353"/>
        </a:buClr>
        <a:buFont typeface="Arial" charset="0"/>
        <a:buChar char="-"/>
        <a:defRPr sz="1200">
          <a:solidFill>
            <a:schemeClr val="tx1"/>
          </a:solidFill>
          <a:latin typeface="+mn-lt"/>
        </a:defRPr>
      </a:lvl7pPr>
      <a:lvl8pPr marL="3435350" indent="-234950" algn="l" rtl="0" eaLnBrk="1" fontAlgn="base" hangingPunct="1">
        <a:spcBef>
          <a:spcPct val="20000"/>
        </a:spcBef>
        <a:spcAft>
          <a:spcPct val="0"/>
        </a:spcAft>
        <a:buClr>
          <a:srgbClr val="535353"/>
        </a:buClr>
        <a:buFont typeface="Arial" charset="0"/>
        <a:buChar char="-"/>
        <a:defRPr sz="1200">
          <a:solidFill>
            <a:schemeClr val="tx1"/>
          </a:solidFill>
          <a:latin typeface="+mn-lt"/>
        </a:defRPr>
      </a:lvl8pPr>
      <a:lvl9pPr marL="3892550" indent="-234950" algn="l" rtl="0" eaLnBrk="1" fontAlgn="base" hangingPunct="1">
        <a:spcBef>
          <a:spcPct val="20000"/>
        </a:spcBef>
        <a:spcAft>
          <a:spcPct val="0"/>
        </a:spcAft>
        <a:buClr>
          <a:srgbClr val="535353"/>
        </a:buClr>
        <a:buFont typeface="Arial" charset="0"/>
        <a:buChar char="-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0312" y="1435608"/>
            <a:ext cx="8595360" cy="48828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Picture 12" descr="seqBar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0" y="6438900"/>
            <a:ext cx="9144000" cy="419100"/>
          </a:xfrm>
          <a:prstGeom prst="rect">
            <a:avLst/>
          </a:prstGeom>
        </p:spPr>
      </p:pic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136525" y="6547909"/>
            <a:ext cx="819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fld id="{5073B0C2-833C-4049-9244-41733BBAE632}" type="slidenum">
              <a:rPr lang="en-US" sz="1000"/>
              <a:pPr>
                <a:defRPr/>
              </a:pPr>
              <a:t>‹#›</a:t>
            </a:fld>
            <a:endParaRPr lang="en-US" sz="1000" dirty="0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 rot="5400000">
            <a:off x="7324723" y="6315087"/>
            <a:ext cx="466725" cy="619122"/>
          </a:xfrm>
          <a:prstGeom prst="rect">
            <a:avLst/>
          </a:prstGeom>
          <a:gradFill rotWithShape="1">
            <a:gsLst>
              <a:gs pos="0">
                <a:schemeClr val="bg1">
                  <a:gamma/>
                  <a:tint val="0"/>
                  <a:invGamma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 w="127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 rot="16200000">
            <a:off x="8591551" y="6305550"/>
            <a:ext cx="466725" cy="638173"/>
          </a:xfrm>
          <a:prstGeom prst="rect">
            <a:avLst/>
          </a:prstGeom>
          <a:gradFill rotWithShape="1">
            <a:gsLst>
              <a:gs pos="60000">
                <a:schemeClr val="bg1">
                  <a:gamma/>
                  <a:tint val="0"/>
                  <a:invGamma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 w="127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 rot="5400000">
            <a:off x="8129586" y="6091238"/>
            <a:ext cx="466725" cy="1066799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18" name="Picture 8" descr="ILLUMINA_LOGO_RGB_new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854950" y="6550025"/>
            <a:ext cx="914400" cy="2072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5591" y="239749"/>
            <a:ext cx="8601075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43" r:id="rId2"/>
    <p:sldLayoutId id="2147483745" r:id="rId3"/>
    <p:sldLayoutId id="2147483746" r:id="rId4"/>
  </p:sldLayoutIdLst>
  <p:transition spd="med">
    <p:wipe dir="r"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9pPr>
    </p:titleStyle>
    <p:bodyStyle>
      <a:lvl1pPr marL="234950" indent="-234950" algn="l" rtl="0" eaLnBrk="0" fontAlgn="base" hangingPunct="0">
        <a:spcBef>
          <a:spcPct val="50000"/>
        </a:spcBef>
        <a:spcAft>
          <a:spcPct val="0"/>
        </a:spcAft>
        <a:buClr>
          <a:srgbClr val="F89D21"/>
        </a:buClr>
        <a:buSzPct val="60000"/>
        <a:buBlip>
          <a:blip r:embed="rId8"/>
        </a:buBlip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692150" indent="-2349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2pPr>
      <a:lvl3pPr marL="1149350" indent="-2349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3pPr>
      <a:lvl4pPr marL="1606550" indent="-2349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Arial" charset="0"/>
        <a:buChar char="–"/>
        <a:defRPr sz="1200">
          <a:solidFill>
            <a:schemeClr val="tx1"/>
          </a:solidFill>
          <a:latin typeface="+mn-lt"/>
        </a:defRPr>
      </a:lvl4pPr>
      <a:lvl5pPr marL="2063750" indent="-234950" algn="l" rtl="0" eaLnBrk="0" fontAlgn="base" hangingPunct="0">
        <a:spcBef>
          <a:spcPct val="20000"/>
        </a:spcBef>
        <a:spcAft>
          <a:spcPct val="0"/>
        </a:spcAft>
        <a:buClr>
          <a:srgbClr val="535353"/>
        </a:buClr>
        <a:buFont typeface="Arial" charset="0"/>
        <a:buChar char="-"/>
        <a:defRPr sz="1200">
          <a:solidFill>
            <a:schemeClr val="tx1"/>
          </a:solidFill>
          <a:latin typeface="+mn-lt"/>
        </a:defRPr>
      </a:lvl5pPr>
      <a:lvl6pPr marL="2520950" indent="-234950" algn="l" rtl="0" fontAlgn="base">
        <a:spcBef>
          <a:spcPct val="20000"/>
        </a:spcBef>
        <a:spcAft>
          <a:spcPct val="0"/>
        </a:spcAft>
        <a:buClr>
          <a:srgbClr val="535353"/>
        </a:buClr>
        <a:buFont typeface="Arial" charset="0"/>
        <a:buChar char="-"/>
        <a:defRPr sz="1200">
          <a:solidFill>
            <a:schemeClr val="tx1"/>
          </a:solidFill>
          <a:latin typeface="+mn-lt"/>
        </a:defRPr>
      </a:lvl6pPr>
      <a:lvl7pPr marL="2978150" indent="-234950" algn="l" rtl="0" fontAlgn="base">
        <a:spcBef>
          <a:spcPct val="20000"/>
        </a:spcBef>
        <a:spcAft>
          <a:spcPct val="0"/>
        </a:spcAft>
        <a:buClr>
          <a:srgbClr val="535353"/>
        </a:buClr>
        <a:buFont typeface="Arial" charset="0"/>
        <a:buChar char="-"/>
        <a:defRPr sz="1200">
          <a:solidFill>
            <a:schemeClr val="tx1"/>
          </a:solidFill>
          <a:latin typeface="+mn-lt"/>
        </a:defRPr>
      </a:lvl7pPr>
      <a:lvl8pPr marL="3435350" indent="-234950" algn="l" rtl="0" fontAlgn="base">
        <a:spcBef>
          <a:spcPct val="20000"/>
        </a:spcBef>
        <a:spcAft>
          <a:spcPct val="0"/>
        </a:spcAft>
        <a:buClr>
          <a:srgbClr val="535353"/>
        </a:buClr>
        <a:buFont typeface="Arial" charset="0"/>
        <a:buChar char="-"/>
        <a:defRPr sz="1200">
          <a:solidFill>
            <a:schemeClr val="tx1"/>
          </a:solidFill>
          <a:latin typeface="+mn-lt"/>
        </a:defRPr>
      </a:lvl8pPr>
      <a:lvl9pPr marL="3892550" indent="-234950" algn="l" rtl="0" fontAlgn="base">
        <a:spcBef>
          <a:spcPct val="20000"/>
        </a:spcBef>
        <a:spcAft>
          <a:spcPct val="0"/>
        </a:spcAft>
        <a:buClr>
          <a:srgbClr val="535353"/>
        </a:buClr>
        <a:buFont typeface="Arial" charset="0"/>
        <a:buChar char="-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0038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72127"/>
            <a:ext cx="7886700" cy="4604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C6A4C-6C9C-1247-9E17-AAB2A147EAAC}"/>
              </a:ext>
            </a:extLst>
          </p:cNvPr>
          <p:cNvSpPr txBox="1"/>
          <p:nvPr/>
        </p:nvSpPr>
        <p:spPr>
          <a:xfrm>
            <a:off x="1539434" y="725347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63732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791" r:id="rId15"/>
    <p:sldLayoutId id="2147483792" r:id="rId16"/>
    <p:sldLayoutId id="2147483793" r:id="rId17"/>
    <p:sldLayoutId id="2147483794" r:id="rId18"/>
    <p:sldLayoutId id="2147483795" r:id="rId19"/>
    <p:sldLayoutId id="2147483796" r:id="rId20"/>
    <p:sldLayoutId id="2147483797" r:id="rId21"/>
    <p:sldLayoutId id="2147483798" r:id="rId22"/>
    <p:sldLayoutId id="2147483799" r:id="rId23"/>
    <p:sldLayoutId id="2147483800" r:id="rId24"/>
    <p:sldLayoutId id="2147483801" r:id="rId25"/>
  </p:sldLayoutIdLst>
  <p:transition spd="med">
    <p:wipe dir="r"/>
  </p:transition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Franklin Gothic Medium Cond" panose="020B0606030402020204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bg2">
            <a:lumMod val="25000"/>
          </a:schemeClr>
        </a:buClr>
        <a:buSzPct val="85000"/>
        <a:buFont typeface="Arial" panose="020B0604020202020204" pitchFamily="34" charset="0"/>
        <a:buChar char="•"/>
        <a:defRPr sz="2000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bg2">
            <a:lumMod val="25000"/>
          </a:schemeClr>
        </a:buClr>
        <a:buSzPct val="85000"/>
        <a:buFont typeface="Courier New" panose="02070309020205020404" pitchFamily="49" charset="0"/>
        <a:buChar char="o"/>
        <a:defRPr sz="1800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bg2">
            <a:lumMod val="25000"/>
          </a:schemeClr>
        </a:buClr>
        <a:buSzPct val="85000"/>
        <a:buFont typeface="Wingdings" pitchFamily="2" charset="2"/>
        <a:buChar char="§"/>
        <a:defRPr sz="1600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100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100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4" Type="http://schemas.openxmlformats.org/officeDocument/2006/relationships/chart" Target="../charts/char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09800"/>
            <a:ext cx="6810276" cy="1828800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solidFill>
                  <a:srgbClr val="0000FF"/>
                </a:solidFill>
              </a:rPr>
            </a:br>
            <a:r>
              <a:rPr lang="en-US" sz="4000" b="1" dirty="0">
                <a:solidFill>
                  <a:srgbClr val="0000FF"/>
                </a:solidFill>
              </a:rPr>
              <a:t>Introduction</a:t>
            </a:r>
            <a:r>
              <a:rPr lang="en-US" b="1" dirty="0">
                <a:solidFill>
                  <a:srgbClr val="0000FF"/>
                </a:solidFill>
              </a:rPr>
              <a:t> to</a:t>
            </a:r>
            <a:br>
              <a:rPr lang="en-US" b="1" dirty="0">
                <a:solidFill>
                  <a:srgbClr val="0000FF"/>
                </a:solidFill>
              </a:rPr>
            </a:br>
            <a:br>
              <a:rPr lang="en-US" b="1" dirty="0">
                <a:solidFill>
                  <a:srgbClr val="0000FF"/>
                </a:solidFill>
              </a:rPr>
            </a:br>
            <a:r>
              <a:rPr lang="en-US" b="1" dirty="0">
                <a:solidFill>
                  <a:srgbClr val="0000FF"/>
                </a:solidFill>
                <a:latin typeface="Courier" pitchFamily="2" charset="0"/>
              </a:rPr>
              <a:t>https://</a:t>
            </a:r>
            <a:r>
              <a:rPr lang="en-US" b="1" dirty="0" err="1">
                <a:solidFill>
                  <a:srgbClr val="0000FF"/>
                </a:solidFill>
                <a:latin typeface="Courier" pitchFamily="2" charset="0"/>
              </a:rPr>
              <a:t>spark.apache.org</a:t>
            </a:r>
            <a:endParaRPr lang="en-US" dirty="0">
              <a:latin typeface="Courier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920" y="4800600"/>
            <a:ext cx="4294187" cy="762000"/>
          </a:xfrm>
        </p:spPr>
        <p:txBody>
          <a:bodyPr/>
          <a:lstStyle/>
          <a:p>
            <a:r>
              <a:rPr lang="en-US" sz="2000" dirty="0"/>
              <a:t>Mahmoud  Parsian</a:t>
            </a:r>
          </a:p>
          <a:p>
            <a:r>
              <a:rPr lang="en-US" sz="1200" dirty="0"/>
              <a:t>Ph.D. in Computer Science</a:t>
            </a:r>
          </a:p>
          <a:p>
            <a:endParaRPr lang="en-US" sz="3200" dirty="0"/>
          </a:p>
        </p:txBody>
      </p:sp>
      <p:pic>
        <p:nvPicPr>
          <p:cNvPr id="4" name="Picture 3" descr="spark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1524000"/>
            <a:ext cx="3276600" cy="173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538900"/>
      </p:ext>
    </p:extLst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8600"/>
            <a:ext cx="8034337" cy="838200"/>
          </a:xfrm>
        </p:spPr>
        <p:txBody>
          <a:bodyPr/>
          <a:lstStyle/>
          <a:p>
            <a:r>
              <a:rPr lang="en-US" sz="4400" dirty="0">
                <a:solidFill>
                  <a:srgbClr val="0000FF"/>
                </a:solidFill>
              </a:rPr>
              <a:t>What is</a:t>
            </a:r>
          </a:p>
        </p:txBody>
      </p:sp>
      <p:pic>
        <p:nvPicPr>
          <p:cNvPr id="6" name="Content Placeholder 5" descr="A picture containing text&#10;&#10;Description automatically generated">
            <a:extLst>
              <a:ext uri="{FF2B5EF4-FFF2-40B4-BE49-F238E27FC236}">
                <a16:creationId xmlns:a16="http://schemas.microsoft.com/office/drawing/2014/main" id="{A9FE82C9-D720-9944-9CFE-28BE51AFCD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201130"/>
            <a:ext cx="7848600" cy="5106008"/>
          </a:xfrm>
        </p:spPr>
      </p:pic>
      <p:pic>
        <p:nvPicPr>
          <p:cNvPr id="4" name="Picture 3" descr="spark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59857"/>
            <a:ext cx="2209800" cy="97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370660"/>
      </p:ext>
    </p:extLst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462" y="228600"/>
            <a:ext cx="8601075" cy="743930"/>
          </a:xfrm>
        </p:spPr>
        <p:txBody>
          <a:bodyPr/>
          <a:lstStyle/>
          <a:p>
            <a:r>
              <a:rPr lang="en-US" sz="4400" dirty="0">
                <a:solidFill>
                  <a:srgbClr val="0000FF"/>
                </a:solidFill>
              </a:rPr>
              <a:t>What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183" y="1201130"/>
            <a:ext cx="8595360" cy="5106225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en-US" sz="3200" dirty="0"/>
              <a:t>Fast and expressive cluster computing engine</a:t>
            </a:r>
          </a:p>
          <a:p>
            <a:pPr>
              <a:buFont typeface="Arial"/>
              <a:buChar char="•"/>
            </a:pPr>
            <a:r>
              <a:rPr lang="en-US" sz="3200" dirty="0"/>
              <a:t>Compatible with Hadoop File System</a:t>
            </a:r>
          </a:p>
          <a:p>
            <a:pPr lvl="1"/>
            <a:r>
              <a:rPr lang="en-US" sz="2800" dirty="0"/>
              <a:t> HDFS</a:t>
            </a:r>
          </a:p>
          <a:p>
            <a:r>
              <a:rPr lang="en-US" sz="3000" dirty="0"/>
              <a:t>Compatible with many data sources</a:t>
            </a:r>
          </a:p>
          <a:p>
            <a:pPr lvl="1"/>
            <a:r>
              <a:rPr lang="en-US" sz="2800" dirty="0"/>
              <a:t> Amazon S3 </a:t>
            </a:r>
            <a:r>
              <a:rPr lang="en-US" sz="2000" dirty="0"/>
              <a:t>(Simple Storage System)</a:t>
            </a:r>
          </a:p>
          <a:p>
            <a:pPr lvl="1"/>
            <a:r>
              <a:rPr lang="en-US" sz="2800" dirty="0"/>
              <a:t> Parquet File </a:t>
            </a:r>
            <a:r>
              <a:rPr lang="en-US" sz="2000" dirty="0"/>
              <a:t>(columnar data format)</a:t>
            </a:r>
          </a:p>
          <a:p>
            <a:pPr lvl="1"/>
            <a:r>
              <a:rPr lang="en-US" sz="2800" dirty="0"/>
              <a:t> CSV file, Text File</a:t>
            </a:r>
          </a:p>
          <a:p>
            <a:pPr lvl="1"/>
            <a:r>
              <a:rPr lang="en-US" sz="2800" dirty="0"/>
              <a:t> Relational Database Systems </a:t>
            </a:r>
          </a:p>
          <a:p>
            <a:pPr lvl="1"/>
            <a:r>
              <a:rPr lang="en-US" sz="2800" dirty="0"/>
              <a:t> …</a:t>
            </a:r>
          </a:p>
        </p:txBody>
      </p:sp>
      <p:pic>
        <p:nvPicPr>
          <p:cNvPr id="4" name="Picture 3" descr="spark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0"/>
            <a:ext cx="2209800" cy="97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548049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-31271"/>
            <a:ext cx="7886700" cy="1003801"/>
          </a:xfrm>
        </p:spPr>
        <p:txBody>
          <a:bodyPr/>
          <a:lstStyle/>
          <a:p>
            <a:r>
              <a:rPr lang="en-US" sz="4400" dirty="0">
                <a:solidFill>
                  <a:srgbClr val="0000FF"/>
                </a:solidFill>
              </a:rPr>
              <a:t>What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0" y="1066800"/>
            <a:ext cx="8595360" cy="5240555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en-US" sz="2800" dirty="0"/>
              <a:t>Improves efficiency through </a:t>
            </a:r>
            <a:r>
              <a:rPr lang="en-US" sz="2800" b="1" dirty="0"/>
              <a:t>in-memory computing:</a:t>
            </a:r>
          </a:p>
          <a:p>
            <a:pPr lvl="1">
              <a:buFont typeface="Arial"/>
              <a:buChar char="•"/>
            </a:pPr>
            <a:r>
              <a:rPr lang="en-US" sz="3000" b="1" dirty="0"/>
              <a:t>1 second = 1000 milliseconds</a:t>
            </a:r>
          </a:p>
          <a:p>
            <a:pPr lvl="1">
              <a:buFont typeface="Arial"/>
              <a:buChar char="•"/>
            </a:pPr>
            <a:r>
              <a:rPr lang="en-US" sz="3000" b="1" dirty="0">
                <a:solidFill>
                  <a:srgbClr val="7030A0"/>
                </a:solidFill>
              </a:rPr>
              <a:t>Memory data access: 10 milliseconds</a:t>
            </a:r>
          </a:p>
          <a:p>
            <a:pPr lvl="1">
              <a:buFont typeface="Arial"/>
              <a:buChar char="•"/>
            </a:pPr>
            <a:r>
              <a:rPr lang="en-US" sz="3000" b="1" dirty="0">
                <a:solidFill>
                  <a:srgbClr val="7030A0"/>
                </a:solidFill>
              </a:rPr>
              <a:t>Disk data access: 1000 milliseconds</a:t>
            </a:r>
          </a:p>
          <a:p>
            <a:pPr>
              <a:buFont typeface="Arial"/>
              <a:buChar char="•"/>
            </a:pPr>
            <a:r>
              <a:rPr lang="en-US" sz="3200" dirty="0"/>
              <a:t>General computation graphs (DAG)</a:t>
            </a:r>
          </a:p>
          <a:p>
            <a:pPr lvl="1">
              <a:buFont typeface="Arial"/>
              <a:buChar char="•"/>
            </a:pPr>
            <a:r>
              <a:rPr lang="en-US" sz="3000" dirty="0"/>
              <a:t>No need to write MANY “map-then-reduce” jobs</a:t>
            </a:r>
          </a:p>
          <a:p>
            <a:pPr lvl="1">
              <a:buFont typeface="Arial"/>
              <a:buChar char="•"/>
            </a:pPr>
            <a:r>
              <a:rPr lang="en-US" sz="3000" dirty="0"/>
              <a:t>Write one job to do MANY things</a:t>
            </a:r>
          </a:p>
          <a:p>
            <a:pPr>
              <a:buFont typeface="Arial"/>
              <a:buChar char="•"/>
            </a:pPr>
            <a:r>
              <a:rPr lang="en-US" sz="3200" dirty="0"/>
              <a:t>As much as 100x faster</a:t>
            </a:r>
            <a:endParaRPr lang="en-US" sz="2800" dirty="0"/>
          </a:p>
        </p:txBody>
      </p:sp>
      <p:pic>
        <p:nvPicPr>
          <p:cNvPr id="4" name="Picture 3" descr="spark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6950" y="0"/>
            <a:ext cx="2209800" cy="97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253505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-31271"/>
            <a:ext cx="7886700" cy="1003801"/>
          </a:xfrm>
        </p:spPr>
        <p:txBody>
          <a:bodyPr/>
          <a:lstStyle/>
          <a:p>
            <a:r>
              <a:rPr lang="en-US" sz="4400" dirty="0">
                <a:solidFill>
                  <a:srgbClr val="0000FF"/>
                </a:solidFill>
              </a:rPr>
              <a:t>What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0" y="1066800"/>
            <a:ext cx="8595360" cy="52405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Apache Spark is a multi-language engine (Python, Java, Scala, SQL) for executing data engineering, data science, and machine learning on </a:t>
            </a:r>
          </a:p>
          <a:p>
            <a:r>
              <a:rPr lang="en-US" sz="4000" dirty="0"/>
              <a:t> Single-node machine or </a:t>
            </a:r>
          </a:p>
          <a:p>
            <a:r>
              <a:rPr lang="en-US" sz="4000" dirty="0"/>
              <a:t> Cluster of nodes</a:t>
            </a:r>
          </a:p>
        </p:txBody>
      </p:sp>
      <p:pic>
        <p:nvPicPr>
          <p:cNvPr id="4" name="Picture 3" descr="spark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6950" y="0"/>
            <a:ext cx="2209800" cy="97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996899"/>
      </p:ext>
    </p:extLst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29285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Architecture of</a:t>
            </a:r>
          </a:p>
        </p:txBody>
      </p:sp>
      <p:pic>
        <p:nvPicPr>
          <p:cNvPr id="7" name="Content Placeholder 6" descr="spark-cluster-overview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524000"/>
            <a:ext cx="6553200" cy="3733800"/>
          </a:xfrm>
        </p:spPr>
      </p:pic>
      <p:pic>
        <p:nvPicPr>
          <p:cNvPr id="4" name="Picture 3" descr="spark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0" y="21881"/>
            <a:ext cx="2209800" cy="97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875860"/>
      </p:ext>
    </p:extLst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07404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What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183" y="1003012"/>
            <a:ext cx="8595360" cy="53043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u="sng" dirty="0"/>
              <a:t>Spark Cluster: </a:t>
            </a:r>
          </a:p>
          <a:p>
            <a:pPr marL="0" indent="0">
              <a:buNone/>
            </a:pPr>
            <a:r>
              <a:rPr lang="en-US" sz="3200" dirty="0"/>
              <a:t>a collection of machines or nodes in the public cloud or on-premise in a private data center on </a:t>
            </a:r>
          </a:p>
          <a:p>
            <a:pPr marL="0" indent="0">
              <a:buNone/>
            </a:pPr>
            <a:r>
              <a:rPr lang="en-US" sz="3200" dirty="0"/>
              <a:t>which Spark is installed. 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Among those machines are Spark workers, a Spark Master (also a cluster manager in a Standalone mode), and at least one Spark Driver.</a:t>
            </a:r>
            <a:endParaRPr lang="en-US" sz="3000" b="1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pic>
        <p:nvPicPr>
          <p:cNvPr id="4" name="Picture 3" descr="spark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-31955"/>
            <a:ext cx="2209800" cy="97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345138"/>
      </p:ext>
    </p:extLst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07404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What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183" y="1003012"/>
            <a:ext cx="8595360" cy="53043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u="sng" dirty="0"/>
              <a:t>Spark Master: </a:t>
            </a:r>
          </a:p>
          <a:p>
            <a:pPr marL="0" indent="0">
              <a:buNone/>
            </a:pPr>
            <a:r>
              <a:rPr lang="en-US" sz="3200" dirty="0"/>
              <a:t>As the name suggests, a Spark Master JVM acts as a cluster manager in a Standalone deployment mode to which Spark workers register themselves as part of a quorum. Depending on the deployment mode, it acts as a resource manager and decides where and how many Executors to launch, and on what Spark workers in the cluster.</a:t>
            </a:r>
            <a:endParaRPr lang="en-US" sz="3000" b="1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pic>
        <p:nvPicPr>
          <p:cNvPr id="4" name="Picture 3" descr="spark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-31955"/>
            <a:ext cx="2209800" cy="97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223584"/>
      </p:ext>
    </p:extLst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07404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What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183" y="1003012"/>
            <a:ext cx="8595360" cy="53043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u="sng" dirty="0"/>
              <a:t>Spark Worker: </a:t>
            </a:r>
          </a:p>
          <a:p>
            <a:r>
              <a:rPr lang="en-US" sz="3200" dirty="0"/>
              <a:t>Upon receiving instructions from Spark Master, the Spark worker JVM launches Executors on the worker on behalf of the Spark Driver. </a:t>
            </a:r>
          </a:p>
          <a:p>
            <a:r>
              <a:rPr lang="en-US" sz="3200" dirty="0"/>
              <a:t>Spark applications, decomposed into units of tasks, are executed on each worker’s Executor. In short, the worker’s job is to only launch an Executor on behalf of the master.</a:t>
            </a:r>
            <a:endParaRPr lang="en-US" sz="3000" b="1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pic>
        <p:nvPicPr>
          <p:cNvPr id="4" name="Picture 3" descr="spark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-31955"/>
            <a:ext cx="2209800" cy="97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689710"/>
      </p:ext>
    </p:extLst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07404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What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183" y="1003012"/>
            <a:ext cx="8595360" cy="530434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b="1" u="sng" dirty="0"/>
              <a:t>Spark </a:t>
            </a:r>
            <a:r>
              <a:rPr lang="en-US" sz="3200" u="sng" dirty="0"/>
              <a:t>Executor </a:t>
            </a:r>
            <a:r>
              <a:rPr lang="en-US" sz="3200" b="1" u="sng" dirty="0"/>
              <a:t>: </a:t>
            </a:r>
          </a:p>
          <a:p>
            <a:r>
              <a:rPr lang="en-US" sz="3200" dirty="0"/>
              <a:t>A Spark Executor is a JVM container with an allocated amount of cores and memory on which Spark runs its tasks. </a:t>
            </a:r>
          </a:p>
          <a:p>
            <a:r>
              <a:rPr lang="en-US" sz="3200" dirty="0"/>
              <a:t>Each worker node launches its own Spark Executor, with a configurable number of cores (or threads). </a:t>
            </a:r>
          </a:p>
          <a:p>
            <a:r>
              <a:rPr lang="en-US" sz="3200" dirty="0"/>
              <a:t>Besides executing Spark tasks, an Executor also stores and caches all data partitions in its memory.</a:t>
            </a:r>
          </a:p>
          <a:p>
            <a:r>
              <a:rPr lang="en-US" sz="3000" b="1" dirty="0">
                <a:solidFill>
                  <a:schemeClr val="tx1"/>
                </a:solidFill>
                <a:highlight>
                  <a:srgbClr val="00FF00"/>
                </a:highlight>
              </a:rPr>
              <a:t>Task: A unit of work that will be sent to one executor.</a:t>
            </a:r>
          </a:p>
        </p:txBody>
      </p:sp>
      <p:pic>
        <p:nvPicPr>
          <p:cNvPr id="4" name="Picture 3" descr="spark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-31955"/>
            <a:ext cx="2209800" cy="97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541512"/>
      </p:ext>
    </p:extLst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07404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What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183" y="1003012"/>
            <a:ext cx="8595360" cy="53043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u="sng" dirty="0"/>
              <a:t>Spark Driver</a:t>
            </a:r>
            <a:r>
              <a:rPr lang="en-US" sz="3200" u="sng" dirty="0"/>
              <a:t> </a:t>
            </a:r>
            <a:r>
              <a:rPr lang="en-US" sz="3200" b="1" u="sng" dirty="0"/>
              <a:t>: </a:t>
            </a:r>
          </a:p>
          <a:p>
            <a:r>
              <a:rPr lang="en-US" sz="3200" dirty="0"/>
              <a:t>Once it gets information from the Spark Master of all the workers in the cluster and where they are, the driver program distributes Spark tasks to each worker’s Executor. </a:t>
            </a:r>
          </a:p>
          <a:p>
            <a:r>
              <a:rPr lang="en-US" sz="3200" dirty="0"/>
              <a:t>The driver also receives computed results from each Executor’s tasks.</a:t>
            </a:r>
            <a:endParaRPr lang="en-US" sz="3000" b="1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pic>
        <p:nvPicPr>
          <p:cNvPr id="4" name="Picture 3" descr="spark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-31955"/>
            <a:ext cx="2209800" cy="97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585806"/>
      </p:ext>
    </p:extLst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07404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What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183" y="1003012"/>
            <a:ext cx="8595360" cy="5304344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en-US" sz="3200" dirty="0"/>
              <a:t>Improves usability by rich API</a:t>
            </a:r>
          </a:p>
          <a:p>
            <a:pPr lvl="1">
              <a:buFont typeface="Arial"/>
              <a:buChar char="•"/>
            </a:pPr>
            <a:r>
              <a:rPr lang="en-US" sz="3000" dirty="0"/>
              <a:t>Scala</a:t>
            </a:r>
          </a:p>
          <a:p>
            <a:pPr lvl="1">
              <a:buFont typeface="Arial"/>
              <a:buChar char="•"/>
            </a:pPr>
            <a:r>
              <a:rPr lang="en-US" sz="3000" dirty="0"/>
              <a:t>Java</a:t>
            </a:r>
          </a:p>
          <a:p>
            <a:pPr lvl="1">
              <a:buFont typeface="Arial"/>
              <a:buChar char="•"/>
            </a:pPr>
            <a:r>
              <a:rPr lang="en-US" sz="3000" b="1" dirty="0">
                <a:solidFill>
                  <a:srgbClr val="C00000"/>
                </a:solidFill>
                <a:highlight>
                  <a:srgbClr val="00FF00"/>
                </a:highlight>
              </a:rPr>
              <a:t>Python</a:t>
            </a:r>
            <a:r>
              <a:rPr lang="en-US" sz="3000" b="1" dirty="0">
                <a:solidFill>
                  <a:srgbClr val="C00000"/>
                </a:solidFill>
              </a:rPr>
              <a:t> (simple &amp; expressive API)</a:t>
            </a:r>
          </a:p>
          <a:p>
            <a:pPr lvl="2">
              <a:buFont typeface="Arial"/>
              <a:buChar char="•"/>
            </a:pPr>
            <a:r>
              <a:rPr lang="en-US" sz="2800" b="1" dirty="0" err="1">
                <a:solidFill>
                  <a:schemeClr val="tx1"/>
                </a:solidFill>
              </a:rPr>
              <a:t>PySpark</a:t>
            </a:r>
            <a:r>
              <a:rPr lang="en-US" sz="2800" b="1" dirty="0">
                <a:solidFill>
                  <a:srgbClr val="C00000"/>
                </a:solidFill>
              </a:rPr>
              <a:t>: Python API for Spark</a:t>
            </a:r>
          </a:p>
          <a:p>
            <a:pPr lvl="2">
              <a:buFont typeface="Arial"/>
              <a:buChar char="•"/>
            </a:pPr>
            <a:r>
              <a:rPr lang="en-US" sz="2800" b="1" dirty="0">
                <a:solidFill>
                  <a:schemeClr val="tx1"/>
                </a:solidFill>
              </a:rPr>
              <a:t>PySpark</a:t>
            </a:r>
            <a:r>
              <a:rPr lang="en-US" sz="2800" b="1" dirty="0">
                <a:solidFill>
                  <a:srgbClr val="C00000"/>
                </a:solidFill>
              </a:rPr>
              <a:t>: interactive shell and batch</a:t>
            </a:r>
          </a:p>
          <a:p>
            <a:pPr lvl="1">
              <a:buFont typeface="Arial"/>
              <a:buChar char="•"/>
            </a:pPr>
            <a:r>
              <a:rPr lang="en-US" sz="3000" dirty="0"/>
              <a:t>SQL</a:t>
            </a:r>
          </a:p>
          <a:p>
            <a:pPr lvl="1">
              <a:buFont typeface="Arial"/>
              <a:buChar char="•"/>
            </a:pPr>
            <a:endParaRPr lang="en-US" sz="3000" dirty="0"/>
          </a:p>
          <a:p>
            <a:pPr lvl="1">
              <a:buFont typeface="Arial"/>
              <a:buChar char="•"/>
            </a:pPr>
            <a:r>
              <a:rPr lang="en-US" sz="3000" b="1" dirty="0">
                <a:solidFill>
                  <a:schemeClr val="tx1"/>
                </a:solidFill>
                <a:highlight>
                  <a:srgbClr val="00FF00"/>
                </a:highlight>
              </a:rPr>
              <a:t>Often 2-10x less code</a:t>
            </a:r>
          </a:p>
        </p:txBody>
      </p:sp>
      <p:pic>
        <p:nvPicPr>
          <p:cNvPr id="4" name="Picture 3" descr="spark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30481"/>
            <a:ext cx="2209800" cy="97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80071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131094"/>
            <a:ext cx="7886700" cy="617934"/>
          </a:xfrm>
        </p:spPr>
        <p:txBody>
          <a:bodyPr/>
          <a:lstStyle/>
          <a:p>
            <a:r>
              <a:rPr lang="en-US" dirty="0"/>
              <a:t>Spark Data Sources</a:t>
            </a:r>
          </a:p>
        </p:txBody>
      </p:sp>
      <p:pic>
        <p:nvPicPr>
          <p:cNvPr id="7" name="Content Placeholder 6" descr="A picture containing logo&#10;&#10;Description automatically generated">
            <a:extLst>
              <a:ext uri="{FF2B5EF4-FFF2-40B4-BE49-F238E27FC236}">
                <a16:creationId xmlns:a16="http://schemas.microsoft.com/office/drawing/2014/main" id="{8758E6F2-77E4-C6D6-0703-2689A995757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993059" y="1749029"/>
            <a:ext cx="6341806" cy="3631061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5200" y="5643563"/>
            <a:ext cx="558800" cy="273050"/>
          </a:xfrm>
          <a:prstGeom prst="rect">
            <a:avLst/>
          </a:prstGeom>
        </p:spPr>
        <p:txBody>
          <a:bodyPr/>
          <a:lstStyle/>
          <a:p>
            <a:fld id="{40D15546-3768-674C-81B9-C40A1A080E88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816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1000" y="228600"/>
            <a:ext cx="8134350" cy="515277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00FF"/>
                </a:solidFill>
              </a:rPr>
              <a:t>Language Support</a:t>
            </a:r>
          </a:p>
        </p:txBody>
      </p:sp>
      <p:sp>
        <p:nvSpPr>
          <p:cNvPr id="13" name="Content Placeholder 4"/>
          <p:cNvSpPr>
            <a:spLocks noGrp="1"/>
          </p:cNvSpPr>
          <p:nvPr>
            <p:ph sz="half" idx="1"/>
          </p:nvPr>
        </p:nvSpPr>
        <p:spPr>
          <a:xfrm>
            <a:off x="5668442" y="743877"/>
            <a:ext cx="3388341" cy="5235199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6600"/>
                </a:solidFill>
              </a:rPr>
              <a:t>Standalone Programs</a:t>
            </a:r>
          </a:p>
          <a:p>
            <a:pPr marL="117475" indent="-117475"/>
            <a:r>
              <a:rPr lang="en-US" sz="2000" dirty="0"/>
              <a:t>Python, </a:t>
            </a:r>
            <a:r>
              <a:rPr lang="en-US" sz="2000" dirty="0" err="1"/>
              <a:t>Scala</a:t>
            </a:r>
            <a:r>
              <a:rPr lang="en-US" sz="2000" dirty="0"/>
              <a:t>, &amp; Java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6600"/>
                </a:solidFill>
              </a:rPr>
              <a:t>Interactive Shells</a:t>
            </a:r>
            <a:endParaRPr lang="en-US" sz="2000" b="1" dirty="0"/>
          </a:p>
          <a:p>
            <a:pPr marL="174625" indent="-174625"/>
            <a:r>
              <a:rPr lang="en-US" sz="2000" dirty="0"/>
              <a:t>Python &amp; </a:t>
            </a:r>
            <a:r>
              <a:rPr lang="en-US" sz="2000" dirty="0" err="1"/>
              <a:t>Scala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6600"/>
                </a:solidFill>
              </a:rPr>
              <a:t>Performance</a:t>
            </a:r>
          </a:p>
          <a:p>
            <a:pPr marL="174625" indent="-174625"/>
            <a:r>
              <a:rPr lang="en-US" sz="2000" dirty="0"/>
              <a:t>Java &amp; </a:t>
            </a:r>
            <a:r>
              <a:rPr lang="en-US" sz="2000" dirty="0" err="1"/>
              <a:t>Scala</a:t>
            </a:r>
            <a:r>
              <a:rPr lang="en-US" sz="2000" dirty="0"/>
              <a:t> are faster due to static typing</a:t>
            </a:r>
          </a:p>
          <a:p>
            <a:pPr marL="174625" indent="-174625"/>
            <a:r>
              <a:rPr lang="en-US" sz="2000" dirty="0"/>
              <a:t>…but Python is often fine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half" idx="2"/>
          </p:nvPr>
        </p:nvSpPr>
        <p:spPr>
          <a:xfrm>
            <a:off x="381000" y="743877"/>
            <a:ext cx="5120944" cy="2037425"/>
          </a:xfrm>
          <a:solidFill>
            <a:schemeClr val="bg1">
              <a:lumMod val="85000"/>
            </a:schemeClr>
          </a:solidFill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numCol="1">
            <a:noAutofit/>
          </a:bodyPr>
          <a:lstStyle/>
          <a:p>
            <a:pPr marL="0" indent="0">
              <a:lnSpc>
                <a:spcPct val="80000"/>
              </a:lnSpc>
              <a:spcBef>
                <a:spcPts val="1200"/>
              </a:spcBef>
              <a:buNone/>
            </a:pPr>
            <a:r>
              <a:rPr lang="en-US" sz="2400" b="1" dirty="0">
                <a:solidFill>
                  <a:srgbClr val="0000FF"/>
                </a:solidFill>
              </a:rPr>
              <a:t>Python</a:t>
            </a:r>
          </a:p>
          <a:p>
            <a:pPr marL="0" indent="0">
              <a:lnSpc>
                <a:spcPct val="80000"/>
              </a:lnSpc>
              <a:spcBef>
                <a:spcPts val="1200"/>
              </a:spcBef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#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sc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: SparkContext: </a:t>
            </a:r>
            <a:r>
              <a:rPr lang="en-US" sz="105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 entry point for Spark functionality. </a:t>
            </a:r>
            <a:endParaRPr lang="en-US" sz="1100" b="0" i="0" dirty="0">
              <a:solidFill>
                <a:srgbClr val="333333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</a:t>
            </a:r>
            <a:r>
              <a:rPr lang="en-US" sz="11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 SparkContext represents the connection to a Spark cluster</a:t>
            </a:r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1200"/>
              </a:spcBef>
              <a:buNone/>
            </a:pP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# lines : RDD[String]</a:t>
            </a:r>
          </a:p>
          <a:p>
            <a:pPr marL="0" indent="0">
              <a:lnSpc>
                <a:spcPct val="80000"/>
              </a:lnSpc>
              <a:spcBef>
                <a:spcPts val="1200"/>
              </a:spcBef>
              <a:buNone/>
            </a:pP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050">
                <a:latin typeface="Consolas" panose="020B0609020204030204" pitchFamily="49" charset="0"/>
                <a:cs typeface="Consolas" panose="020B0609020204030204" pitchFamily="49" charset="0"/>
              </a:rPr>
              <a:t>nput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_path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= ”/Users/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mparsian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/data/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fox.txt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”</a:t>
            </a:r>
          </a:p>
          <a:p>
            <a:pPr marL="0" indent="0">
              <a:lnSpc>
                <a:spcPct val="80000"/>
              </a:lnSpc>
              <a:spcBef>
                <a:spcPts val="1200"/>
              </a:spcBef>
              <a:buNone/>
            </a:pPr>
            <a:r>
              <a:rPr lang="en-US" sz="1400" dirty="0">
                <a:latin typeface="Lucida Console"/>
                <a:cs typeface="Lucida Console"/>
              </a:rPr>
              <a:t>lines = </a:t>
            </a:r>
            <a:r>
              <a:rPr lang="en-US" sz="1400" dirty="0" err="1">
                <a:latin typeface="Lucida Console"/>
                <a:cs typeface="Lucida Console"/>
              </a:rPr>
              <a:t>sc.textFile</a:t>
            </a:r>
            <a:r>
              <a:rPr lang="en-US" sz="1400" dirty="0">
                <a:latin typeface="Lucida Console"/>
                <a:cs typeface="Lucida Console"/>
              </a:rPr>
              <a:t>(</a:t>
            </a:r>
            <a:r>
              <a:rPr lang="en-US" sz="1400" dirty="0" err="1">
                <a:latin typeface="Lucida Console"/>
                <a:cs typeface="Lucida Console"/>
              </a:rPr>
              <a:t>input_path</a:t>
            </a:r>
            <a:r>
              <a:rPr lang="en-US" sz="1400" dirty="0">
                <a:latin typeface="Lucida Console"/>
                <a:cs typeface="Lucida Console"/>
              </a:rPr>
              <a:t>)</a:t>
            </a:r>
            <a:br>
              <a:rPr lang="en-US" sz="1400" dirty="0">
                <a:latin typeface="Lucida Console"/>
                <a:cs typeface="Lucida Console"/>
              </a:rPr>
            </a:br>
            <a:r>
              <a:rPr lang="en-US" sz="1400" dirty="0" err="1">
                <a:latin typeface="Lucida Console"/>
                <a:cs typeface="Lucida Console"/>
              </a:rPr>
              <a:t>lines.</a:t>
            </a:r>
            <a:r>
              <a:rPr lang="en-US" sz="1400" dirty="0" err="1">
                <a:solidFill>
                  <a:srgbClr val="3366FF"/>
                </a:solidFill>
                <a:latin typeface="Lucida Console"/>
                <a:cs typeface="Lucida Console"/>
              </a:rPr>
              <a:t>filter</a:t>
            </a:r>
            <a:r>
              <a:rPr lang="en-US" sz="1400" dirty="0">
                <a:latin typeface="Lucida Console"/>
                <a:cs typeface="Lucida Console"/>
              </a:rPr>
              <a:t>(</a:t>
            </a:r>
            <a:r>
              <a:rPr lang="en-US" sz="1400" dirty="0">
                <a:solidFill>
                  <a:srgbClr val="FF0080"/>
                </a:solidFill>
                <a:latin typeface="Lucida Console"/>
                <a:cs typeface="Lucida Console"/>
              </a:rPr>
              <a:t>lambda s: “ERROR” in s</a:t>
            </a:r>
            <a:r>
              <a:rPr lang="en-US" sz="1400" dirty="0">
                <a:latin typeface="Lucida Console"/>
                <a:cs typeface="Lucida Console"/>
              </a:rPr>
              <a:t>).</a:t>
            </a:r>
            <a:r>
              <a:rPr lang="en-US" sz="1400" dirty="0">
                <a:solidFill>
                  <a:srgbClr val="3366FF"/>
                </a:solidFill>
                <a:latin typeface="Lucida Console"/>
                <a:cs typeface="Lucida Console"/>
              </a:rPr>
              <a:t>count</a:t>
            </a:r>
            <a:r>
              <a:rPr lang="en-US" sz="1400" dirty="0">
                <a:latin typeface="Lucida Console"/>
                <a:cs typeface="Lucida Console"/>
              </a:rPr>
              <a:t>()</a:t>
            </a:r>
            <a:endParaRPr lang="en-US" sz="1400" b="1" dirty="0">
              <a:solidFill>
                <a:srgbClr val="FF6600"/>
              </a:solidFill>
            </a:endParaRPr>
          </a:p>
        </p:txBody>
      </p:sp>
      <p:sp>
        <p:nvSpPr>
          <p:cNvPr id="10" name="Content Placeholder 5"/>
          <p:cNvSpPr txBox="1">
            <a:spLocks/>
          </p:cNvSpPr>
          <p:nvPr/>
        </p:nvSpPr>
        <p:spPr>
          <a:xfrm>
            <a:off x="358945" y="2933701"/>
            <a:ext cx="5123645" cy="1257300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numCol="1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1200"/>
              </a:spcBef>
              <a:buFont typeface="Arial"/>
              <a:buNone/>
            </a:pPr>
            <a:r>
              <a:rPr lang="en-US" sz="2400" b="1" dirty="0" err="1">
                <a:solidFill>
                  <a:srgbClr val="0000FF"/>
                </a:solidFill>
              </a:rPr>
              <a:t>Scala</a:t>
            </a:r>
            <a:endParaRPr lang="en-US" sz="1400" dirty="0">
              <a:solidFill>
                <a:srgbClr val="0000FF"/>
              </a:solidFill>
              <a:latin typeface="Lucida Console"/>
              <a:cs typeface="Lucida Console"/>
            </a:endParaRPr>
          </a:p>
          <a:p>
            <a:pPr marL="0" indent="0">
              <a:lnSpc>
                <a:spcPct val="80000"/>
              </a:lnSpc>
              <a:spcBef>
                <a:spcPts val="1200"/>
              </a:spcBef>
              <a:buFont typeface="Arial"/>
              <a:buNone/>
            </a:pPr>
            <a:r>
              <a:rPr lang="en-US" sz="1400" b="1" dirty="0" err="1">
                <a:latin typeface="Lucida Console"/>
                <a:cs typeface="Lucida Console"/>
              </a:rPr>
              <a:t>val</a:t>
            </a:r>
            <a:r>
              <a:rPr lang="en-US" sz="1400" dirty="0">
                <a:latin typeface="Lucida Console"/>
                <a:cs typeface="Lucida Console"/>
              </a:rPr>
              <a:t> lines = </a:t>
            </a:r>
            <a:r>
              <a:rPr lang="en-US" sz="1400" dirty="0" err="1">
                <a:latin typeface="Lucida Console"/>
                <a:cs typeface="Lucida Console"/>
              </a:rPr>
              <a:t>sc.textFile</a:t>
            </a:r>
            <a:r>
              <a:rPr lang="en-US" sz="1400" dirty="0">
                <a:latin typeface="Lucida Console"/>
                <a:cs typeface="Lucida Console"/>
              </a:rPr>
              <a:t>(</a:t>
            </a:r>
            <a:r>
              <a:rPr lang="en-US" sz="1400" dirty="0" err="1">
                <a:latin typeface="Lucida Console"/>
                <a:cs typeface="Lucida Console"/>
              </a:rPr>
              <a:t>input_path</a:t>
            </a:r>
            <a:r>
              <a:rPr lang="en-US" sz="1400" dirty="0">
                <a:latin typeface="Lucida Console"/>
                <a:cs typeface="Lucida Console"/>
              </a:rPr>
              <a:t>)</a:t>
            </a:r>
            <a:br>
              <a:rPr lang="en-US" sz="1400" dirty="0">
                <a:latin typeface="Lucida Console"/>
                <a:cs typeface="Lucida Console"/>
              </a:rPr>
            </a:br>
            <a:r>
              <a:rPr lang="en-US" sz="1400" dirty="0" err="1">
                <a:latin typeface="Lucida Console"/>
                <a:cs typeface="Lucida Console"/>
              </a:rPr>
              <a:t>lines.</a:t>
            </a:r>
            <a:r>
              <a:rPr lang="en-US" sz="1400" dirty="0" err="1">
                <a:solidFill>
                  <a:srgbClr val="3366FF"/>
                </a:solidFill>
                <a:latin typeface="Lucida Console"/>
                <a:cs typeface="Lucida Console"/>
              </a:rPr>
              <a:t>filter</a:t>
            </a:r>
            <a:r>
              <a:rPr lang="en-US" sz="1400" dirty="0">
                <a:latin typeface="Lucida Console"/>
                <a:cs typeface="Lucida Console"/>
              </a:rPr>
              <a:t>(</a:t>
            </a:r>
            <a:r>
              <a:rPr lang="en-US" sz="1400" dirty="0">
                <a:solidFill>
                  <a:srgbClr val="FF0080"/>
                </a:solidFill>
                <a:latin typeface="Lucida Console"/>
                <a:cs typeface="Lucida Console"/>
              </a:rPr>
              <a:t>x =&gt; </a:t>
            </a:r>
            <a:r>
              <a:rPr lang="en-US" sz="1400" dirty="0" err="1">
                <a:solidFill>
                  <a:srgbClr val="FF0080"/>
                </a:solidFill>
                <a:latin typeface="Lucida Console"/>
                <a:cs typeface="Lucida Console"/>
              </a:rPr>
              <a:t>x.contains</a:t>
            </a:r>
            <a:r>
              <a:rPr lang="en-US" sz="1400" dirty="0">
                <a:solidFill>
                  <a:srgbClr val="FF0080"/>
                </a:solidFill>
                <a:latin typeface="Lucida Console"/>
                <a:cs typeface="Lucida Console"/>
              </a:rPr>
              <a:t>(“ERROR”)</a:t>
            </a:r>
            <a:r>
              <a:rPr lang="en-US" sz="1400" dirty="0">
                <a:latin typeface="Lucida Console"/>
                <a:cs typeface="Lucida Console"/>
              </a:rPr>
              <a:t>).</a:t>
            </a:r>
            <a:r>
              <a:rPr lang="en-US" sz="1400" dirty="0">
                <a:solidFill>
                  <a:srgbClr val="3366FF"/>
                </a:solidFill>
                <a:latin typeface="Lucida Console"/>
                <a:cs typeface="Lucida Console"/>
              </a:rPr>
              <a:t>count</a:t>
            </a:r>
            <a:r>
              <a:rPr lang="en-US" sz="1400" dirty="0">
                <a:latin typeface="Lucida Console"/>
                <a:cs typeface="Lucida Console"/>
              </a:rPr>
              <a:t>()</a:t>
            </a:r>
            <a:endParaRPr lang="en-US" sz="1400" b="1" dirty="0">
              <a:solidFill>
                <a:srgbClr val="FF6600"/>
              </a:solidFill>
            </a:endParaRPr>
          </a:p>
        </p:txBody>
      </p:sp>
      <p:sp>
        <p:nvSpPr>
          <p:cNvPr id="11" name="Content Placeholder 5"/>
          <p:cNvSpPr txBox="1">
            <a:spLocks/>
          </p:cNvSpPr>
          <p:nvPr/>
        </p:nvSpPr>
        <p:spPr>
          <a:xfrm>
            <a:off x="381000" y="4343400"/>
            <a:ext cx="5105400" cy="1770722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numCol="1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1200"/>
              </a:spcBef>
              <a:buFont typeface="Arial"/>
              <a:buNone/>
            </a:pPr>
            <a:r>
              <a:rPr lang="en-US" sz="2400" b="1" dirty="0">
                <a:solidFill>
                  <a:srgbClr val="0000FF"/>
                </a:solidFill>
              </a:rPr>
              <a:t>Java</a:t>
            </a:r>
            <a:endParaRPr lang="en-US" b="1" dirty="0">
              <a:solidFill>
                <a:srgbClr val="0000FF"/>
              </a:solidFill>
            </a:endParaRPr>
          </a:p>
          <a:p>
            <a:pPr marL="0" indent="0">
              <a:lnSpc>
                <a:spcPct val="80000"/>
              </a:lnSpc>
              <a:spcBef>
                <a:spcPts val="1200"/>
              </a:spcBef>
              <a:buNone/>
            </a:pPr>
            <a:r>
              <a:rPr lang="en-US" sz="1300" dirty="0" err="1">
                <a:latin typeface="Lucida Console"/>
                <a:cs typeface="Lucida Console"/>
              </a:rPr>
              <a:t>JavaRDD</a:t>
            </a:r>
            <a:r>
              <a:rPr lang="en-US" sz="1300" dirty="0">
                <a:latin typeface="Lucida Console"/>
                <a:cs typeface="Lucida Console"/>
              </a:rPr>
              <a:t>&lt;String&gt; lines = </a:t>
            </a:r>
            <a:r>
              <a:rPr lang="en-US" sz="1300" dirty="0" err="1">
                <a:latin typeface="Lucida Console"/>
                <a:cs typeface="Lucida Console"/>
              </a:rPr>
              <a:t>sc.textFile</a:t>
            </a:r>
            <a:r>
              <a:rPr lang="en-US" sz="1300" dirty="0">
                <a:latin typeface="Lucida Console"/>
                <a:cs typeface="Lucida Console"/>
              </a:rPr>
              <a:t>(</a:t>
            </a:r>
            <a:r>
              <a:rPr lang="en-US" sz="1300" dirty="0" err="1">
                <a:latin typeface="Lucida Console"/>
                <a:cs typeface="Lucida Console"/>
              </a:rPr>
              <a:t>input_path</a:t>
            </a:r>
            <a:r>
              <a:rPr lang="en-US" sz="1300" dirty="0">
                <a:latin typeface="Lucida Console"/>
                <a:cs typeface="Lucida Console"/>
              </a:rPr>
              <a:t>);</a:t>
            </a:r>
            <a:br>
              <a:rPr lang="en-US" sz="1400" dirty="0">
                <a:latin typeface="Lucida Console"/>
                <a:cs typeface="Lucida Console"/>
              </a:rPr>
            </a:br>
            <a:r>
              <a:rPr lang="en-US" sz="1400" dirty="0" err="1">
                <a:latin typeface="Lucida Console"/>
                <a:cs typeface="Lucida Console"/>
              </a:rPr>
              <a:t>lines.</a:t>
            </a:r>
            <a:r>
              <a:rPr lang="en-US" sz="1400" dirty="0" err="1">
                <a:solidFill>
                  <a:srgbClr val="3366FF"/>
                </a:solidFill>
                <a:latin typeface="Lucida Console"/>
                <a:cs typeface="Lucida Console"/>
              </a:rPr>
              <a:t>filter</a:t>
            </a:r>
            <a:r>
              <a:rPr lang="en-US" sz="1400" dirty="0">
                <a:latin typeface="Lucida Console"/>
                <a:cs typeface="Lucida Console"/>
              </a:rPr>
              <a:t>(</a:t>
            </a:r>
            <a:r>
              <a:rPr lang="en-US" sz="1400" b="1" dirty="0">
                <a:latin typeface="Lucida Console"/>
                <a:cs typeface="Lucida Console"/>
              </a:rPr>
              <a:t>new</a:t>
            </a:r>
            <a:r>
              <a:rPr lang="en-US" sz="1400" dirty="0">
                <a:latin typeface="Lucida Console"/>
                <a:cs typeface="Lucida Console"/>
              </a:rPr>
              <a:t> Function&lt;String, Boolean&gt;(){</a:t>
            </a:r>
            <a:br>
              <a:rPr lang="en-US" sz="1400" dirty="0">
                <a:latin typeface="Lucida Console"/>
                <a:cs typeface="Lucida Console"/>
              </a:rPr>
            </a:br>
            <a:r>
              <a:rPr lang="en-US" sz="1400" dirty="0">
                <a:latin typeface="Lucida Console"/>
                <a:cs typeface="Lucida Console"/>
              </a:rPr>
              <a:t>  Boolean call(String s) {</a:t>
            </a:r>
            <a:br>
              <a:rPr lang="en-US" sz="1400" dirty="0">
                <a:latin typeface="Lucida Console"/>
                <a:cs typeface="Lucida Console"/>
              </a:rPr>
            </a:br>
            <a:r>
              <a:rPr lang="en-US" sz="1400" dirty="0">
                <a:latin typeface="Lucida Console"/>
                <a:cs typeface="Lucida Console"/>
              </a:rPr>
              <a:t>    </a:t>
            </a:r>
            <a:r>
              <a:rPr lang="en-US" sz="1400" b="1" dirty="0">
                <a:latin typeface="Lucida Console"/>
                <a:cs typeface="Lucida Console"/>
              </a:rPr>
              <a:t>return</a:t>
            </a:r>
            <a:r>
              <a:rPr lang="en-US" sz="1400" dirty="0">
                <a:latin typeface="Lucida Console"/>
                <a:cs typeface="Lucida Console"/>
              </a:rPr>
              <a:t> </a:t>
            </a:r>
            <a:r>
              <a:rPr lang="en-US" sz="1400" dirty="0" err="1">
                <a:latin typeface="Lucida Console"/>
                <a:cs typeface="Lucida Console"/>
              </a:rPr>
              <a:t>s.contains</a:t>
            </a:r>
            <a:r>
              <a:rPr lang="en-US" sz="1400" dirty="0">
                <a:latin typeface="Lucida Console"/>
                <a:cs typeface="Lucida Console"/>
              </a:rPr>
              <a:t>(</a:t>
            </a:r>
            <a:r>
              <a:rPr lang="en-US" sz="1400" dirty="0">
                <a:solidFill>
                  <a:srgbClr val="000090"/>
                </a:solidFill>
                <a:latin typeface="Lucida Console"/>
                <a:cs typeface="Lucida Console"/>
              </a:rPr>
              <a:t>“</a:t>
            </a:r>
            <a:r>
              <a:rPr lang="en-US" sz="1400" dirty="0">
                <a:solidFill>
                  <a:srgbClr val="FF0080"/>
                </a:solidFill>
                <a:latin typeface="Lucida Console"/>
                <a:cs typeface="Lucida Console"/>
              </a:rPr>
              <a:t>ERROR</a:t>
            </a:r>
            <a:r>
              <a:rPr lang="en-US" sz="1400" dirty="0">
                <a:solidFill>
                  <a:srgbClr val="000090"/>
                </a:solidFill>
                <a:latin typeface="Lucida Console"/>
                <a:cs typeface="Lucida Console"/>
              </a:rPr>
              <a:t>”</a:t>
            </a:r>
            <a:r>
              <a:rPr lang="en-US" sz="1400" dirty="0">
                <a:latin typeface="Lucida Console"/>
                <a:cs typeface="Lucida Console"/>
              </a:rPr>
              <a:t>);</a:t>
            </a:r>
            <a:br>
              <a:rPr lang="en-US" sz="1400" dirty="0">
                <a:latin typeface="Lucida Console"/>
                <a:cs typeface="Lucida Console"/>
              </a:rPr>
            </a:br>
            <a:r>
              <a:rPr lang="en-US" sz="1400" dirty="0">
                <a:latin typeface="Lucida Console"/>
                <a:cs typeface="Lucida Console"/>
              </a:rPr>
              <a:t>  }</a:t>
            </a:r>
            <a:br>
              <a:rPr lang="en-US" sz="1400" dirty="0">
                <a:latin typeface="Lucida Console"/>
                <a:cs typeface="Lucida Console"/>
              </a:rPr>
            </a:br>
            <a:r>
              <a:rPr lang="en-US" sz="1400" dirty="0">
                <a:latin typeface="Lucida Console"/>
                <a:cs typeface="Lucida Console"/>
              </a:rPr>
              <a:t>}).</a:t>
            </a:r>
            <a:r>
              <a:rPr lang="en-US" sz="1400" dirty="0">
                <a:solidFill>
                  <a:srgbClr val="3366FF"/>
                </a:solidFill>
                <a:latin typeface="Lucida Console"/>
                <a:cs typeface="Lucida Console"/>
              </a:rPr>
              <a:t>count</a:t>
            </a:r>
            <a:r>
              <a:rPr lang="en-US" sz="1400" dirty="0">
                <a:latin typeface="Lucida Console"/>
                <a:cs typeface="Lucida Console"/>
              </a:rPr>
              <a:t>();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9D3FAB-99AC-A74F-2CAE-1D6349619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5E92A-1E01-7944-A861-7A5F229C68C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459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462" y="228600"/>
            <a:ext cx="8601075" cy="609600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Data Abstractions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183" y="914400"/>
            <a:ext cx="8595360" cy="53929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b="1" u="sng" dirty="0">
                <a:solidFill>
                  <a:srgbClr val="7030A0"/>
                </a:solidFill>
              </a:rPr>
              <a:t>Data Abstractions in PySpark</a:t>
            </a:r>
          </a:p>
          <a:p>
            <a:pPr>
              <a:buFont typeface="Arial"/>
              <a:buChar char="•"/>
            </a:pPr>
            <a:endParaRPr lang="en-US" sz="3200" b="1" dirty="0">
              <a:solidFill>
                <a:srgbClr val="7030A0"/>
              </a:solidFill>
            </a:endParaRPr>
          </a:p>
          <a:p>
            <a:pPr>
              <a:buFont typeface="Arial"/>
              <a:buChar char="•"/>
            </a:pPr>
            <a:r>
              <a:rPr lang="en-US" sz="3200" b="1" dirty="0">
                <a:solidFill>
                  <a:srgbClr val="7030A0"/>
                </a:solidFill>
              </a:rPr>
              <a:t>RDDs: Resilient Distributed Datasets</a:t>
            </a:r>
          </a:p>
          <a:p>
            <a:pPr lvl="1">
              <a:buFont typeface="Arial"/>
              <a:buChar char="•"/>
            </a:pPr>
            <a:r>
              <a:rPr lang="en-US" sz="2800" b="1" dirty="0">
                <a:solidFill>
                  <a:schemeClr val="tx1"/>
                </a:solidFill>
              </a:rPr>
              <a:t>Use a SparkContext to READ your data and represent it as an RDD (set of elements)</a:t>
            </a:r>
          </a:p>
          <a:p>
            <a:pPr lvl="1">
              <a:buFont typeface="Arial"/>
              <a:buChar char="•"/>
            </a:pPr>
            <a:r>
              <a:rPr lang="en-US" sz="2800" b="1" dirty="0">
                <a:solidFill>
                  <a:schemeClr val="tx1"/>
                </a:solidFill>
              </a:rPr>
              <a:t>Ideal for unstructured and semi-structured data</a:t>
            </a:r>
          </a:p>
          <a:p>
            <a:pPr>
              <a:buFont typeface="Arial"/>
              <a:buChar char="•"/>
            </a:pPr>
            <a:endParaRPr lang="en-US" sz="3400" b="1" dirty="0">
              <a:solidFill>
                <a:srgbClr val="7030A0"/>
              </a:solidFill>
            </a:endParaRPr>
          </a:p>
          <a:p>
            <a:pPr>
              <a:buFont typeface="Arial"/>
              <a:buChar char="•"/>
            </a:pPr>
            <a:r>
              <a:rPr lang="en-US" sz="3400" b="1" dirty="0" err="1">
                <a:solidFill>
                  <a:srgbClr val="7030A0"/>
                </a:solidFill>
              </a:rPr>
              <a:t>DataFrames</a:t>
            </a:r>
            <a:endParaRPr lang="en-US" sz="3000" b="1" dirty="0">
              <a:solidFill>
                <a:srgbClr val="008000"/>
              </a:solidFill>
            </a:endParaRPr>
          </a:p>
          <a:p>
            <a:pPr lvl="1"/>
            <a:r>
              <a:rPr lang="en-US" sz="2600" b="1" dirty="0">
                <a:solidFill>
                  <a:schemeClr val="tx1"/>
                </a:solidFill>
              </a:rPr>
              <a:t> Use a SparkSession to READ your data and represent it as a </a:t>
            </a:r>
            <a:r>
              <a:rPr lang="en-US" sz="2600" b="1" dirty="0" err="1">
                <a:solidFill>
                  <a:schemeClr val="tx1"/>
                </a:solidFill>
              </a:rPr>
              <a:t>DataFrame</a:t>
            </a:r>
            <a:r>
              <a:rPr lang="en-US" sz="2600" b="1" dirty="0">
                <a:solidFill>
                  <a:schemeClr val="tx1"/>
                </a:solidFill>
              </a:rPr>
              <a:t> (a table of rows and named columns)</a:t>
            </a:r>
          </a:p>
          <a:p>
            <a:pPr lvl="1"/>
            <a:r>
              <a:rPr lang="en-US" sz="2400" b="1" dirty="0">
                <a:solidFill>
                  <a:schemeClr val="tx1"/>
                </a:solidFill>
              </a:rPr>
              <a:t>Ideal for structured and semi-structured data</a:t>
            </a:r>
          </a:p>
          <a:p>
            <a:pPr marL="342900" lvl="1" indent="0">
              <a:buNone/>
            </a:pPr>
            <a:endParaRPr lang="en-US" sz="2600" b="1" dirty="0">
              <a:solidFill>
                <a:schemeClr val="tx1"/>
              </a:solidFill>
            </a:endParaRPr>
          </a:p>
          <a:p>
            <a:pPr>
              <a:buFont typeface="Arial"/>
              <a:buChar char="•"/>
            </a:pPr>
            <a:endParaRPr lang="en-US" sz="2800" b="1" dirty="0">
              <a:solidFill>
                <a:srgbClr val="008000"/>
              </a:solidFill>
            </a:endParaRPr>
          </a:p>
        </p:txBody>
      </p:sp>
      <p:pic>
        <p:nvPicPr>
          <p:cNvPr id="4" name="Picture 3" descr="spark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52400"/>
            <a:ext cx="22098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437926"/>
      </p:ext>
    </p:extLst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462" y="228600"/>
            <a:ext cx="8601075" cy="609600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Data Abstractions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183" y="914400"/>
            <a:ext cx="8595360" cy="5392955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en-US" sz="3200" b="1" dirty="0">
                <a:solidFill>
                  <a:srgbClr val="7030A0"/>
                </a:solidFill>
              </a:rPr>
              <a:t>RDDs: Resilient Distributed Datasets</a:t>
            </a:r>
          </a:p>
          <a:p>
            <a:pPr lvl="1">
              <a:buFont typeface="Arial"/>
              <a:buChar char="•"/>
            </a:pPr>
            <a:r>
              <a:rPr lang="en-US" sz="2600" dirty="0"/>
              <a:t>Immutable (read-only, avoid synchronization)</a:t>
            </a:r>
          </a:p>
          <a:p>
            <a:pPr lvl="1">
              <a:buFont typeface="Arial"/>
              <a:buChar char="•"/>
            </a:pPr>
            <a:r>
              <a:rPr lang="en-US" sz="2600" dirty="0"/>
              <a:t>Partitioned collection of objects</a:t>
            </a:r>
          </a:p>
          <a:p>
            <a:pPr lvl="1">
              <a:buFont typeface="Arial"/>
              <a:buChar char="•"/>
            </a:pPr>
            <a:r>
              <a:rPr lang="en-US" sz="2600" dirty="0"/>
              <a:t>Partitioned for distributed and parallel processing</a:t>
            </a:r>
          </a:p>
          <a:p>
            <a:pPr lvl="1">
              <a:buFont typeface="Arial"/>
              <a:buChar char="•"/>
            </a:pPr>
            <a:r>
              <a:rPr lang="en-US" sz="2600" dirty="0"/>
              <a:t>Low-level API</a:t>
            </a:r>
          </a:p>
          <a:p>
            <a:pPr>
              <a:buFont typeface="Arial"/>
              <a:buChar char="•"/>
            </a:pPr>
            <a:r>
              <a:rPr lang="en-US" sz="3200" b="1" dirty="0">
                <a:solidFill>
                  <a:srgbClr val="7030A0"/>
                </a:solidFill>
              </a:rPr>
              <a:t>DataFrames</a:t>
            </a:r>
          </a:p>
          <a:p>
            <a:pPr lvl="1">
              <a:buFont typeface="Arial"/>
              <a:buChar char="•"/>
            </a:pPr>
            <a:r>
              <a:rPr lang="en-US" sz="2600" dirty="0"/>
              <a:t>A table of named columns</a:t>
            </a:r>
          </a:p>
          <a:p>
            <a:pPr lvl="1">
              <a:buFont typeface="Arial"/>
              <a:buChar char="•"/>
            </a:pPr>
            <a:r>
              <a:rPr lang="en-US" sz="2600" dirty="0"/>
              <a:t>Partitioned for distributed and parallel processing</a:t>
            </a:r>
          </a:p>
          <a:p>
            <a:pPr lvl="1">
              <a:buFont typeface="Arial"/>
              <a:buChar char="•"/>
            </a:pPr>
            <a:r>
              <a:rPr lang="en-US" sz="2600" dirty="0"/>
              <a:t>High-Level API</a:t>
            </a:r>
          </a:p>
          <a:p>
            <a:pPr lvl="1">
              <a:buFont typeface="Arial"/>
              <a:buChar char="•"/>
            </a:pPr>
            <a:endParaRPr lang="en-US" sz="2800" dirty="0">
              <a:solidFill>
                <a:srgbClr val="008000"/>
              </a:solidFill>
            </a:endParaRPr>
          </a:p>
        </p:txBody>
      </p:sp>
      <p:pic>
        <p:nvPicPr>
          <p:cNvPr id="4" name="Picture 3" descr="spark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152400"/>
            <a:ext cx="22098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443424"/>
      </p:ext>
    </p:extLst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462" y="228600"/>
            <a:ext cx="8601075" cy="609600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Data Abstractions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183" y="914400"/>
            <a:ext cx="8595360" cy="5392955"/>
          </a:xfrm>
        </p:spPr>
        <p:txBody>
          <a:bodyPr>
            <a:normAutofit/>
          </a:bodyPr>
          <a:lstStyle/>
          <a:p>
            <a:pPr>
              <a:buFont typeface="Arial"/>
              <a:buChar char="•"/>
            </a:pPr>
            <a:r>
              <a:rPr lang="en-US" sz="3200" b="1" dirty="0">
                <a:solidFill>
                  <a:srgbClr val="7030A0"/>
                </a:solidFill>
              </a:rPr>
              <a:t>RDDs: Resilient Distributed Datasets</a:t>
            </a:r>
          </a:p>
          <a:p>
            <a:pPr lvl="1">
              <a:buFont typeface="Arial"/>
              <a:buChar char="•"/>
            </a:pPr>
            <a:r>
              <a:rPr lang="en-US" sz="2600" b="1" u="sng" dirty="0"/>
              <a:t>Example: keep records longer than 80 characters</a:t>
            </a:r>
          </a:p>
          <a:p>
            <a:pPr marL="800100" lvl="2" indent="0">
              <a:buNone/>
            </a:pPr>
            <a:r>
              <a:rPr lang="en-US" sz="2400" dirty="0">
                <a:solidFill>
                  <a:srgbClr val="008000"/>
                </a:solidFill>
                <a:latin typeface="Courier" pitchFamily="2" charset="0"/>
              </a:rPr>
              <a:t># </a:t>
            </a:r>
            <a:r>
              <a:rPr lang="en-US" sz="2400" dirty="0" err="1">
                <a:solidFill>
                  <a:srgbClr val="008000"/>
                </a:solidFill>
                <a:latin typeface="Courier" pitchFamily="2" charset="0"/>
              </a:rPr>
              <a:t>sc</a:t>
            </a:r>
            <a:r>
              <a:rPr lang="en-US" sz="2400" dirty="0">
                <a:solidFill>
                  <a:srgbClr val="008000"/>
                </a:solidFill>
                <a:latin typeface="Courier" pitchFamily="2" charset="0"/>
              </a:rPr>
              <a:t>: SparkContext</a:t>
            </a:r>
          </a:p>
          <a:p>
            <a:pPr marL="800100" lvl="2" indent="0">
              <a:buNone/>
            </a:pPr>
            <a:r>
              <a:rPr lang="en-US" sz="2400" dirty="0">
                <a:solidFill>
                  <a:srgbClr val="008000"/>
                </a:solidFill>
                <a:latin typeface="Courier" pitchFamily="2" charset="0"/>
              </a:rPr>
              <a:t># READ input and represent it as an RDD</a:t>
            </a:r>
          </a:p>
          <a:p>
            <a:pPr marL="800100" lvl="2" indent="0">
              <a:buNone/>
            </a:pPr>
            <a:r>
              <a:rPr lang="en-US" sz="2400" dirty="0" err="1">
                <a:solidFill>
                  <a:srgbClr val="008000"/>
                </a:solidFill>
                <a:latin typeface="Courier" pitchFamily="2" charset="0"/>
              </a:rPr>
              <a:t>rdd</a:t>
            </a:r>
            <a:r>
              <a:rPr lang="en-US" sz="2400" dirty="0">
                <a:solidFill>
                  <a:srgbClr val="008000"/>
                </a:solidFill>
                <a:latin typeface="Courier" pitchFamily="2" charset="0"/>
              </a:rPr>
              <a:t> = </a:t>
            </a:r>
            <a:r>
              <a:rPr lang="en-US" sz="2400" dirty="0" err="1">
                <a:solidFill>
                  <a:srgbClr val="008000"/>
                </a:solidFill>
                <a:latin typeface="Courier" pitchFamily="2" charset="0"/>
              </a:rPr>
              <a:t>sc.textFile</a:t>
            </a:r>
            <a:r>
              <a:rPr lang="en-US" sz="2400" dirty="0">
                <a:solidFill>
                  <a:srgbClr val="008000"/>
                </a:solidFill>
                <a:latin typeface="Courier" pitchFamily="2" charset="0"/>
              </a:rPr>
              <a:t>(“/</a:t>
            </a:r>
            <a:r>
              <a:rPr lang="en-US" sz="2400" dirty="0" err="1">
                <a:solidFill>
                  <a:srgbClr val="008000"/>
                </a:solidFill>
                <a:latin typeface="Courier" pitchFamily="2" charset="0"/>
              </a:rPr>
              <a:t>tmp</a:t>
            </a:r>
            <a:r>
              <a:rPr lang="en-US" sz="2400" dirty="0">
                <a:solidFill>
                  <a:srgbClr val="008000"/>
                </a:solidFill>
                <a:latin typeface="Courier" pitchFamily="2" charset="0"/>
              </a:rPr>
              <a:t>/</a:t>
            </a:r>
            <a:r>
              <a:rPr lang="en-US" sz="2400" dirty="0" err="1">
                <a:solidFill>
                  <a:srgbClr val="008000"/>
                </a:solidFill>
                <a:latin typeface="Courier" pitchFamily="2" charset="0"/>
              </a:rPr>
              <a:t>samples.txt</a:t>
            </a:r>
            <a:r>
              <a:rPr lang="en-US" sz="2400" dirty="0">
                <a:solidFill>
                  <a:srgbClr val="008000"/>
                </a:solidFill>
                <a:latin typeface="Courier" pitchFamily="2" charset="0"/>
              </a:rPr>
              <a:t>”)</a:t>
            </a:r>
          </a:p>
          <a:p>
            <a:pPr marL="800100" lvl="2" indent="0">
              <a:buNone/>
            </a:pPr>
            <a:r>
              <a:rPr lang="en-US" sz="2400" dirty="0">
                <a:solidFill>
                  <a:srgbClr val="008000"/>
                </a:solidFill>
                <a:latin typeface="Courier" pitchFamily="2" charset="0"/>
              </a:rPr>
              <a:t># </a:t>
            </a:r>
            <a:r>
              <a:rPr lang="en-US" sz="2400" dirty="0" err="1">
                <a:solidFill>
                  <a:srgbClr val="008000"/>
                </a:solidFill>
                <a:latin typeface="Courier" pitchFamily="2" charset="0"/>
              </a:rPr>
              <a:t>rdd</a:t>
            </a:r>
            <a:r>
              <a:rPr lang="en-US" sz="2400" dirty="0">
                <a:solidFill>
                  <a:srgbClr val="008000"/>
                </a:solidFill>
                <a:latin typeface="Courier" pitchFamily="2" charset="0"/>
              </a:rPr>
              <a:t> : source RDD as RDD[String]</a:t>
            </a:r>
          </a:p>
          <a:p>
            <a:pPr marL="800100" lvl="2" indent="0">
              <a:buNone/>
            </a:pPr>
            <a:r>
              <a:rPr lang="en-US" sz="2400" dirty="0">
                <a:solidFill>
                  <a:srgbClr val="008000"/>
                </a:solidFill>
                <a:latin typeface="Courier" pitchFamily="2" charset="0"/>
              </a:rPr>
              <a:t># </a:t>
            </a:r>
            <a:r>
              <a:rPr lang="en-US" sz="2400" dirty="0">
                <a:solidFill>
                  <a:schemeClr val="tx1"/>
                </a:solidFill>
                <a:latin typeface="Courier" pitchFamily="2" charset="0"/>
              </a:rPr>
              <a:t>RDD[String] means that every</a:t>
            </a:r>
          </a:p>
          <a:p>
            <a:pPr marL="800100" lvl="2" indent="0">
              <a:buNone/>
            </a:pPr>
            <a:r>
              <a:rPr lang="en-US" sz="2400" dirty="0">
                <a:solidFill>
                  <a:srgbClr val="008000"/>
                </a:solidFill>
                <a:latin typeface="Courier" pitchFamily="2" charset="0"/>
              </a:rPr>
              <a:t># </a:t>
            </a:r>
            <a:r>
              <a:rPr lang="en-US" sz="2400" dirty="0">
                <a:solidFill>
                  <a:schemeClr val="tx1"/>
                </a:solidFill>
                <a:latin typeface="Courier" pitchFamily="2" charset="0"/>
              </a:rPr>
              <a:t>element is a String object</a:t>
            </a:r>
          </a:p>
          <a:p>
            <a:pPr marL="800100" lvl="2" indent="0">
              <a:buNone/>
            </a:pPr>
            <a:r>
              <a:rPr lang="en-US" sz="2400" dirty="0">
                <a:solidFill>
                  <a:srgbClr val="008000"/>
                </a:solidFill>
                <a:latin typeface="Courier" pitchFamily="2" charset="0"/>
              </a:rPr>
              <a:t># filter() is a </a:t>
            </a:r>
            <a:r>
              <a:rPr lang="en-US" sz="2400" b="1" dirty="0">
                <a:solidFill>
                  <a:srgbClr val="008000"/>
                </a:solidFill>
                <a:latin typeface="Courier" pitchFamily="2" charset="0"/>
              </a:rPr>
              <a:t>transformation</a:t>
            </a:r>
          </a:p>
          <a:p>
            <a:pPr marL="800100" lvl="2" indent="0">
              <a:buNone/>
            </a:pPr>
            <a:r>
              <a:rPr lang="en-US" sz="2400" dirty="0">
                <a:solidFill>
                  <a:srgbClr val="008000"/>
                </a:solidFill>
                <a:latin typeface="Courier" pitchFamily="2" charset="0"/>
              </a:rPr>
              <a:t># x refers to an element of </a:t>
            </a:r>
            <a:r>
              <a:rPr lang="en-US" sz="2400" dirty="0" err="1">
                <a:solidFill>
                  <a:srgbClr val="008000"/>
                </a:solidFill>
                <a:latin typeface="Courier" pitchFamily="2" charset="0"/>
              </a:rPr>
              <a:t>rdd</a:t>
            </a:r>
            <a:endParaRPr lang="en-US" sz="2400" dirty="0">
              <a:solidFill>
                <a:srgbClr val="008000"/>
              </a:solidFill>
              <a:latin typeface="Courier" pitchFamily="2" charset="0"/>
            </a:endParaRPr>
          </a:p>
          <a:p>
            <a:pPr marL="800100" lvl="2" indent="0">
              <a:buNone/>
            </a:pPr>
            <a:r>
              <a:rPr lang="en-US" sz="2400" dirty="0">
                <a:solidFill>
                  <a:srgbClr val="0070C0"/>
                </a:solidFill>
                <a:latin typeface="Courier" pitchFamily="2" charset="0"/>
              </a:rPr>
              <a:t>rdd2 = </a:t>
            </a:r>
            <a:r>
              <a:rPr lang="en-US" sz="2400" dirty="0" err="1">
                <a:solidFill>
                  <a:srgbClr val="0070C0"/>
                </a:solidFill>
                <a:latin typeface="Courier" pitchFamily="2" charset="0"/>
              </a:rPr>
              <a:t>rdd.</a:t>
            </a:r>
            <a:r>
              <a:rPr lang="en-US" sz="2400" b="1" dirty="0" err="1">
                <a:solidFill>
                  <a:srgbClr val="0070C0"/>
                </a:solidFill>
                <a:latin typeface="Courier" pitchFamily="2" charset="0"/>
              </a:rPr>
              <a:t>filter</a:t>
            </a:r>
            <a:r>
              <a:rPr lang="en-US" sz="2400" dirty="0">
                <a:solidFill>
                  <a:srgbClr val="0070C0"/>
                </a:solidFill>
                <a:latin typeface="Courier" pitchFamily="2" charset="0"/>
              </a:rPr>
              <a:t>(lambda x: </a:t>
            </a:r>
            <a:r>
              <a:rPr lang="en-US" sz="2400" dirty="0" err="1">
                <a:solidFill>
                  <a:srgbClr val="0070C0"/>
                </a:solidFill>
                <a:latin typeface="Courier" pitchFamily="2" charset="0"/>
              </a:rPr>
              <a:t>len</a:t>
            </a:r>
            <a:r>
              <a:rPr lang="en-US" sz="2400" dirty="0">
                <a:solidFill>
                  <a:srgbClr val="0070C0"/>
                </a:solidFill>
                <a:latin typeface="Courier" pitchFamily="2" charset="0"/>
              </a:rPr>
              <a:t>(x) &gt; 80)</a:t>
            </a:r>
          </a:p>
          <a:p>
            <a:pPr marL="800100" lvl="2" indent="0">
              <a:buNone/>
            </a:pPr>
            <a:r>
              <a:rPr lang="en-US" sz="2400" dirty="0">
                <a:solidFill>
                  <a:srgbClr val="008000"/>
                </a:solidFill>
                <a:latin typeface="Courier" pitchFamily="2" charset="0"/>
              </a:rPr>
              <a:t># rdd2: target RDD as RDD[String]</a:t>
            </a:r>
          </a:p>
        </p:txBody>
      </p:sp>
      <p:pic>
        <p:nvPicPr>
          <p:cNvPr id="4" name="Picture 3" descr="spark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152400"/>
            <a:ext cx="22098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023142"/>
      </p:ext>
    </p:extLst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462" y="228600"/>
            <a:ext cx="8601075" cy="609600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Data Abstractions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183" y="914400"/>
            <a:ext cx="8595360" cy="5392955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en-US" sz="3200" b="1" dirty="0">
                <a:solidFill>
                  <a:srgbClr val="7030A0"/>
                </a:solidFill>
              </a:rPr>
              <a:t>RDDs: Resilient Distributed Datasets</a:t>
            </a:r>
          </a:p>
          <a:p>
            <a:pPr lvl="1">
              <a:buFont typeface="Arial"/>
              <a:buChar char="•"/>
            </a:pPr>
            <a:r>
              <a:rPr lang="en-US" sz="2600" dirty="0"/>
              <a:t>Immutable, partitioned collection of objects</a:t>
            </a:r>
          </a:p>
          <a:p>
            <a:pPr lvl="1">
              <a:buFont typeface="Arial"/>
              <a:buChar char="•"/>
            </a:pPr>
            <a:r>
              <a:rPr lang="en-US" sz="2600" dirty="0"/>
              <a:t>Partitioned for distributed and parallel processing</a:t>
            </a:r>
          </a:p>
          <a:p>
            <a:pPr lvl="1">
              <a:buFont typeface="Arial"/>
              <a:buChar char="•"/>
            </a:pPr>
            <a:r>
              <a:rPr lang="en-US" sz="2600" dirty="0"/>
              <a:t>Low-level API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rgbClr val="008000"/>
                </a:solidFill>
                <a:latin typeface="Courier" pitchFamily="2" charset="0"/>
              </a:rPr>
              <a:t># </a:t>
            </a:r>
            <a:r>
              <a:rPr lang="en-US" sz="2400" dirty="0" err="1">
                <a:solidFill>
                  <a:srgbClr val="008000"/>
                </a:solidFill>
                <a:latin typeface="Courier" pitchFamily="2" charset="0"/>
              </a:rPr>
              <a:t>rdd</a:t>
            </a:r>
            <a:r>
              <a:rPr lang="en-US" sz="2400" dirty="0">
                <a:solidFill>
                  <a:srgbClr val="008000"/>
                </a:solidFill>
                <a:latin typeface="Courier" pitchFamily="2" charset="0"/>
              </a:rPr>
              <a:t> : source RDD as RDD[String]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rgbClr val="008000"/>
                </a:solidFill>
                <a:latin typeface="Courier" pitchFamily="2" charset="0"/>
              </a:rPr>
              <a:t># filter() is a </a:t>
            </a:r>
            <a:r>
              <a:rPr lang="en-US" sz="2400" b="1" dirty="0">
                <a:solidFill>
                  <a:srgbClr val="008000"/>
                </a:solidFill>
                <a:latin typeface="Courier" pitchFamily="2" charset="0"/>
              </a:rPr>
              <a:t>transformation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rgbClr val="0070C0"/>
                </a:solidFill>
                <a:latin typeface="Courier" pitchFamily="2" charset="0"/>
              </a:rPr>
              <a:t>rdd2 = </a:t>
            </a:r>
            <a:r>
              <a:rPr lang="en-US" sz="2400" dirty="0" err="1">
                <a:solidFill>
                  <a:srgbClr val="0070C0"/>
                </a:solidFill>
                <a:latin typeface="Courier" pitchFamily="2" charset="0"/>
              </a:rPr>
              <a:t>rdd.</a:t>
            </a:r>
            <a:r>
              <a:rPr lang="en-US" sz="2400" b="1" dirty="0" err="1">
                <a:solidFill>
                  <a:srgbClr val="0070C0"/>
                </a:solidFill>
                <a:latin typeface="Courier" pitchFamily="2" charset="0"/>
              </a:rPr>
              <a:t>filter</a:t>
            </a:r>
            <a:r>
              <a:rPr lang="en-US" sz="2400" dirty="0">
                <a:solidFill>
                  <a:srgbClr val="0070C0"/>
                </a:solidFill>
                <a:latin typeface="Courier" pitchFamily="2" charset="0"/>
              </a:rPr>
              <a:t>(lambda x: </a:t>
            </a:r>
            <a:r>
              <a:rPr lang="en-US" sz="2400" dirty="0" err="1">
                <a:solidFill>
                  <a:srgbClr val="0070C0"/>
                </a:solidFill>
                <a:latin typeface="Courier" pitchFamily="2" charset="0"/>
              </a:rPr>
              <a:t>len</a:t>
            </a:r>
            <a:r>
              <a:rPr lang="en-US" sz="2400" dirty="0">
                <a:solidFill>
                  <a:srgbClr val="0070C0"/>
                </a:solidFill>
                <a:latin typeface="Courier" pitchFamily="2" charset="0"/>
              </a:rPr>
              <a:t>(x) &gt; 80)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rgbClr val="008000"/>
                </a:solidFill>
                <a:latin typeface="Courier" pitchFamily="2" charset="0"/>
              </a:rPr>
              <a:t># rdd2: target RDD as RDD[String]</a:t>
            </a:r>
          </a:p>
          <a:p>
            <a:pPr marL="457200" lvl="1" indent="0">
              <a:buNone/>
            </a:pPr>
            <a:endParaRPr lang="en-US" sz="2400" dirty="0">
              <a:solidFill>
                <a:srgbClr val="008000"/>
              </a:solidFill>
            </a:endParaRPr>
          </a:p>
          <a:p>
            <a:pPr marL="457200" lvl="1" indent="0">
              <a:buNone/>
            </a:pPr>
            <a:r>
              <a:rPr lang="en-US" sz="2800" dirty="0">
                <a:solidFill>
                  <a:schemeClr val="tx1"/>
                </a:solidFill>
                <a:highlight>
                  <a:srgbClr val="FFB441"/>
                </a:highlight>
              </a:rPr>
              <a:t>Transformation: </a:t>
            </a:r>
            <a:r>
              <a:rPr lang="en-US" sz="2800" dirty="0" err="1">
                <a:solidFill>
                  <a:schemeClr val="tx1"/>
                </a:solidFill>
                <a:highlight>
                  <a:srgbClr val="FFB441"/>
                </a:highlight>
              </a:rPr>
              <a:t>source_RDD</a:t>
            </a:r>
            <a:r>
              <a:rPr lang="en-US" sz="2800" dirty="0">
                <a:solidFill>
                  <a:schemeClr val="tx1"/>
                </a:solidFill>
                <a:highlight>
                  <a:srgbClr val="FFB441"/>
                </a:highlight>
              </a:rPr>
              <a:t> </a:t>
            </a:r>
            <a:r>
              <a:rPr lang="en-US" sz="2800" dirty="0">
                <a:solidFill>
                  <a:schemeClr val="tx1"/>
                </a:solidFill>
                <a:highlight>
                  <a:srgbClr val="FFB441"/>
                </a:highlight>
                <a:sym typeface="Wingdings" pitchFamily="2" charset="2"/>
              </a:rPr>
              <a:t> </a:t>
            </a:r>
            <a:r>
              <a:rPr lang="en-US" sz="2800" dirty="0" err="1">
                <a:solidFill>
                  <a:schemeClr val="tx1"/>
                </a:solidFill>
                <a:highlight>
                  <a:srgbClr val="FFB441"/>
                </a:highlight>
                <a:sym typeface="Wingdings" pitchFamily="2" charset="2"/>
              </a:rPr>
              <a:t>target_RDD</a:t>
            </a:r>
            <a:endParaRPr lang="en-US" sz="2800" dirty="0">
              <a:solidFill>
                <a:schemeClr val="tx1"/>
              </a:solidFill>
              <a:highlight>
                <a:srgbClr val="FFB441"/>
              </a:highlight>
              <a:sym typeface="Wingdings" pitchFamily="2" charset="2"/>
            </a:endParaRPr>
          </a:p>
          <a:p>
            <a:pPr marL="457200" lvl="1" indent="0">
              <a:buNone/>
            </a:pPr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  <a:sym typeface="Wingdings" pitchFamily="2" charset="2"/>
              </a:rPr>
              <a:t>Transformation is a function (such as filter()) which transforms a </a:t>
            </a:r>
            <a:r>
              <a:rPr lang="en-US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source_RDD</a:t>
            </a:r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  <a:sym typeface="Wingdings" pitchFamily="2" charset="2"/>
              </a:rPr>
              <a:t>into a </a:t>
            </a:r>
            <a:r>
              <a:rPr lang="en-US" sz="2800" dirty="0" err="1">
                <a:solidFill>
                  <a:schemeClr val="tx1"/>
                </a:solidFill>
                <a:highlight>
                  <a:srgbClr val="FFFF00"/>
                </a:highlight>
                <a:sym typeface="Wingdings" pitchFamily="2" charset="2"/>
              </a:rPr>
              <a:t>target_RDD</a:t>
            </a:r>
            <a:endParaRPr lang="en-US" sz="28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pic>
        <p:nvPicPr>
          <p:cNvPr id="4" name="Picture 3" descr="spark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140970"/>
            <a:ext cx="22098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703961"/>
      </p:ext>
    </p:extLst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25474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Data Abstractions in</a:t>
            </a:r>
          </a:p>
        </p:txBody>
      </p:sp>
      <p:pic>
        <p:nvPicPr>
          <p:cNvPr id="8" name="Content Placeholder 7" descr="Diagram&#10;&#10;Description automatically generated">
            <a:extLst>
              <a:ext uri="{FF2B5EF4-FFF2-40B4-BE49-F238E27FC236}">
                <a16:creationId xmlns:a16="http://schemas.microsoft.com/office/drawing/2014/main" id="{CC042394-5EA7-494B-8D17-5C8CB9B2C8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83483"/>
            <a:ext cx="7315200" cy="4585648"/>
          </a:xfrm>
        </p:spPr>
      </p:pic>
      <p:pic>
        <p:nvPicPr>
          <p:cNvPr id="4" name="Picture 3" descr="spark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76200"/>
            <a:ext cx="2209800" cy="97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53523"/>
      </p:ext>
    </p:extLst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01674"/>
          </a:xfrm>
        </p:spPr>
        <p:txBody>
          <a:bodyPr/>
          <a:lstStyle/>
          <a:p>
            <a:r>
              <a:rPr lang="en-US" sz="4400" dirty="0">
                <a:solidFill>
                  <a:srgbClr val="0000FF"/>
                </a:solidFill>
              </a:rPr>
              <a:t>RDDs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183" y="1143000"/>
            <a:ext cx="8595360" cy="5164355"/>
          </a:xfrm>
        </p:spPr>
        <p:txBody>
          <a:bodyPr>
            <a:normAutofit/>
          </a:bodyPr>
          <a:lstStyle/>
          <a:p>
            <a:pPr>
              <a:buFont typeface="Arial"/>
              <a:buChar char="•"/>
            </a:pPr>
            <a:r>
              <a:rPr lang="en-US" sz="3200" dirty="0"/>
              <a:t>Resilient Distributed Datasets</a:t>
            </a:r>
          </a:p>
          <a:p>
            <a:pPr lvl="1">
              <a:buFont typeface="Arial"/>
              <a:buChar char="•"/>
            </a:pPr>
            <a:r>
              <a:rPr lang="en-US" sz="2800" dirty="0"/>
              <a:t>Immutable, </a:t>
            </a:r>
          </a:p>
          <a:p>
            <a:pPr lvl="1">
              <a:buFont typeface="Arial"/>
              <a:buChar char="•"/>
            </a:pPr>
            <a:r>
              <a:rPr lang="en-US" sz="2800" dirty="0"/>
              <a:t>Partitioned collection of objects</a:t>
            </a:r>
          </a:p>
          <a:p>
            <a:pPr lvl="1">
              <a:buFont typeface="Arial"/>
              <a:buChar char="•"/>
            </a:pPr>
            <a:r>
              <a:rPr lang="en-US" sz="2400" dirty="0"/>
              <a:t>Basic mechanism for distributed and parallel processing</a:t>
            </a:r>
          </a:p>
          <a:p>
            <a:pPr marL="457200" lvl="1" indent="0">
              <a:buNone/>
            </a:pPr>
            <a:endParaRPr lang="en-US" sz="3000" dirty="0"/>
          </a:p>
          <a:p>
            <a:pPr marL="457200" lvl="1" indent="0">
              <a:buNone/>
            </a:pPr>
            <a:r>
              <a:rPr lang="en-US" sz="3000" u="sng" dirty="0">
                <a:solidFill>
                  <a:schemeClr val="tx1"/>
                </a:solidFill>
              </a:rPr>
              <a:t>RDD Notation:</a:t>
            </a:r>
          </a:p>
          <a:p>
            <a:pPr marL="342900" lvl="1" indent="0">
              <a:buNone/>
            </a:pPr>
            <a:r>
              <a:rPr lang="en-US" sz="200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RDD[T]</a:t>
            </a:r>
            <a:r>
              <a:rPr lang="en-US" sz="2000" dirty="0">
                <a:solidFill>
                  <a:srgbClr val="008000"/>
                </a:solidFill>
                <a:latin typeface="Courier New"/>
                <a:cs typeface="Courier New"/>
              </a:rPr>
              <a:t> means that every element </a:t>
            </a:r>
          </a:p>
          <a:p>
            <a:pPr marL="342900" lvl="1" indent="0">
              <a:buNone/>
            </a:pPr>
            <a:r>
              <a:rPr lang="en-US" sz="2000" dirty="0">
                <a:solidFill>
                  <a:srgbClr val="008000"/>
                </a:solidFill>
                <a:latin typeface="Courier New"/>
                <a:cs typeface="Courier New"/>
              </a:rPr>
              <a:t> of RDD is of data type </a:t>
            </a: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T</a:t>
            </a:r>
          </a:p>
          <a:p>
            <a:pPr lvl="1">
              <a:buFont typeface="Arial"/>
              <a:buChar char="•"/>
            </a:pPr>
            <a:endParaRPr lang="en-US" sz="2000" dirty="0">
              <a:solidFill>
                <a:srgbClr val="008000"/>
              </a:solidFill>
              <a:latin typeface="Courier New"/>
              <a:cs typeface="Courier New"/>
            </a:endParaRPr>
          </a:p>
          <a:p>
            <a:pPr marL="342900" lvl="1" indent="0">
              <a:buNone/>
            </a:pPr>
            <a:r>
              <a:rPr lang="en-US" sz="200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RDD[String] </a:t>
            </a:r>
            <a:r>
              <a:rPr lang="en-US" sz="2000" dirty="0">
                <a:solidFill>
                  <a:srgbClr val="008000"/>
                </a:solidFill>
                <a:latin typeface="Courier New"/>
                <a:cs typeface="Courier New"/>
              </a:rPr>
              <a:t>means that every element </a:t>
            </a:r>
          </a:p>
          <a:p>
            <a:pPr marL="342900" lvl="1" indent="0">
              <a:buNone/>
            </a:pPr>
            <a:r>
              <a:rPr lang="en-US" sz="2000" dirty="0">
                <a:solidFill>
                  <a:srgbClr val="008000"/>
                </a:solidFill>
                <a:latin typeface="Courier New"/>
                <a:cs typeface="Courier New"/>
              </a:rPr>
              <a:t> of RDD is of data type </a:t>
            </a:r>
            <a:r>
              <a:rPr 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String</a:t>
            </a:r>
          </a:p>
        </p:txBody>
      </p:sp>
      <p:pic>
        <p:nvPicPr>
          <p:cNvPr id="4" name="Picture 3" descr="spark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71411"/>
            <a:ext cx="2209800" cy="97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359950"/>
      </p:ext>
    </p:extLst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01674"/>
          </a:xfrm>
        </p:spPr>
        <p:txBody>
          <a:bodyPr/>
          <a:lstStyle/>
          <a:p>
            <a:r>
              <a:rPr lang="en-US" sz="4400" dirty="0">
                <a:solidFill>
                  <a:srgbClr val="0000FF"/>
                </a:solidFill>
              </a:rPr>
              <a:t>RDDs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183" y="1143000"/>
            <a:ext cx="8595360" cy="5164355"/>
          </a:xfrm>
        </p:spPr>
        <p:txBody>
          <a:bodyPr>
            <a:normAutofit/>
          </a:bodyPr>
          <a:lstStyle/>
          <a:p>
            <a:pPr>
              <a:buFont typeface="Arial"/>
              <a:buChar char="•"/>
            </a:pPr>
            <a:r>
              <a:rPr lang="en-US" sz="3200" dirty="0"/>
              <a:t>Resilient Distributed Datasets</a:t>
            </a:r>
          </a:p>
          <a:p>
            <a:pPr lvl="1">
              <a:buFont typeface="Arial"/>
              <a:buChar char="•"/>
            </a:pPr>
            <a:r>
              <a:rPr lang="en-US" sz="2800" dirty="0"/>
              <a:t>Immutable, </a:t>
            </a:r>
          </a:p>
          <a:p>
            <a:pPr lvl="1">
              <a:buFont typeface="Arial"/>
              <a:buChar char="•"/>
            </a:pPr>
            <a:r>
              <a:rPr lang="en-US" sz="2800" dirty="0"/>
              <a:t>Partitioned collection of objects</a:t>
            </a:r>
          </a:p>
          <a:p>
            <a:pPr lvl="1">
              <a:buFont typeface="Arial"/>
              <a:buChar char="•"/>
            </a:pPr>
            <a:r>
              <a:rPr lang="en-US" sz="2400" dirty="0"/>
              <a:t>Basic mechanism for distributed and parallel processing</a:t>
            </a:r>
          </a:p>
          <a:p>
            <a:pPr marL="457200" lvl="1" indent="0">
              <a:buNone/>
            </a:pPr>
            <a:endParaRPr lang="en-US" sz="3000" dirty="0"/>
          </a:p>
          <a:p>
            <a:pPr lvl="1">
              <a:buFont typeface="Arial"/>
              <a:buChar char="•"/>
            </a:pPr>
            <a:r>
              <a:rPr lang="en-US" sz="2000" dirty="0">
                <a:solidFill>
                  <a:srgbClr val="008000"/>
                </a:solidFill>
                <a:latin typeface="Courier New"/>
                <a:cs typeface="Courier New"/>
              </a:rPr>
              <a:t>RDD[String]</a:t>
            </a:r>
          </a:p>
          <a:p>
            <a:pPr lvl="1">
              <a:buFont typeface="Arial"/>
              <a:buChar char="•"/>
            </a:pPr>
            <a:r>
              <a:rPr lang="en-US" sz="2000" dirty="0">
                <a:solidFill>
                  <a:srgbClr val="008000"/>
                </a:solidFill>
                <a:latin typeface="Courier New"/>
                <a:cs typeface="Courier New"/>
              </a:rPr>
              <a:t>RDD[(String, Integer)]</a:t>
            </a:r>
          </a:p>
          <a:p>
            <a:pPr lvl="1">
              <a:buFont typeface="Arial"/>
              <a:buChar char="•"/>
            </a:pPr>
            <a:r>
              <a:rPr lang="en-US" sz="2000" dirty="0">
                <a:solidFill>
                  <a:srgbClr val="008000"/>
                </a:solidFill>
                <a:latin typeface="Courier New"/>
                <a:cs typeface="Courier New"/>
              </a:rPr>
              <a:t>RDD[(String, (Integer, Integer))</a:t>
            </a:r>
          </a:p>
          <a:p>
            <a:pPr lvl="1">
              <a:buFont typeface="Arial"/>
              <a:buChar char="•"/>
            </a:pPr>
            <a:r>
              <a:rPr lang="en-US" sz="2000" dirty="0">
                <a:solidFill>
                  <a:srgbClr val="008000"/>
                </a:solidFill>
                <a:latin typeface="Courier New"/>
                <a:cs typeface="Courier New"/>
              </a:rPr>
              <a:t>RDD[((String, Integer), (Double, Double))]</a:t>
            </a:r>
          </a:p>
          <a:p>
            <a:pPr lvl="1">
              <a:buFont typeface="Arial"/>
              <a:buChar char="•"/>
            </a:pPr>
            <a:r>
              <a:rPr lang="en-US" sz="2000" dirty="0">
                <a:solidFill>
                  <a:srgbClr val="008000"/>
                </a:solidFill>
                <a:latin typeface="Courier New"/>
                <a:cs typeface="Courier New"/>
              </a:rPr>
              <a:t>RDD[(String, String, Integer)]</a:t>
            </a:r>
          </a:p>
          <a:p>
            <a:pPr lvl="1">
              <a:buFont typeface="Arial"/>
              <a:buChar char="•"/>
            </a:pPr>
            <a:r>
              <a:rPr lang="en-US" sz="2000" dirty="0">
                <a:solidFill>
                  <a:srgbClr val="008000"/>
                </a:solidFill>
                <a:latin typeface="Courier New"/>
                <a:cs typeface="Courier New"/>
              </a:rPr>
              <a:t>RDD[(String, Integer, String, Float)]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rgbClr val="008000"/>
                </a:solidFill>
                <a:latin typeface="Courier New"/>
                <a:cs typeface="Courier New"/>
              </a:rPr>
              <a:t>             </a:t>
            </a:r>
            <a:endParaRPr lang="en-US" sz="2800" dirty="0">
              <a:solidFill>
                <a:srgbClr val="008000"/>
              </a:solidFill>
            </a:endParaRPr>
          </a:p>
        </p:txBody>
      </p:sp>
      <p:pic>
        <p:nvPicPr>
          <p:cNvPr id="4" name="Picture 3" descr="spark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71411"/>
            <a:ext cx="2209800" cy="97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106651"/>
      </p:ext>
    </p:extLst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01674"/>
          </a:xfrm>
        </p:spPr>
        <p:txBody>
          <a:bodyPr/>
          <a:lstStyle/>
          <a:p>
            <a:r>
              <a:rPr lang="en-US" sz="4400" dirty="0">
                <a:solidFill>
                  <a:srgbClr val="0000FF"/>
                </a:solidFill>
              </a:rPr>
              <a:t>RDDs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183" y="1143000"/>
            <a:ext cx="8595360" cy="5164355"/>
          </a:xfrm>
        </p:spPr>
        <p:txBody>
          <a:bodyPr>
            <a:normAutofit/>
          </a:bodyPr>
          <a:lstStyle/>
          <a:p>
            <a:r>
              <a:rPr lang="en-US" sz="2200" b="1" dirty="0">
                <a:solidFill>
                  <a:srgbClr val="008000"/>
                </a:solidFill>
                <a:latin typeface="Courier New"/>
                <a:cs typeface="Courier New"/>
              </a:rPr>
              <a:t>RDD[String]</a:t>
            </a:r>
          </a:p>
          <a:p>
            <a:pPr lvl="1"/>
            <a:r>
              <a:rPr lang="en-US" sz="2000" dirty="0">
                <a:solidFill>
                  <a:srgbClr val="008000"/>
                </a:solidFill>
                <a:latin typeface="Courier New"/>
                <a:cs typeface="Courier New"/>
              </a:rPr>
              <a:t> Every element is a String</a:t>
            </a:r>
          </a:p>
          <a:p>
            <a:pPr lvl="1"/>
            <a:endParaRPr lang="en-US" sz="2000" dirty="0">
              <a:solidFill>
                <a:srgbClr val="008000"/>
              </a:solidFill>
              <a:latin typeface="Courier New"/>
              <a:cs typeface="Courier New"/>
            </a:endParaRPr>
          </a:p>
          <a:p>
            <a:r>
              <a:rPr lang="en-US" sz="2200" b="1" dirty="0">
                <a:solidFill>
                  <a:srgbClr val="008000"/>
                </a:solidFill>
                <a:latin typeface="Courier New"/>
                <a:cs typeface="Courier New"/>
              </a:rPr>
              <a:t>RDD[(String, Integer)]</a:t>
            </a:r>
          </a:p>
          <a:p>
            <a:pPr lvl="1"/>
            <a:r>
              <a:rPr lang="en-US" sz="2000" dirty="0">
                <a:solidFill>
                  <a:srgbClr val="008000"/>
                </a:solidFill>
                <a:latin typeface="Courier New"/>
                <a:cs typeface="Courier New"/>
              </a:rPr>
              <a:t> Every element is a tuple of 2 elements</a:t>
            </a:r>
          </a:p>
          <a:p>
            <a:pPr lvl="1"/>
            <a:endParaRPr lang="en-US" sz="2000" dirty="0">
              <a:solidFill>
                <a:srgbClr val="008000"/>
              </a:solidFill>
              <a:latin typeface="Courier New"/>
              <a:cs typeface="Courier New"/>
            </a:endParaRPr>
          </a:p>
          <a:p>
            <a:r>
              <a:rPr lang="en-US" sz="2200" b="1" dirty="0">
                <a:solidFill>
                  <a:srgbClr val="008000"/>
                </a:solidFill>
                <a:latin typeface="Courier New"/>
                <a:cs typeface="Courier New"/>
              </a:rPr>
              <a:t>RDD[(String, (Integer, Integer))</a:t>
            </a:r>
          </a:p>
          <a:p>
            <a:pPr lvl="1"/>
            <a:r>
              <a:rPr lang="en-US" sz="2000" dirty="0">
                <a:solidFill>
                  <a:srgbClr val="008000"/>
                </a:solidFill>
                <a:latin typeface="Courier New"/>
                <a:cs typeface="Courier New"/>
              </a:rPr>
              <a:t> Every element is (K, V) pair</a:t>
            </a:r>
          </a:p>
          <a:p>
            <a:pPr lvl="1"/>
            <a:r>
              <a:rPr lang="en-US" sz="2000" dirty="0">
                <a:solidFill>
                  <a:srgbClr val="008000"/>
                </a:solidFill>
                <a:latin typeface="Courier New"/>
                <a:cs typeface="Courier New"/>
              </a:rPr>
              <a:t> K is String</a:t>
            </a:r>
          </a:p>
          <a:p>
            <a:pPr lvl="1"/>
            <a:r>
              <a:rPr lang="en-US" sz="2000" dirty="0">
                <a:solidFill>
                  <a:srgbClr val="008000"/>
                </a:solidFill>
                <a:latin typeface="Courier New"/>
                <a:cs typeface="Courier New"/>
              </a:rPr>
              <a:t> V is (Integer, Integer)</a:t>
            </a:r>
          </a:p>
          <a:p>
            <a:pPr lvl="1"/>
            <a:endParaRPr lang="en-US" sz="2000" dirty="0">
              <a:solidFill>
                <a:srgbClr val="008000"/>
              </a:solidFill>
              <a:latin typeface="Courier New"/>
              <a:cs typeface="Courier New"/>
            </a:endParaRPr>
          </a:p>
          <a:p>
            <a:r>
              <a:rPr lang="en-US" sz="2200" b="1" dirty="0">
                <a:solidFill>
                  <a:srgbClr val="008000"/>
                </a:solidFill>
                <a:latin typeface="Courier New"/>
                <a:cs typeface="Courier New"/>
              </a:rPr>
              <a:t>RDD[(String, Integer, Integer)]</a:t>
            </a:r>
          </a:p>
          <a:p>
            <a:pPr lvl="1"/>
            <a:r>
              <a:rPr lang="en-US" sz="2000" dirty="0">
                <a:solidFill>
                  <a:srgbClr val="008000"/>
                </a:solidFill>
                <a:latin typeface="Courier New"/>
                <a:cs typeface="Courier New"/>
              </a:rPr>
              <a:t> Every element is a triplet</a:t>
            </a:r>
          </a:p>
          <a:p>
            <a:pPr lvl="1"/>
            <a:endParaRPr lang="en-US" sz="2000" dirty="0">
              <a:solidFill>
                <a:srgbClr val="008000"/>
              </a:solidFill>
              <a:latin typeface="Courier New"/>
              <a:cs typeface="Courier New"/>
            </a:endParaRPr>
          </a:p>
          <a:p>
            <a:pPr lvl="1"/>
            <a:endParaRPr lang="en-US" sz="2000" dirty="0">
              <a:solidFill>
                <a:srgbClr val="008000"/>
              </a:solidFill>
              <a:latin typeface="Courier New"/>
              <a:cs typeface="Courier New"/>
            </a:endParaRPr>
          </a:p>
        </p:txBody>
      </p:sp>
      <p:pic>
        <p:nvPicPr>
          <p:cNvPr id="4" name="Picture 3" descr="spark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71411"/>
            <a:ext cx="2209800" cy="97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50410"/>
      </p:ext>
    </p:extLst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0000FF"/>
                </a:solidFill>
              </a:rPr>
              <a:t>RDDs Examples</a:t>
            </a:r>
          </a:p>
        </p:txBody>
      </p:sp>
      <p:pic>
        <p:nvPicPr>
          <p:cNvPr id="6" name="Content Placeholder 5" descr="Table&#10;&#10;Description automatically generated">
            <a:extLst>
              <a:ext uri="{FF2B5EF4-FFF2-40B4-BE49-F238E27FC236}">
                <a16:creationId xmlns:a16="http://schemas.microsoft.com/office/drawing/2014/main" id="{EB0C7399-9727-C64A-B1A0-23DDA6D4A0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88" y="1371600"/>
            <a:ext cx="7857112" cy="4038600"/>
          </a:xfrm>
        </p:spPr>
      </p:pic>
    </p:spTree>
    <p:extLst>
      <p:ext uri="{BB962C8B-B14F-4D97-AF65-F5344CB8AC3E}">
        <p14:creationId xmlns:p14="http://schemas.microsoft.com/office/powerpoint/2010/main" val="2191445075"/>
      </p:ext>
    </p:extLst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>
                <a:solidFill>
                  <a:srgbClr val="0000FF"/>
                </a:solidFill>
              </a:rPr>
              <a:t>DataFrame</a:t>
            </a:r>
            <a:r>
              <a:rPr lang="en-US" sz="3200" dirty="0">
                <a:solidFill>
                  <a:srgbClr val="0000FF"/>
                </a:solidFill>
              </a:rPr>
              <a:t> Example:  </a:t>
            </a:r>
            <a:r>
              <a:rPr lang="en-US" dirty="0">
                <a:solidFill>
                  <a:srgbClr val="0000FF"/>
                </a:solidFill>
              </a:rPr>
              <a:t>with 4 columns</a:t>
            </a:r>
            <a:br>
              <a:rPr lang="en-US" dirty="0">
                <a:solidFill>
                  <a:srgbClr val="0000FF"/>
                </a:solidFill>
              </a:rPr>
            </a:br>
            <a:r>
              <a:rPr lang="en-US" dirty="0">
                <a:solidFill>
                  <a:srgbClr val="0000FF"/>
                </a:solidFill>
              </a:rPr>
              <a:t>and Billions of rows</a:t>
            </a:r>
            <a:endParaRPr lang="en-US" sz="4400" dirty="0">
              <a:solidFill>
                <a:srgbClr val="0000FF"/>
              </a:solidFill>
            </a:endParaRPr>
          </a:p>
        </p:txBody>
      </p:sp>
      <p:pic>
        <p:nvPicPr>
          <p:cNvPr id="7" name="Content Placeholder 6" descr="Table&#10;&#10;Description automatically generated">
            <a:extLst>
              <a:ext uri="{FF2B5EF4-FFF2-40B4-BE49-F238E27FC236}">
                <a16:creationId xmlns:a16="http://schemas.microsoft.com/office/drawing/2014/main" id="{B19C23B5-7D7E-8B4C-A600-BCA91536C9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00200"/>
            <a:ext cx="7848600" cy="3810000"/>
          </a:xfrm>
        </p:spPr>
      </p:pic>
    </p:spTree>
    <p:extLst>
      <p:ext uri="{BB962C8B-B14F-4D97-AF65-F5344CB8AC3E}">
        <p14:creationId xmlns:p14="http://schemas.microsoft.com/office/powerpoint/2010/main" val="2985145404"/>
      </p:ext>
    </p:extLst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01674"/>
          </a:xfrm>
        </p:spPr>
        <p:txBody>
          <a:bodyPr/>
          <a:lstStyle/>
          <a:p>
            <a:r>
              <a:rPr lang="en-US" sz="4400" dirty="0">
                <a:solidFill>
                  <a:srgbClr val="0000FF"/>
                </a:solidFill>
              </a:rPr>
              <a:t>Operations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183" y="1143000"/>
            <a:ext cx="8595360" cy="5164355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en-US" sz="3200" dirty="0"/>
              <a:t>RDDs support two types of </a:t>
            </a:r>
            <a:r>
              <a:rPr lang="en-US" sz="3200" b="1" dirty="0"/>
              <a:t>operations</a:t>
            </a:r>
          </a:p>
          <a:p>
            <a:pPr marL="342900" lvl="1" indent="0">
              <a:buNone/>
            </a:pPr>
            <a:r>
              <a:rPr lang="en-US" sz="3000" b="1" dirty="0">
                <a:solidFill>
                  <a:srgbClr val="7030A0"/>
                </a:solidFill>
              </a:rPr>
              <a:t>1. Transformations</a:t>
            </a:r>
          </a:p>
          <a:p>
            <a:pPr lvl="2">
              <a:buFont typeface="Arial"/>
              <a:buChar char="•"/>
            </a:pPr>
            <a:r>
              <a:rPr lang="en-US" sz="2800" b="1" dirty="0">
                <a:solidFill>
                  <a:srgbClr val="7030A0"/>
                </a:solidFill>
              </a:rPr>
              <a:t>transformation: RDD </a:t>
            </a:r>
            <a:r>
              <a:rPr lang="en-US" sz="2800" b="1" dirty="0">
                <a:solidFill>
                  <a:srgbClr val="7030A0"/>
                </a:solidFill>
                <a:sym typeface="Wingdings" pitchFamily="2" charset="2"/>
              </a:rPr>
              <a:t> RDD</a:t>
            </a:r>
          </a:p>
          <a:p>
            <a:pPr marL="685800" lvl="2" indent="0">
              <a:buNone/>
            </a:pPr>
            <a:endParaRPr lang="en-US" sz="2800" b="1" dirty="0">
              <a:solidFill>
                <a:srgbClr val="7030A0"/>
              </a:solidFill>
            </a:endParaRPr>
          </a:p>
          <a:p>
            <a:pPr marL="342900" lvl="1" indent="0">
              <a:buNone/>
            </a:pPr>
            <a:r>
              <a:rPr lang="en-US" sz="3000" b="1" dirty="0">
                <a:solidFill>
                  <a:srgbClr val="7030A0"/>
                </a:solidFill>
              </a:rPr>
              <a:t>2. Actions</a:t>
            </a:r>
          </a:p>
          <a:p>
            <a:pPr lvl="2">
              <a:buFont typeface="Arial"/>
              <a:buChar char="•"/>
            </a:pPr>
            <a:r>
              <a:rPr lang="en-US" sz="2800" b="1" dirty="0">
                <a:solidFill>
                  <a:srgbClr val="7030A0"/>
                </a:solidFill>
              </a:rPr>
              <a:t>action: RDD </a:t>
            </a:r>
            <a:r>
              <a:rPr lang="en-US" sz="2800" b="1" dirty="0">
                <a:solidFill>
                  <a:srgbClr val="7030A0"/>
                </a:solidFill>
                <a:sym typeface="Wingdings" pitchFamily="2" charset="2"/>
              </a:rPr>
              <a:t> NON-RDD</a:t>
            </a:r>
            <a:endParaRPr lang="en-US" sz="2800" dirty="0"/>
          </a:p>
          <a:p>
            <a:pPr marL="342900" lvl="1" indent="0">
              <a:buNone/>
            </a:pPr>
            <a:endParaRPr lang="en-US" sz="2800" dirty="0">
              <a:solidFill>
                <a:srgbClr val="008000"/>
              </a:solidFill>
            </a:endParaRPr>
          </a:p>
        </p:txBody>
      </p:sp>
      <p:pic>
        <p:nvPicPr>
          <p:cNvPr id="4" name="Picture 3" descr="spark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92465"/>
            <a:ext cx="2209800" cy="97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253793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01674"/>
          </a:xfrm>
        </p:spPr>
        <p:txBody>
          <a:bodyPr/>
          <a:lstStyle/>
          <a:p>
            <a:r>
              <a:rPr lang="en-US" sz="4400" dirty="0">
                <a:solidFill>
                  <a:srgbClr val="0000FF"/>
                </a:solidFill>
              </a:rPr>
              <a:t>Operations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183" y="1143000"/>
            <a:ext cx="8595360" cy="5164355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en-US" sz="2800" b="1" dirty="0">
                <a:solidFill>
                  <a:srgbClr val="7030A0"/>
                </a:solidFill>
              </a:rPr>
              <a:t>Transformations</a:t>
            </a:r>
            <a:endParaRPr lang="en-US" sz="3600" b="1" dirty="0">
              <a:solidFill>
                <a:srgbClr val="7030A0"/>
              </a:solidFill>
            </a:endParaRPr>
          </a:p>
          <a:p>
            <a:pPr lvl="1">
              <a:buFont typeface="Arial"/>
              <a:buChar char="•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map()</a:t>
            </a:r>
          </a:p>
          <a:p>
            <a:pPr lvl="1">
              <a:buFont typeface="Arial"/>
              <a:buChar char="•"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flatMap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lvl="1">
              <a:buFont typeface="Arial"/>
              <a:buChar char="•"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mapPartitions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lvl="1">
              <a:buFont typeface="Arial"/>
              <a:buChar char="•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filter()</a:t>
            </a:r>
          </a:p>
          <a:p>
            <a:pPr lvl="1">
              <a:buFont typeface="Arial"/>
              <a:buChar char="•"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reduceByKey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lvl="1">
              <a:buFont typeface="Arial"/>
              <a:buChar char="•"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groupByKey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lvl="1">
              <a:buFont typeface="Arial"/>
              <a:buChar char="•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rdd1.join(rdd2)</a:t>
            </a:r>
          </a:p>
          <a:p>
            <a:pPr lvl="1">
              <a:buFont typeface="Arial"/>
              <a:buChar char="•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  <a:p>
            <a:pPr>
              <a:buFont typeface="Arial"/>
              <a:buChar char="•"/>
            </a:pPr>
            <a:r>
              <a:rPr lang="en-US" sz="2800" b="1" dirty="0">
                <a:solidFill>
                  <a:srgbClr val="7030A0"/>
                </a:solidFill>
              </a:rPr>
              <a:t>Actions</a:t>
            </a:r>
          </a:p>
          <a:p>
            <a:pPr lvl="1">
              <a:buFont typeface="Arial"/>
              <a:buChar char="•"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count()</a:t>
            </a:r>
          </a:p>
          <a:p>
            <a:pPr lvl="1">
              <a:buFont typeface="Arial"/>
              <a:buChar char="•"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collect()</a:t>
            </a:r>
          </a:p>
          <a:p>
            <a:pPr lvl="1">
              <a:buFont typeface="Arial"/>
              <a:buChar char="•"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save()</a:t>
            </a:r>
          </a:p>
          <a:p>
            <a:pPr lvl="1">
              <a:buFont typeface="Arial"/>
              <a:buChar char="•"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  <a:p>
            <a:pPr marL="457200" lvl="1" indent="0">
              <a:buNone/>
            </a:pPr>
            <a:endParaRPr lang="en-US" sz="3000" dirty="0"/>
          </a:p>
          <a:p>
            <a:pPr lvl="1">
              <a:buFont typeface="Arial"/>
              <a:buChar char="•"/>
            </a:pPr>
            <a:endParaRPr lang="en-US" sz="2800" dirty="0">
              <a:solidFill>
                <a:srgbClr val="008000"/>
              </a:solidFill>
            </a:endParaRPr>
          </a:p>
        </p:txBody>
      </p:sp>
      <p:pic>
        <p:nvPicPr>
          <p:cNvPr id="4" name="Picture 3" descr="spark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92465"/>
            <a:ext cx="2209800" cy="97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550993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>
            <a:stCxn id="14" idx="2"/>
          </p:cNvCxnSpPr>
          <p:nvPr/>
        </p:nvCxnSpPr>
        <p:spPr>
          <a:xfrm>
            <a:off x="1519106" y="4507003"/>
            <a:ext cx="0" cy="134800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23" idx="3"/>
          </p:cNvCxnSpPr>
          <p:nvPr/>
        </p:nvCxnSpPr>
        <p:spPr>
          <a:xfrm>
            <a:off x="6417738" y="2829484"/>
            <a:ext cx="129819" cy="123519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46331"/>
          </a:xfrm>
        </p:spPr>
        <p:txBody>
          <a:bodyPr/>
          <a:lstStyle/>
          <a:p>
            <a:r>
              <a:rPr lang="en-US" dirty="0"/>
              <a:t>Working With RDDs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08268" y="1961933"/>
            <a:ext cx="2032000" cy="637822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Black"/>
                <a:cs typeface="Avenir Black"/>
              </a:rPr>
              <a:t>RDD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668" y="2144813"/>
            <a:ext cx="2032000" cy="637822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Black"/>
                <a:cs typeface="Avenir Black"/>
              </a:rPr>
              <a:t>RDD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3068" y="2327693"/>
            <a:ext cx="2032000" cy="637822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Black"/>
                <a:cs typeface="Avenir Black"/>
              </a:rPr>
              <a:t>RDD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65468" y="2510573"/>
            <a:ext cx="2032000" cy="637822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Black"/>
                <a:cs typeface="Avenir Black"/>
              </a:rPr>
              <a:t>RDD</a:t>
            </a:r>
          </a:p>
        </p:txBody>
      </p:sp>
      <p:cxnSp>
        <p:nvCxnSpPr>
          <p:cNvPr id="16" name="Curved Connector 15"/>
          <p:cNvCxnSpPr>
            <a:stCxn id="11" idx="2"/>
            <a:endCxn id="8" idx="1"/>
          </p:cNvCxnSpPr>
          <p:nvPr/>
        </p:nvCxnSpPr>
        <p:spPr>
          <a:xfrm rot="5400000" flipH="1">
            <a:off x="2711093" y="1978020"/>
            <a:ext cx="867551" cy="1473200"/>
          </a:xfrm>
          <a:prstGeom prst="curvedConnector4">
            <a:avLst>
              <a:gd name="adj1" fmla="val -96031"/>
              <a:gd name="adj2" fmla="val 164048"/>
            </a:avLst>
          </a:prstGeom>
          <a:ln>
            <a:solidFill>
              <a:srgbClr val="FF66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iamond 13"/>
          <p:cNvSpPr/>
          <p:nvPr/>
        </p:nvSpPr>
        <p:spPr>
          <a:xfrm>
            <a:off x="569339" y="2467833"/>
            <a:ext cx="1899534" cy="2039170"/>
          </a:xfrm>
          <a:prstGeom prst="diamond">
            <a:avLst/>
          </a:prstGeom>
          <a:solidFill>
            <a:schemeClr val="bg1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rIns="9144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venir Black"/>
                <a:cs typeface="Avenir Black"/>
              </a:rPr>
              <a:t>Transformations</a:t>
            </a:r>
          </a:p>
        </p:txBody>
      </p:sp>
      <p:cxnSp>
        <p:nvCxnSpPr>
          <p:cNvPr id="25" name="Curved Connector 24"/>
          <p:cNvCxnSpPr>
            <a:stCxn id="11" idx="3"/>
            <a:endCxn id="27" idx="1"/>
          </p:cNvCxnSpPr>
          <p:nvPr/>
        </p:nvCxnSpPr>
        <p:spPr>
          <a:xfrm flipV="1">
            <a:off x="4897469" y="2827793"/>
            <a:ext cx="2137389" cy="1691"/>
          </a:xfrm>
          <a:prstGeom prst="curvedConnector3">
            <a:avLst/>
          </a:prstGeom>
          <a:ln>
            <a:solidFill>
              <a:srgbClr val="FF66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Diamond 22"/>
          <p:cNvSpPr/>
          <p:nvPr/>
        </p:nvSpPr>
        <p:spPr>
          <a:xfrm>
            <a:off x="5260627" y="2131402"/>
            <a:ext cx="1157111" cy="1396164"/>
          </a:xfrm>
          <a:prstGeom prst="diamond">
            <a:avLst/>
          </a:prstGeom>
          <a:solidFill>
            <a:schemeClr val="bg1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rIns="9144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venir Black"/>
                <a:cs typeface="Avenir Black"/>
              </a:rPr>
              <a:t>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34858" y="2508882"/>
            <a:ext cx="853253" cy="637822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Black"/>
                <a:cs typeface="Avenir Black"/>
              </a:rPr>
              <a:t>Value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1702" y="5855007"/>
            <a:ext cx="6036693" cy="461665"/>
          </a:xfrm>
          <a:prstGeom prst="rect">
            <a:avLst/>
          </a:prstGeom>
          <a:solidFill>
            <a:schemeClr val="bg1"/>
          </a:solidFill>
          <a:ln w="6350" cmpd="sng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tIns="137160" bIns="137160" rtlCol="0">
            <a:spAutoFit/>
          </a:bodyPr>
          <a:lstStyle/>
          <a:p>
            <a:r>
              <a:rPr lang="en-US" sz="1200" dirty="0" err="1">
                <a:solidFill>
                  <a:srgbClr val="262626"/>
                </a:solidFill>
                <a:latin typeface="Menlo-Regular"/>
              </a:rPr>
              <a:t>linesWithSpark</a:t>
            </a:r>
            <a:r>
              <a:rPr lang="en-US" sz="1200" dirty="0">
                <a:solidFill>
                  <a:srgbClr val="262626"/>
                </a:solidFill>
                <a:latin typeface="Menlo-Regular"/>
              </a:rPr>
              <a:t> </a:t>
            </a:r>
            <a:r>
              <a:rPr lang="en-US" sz="1200" b="1" dirty="0">
                <a:solidFill>
                  <a:srgbClr val="0D5F18"/>
                </a:solidFill>
                <a:latin typeface="Menlo-Bold"/>
              </a:rPr>
              <a:t>=</a:t>
            </a:r>
            <a:r>
              <a:rPr lang="en-US" sz="1200" dirty="0">
                <a:solidFill>
                  <a:srgbClr val="262626"/>
                </a:solidFill>
                <a:latin typeface="Menlo-Regular"/>
              </a:rPr>
              <a:t> </a:t>
            </a:r>
            <a:r>
              <a:rPr lang="en-US" sz="1200" dirty="0" err="1">
                <a:solidFill>
                  <a:srgbClr val="262626"/>
                </a:solidFill>
                <a:latin typeface="Menlo-Regular"/>
              </a:rPr>
              <a:t>textFile</a:t>
            </a:r>
            <a:r>
              <a:rPr lang="en-US" sz="1200" dirty="0" err="1">
                <a:solidFill>
                  <a:srgbClr val="535353"/>
                </a:solidFill>
                <a:latin typeface="Menlo-Regular"/>
              </a:rPr>
              <a:t>.</a:t>
            </a:r>
            <a:r>
              <a:rPr lang="en-US" sz="1200" dirty="0" err="1">
                <a:solidFill>
                  <a:srgbClr val="262626"/>
                </a:solidFill>
                <a:latin typeface="Menlo-Regular"/>
              </a:rPr>
              <a:t>filter</a:t>
            </a:r>
            <a:r>
              <a:rPr lang="en-US" sz="1200" dirty="0">
                <a:solidFill>
                  <a:srgbClr val="535353"/>
                </a:solidFill>
                <a:latin typeface="Menlo-Regular"/>
              </a:rPr>
              <a:t>(lambda </a:t>
            </a:r>
            <a:r>
              <a:rPr lang="en-US" sz="1200" dirty="0">
                <a:solidFill>
                  <a:srgbClr val="262626"/>
                </a:solidFill>
                <a:latin typeface="Menlo-Regular"/>
              </a:rPr>
              <a:t>line: </a:t>
            </a:r>
            <a:r>
              <a:rPr lang="en-US" sz="1200" dirty="0">
                <a:solidFill>
                  <a:srgbClr val="325B8E"/>
                </a:solidFill>
                <a:latin typeface="Menlo-Regular"/>
              </a:rPr>
              <a:t>"Spark” in </a:t>
            </a:r>
            <a:r>
              <a:rPr lang="en-US" sz="1200" dirty="0">
                <a:solidFill>
                  <a:srgbClr val="262626"/>
                </a:solidFill>
                <a:latin typeface="Menlo-Regular"/>
              </a:rPr>
              <a:t>line</a:t>
            </a:r>
            <a:r>
              <a:rPr lang="en-US" sz="1200" dirty="0">
                <a:solidFill>
                  <a:srgbClr val="535353"/>
                </a:solidFill>
                <a:latin typeface="Menlo-Regular"/>
              </a:rPr>
              <a:t>)</a:t>
            </a:r>
            <a:endParaRPr lang="en-US" sz="1200" dirty="0">
              <a:solidFill>
                <a:srgbClr val="262626"/>
              </a:solidFill>
              <a:latin typeface="Menlo-Regular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946806" y="4017315"/>
            <a:ext cx="3009429" cy="1200329"/>
          </a:xfrm>
          <a:prstGeom prst="rect">
            <a:avLst/>
          </a:prstGeom>
          <a:solidFill>
            <a:schemeClr val="bg1"/>
          </a:solidFill>
          <a:ln w="6350" cmpd="sng">
            <a:solidFill>
              <a:srgbClr val="00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tIns="137160" bIns="137160" rtlCol="0">
            <a:spAutoFit/>
          </a:bodyPr>
          <a:lstStyle/>
          <a:p>
            <a:r>
              <a:rPr lang="en-US" sz="1200" dirty="0" err="1">
                <a:solidFill>
                  <a:srgbClr val="262626"/>
                </a:solidFill>
                <a:latin typeface="Menlo-Regular"/>
              </a:rPr>
              <a:t>linesWithSpark</a:t>
            </a:r>
            <a:r>
              <a:rPr lang="en-US" sz="1200" dirty="0" err="1">
                <a:solidFill>
                  <a:srgbClr val="535353"/>
                </a:solidFill>
                <a:latin typeface="Menlo-Regular"/>
              </a:rPr>
              <a:t>.</a:t>
            </a:r>
            <a:r>
              <a:rPr lang="en-US" sz="1200" dirty="0" err="1">
                <a:solidFill>
                  <a:srgbClr val="262626"/>
                </a:solidFill>
                <a:latin typeface="Menlo-Regular"/>
              </a:rPr>
              <a:t>count</a:t>
            </a:r>
            <a:r>
              <a:rPr lang="en-US" sz="1200" dirty="0">
                <a:solidFill>
                  <a:srgbClr val="535353"/>
                </a:solidFill>
                <a:latin typeface="Menlo-Regular"/>
              </a:rPr>
              <a:t>()</a:t>
            </a:r>
            <a:endParaRPr lang="en-US" sz="1200" dirty="0">
              <a:solidFill>
                <a:srgbClr val="262626"/>
              </a:solidFill>
              <a:latin typeface="Menlo-Regular"/>
            </a:endParaRPr>
          </a:p>
          <a:p>
            <a:r>
              <a:rPr lang="en-US" sz="1200" dirty="0">
                <a:solidFill>
                  <a:srgbClr val="35915D"/>
                </a:solidFill>
                <a:latin typeface="Menlo-Regular"/>
              </a:rPr>
              <a:t>74</a:t>
            </a:r>
            <a:endParaRPr lang="en-US" sz="1200" dirty="0">
              <a:solidFill>
                <a:srgbClr val="262626"/>
              </a:solidFill>
              <a:latin typeface="Menlo-Regular"/>
            </a:endParaRPr>
          </a:p>
          <a:p>
            <a:endParaRPr lang="en-US" sz="1200" dirty="0">
              <a:solidFill>
                <a:srgbClr val="262626"/>
              </a:solidFill>
              <a:latin typeface="Menlo-Regular"/>
            </a:endParaRPr>
          </a:p>
          <a:p>
            <a:r>
              <a:rPr lang="en-US" sz="1200" dirty="0" err="1">
                <a:solidFill>
                  <a:srgbClr val="262626"/>
                </a:solidFill>
                <a:latin typeface="Menlo-Regular"/>
              </a:rPr>
              <a:t>linesWithSpark</a:t>
            </a:r>
            <a:r>
              <a:rPr lang="en-US" sz="1200" dirty="0" err="1">
                <a:solidFill>
                  <a:srgbClr val="535353"/>
                </a:solidFill>
                <a:latin typeface="Menlo-Regular"/>
              </a:rPr>
              <a:t>.</a:t>
            </a:r>
            <a:r>
              <a:rPr lang="en-US" sz="1200" dirty="0" err="1">
                <a:solidFill>
                  <a:srgbClr val="262626"/>
                </a:solidFill>
                <a:latin typeface="Menlo-Regular"/>
              </a:rPr>
              <a:t>first</a:t>
            </a:r>
            <a:r>
              <a:rPr lang="en-US" sz="1200" dirty="0">
                <a:solidFill>
                  <a:srgbClr val="535353"/>
                </a:solidFill>
                <a:latin typeface="Menlo-Regular"/>
              </a:rPr>
              <a:t>()</a:t>
            </a:r>
            <a:endParaRPr lang="en-US" sz="1200" dirty="0">
              <a:solidFill>
                <a:srgbClr val="262626"/>
              </a:solidFill>
              <a:latin typeface="Menlo-Regular"/>
            </a:endParaRPr>
          </a:p>
          <a:p>
            <a:r>
              <a:rPr lang="en-US" sz="1200" b="1" dirty="0">
                <a:solidFill>
                  <a:srgbClr val="0D5F18"/>
                </a:solidFill>
                <a:latin typeface="Menlo-Bold"/>
              </a:rPr>
              <a:t>#</a:t>
            </a:r>
            <a:r>
              <a:rPr lang="en-US" sz="1200" dirty="0">
                <a:solidFill>
                  <a:srgbClr val="262626"/>
                </a:solidFill>
                <a:latin typeface="Menlo-Regular"/>
              </a:rPr>
              <a:t> </a:t>
            </a:r>
            <a:r>
              <a:rPr lang="en-US" sz="1200" b="1" dirty="0">
                <a:solidFill>
                  <a:srgbClr val="1370A6"/>
                </a:solidFill>
                <a:latin typeface="Menlo-Bold"/>
              </a:rPr>
              <a:t>Apache</a:t>
            </a:r>
            <a:r>
              <a:rPr lang="en-US" sz="1200" dirty="0">
                <a:solidFill>
                  <a:srgbClr val="262626"/>
                </a:solidFill>
                <a:latin typeface="Menlo-Regular"/>
              </a:rPr>
              <a:t> </a:t>
            </a:r>
            <a:r>
              <a:rPr lang="en-US" sz="1200" b="1" dirty="0">
                <a:solidFill>
                  <a:srgbClr val="1370A6"/>
                </a:solidFill>
                <a:latin typeface="Menlo-Bold"/>
              </a:rPr>
              <a:t>Spark</a:t>
            </a:r>
            <a:endParaRPr lang="en-US" sz="1400" dirty="0">
              <a:solidFill>
                <a:srgbClr val="262626"/>
              </a:solidFill>
              <a:latin typeface="Menlo-Regula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897468" y="1354666"/>
            <a:ext cx="3789332" cy="646331"/>
          </a:xfrm>
          <a:prstGeom prst="rect">
            <a:avLst/>
          </a:prstGeom>
          <a:solidFill>
            <a:schemeClr val="bg1"/>
          </a:solidFill>
          <a:ln w="6350" cmpd="sng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tIns="137160" bIns="137160" rtlCol="0">
            <a:spAutoFit/>
          </a:bodyPr>
          <a:lstStyle/>
          <a:p>
            <a:r>
              <a:rPr lang="en-US" sz="1200" dirty="0">
                <a:solidFill>
                  <a:srgbClr val="262626"/>
                </a:solidFill>
                <a:latin typeface="Menlo-Regular"/>
              </a:rPr>
              <a:t># </a:t>
            </a:r>
            <a:r>
              <a:rPr lang="en-US" sz="1200" dirty="0" err="1">
                <a:solidFill>
                  <a:srgbClr val="262626"/>
                </a:solidFill>
                <a:latin typeface="Menlo-Regular"/>
              </a:rPr>
              <a:t>sc</a:t>
            </a:r>
            <a:r>
              <a:rPr lang="en-US" sz="1200" dirty="0">
                <a:solidFill>
                  <a:srgbClr val="262626"/>
                </a:solidFill>
                <a:latin typeface="Menlo-Regular"/>
              </a:rPr>
              <a:t> : SparkContext</a:t>
            </a:r>
          </a:p>
          <a:p>
            <a:r>
              <a:rPr lang="en-US" sz="1200" dirty="0" err="1">
                <a:solidFill>
                  <a:srgbClr val="262626"/>
                </a:solidFill>
                <a:latin typeface="Menlo-Regular"/>
              </a:rPr>
              <a:t>textFile</a:t>
            </a:r>
            <a:r>
              <a:rPr lang="en-US" sz="1200" dirty="0">
                <a:solidFill>
                  <a:srgbClr val="262626"/>
                </a:solidFill>
                <a:latin typeface="Menlo-Regular"/>
              </a:rPr>
              <a:t> </a:t>
            </a:r>
            <a:r>
              <a:rPr lang="en-US" sz="1200" b="1" dirty="0">
                <a:solidFill>
                  <a:srgbClr val="0D5F18"/>
                </a:solidFill>
                <a:latin typeface="Menlo-Bold"/>
              </a:rPr>
              <a:t>=</a:t>
            </a:r>
            <a:r>
              <a:rPr lang="en-US" sz="1200" dirty="0">
                <a:solidFill>
                  <a:srgbClr val="262626"/>
                </a:solidFill>
                <a:latin typeface="Menlo-Regular"/>
              </a:rPr>
              <a:t> </a:t>
            </a:r>
            <a:r>
              <a:rPr lang="en-US" sz="1200" dirty="0" err="1">
                <a:solidFill>
                  <a:srgbClr val="262626"/>
                </a:solidFill>
                <a:latin typeface="Menlo-Regular"/>
              </a:rPr>
              <a:t>sc.textFile</a:t>
            </a:r>
            <a:r>
              <a:rPr lang="en-US" sz="1200" dirty="0">
                <a:solidFill>
                  <a:srgbClr val="535353"/>
                </a:solidFill>
                <a:latin typeface="Menlo-Regular"/>
              </a:rPr>
              <a:t>(</a:t>
            </a:r>
            <a:r>
              <a:rPr lang="en-US" sz="1200" dirty="0">
                <a:solidFill>
                  <a:srgbClr val="325B8E"/>
                </a:solidFill>
                <a:latin typeface="Menlo-Regular"/>
              </a:rPr>
              <a:t>”</a:t>
            </a:r>
            <a:r>
              <a:rPr lang="en-US" sz="1200" dirty="0" err="1">
                <a:solidFill>
                  <a:srgbClr val="325B8E"/>
                </a:solidFill>
                <a:latin typeface="Menlo-Regular"/>
              </a:rPr>
              <a:t>SomeFile.txt</a:t>
            </a:r>
            <a:r>
              <a:rPr lang="en-US" sz="1200" dirty="0">
                <a:solidFill>
                  <a:srgbClr val="325B8E"/>
                </a:solidFill>
                <a:latin typeface="Menlo-Regular"/>
              </a:rPr>
              <a:t>”</a:t>
            </a:r>
            <a:r>
              <a:rPr lang="en-US" sz="1200" dirty="0">
                <a:solidFill>
                  <a:srgbClr val="535353"/>
                </a:solidFill>
                <a:latin typeface="Menlo-Regular"/>
              </a:rPr>
              <a:t>)</a:t>
            </a:r>
            <a:endParaRPr lang="en-US" sz="1200" dirty="0">
              <a:solidFill>
                <a:srgbClr val="262626"/>
              </a:solidFill>
              <a:latin typeface="Menlo-Regular"/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 flipH="1">
            <a:off x="4867188" y="1961933"/>
            <a:ext cx="515558" cy="57920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498765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4" grpId="0" animBg="1"/>
      <p:bldP spid="23" grpId="0" animBg="1"/>
      <p:bldP spid="27" grpId="0" animBg="1"/>
      <p:bldP spid="33" grpId="0" animBg="1"/>
      <p:bldP spid="33" grpId="1" animBg="1"/>
      <p:bldP spid="34" grpId="0" animBg="1"/>
      <p:bldP spid="34" grpId="1" animBg="1"/>
      <p:bldP spid="21" grpId="0" animBg="1"/>
      <p:bldP spid="21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BC2519F-A437-3988-0B66-95663060D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74638"/>
            <a:ext cx="7886700" cy="463562"/>
          </a:xfrm>
        </p:spPr>
        <p:txBody>
          <a:bodyPr>
            <a:normAutofit fontScale="90000"/>
          </a:bodyPr>
          <a:lstStyle/>
          <a:p>
            <a:r>
              <a:rPr lang="en-US" dirty="0"/>
              <a:t>Key Concepts in Spark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5178038" cy="41973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FF6600"/>
                </a:solidFill>
              </a:rPr>
              <a:t>RDDs &amp; DataFrames</a:t>
            </a:r>
          </a:p>
          <a:p>
            <a:r>
              <a:rPr lang="en-US" dirty="0"/>
              <a:t>Collections of objects spread across a cluster, stored in RAM or on Disk</a:t>
            </a:r>
          </a:p>
          <a:p>
            <a:r>
              <a:rPr lang="en-US" dirty="0"/>
              <a:t>Built through parallel transformations</a:t>
            </a:r>
          </a:p>
          <a:p>
            <a:r>
              <a:rPr lang="en-US" dirty="0"/>
              <a:t>Automatically rebuilt on failure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5562600" y="2286000"/>
            <a:ext cx="3350151" cy="41973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FF6600"/>
                </a:solidFill>
              </a:rPr>
              <a:t>Operations</a:t>
            </a:r>
          </a:p>
          <a:p>
            <a:r>
              <a:rPr lang="en-US" dirty="0">
                <a:solidFill>
                  <a:srgbClr val="0070C0"/>
                </a:solidFill>
              </a:rPr>
              <a:t>Transformations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/>
              <a:t>(e.g. map, filter, </a:t>
            </a:r>
            <a:r>
              <a:rPr lang="en-US" dirty="0" err="1"/>
              <a:t>groupBy</a:t>
            </a:r>
            <a:r>
              <a:rPr lang="en-US" dirty="0"/>
              <a:t>)</a:t>
            </a:r>
          </a:p>
          <a:p>
            <a:r>
              <a:rPr lang="en-US" dirty="0">
                <a:solidFill>
                  <a:srgbClr val="0070C0"/>
                </a:solidFill>
              </a:rPr>
              <a:t>Actions</a:t>
            </a:r>
            <a:br>
              <a:rPr lang="en-US" dirty="0"/>
            </a:br>
            <a:r>
              <a:rPr lang="en-US" dirty="0"/>
              <a:t>(e.g. count, collect, save)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985391"/>
            <a:ext cx="740294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Helvetica Neue Light"/>
                <a:cs typeface="Helvetica Neue Light"/>
              </a:rPr>
              <a:t>Write programs in terms of </a:t>
            </a:r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Helvetica Neue Light"/>
                <a:cs typeface="Helvetica Neue Light"/>
              </a:rPr>
              <a:t>transformations</a:t>
            </a: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Helvetica Neue Light"/>
                <a:cs typeface="Helvetica Neue Light"/>
              </a:rPr>
              <a:t> on </a:t>
            </a:r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Helvetica Neue Light"/>
                <a:cs typeface="Helvetica Neue Light"/>
              </a:rPr>
              <a:t>distributed datasets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83249B-E37E-B0C9-2CD8-8B3381715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5E92A-1E01-7944-A861-7A5F229C68C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241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30896"/>
          </a:xfrm>
        </p:spPr>
        <p:txBody>
          <a:bodyPr>
            <a:normAutofit fontScale="90000"/>
          </a:bodyPr>
          <a:lstStyle/>
          <a:p>
            <a:r>
              <a:rPr lang="en-US" sz="4400" dirty="0" err="1">
                <a:solidFill>
                  <a:srgbClr val="0000FF"/>
                </a:solidFill>
              </a:rPr>
              <a:t>DataFrame</a:t>
            </a:r>
            <a:r>
              <a:rPr lang="en-US" sz="4400" dirty="0">
                <a:solidFill>
                  <a:srgbClr val="0000FF"/>
                </a:solidFill>
              </a:rPr>
              <a:t>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183" y="1143000"/>
            <a:ext cx="8595360" cy="5164355"/>
          </a:xfrm>
        </p:spPr>
        <p:txBody>
          <a:bodyPr>
            <a:normAutofit/>
          </a:bodyPr>
          <a:lstStyle/>
          <a:p>
            <a:pPr>
              <a:buFont typeface="Arial"/>
              <a:buChar char="•"/>
            </a:pPr>
            <a:r>
              <a:rPr lang="en-US" sz="2000" b="1" dirty="0"/>
              <a:t>DataFrames evolve Spark’s RDD model, making operations with structured datasets even faster and easier. </a:t>
            </a:r>
          </a:p>
          <a:p>
            <a:pPr>
              <a:buFont typeface="Arial"/>
              <a:buChar char="•"/>
            </a:pPr>
            <a:r>
              <a:rPr lang="en-US" dirty="0">
                <a:latin typeface="Courier New"/>
                <a:cs typeface="Courier New"/>
              </a:rPr>
              <a:t># Constructs a </a:t>
            </a:r>
            <a:r>
              <a:rPr lang="en-US" dirty="0" err="1">
                <a:latin typeface="Courier New"/>
                <a:cs typeface="Courier New"/>
              </a:rPr>
              <a:t>DataFrame</a:t>
            </a:r>
            <a:r>
              <a:rPr lang="en-US" dirty="0">
                <a:latin typeface="Courier New"/>
                <a:cs typeface="Courier New"/>
              </a:rPr>
              <a:t> from a JSON dataset.</a:t>
            </a:r>
          </a:p>
          <a:p>
            <a:pPr marL="0" indent="0">
              <a:buNone/>
            </a:pPr>
            <a:r>
              <a:rPr lang="en-US" b="1" dirty="0">
                <a:latin typeface="Courier New"/>
                <a:cs typeface="Courier New"/>
              </a:rPr>
              <a:t>users = </a:t>
            </a:r>
            <a:r>
              <a:rPr lang="en-US" b="1" dirty="0" err="1">
                <a:latin typeface="Courier New"/>
                <a:cs typeface="Courier New"/>
              </a:rPr>
              <a:t>spark.load</a:t>
            </a:r>
            <a:r>
              <a:rPr lang="en-US" b="1" dirty="0">
                <a:latin typeface="Courier New"/>
                <a:cs typeface="Courier New"/>
              </a:rPr>
              <a:t>("s3n://path/to/</a:t>
            </a:r>
            <a:r>
              <a:rPr lang="en-US" b="1" dirty="0" err="1">
                <a:latin typeface="Courier New"/>
                <a:cs typeface="Courier New"/>
              </a:rPr>
              <a:t>users.json</a:t>
            </a:r>
            <a:r>
              <a:rPr lang="en-US" b="1" dirty="0">
                <a:latin typeface="Courier New"/>
                <a:cs typeface="Courier New"/>
              </a:rPr>
              <a:t>", "json")</a:t>
            </a:r>
          </a:p>
          <a:p>
            <a:pPr>
              <a:buFont typeface="Arial"/>
              <a:buChar char="•"/>
            </a:pPr>
            <a:endParaRPr lang="en-US" dirty="0">
              <a:latin typeface="Courier New"/>
              <a:cs typeface="Courier New"/>
            </a:endParaRPr>
          </a:p>
          <a:p>
            <a:pPr>
              <a:buFont typeface="Arial"/>
              <a:buChar char="•"/>
            </a:pPr>
            <a:r>
              <a:rPr lang="en-US" sz="1800" dirty="0">
                <a:latin typeface="Courier New"/>
                <a:cs typeface="Courier New"/>
              </a:rPr>
              <a:t># Create a new </a:t>
            </a:r>
            <a:r>
              <a:rPr lang="en-US" sz="1800" dirty="0" err="1">
                <a:latin typeface="Courier New"/>
                <a:cs typeface="Courier New"/>
              </a:rPr>
              <a:t>DataFrame</a:t>
            </a:r>
            <a:r>
              <a:rPr lang="en-US" sz="1800" dirty="0">
                <a:latin typeface="Courier New"/>
                <a:cs typeface="Courier New"/>
              </a:rPr>
              <a:t> that contains “young users” only</a:t>
            </a:r>
          </a:p>
          <a:p>
            <a:pPr marL="0" indent="0">
              <a:buNone/>
            </a:pPr>
            <a:r>
              <a:rPr lang="en-US" b="1" dirty="0">
                <a:latin typeface="Courier New"/>
                <a:cs typeface="Courier New"/>
              </a:rPr>
              <a:t>young = </a:t>
            </a:r>
            <a:r>
              <a:rPr lang="en-US" b="1" dirty="0" err="1">
                <a:latin typeface="Courier New"/>
                <a:cs typeface="Courier New"/>
              </a:rPr>
              <a:t>users.filter</a:t>
            </a:r>
            <a:r>
              <a:rPr lang="en-US" b="1" dirty="0">
                <a:latin typeface="Courier New"/>
                <a:cs typeface="Courier New"/>
              </a:rPr>
              <a:t>(</a:t>
            </a:r>
            <a:r>
              <a:rPr lang="en-US" b="1" dirty="0" err="1">
                <a:latin typeface="Courier New"/>
                <a:cs typeface="Courier New"/>
              </a:rPr>
              <a:t>users.age</a:t>
            </a:r>
            <a:r>
              <a:rPr lang="en-US" b="1" dirty="0">
                <a:latin typeface="Courier New"/>
                <a:cs typeface="Courier New"/>
              </a:rPr>
              <a:t> &lt; 21)</a:t>
            </a:r>
          </a:p>
          <a:p>
            <a:pPr>
              <a:buFont typeface="Arial"/>
              <a:buChar char="•"/>
            </a:pPr>
            <a:endParaRPr lang="en-US" dirty="0">
              <a:latin typeface="Courier New"/>
              <a:cs typeface="Courier New"/>
            </a:endParaRPr>
          </a:p>
          <a:p>
            <a:pPr>
              <a:buFont typeface="Arial"/>
              <a:buChar char="•"/>
            </a:pPr>
            <a:r>
              <a:rPr lang="en-US" dirty="0">
                <a:latin typeface="Courier New"/>
                <a:cs typeface="Courier New"/>
              </a:rPr>
              <a:t># Alternatively, using Pandas-like syntax</a:t>
            </a:r>
          </a:p>
          <a:p>
            <a:pPr marL="0" indent="0">
              <a:buNone/>
            </a:pPr>
            <a:r>
              <a:rPr lang="en-US" b="1" dirty="0">
                <a:latin typeface="Courier New"/>
                <a:cs typeface="Courier New"/>
              </a:rPr>
              <a:t>young = users[</a:t>
            </a:r>
            <a:r>
              <a:rPr lang="en-US" b="1" dirty="0" err="1">
                <a:latin typeface="Courier New"/>
                <a:cs typeface="Courier New"/>
              </a:rPr>
              <a:t>users.age</a:t>
            </a:r>
            <a:r>
              <a:rPr lang="en-US" b="1" dirty="0">
                <a:latin typeface="Courier New"/>
                <a:cs typeface="Courier New"/>
              </a:rPr>
              <a:t> &lt; 21]</a:t>
            </a:r>
          </a:p>
          <a:p>
            <a:pPr>
              <a:buFont typeface="Arial"/>
              <a:buChar char="•"/>
            </a:pPr>
            <a:endParaRPr lang="en-US" dirty="0">
              <a:latin typeface="Courier New"/>
              <a:cs typeface="Courier New"/>
            </a:endParaRPr>
          </a:p>
          <a:p>
            <a:pPr>
              <a:buFont typeface="Arial"/>
              <a:buChar char="•"/>
            </a:pPr>
            <a:r>
              <a:rPr lang="en-US" dirty="0">
                <a:latin typeface="Courier New"/>
                <a:cs typeface="Courier New"/>
              </a:rPr>
              <a:t># </a:t>
            </a:r>
            <a:r>
              <a:rPr lang="en-US" dirty="0" err="1">
                <a:latin typeface="Courier New"/>
                <a:cs typeface="Courier New"/>
              </a:rPr>
              <a:t>DataFrame's</a:t>
            </a:r>
            <a:r>
              <a:rPr lang="en-US" dirty="0">
                <a:latin typeface="Courier New"/>
                <a:cs typeface="Courier New"/>
              </a:rPr>
              <a:t> support existing RDD operators</a:t>
            </a:r>
          </a:p>
          <a:p>
            <a:pPr marL="0" indent="0">
              <a:buNone/>
            </a:pPr>
            <a:r>
              <a:rPr lang="en-US" b="1" dirty="0">
                <a:latin typeface="Courier New"/>
                <a:cs typeface="Courier New"/>
              </a:rPr>
              <a:t>print("Young users: " + </a:t>
            </a:r>
            <a:r>
              <a:rPr lang="en-US" b="1" dirty="0" err="1">
                <a:latin typeface="Courier New"/>
                <a:cs typeface="Courier New"/>
              </a:rPr>
              <a:t>young.count</a:t>
            </a:r>
            <a:r>
              <a:rPr lang="en-US" b="1" dirty="0">
                <a:latin typeface="Courier New"/>
                <a:cs typeface="Courier New"/>
              </a:rPr>
              <a:t>())</a:t>
            </a:r>
          </a:p>
          <a:p>
            <a:pPr lvl="1">
              <a:buFont typeface="Arial"/>
              <a:buChar char="•"/>
            </a:pPr>
            <a:endParaRPr lang="en-US" sz="2800" dirty="0">
              <a:solidFill>
                <a:srgbClr val="008000"/>
              </a:solidFill>
            </a:endParaRPr>
          </a:p>
        </p:txBody>
      </p:sp>
      <p:pic>
        <p:nvPicPr>
          <p:cNvPr id="4" name="Picture 3" descr="spark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12063"/>
            <a:ext cx="2209800" cy="97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969748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2800" dirty="0">
                <a:solidFill>
                  <a:srgbClr val="0000FF"/>
                </a:solidFill>
              </a:rPr>
              <a:t>Transformations &amp; Actions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764704"/>
            <a:ext cx="8480623" cy="5733257"/>
          </a:xfrm>
        </p:spPr>
      </p:pic>
    </p:spTree>
    <p:extLst>
      <p:ext uri="{BB962C8B-B14F-4D97-AF65-F5344CB8AC3E}">
        <p14:creationId xmlns:p14="http://schemas.microsoft.com/office/powerpoint/2010/main" val="2821914666"/>
      </p:ext>
    </p:extLst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7304"/>
            <a:ext cx="8229600" cy="719291"/>
          </a:xfrm>
        </p:spPr>
        <p:txBody>
          <a:bodyPr>
            <a:normAutofit/>
          </a:bodyPr>
          <a:lstStyle/>
          <a:p>
            <a:r>
              <a:rPr lang="en-US" sz="4400" dirty="0"/>
              <a:t>Example: </a:t>
            </a:r>
            <a:r>
              <a:rPr lang="en-US" sz="4400" b="0" dirty="0"/>
              <a:t>Log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27984"/>
            <a:ext cx="8229600" cy="1371600"/>
          </a:xfrm>
        </p:spPr>
        <p:txBody>
          <a:bodyPr>
            <a:normAutofit/>
          </a:bodyPr>
          <a:lstStyle/>
          <a:p>
            <a:pPr marL="0" algn="ctr">
              <a:buNone/>
            </a:pPr>
            <a:r>
              <a:rPr lang="en-US" sz="2800" dirty="0">
                <a:solidFill>
                  <a:schemeClr val="bg1">
                    <a:lumMod val="50000"/>
                  </a:schemeClr>
                </a:solidFill>
              </a:rPr>
              <a:t>Load error messages from a log into memory, then interactively search for various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8405" y="2736442"/>
            <a:ext cx="7713432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dirty="0">
                <a:latin typeface="Lucida Console"/>
                <a:cs typeface="Lucida Console"/>
              </a:rPr>
              <a:t>lines = </a:t>
            </a:r>
            <a:r>
              <a:rPr lang="en-US" sz="1400" dirty="0" err="1">
                <a:latin typeface="Lucida Console"/>
                <a:cs typeface="Lucida Console"/>
              </a:rPr>
              <a:t>spark.textFile(</a:t>
            </a:r>
            <a:r>
              <a:rPr lang="en-US" sz="1400" dirty="0" err="1">
                <a:solidFill>
                  <a:srgbClr val="000090"/>
                </a:solidFill>
                <a:latin typeface="Lucida Console"/>
                <a:cs typeface="Lucida Console"/>
              </a:rPr>
              <a:t>“hdfs</a:t>
            </a:r>
            <a:r>
              <a:rPr lang="en-US" sz="1400" dirty="0">
                <a:solidFill>
                  <a:srgbClr val="000090"/>
                </a:solidFill>
                <a:latin typeface="Lucida Console"/>
                <a:cs typeface="Lucida Console"/>
              </a:rPr>
              <a:t>://...”</a:t>
            </a:r>
            <a:r>
              <a:rPr lang="en-US" sz="1400" dirty="0">
                <a:latin typeface="Lucida Console"/>
                <a:cs typeface="Lucida Console"/>
              </a:rPr>
              <a:t>)</a:t>
            </a:r>
          </a:p>
          <a:p>
            <a:pPr>
              <a:spcBef>
                <a:spcPts val="600"/>
              </a:spcBef>
            </a:pPr>
            <a:r>
              <a:rPr lang="en-US" sz="1400" dirty="0">
                <a:latin typeface="Lucida Console"/>
                <a:cs typeface="Lucida Console"/>
              </a:rPr>
              <a:t>errors = </a:t>
            </a:r>
            <a:r>
              <a:rPr lang="en-US" sz="1400" dirty="0" err="1">
                <a:latin typeface="Lucida Console"/>
                <a:cs typeface="Lucida Console"/>
              </a:rPr>
              <a:t>lines.</a:t>
            </a:r>
            <a:r>
              <a:rPr lang="en-US" sz="1400" dirty="0" err="1">
                <a:solidFill>
                  <a:srgbClr val="3366FF"/>
                </a:solidFill>
                <a:latin typeface="Lucida Console"/>
                <a:cs typeface="Lucida Console"/>
              </a:rPr>
              <a:t>filter</a:t>
            </a:r>
            <a:r>
              <a:rPr lang="en-US" sz="1400" dirty="0">
                <a:latin typeface="Lucida Console"/>
                <a:cs typeface="Lucida Console"/>
              </a:rPr>
              <a:t>(</a:t>
            </a:r>
            <a:r>
              <a:rPr lang="en-US" sz="1400" dirty="0">
                <a:solidFill>
                  <a:srgbClr val="FF0080"/>
                </a:solidFill>
                <a:latin typeface="Lucida Console"/>
                <a:cs typeface="Lucida Console"/>
              </a:rPr>
              <a:t>lambda s: “ERROR” in s</a:t>
            </a:r>
            <a:r>
              <a:rPr lang="en-US" sz="1400" dirty="0">
                <a:latin typeface="Lucida Console"/>
                <a:cs typeface="Lucida Console"/>
              </a:rPr>
              <a:t>)</a:t>
            </a:r>
          </a:p>
          <a:p>
            <a:pPr>
              <a:spcBef>
                <a:spcPts val="600"/>
              </a:spcBef>
            </a:pPr>
            <a:r>
              <a:rPr lang="en-US" sz="1400" dirty="0">
                <a:latin typeface="Lucida Console"/>
                <a:cs typeface="Lucida Console"/>
              </a:rPr>
              <a:t>messages = </a:t>
            </a:r>
            <a:r>
              <a:rPr lang="en-US" sz="1400" dirty="0" err="1">
                <a:latin typeface="Lucida Console"/>
                <a:cs typeface="Lucida Console"/>
              </a:rPr>
              <a:t>errors.</a:t>
            </a:r>
            <a:r>
              <a:rPr lang="en-US" sz="1400" dirty="0" err="1">
                <a:solidFill>
                  <a:srgbClr val="3366FF"/>
                </a:solidFill>
                <a:latin typeface="Lucida Console"/>
                <a:cs typeface="Lucida Console"/>
              </a:rPr>
              <a:t>map</a:t>
            </a:r>
            <a:r>
              <a:rPr lang="en-US" sz="1400" dirty="0">
                <a:latin typeface="Lucida Console"/>
                <a:cs typeface="Lucida Console"/>
              </a:rPr>
              <a:t>(</a:t>
            </a:r>
            <a:r>
              <a:rPr lang="en-US" sz="1400" dirty="0">
                <a:solidFill>
                  <a:srgbClr val="FF0080"/>
                </a:solidFill>
                <a:latin typeface="Lucida Console"/>
                <a:cs typeface="Lucida Console"/>
              </a:rPr>
              <a:t>lambda s: </a:t>
            </a:r>
            <a:r>
              <a:rPr lang="en-US" sz="1400" dirty="0" err="1">
                <a:solidFill>
                  <a:srgbClr val="FF0080"/>
                </a:solidFill>
                <a:latin typeface="Lucida Console"/>
                <a:cs typeface="Lucida Console"/>
              </a:rPr>
              <a:t>s.split</a:t>
            </a:r>
            <a:r>
              <a:rPr lang="en-US" sz="1400" dirty="0">
                <a:solidFill>
                  <a:srgbClr val="FF0080"/>
                </a:solidFill>
                <a:latin typeface="Lucida Console"/>
                <a:cs typeface="Lucida Console"/>
              </a:rPr>
              <a:t>(“\t”)[2]</a:t>
            </a:r>
            <a:r>
              <a:rPr lang="en-US" sz="1400" dirty="0">
                <a:latin typeface="Lucida Console"/>
                <a:cs typeface="Lucida Console"/>
              </a:rPr>
              <a:t>)</a:t>
            </a:r>
          </a:p>
          <a:p>
            <a:pPr>
              <a:spcBef>
                <a:spcPts val="600"/>
              </a:spcBef>
            </a:pPr>
            <a:r>
              <a:rPr lang="en-US" sz="1400" dirty="0" err="1">
                <a:latin typeface="Lucida Console"/>
                <a:cs typeface="Lucida Console"/>
              </a:rPr>
              <a:t>messages.</a:t>
            </a:r>
            <a:r>
              <a:rPr lang="en-US" sz="1400" dirty="0" err="1">
                <a:solidFill>
                  <a:srgbClr val="3366FF"/>
                </a:solidFill>
                <a:latin typeface="Lucida Console"/>
                <a:cs typeface="Lucida Console"/>
              </a:rPr>
              <a:t>cache</a:t>
            </a:r>
            <a:r>
              <a:rPr lang="en-US" sz="1400" dirty="0">
                <a:latin typeface="Lucida Console"/>
                <a:cs typeface="Lucida Console"/>
              </a:rPr>
              <a:t>()</a:t>
            </a:r>
          </a:p>
        </p:txBody>
      </p:sp>
      <p:grpSp>
        <p:nvGrpSpPr>
          <p:cNvPr id="68" name="Group 67"/>
          <p:cNvGrpSpPr/>
          <p:nvPr/>
        </p:nvGrpSpPr>
        <p:grpSpPr>
          <a:xfrm>
            <a:off x="5836330" y="2775892"/>
            <a:ext cx="3071090" cy="3851442"/>
            <a:chOff x="5615710" y="2743323"/>
            <a:chExt cx="3071090" cy="3851442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23729" y="3493655"/>
              <a:ext cx="1128236" cy="1128236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58564" y="2743323"/>
              <a:ext cx="1128236" cy="1128236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67600" y="4800600"/>
              <a:ext cx="1128236" cy="1128236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15710" y="5466529"/>
              <a:ext cx="1128236" cy="1128236"/>
            </a:xfrm>
            <a:prstGeom prst="rect">
              <a:avLst/>
            </a:prstGeom>
          </p:spPr>
        </p:pic>
      </p:grpSp>
      <p:sp>
        <p:nvSpPr>
          <p:cNvPr id="19" name="Rectangle 18"/>
          <p:cNvSpPr/>
          <p:nvPr/>
        </p:nvSpPr>
        <p:spPr>
          <a:xfrm>
            <a:off x="7864671" y="3377594"/>
            <a:ext cx="791061" cy="32059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500" dirty="0"/>
              <a:t>Block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46908" y="5427576"/>
            <a:ext cx="819727" cy="32059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500" dirty="0"/>
              <a:t>Block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00985" y="6089255"/>
            <a:ext cx="806782" cy="32059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500" dirty="0"/>
              <a:t>Block 3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6240421" y="3074921"/>
            <a:ext cx="1577109" cy="2375746"/>
            <a:chOff x="6019801" y="3042352"/>
            <a:chExt cx="1577109" cy="2375746"/>
          </a:xfrm>
        </p:grpSpPr>
        <p:cxnSp>
          <p:nvCxnSpPr>
            <p:cNvPr id="28" name="Straight Arrow Connector 27"/>
            <p:cNvCxnSpPr/>
            <p:nvPr/>
          </p:nvCxnSpPr>
          <p:spPr>
            <a:xfrm flipV="1">
              <a:off x="6518519" y="3042352"/>
              <a:ext cx="1078391" cy="600181"/>
            </a:xfrm>
            <a:prstGeom prst="straightConnector1">
              <a:avLst/>
            </a:prstGeom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6415567" y="3665623"/>
              <a:ext cx="1142135" cy="1097665"/>
            </a:xfrm>
            <a:prstGeom prst="straightConnector1">
              <a:avLst/>
            </a:prstGeom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rot="5400000">
              <a:off x="5341447" y="4343977"/>
              <a:ext cx="1752475" cy="395767"/>
            </a:xfrm>
            <a:prstGeom prst="straightConnector1">
              <a:avLst/>
            </a:prstGeom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5859422" y="2740102"/>
            <a:ext cx="2860965" cy="3075342"/>
            <a:chOff x="5638800" y="2707533"/>
            <a:chExt cx="2860965" cy="3075342"/>
          </a:xfrm>
        </p:grpSpPr>
        <p:sp>
          <p:nvSpPr>
            <p:cNvPr id="15" name="Rounded Rectangle 14"/>
            <p:cNvSpPr/>
            <p:nvPr/>
          </p:nvSpPr>
          <p:spPr>
            <a:xfrm>
              <a:off x="7585365" y="2707533"/>
              <a:ext cx="914400" cy="357908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>
              <a:noFill/>
              <a:headEnd type="none" w="med" len="med"/>
              <a:tailEnd type="none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800" dirty="0"/>
                <a:t>Worker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5638800" y="5424967"/>
              <a:ext cx="914400" cy="357908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>
              <a:noFill/>
              <a:headEnd type="none" w="med" len="med"/>
              <a:tailEnd type="none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800" dirty="0"/>
                <a:t>Worker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493956" y="4763289"/>
              <a:ext cx="914400" cy="357908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>
              <a:noFill/>
              <a:headEnd type="none" w="med" len="med"/>
              <a:tailEnd type="none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800" dirty="0"/>
                <a:t>Worker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5946819" y="3452092"/>
              <a:ext cx="914400" cy="357908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noFill/>
              <a:headEnd type="none" w="med" len="med"/>
              <a:tailEnd type="none"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/>
                <a:t>Driver</a:t>
              </a: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578407" y="4555152"/>
            <a:ext cx="6386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400"/>
              </a:spcBef>
            </a:pPr>
            <a:r>
              <a:rPr lang="en-US" sz="1400" dirty="0" err="1">
                <a:latin typeface="Lucida Console"/>
                <a:cs typeface="Lucida Console"/>
              </a:rPr>
              <a:t>messages.</a:t>
            </a:r>
            <a:r>
              <a:rPr lang="en-US" sz="1400" dirty="0" err="1">
                <a:solidFill>
                  <a:srgbClr val="3366FF"/>
                </a:solidFill>
                <a:latin typeface="Lucida Console"/>
                <a:cs typeface="Lucida Console"/>
              </a:rPr>
              <a:t>filter</a:t>
            </a:r>
            <a:r>
              <a:rPr lang="en-US" sz="1400" dirty="0">
                <a:latin typeface="Lucida Console"/>
                <a:cs typeface="Lucida Console"/>
              </a:rPr>
              <a:t>(</a:t>
            </a:r>
            <a:r>
              <a:rPr lang="en-US" sz="1400" dirty="0">
                <a:solidFill>
                  <a:srgbClr val="FF0080"/>
                </a:solidFill>
                <a:latin typeface="Lucida Console"/>
                <a:cs typeface="Lucida Console"/>
              </a:rPr>
              <a:t>lambda s: “</a:t>
            </a:r>
            <a:r>
              <a:rPr lang="en-US" sz="1400" dirty="0" err="1">
                <a:solidFill>
                  <a:srgbClr val="FF0080"/>
                </a:solidFill>
                <a:latin typeface="Lucida Console"/>
                <a:cs typeface="Lucida Console"/>
              </a:rPr>
              <a:t>mysql</a:t>
            </a:r>
            <a:r>
              <a:rPr lang="en-US" sz="1400" dirty="0">
                <a:solidFill>
                  <a:srgbClr val="FF0080"/>
                </a:solidFill>
                <a:latin typeface="Lucida Console"/>
                <a:cs typeface="Lucida Console"/>
              </a:rPr>
              <a:t>” in s</a:t>
            </a:r>
            <a:r>
              <a:rPr lang="en-US" sz="1400" dirty="0">
                <a:latin typeface="Lucida Console"/>
                <a:cs typeface="Lucida Console"/>
              </a:rPr>
              <a:t>).</a:t>
            </a:r>
            <a:r>
              <a:rPr lang="en-US" sz="1400" dirty="0">
                <a:solidFill>
                  <a:srgbClr val="3366FF"/>
                </a:solidFill>
                <a:latin typeface="Lucida Console"/>
                <a:cs typeface="Lucida Console"/>
              </a:rPr>
              <a:t>count</a:t>
            </a:r>
            <a:r>
              <a:rPr lang="en-US" sz="1400" dirty="0">
                <a:latin typeface="Lucida Console"/>
                <a:cs typeface="Lucida Console"/>
              </a:rPr>
              <a:t>()</a:t>
            </a:r>
          </a:p>
        </p:txBody>
      </p:sp>
      <p:cxnSp>
        <p:nvCxnSpPr>
          <p:cNvPr id="49" name="Straight Arrow Connector 48"/>
          <p:cNvCxnSpPr/>
          <p:nvPr/>
        </p:nvCxnSpPr>
        <p:spPr>
          <a:xfrm rot="5400000" flipH="1" flipV="1">
            <a:off x="5526912" y="4489114"/>
            <a:ext cx="1570182" cy="337128"/>
          </a:xfrm>
          <a:prstGeom prst="straightConnector1">
            <a:avLst/>
          </a:prstGeom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rot="10800000">
            <a:off x="6963172" y="3872587"/>
            <a:ext cx="958269" cy="905162"/>
          </a:xfrm>
          <a:prstGeom prst="straightConnector1">
            <a:avLst/>
          </a:prstGeom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rot="10800000" flipV="1">
            <a:off x="6884656" y="2974345"/>
            <a:ext cx="909784" cy="494146"/>
          </a:xfrm>
          <a:prstGeom prst="straightConnector1">
            <a:avLst/>
          </a:prstGeom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78406" y="4879141"/>
            <a:ext cx="6386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400"/>
              </a:spcBef>
            </a:pPr>
            <a:r>
              <a:rPr lang="en-US" sz="1400" dirty="0" err="1">
                <a:latin typeface="Lucida Console"/>
                <a:cs typeface="Lucida Console"/>
              </a:rPr>
              <a:t>messages.</a:t>
            </a:r>
            <a:r>
              <a:rPr lang="en-US" sz="1400" dirty="0" err="1">
                <a:solidFill>
                  <a:srgbClr val="3366FF"/>
                </a:solidFill>
                <a:latin typeface="Lucida Console"/>
                <a:cs typeface="Lucida Console"/>
              </a:rPr>
              <a:t>filter</a:t>
            </a:r>
            <a:r>
              <a:rPr lang="en-US" sz="1400" dirty="0">
                <a:latin typeface="Lucida Console"/>
                <a:cs typeface="Lucida Console"/>
              </a:rPr>
              <a:t>(</a:t>
            </a:r>
            <a:r>
              <a:rPr lang="en-US" sz="1400" dirty="0">
                <a:solidFill>
                  <a:srgbClr val="FF0080"/>
                </a:solidFill>
                <a:latin typeface="Lucida Console"/>
                <a:cs typeface="Lucida Console"/>
              </a:rPr>
              <a:t>lambda s: “</a:t>
            </a:r>
            <a:r>
              <a:rPr lang="en-US" sz="1400" dirty="0" err="1">
                <a:solidFill>
                  <a:srgbClr val="FF0080"/>
                </a:solidFill>
                <a:latin typeface="Lucida Console"/>
                <a:cs typeface="Lucida Console"/>
              </a:rPr>
              <a:t>php</a:t>
            </a:r>
            <a:r>
              <a:rPr lang="en-US" sz="1400" dirty="0">
                <a:solidFill>
                  <a:srgbClr val="FF0080"/>
                </a:solidFill>
                <a:latin typeface="Lucida Console"/>
                <a:cs typeface="Lucida Console"/>
              </a:rPr>
              <a:t>” in s</a:t>
            </a:r>
            <a:r>
              <a:rPr lang="en-US" sz="1400" dirty="0">
                <a:latin typeface="Lucida Console"/>
                <a:cs typeface="Lucida Console"/>
              </a:rPr>
              <a:t>).</a:t>
            </a:r>
            <a:r>
              <a:rPr lang="en-US" sz="1400" dirty="0">
                <a:solidFill>
                  <a:srgbClr val="3366FF"/>
                </a:solidFill>
                <a:latin typeface="Lucida Console"/>
                <a:cs typeface="Lucida Console"/>
              </a:rPr>
              <a:t>count</a:t>
            </a:r>
            <a:r>
              <a:rPr lang="en-US" sz="1400" dirty="0">
                <a:latin typeface="Lucida Console"/>
                <a:cs typeface="Lucida Console"/>
              </a:rPr>
              <a:t>()</a:t>
            </a:r>
            <a:endParaRPr lang="en-US" sz="1400" dirty="0">
              <a:solidFill>
                <a:srgbClr val="3366FF"/>
              </a:solidFill>
              <a:latin typeface="Lucida Console"/>
              <a:cs typeface="Lucida Console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78406" y="5256644"/>
            <a:ext cx="6386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400"/>
              </a:spcBef>
            </a:pPr>
            <a:r>
              <a:rPr lang="en-US" sz="1400" dirty="0">
                <a:latin typeface="Lucida Console"/>
                <a:cs typeface="Lucida Console"/>
              </a:rPr>
              <a:t>. . 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18436" y="3275414"/>
            <a:ext cx="6635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+mn-lt"/>
                <a:cs typeface="Avenir Light"/>
              </a:rPr>
              <a:t>tasks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65603" y="2775768"/>
            <a:ext cx="7889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+mn-lt"/>
                <a:cs typeface="Avenir Light"/>
              </a:rPr>
              <a:t>results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48895" y="2482514"/>
            <a:ext cx="777240" cy="32059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headEnd type="none" w="med" len="med"/>
            <a:tailEnd type="none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500" dirty="0"/>
              <a:t>Cache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4240" y="4555833"/>
            <a:ext cx="777240" cy="32059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headEnd type="none" w="med" len="med"/>
            <a:tailEnd type="none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500" dirty="0"/>
              <a:t>Cache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32350" y="5194298"/>
            <a:ext cx="777240" cy="32059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headEnd type="none" w="med" len="med"/>
            <a:tailEnd type="none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500" dirty="0"/>
              <a:t>Cache 3</a:t>
            </a:r>
          </a:p>
        </p:txBody>
      </p:sp>
      <p:sp>
        <p:nvSpPr>
          <p:cNvPr id="70" name="Rectangular Callout 69"/>
          <p:cNvSpPr/>
          <p:nvPr/>
        </p:nvSpPr>
        <p:spPr>
          <a:xfrm>
            <a:off x="1524879" y="2317814"/>
            <a:ext cx="1256784" cy="311728"/>
          </a:xfrm>
          <a:prstGeom prst="wedgeRectCallout">
            <a:avLst>
              <a:gd name="adj1" fmla="val -77687"/>
              <a:gd name="adj2" fmla="val 131385"/>
            </a:avLst>
          </a:prstGeom>
          <a:solidFill>
            <a:schemeClr val="bg1">
              <a:lumMod val="75000"/>
            </a:schemeClr>
          </a:solidFill>
          <a:ln>
            <a:noFill/>
            <a:headEnd type="none" w="med" len="med"/>
            <a:tailEnd type="none"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6600"/>
                </a:solidFill>
              </a:rPr>
              <a:t>Base RDD</a:t>
            </a:r>
          </a:p>
        </p:txBody>
      </p:sp>
      <p:sp>
        <p:nvSpPr>
          <p:cNvPr id="71" name="Rectangular Callout 70"/>
          <p:cNvSpPr/>
          <p:nvPr/>
        </p:nvSpPr>
        <p:spPr>
          <a:xfrm>
            <a:off x="1792847" y="2355005"/>
            <a:ext cx="1977632" cy="311728"/>
          </a:xfrm>
          <a:prstGeom prst="wedgeRectCallout">
            <a:avLst>
              <a:gd name="adj1" fmla="val -77221"/>
              <a:gd name="adj2" fmla="val 213974"/>
            </a:avLst>
          </a:prstGeom>
          <a:solidFill>
            <a:schemeClr val="bg1">
              <a:lumMod val="75000"/>
            </a:schemeClr>
          </a:solidFill>
          <a:ln>
            <a:noFill/>
            <a:headEnd type="none" w="med" len="med"/>
            <a:tailEnd type="none"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6600"/>
                </a:solidFill>
              </a:rPr>
              <a:t>Transformed RDD</a:t>
            </a:r>
          </a:p>
        </p:txBody>
      </p:sp>
      <p:sp>
        <p:nvSpPr>
          <p:cNvPr id="73" name="Rectangular Callout 72"/>
          <p:cNvSpPr/>
          <p:nvPr/>
        </p:nvSpPr>
        <p:spPr>
          <a:xfrm>
            <a:off x="5980415" y="4419615"/>
            <a:ext cx="1085944" cy="311728"/>
          </a:xfrm>
          <a:prstGeom prst="wedgeRectCallout">
            <a:avLst>
              <a:gd name="adj1" fmla="val -77556"/>
              <a:gd name="adj2" fmla="val 52132"/>
            </a:avLst>
          </a:prstGeom>
          <a:solidFill>
            <a:schemeClr val="bg1">
              <a:lumMod val="75000"/>
            </a:schemeClr>
          </a:solidFill>
          <a:ln>
            <a:noFill/>
            <a:headEnd type="none" w="med" len="med"/>
            <a:tailEnd type="none"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6600"/>
                </a:solidFill>
              </a:rPr>
              <a:t>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79227" y="5461070"/>
            <a:ext cx="3656206" cy="119975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FF6600"/>
                </a:solidFill>
              </a:rPr>
              <a:t>Full-text search of Wikipedia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FF6600"/>
                </a:solidFill>
              </a:rPr>
              <a:t>60GB on 20 EC2 machine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FF6600"/>
                </a:solidFill>
              </a:rPr>
              <a:t>0.5 sec vs. 20s for on-disk</a:t>
            </a:r>
          </a:p>
        </p:txBody>
      </p:sp>
    </p:spTree>
    <p:extLst>
      <p:ext uri="{BB962C8B-B14F-4D97-AF65-F5344CB8AC3E}">
        <p14:creationId xmlns:p14="http://schemas.microsoft.com/office/powerpoint/2010/main" val="1230260006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6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  <p:bldP spid="19" grpId="0" animBg="1"/>
      <p:bldP spid="19" grpId="1" animBg="1"/>
      <p:bldP spid="22" grpId="0" animBg="1"/>
      <p:bldP spid="22" grpId="1" animBg="1"/>
      <p:bldP spid="23" grpId="0" animBg="1"/>
      <p:bldP spid="23" grpId="1" animBg="1"/>
      <p:bldP spid="43" grpId="0" build="allAtOnce"/>
      <p:bldP spid="61" grpId="0" build="allAtOnce"/>
      <p:bldP spid="62" grpId="0" build="allAtOnce"/>
      <p:bldP spid="63" grpId="0"/>
      <p:bldP spid="63" grpId="1"/>
      <p:bldP spid="63" grpId="2"/>
      <p:bldP spid="64" grpId="0"/>
      <p:bldP spid="64" grpId="1"/>
      <p:bldP spid="64" grpId="2"/>
      <p:bldP spid="21" grpId="0" animBg="1"/>
      <p:bldP spid="21" grpId="1" animBg="1"/>
      <p:bldP spid="24" grpId="0" animBg="1"/>
      <p:bldP spid="24" grpId="1" animBg="1"/>
      <p:bldP spid="25" grpId="0" animBg="1"/>
      <p:bldP spid="25" grpId="1" animBg="1"/>
      <p:bldP spid="70" grpId="0" animBg="1"/>
      <p:bldP spid="70" grpId="1" animBg="1"/>
      <p:bldP spid="71" grpId="0" animBg="1"/>
      <p:bldP spid="71" grpId="1" animBg="1"/>
      <p:bldP spid="73" grpId="0" animBg="1"/>
      <p:bldP spid="73" grpId="1" animBg="1"/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462" y="365126"/>
            <a:ext cx="8243888" cy="817847"/>
          </a:xfrm>
        </p:spPr>
        <p:txBody>
          <a:bodyPr/>
          <a:lstStyle/>
          <a:p>
            <a:r>
              <a:rPr lang="en-US" sz="3600" dirty="0">
                <a:solidFill>
                  <a:srgbClr val="0000FF"/>
                </a:solidFill>
              </a:rPr>
              <a:t>Interactive Shell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1462" y="1295400"/>
            <a:ext cx="8034338" cy="4379627"/>
          </a:xfrm>
        </p:spPr>
        <p:txBody>
          <a:bodyPr>
            <a:normAutofit/>
          </a:bodyPr>
          <a:lstStyle/>
          <a:p>
            <a:r>
              <a:rPr lang="en-US" dirty="0"/>
              <a:t>The Fastest Way to Learn Spark and PySpark</a:t>
            </a:r>
          </a:p>
          <a:p>
            <a:r>
              <a:rPr lang="en-US" dirty="0"/>
              <a:t>Available in Python and Scala</a:t>
            </a:r>
          </a:p>
          <a:p>
            <a:pPr lvl="1"/>
            <a:r>
              <a:rPr lang="en-US" dirty="0"/>
              <a:t> </a:t>
            </a:r>
            <a:r>
              <a:rPr lang="en-US" b="1" dirty="0"/>
              <a:t>SPARK_HOME </a:t>
            </a:r>
            <a:r>
              <a:rPr lang="en-US" dirty="0"/>
              <a:t>points to Spark’s installation directory</a:t>
            </a:r>
          </a:p>
          <a:p>
            <a:pPr lvl="1"/>
            <a:r>
              <a:rPr lang="en-US" b="1" dirty="0"/>
              <a:t> Python: PySpark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($SPARK_HOME/bin/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pyspark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dirty="0"/>
              <a:t> Scala: Spark-Shell </a:t>
            </a:r>
          </a:p>
          <a:p>
            <a:r>
              <a:rPr lang="en-US" dirty="0"/>
              <a:t>Runs as an application on an existing Spark Cluster…</a:t>
            </a:r>
          </a:p>
          <a:p>
            <a:r>
              <a:rPr lang="en-US" dirty="0"/>
              <a:t>OR Can run locally</a:t>
            </a:r>
          </a:p>
          <a:p>
            <a:r>
              <a:rPr lang="en-US" dirty="0"/>
              <a:t>Run Spark in your laptop/MacBook/Windows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26888-2EB3-24F5-477B-383C18E81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5E92A-1E01-7944-A861-7A5F229C68C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9385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rgbClr val="0000FF"/>
                </a:solidFill>
              </a:rPr>
              <a:t>Interactive Shell</a:t>
            </a:r>
          </a:p>
        </p:txBody>
      </p:sp>
      <p:pic>
        <p:nvPicPr>
          <p:cNvPr id="5" name="Content Placeholder 4" descr="Text, letter&#10;&#10;Description automatically generated">
            <a:extLst>
              <a:ext uri="{FF2B5EF4-FFF2-40B4-BE49-F238E27FC236}">
                <a16:creationId xmlns:a16="http://schemas.microsoft.com/office/drawing/2014/main" id="{1570501C-8222-6C4D-B5B5-258B2B9E5B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136650"/>
            <a:ext cx="7620000" cy="5007345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F7EE9C-A32C-CB76-743F-4DEF8EFF3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5E92A-1E01-7944-A861-7A5F229C68C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0295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lang="en-US" sz="2800" dirty="0">
                <a:solidFill>
                  <a:srgbClr val="0000FF"/>
                </a:solidFill>
              </a:rPr>
              <a:t>PySpark: interactive shell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idx="1"/>
          </p:nvPr>
        </p:nvSpPr>
        <p:spPr>
          <a:xfrm>
            <a:off x="628650" y="914401"/>
            <a:ext cx="8424672" cy="5622926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dirty="0"/>
              <a:t>Write Spark jobs in Python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Run interactive jobs in the shell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Create the following text file with 3 records: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  <a:latin typeface="Courier" pitchFamily="2" charset="0"/>
              </a:rPr>
              <a:t>$ cat /</a:t>
            </a:r>
            <a:r>
              <a:rPr lang="en-US" b="1" dirty="0" err="1">
                <a:solidFill>
                  <a:srgbClr val="7030A0"/>
                </a:solidFill>
                <a:latin typeface="Courier" pitchFamily="2" charset="0"/>
              </a:rPr>
              <a:t>tmp</a:t>
            </a:r>
            <a:r>
              <a:rPr lang="en-US" b="1" dirty="0">
                <a:solidFill>
                  <a:srgbClr val="7030A0"/>
                </a:solidFill>
                <a:latin typeface="Courier" pitchFamily="2" charset="0"/>
              </a:rPr>
              <a:t>/</a:t>
            </a:r>
            <a:r>
              <a:rPr lang="en-US" b="1" dirty="0" err="1">
                <a:solidFill>
                  <a:srgbClr val="7030A0"/>
                </a:solidFill>
                <a:latin typeface="Courier" pitchFamily="2" charset="0"/>
              </a:rPr>
              <a:t>data.txt</a:t>
            </a:r>
            <a:endParaRPr lang="en-US" b="1" dirty="0">
              <a:solidFill>
                <a:srgbClr val="7030A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  <a:latin typeface="Courier" pitchFamily="2" charset="0"/>
              </a:rPr>
              <a:t>fox jumped high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  <a:latin typeface="Courier" pitchFamily="2" charset="0"/>
              </a:rPr>
              <a:t>fox is crazy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  <a:latin typeface="Courier" pitchFamily="2" charset="0"/>
              </a:rPr>
              <a:t>crazy fox is here</a:t>
            </a:r>
          </a:p>
          <a:p>
            <a:pPr marL="0" indent="0">
              <a:buNone/>
            </a:pPr>
            <a:endParaRPr lang="en-US" sz="12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1050" b="1" dirty="0">
              <a:solidFill>
                <a:srgbClr val="7030A0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69380549"/>
      </p:ext>
    </p:extLst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lang="en-US" sz="2800" dirty="0">
                <a:solidFill>
                  <a:srgbClr val="0000FF"/>
                </a:solidFill>
              </a:rPr>
              <a:t>PySpark: interactive shell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idx="1"/>
          </p:nvPr>
        </p:nvSpPr>
        <p:spPr>
          <a:xfrm>
            <a:off x="628650" y="914401"/>
            <a:ext cx="8424672" cy="5622926"/>
          </a:xfrm>
        </p:spPr>
        <p:txBody>
          <a:bodyPr>
            <a:normAutofit lnSpcReduction="10000"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Write Spark jobs in Python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Run interactive jobs in the shell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7030A0"/>
                </a:solidFill>
                <a:highlight>
                  <a:srgbClr val="00FF00"/>
                </a:highlight>
                <a:latin typeface="Courier" pitchFamily="2" charset="0"/>
              </a:rPr>
              <a:t>$ cat </a:t>
            </a:r>
            <a:r>
              <a:rPr lang="en-US" sz="1050" b="1" dirty="0" err="1">
                <a:solidFill>
                  <a:srgbClr val="7030A0"/>
                </a:solidFill>
                <a:highlight>
                  <a:srgbClr val="00FF00"/>
                </a:highlight>
                <a:latin typeface="Courier" pitchFamily="2" charset="0"/>
              </a:rPr>
              <a:t>data.txt</a:t>
            </a:r>
            <a:endParaRPr lang="en-US" sz="1050" b="1" dirty="0">
              <a:solidFill>
                <a:srgbClr val="7030A0"/>
              </a:solidFill>
              <a:highlight>
                <a:srgbClr val="00FF00"/>
              </a:highlight>
              <a:latin typeface="Courier" pitchFamily="2" charset="0"/>
            </a:endParaRPr>
          </a:p>
          <a:p>
            <a:pPr marL="0" indent="0">
              <a:buNone/>
            </a:pPr>
            <a:r>
              <a:rPr lang="en-US" sz="1050" b="1" dirty="0">
                <a:solidFill>
                  <a:srgbClr val="7030A0"/>
                </a:solidFill>
                <a:highlight>
                  <a:srgbClr val="00FF00"/>
                </a:highlight>
                <a:latin typeface="Courier" pitchFamily="2" charset="0"/>
              </a:rPr>
              <a:t>fox jumped high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7030A0"/>
                </a:solidFill>
                <a:highlight>
                  <a:srgbClr val="00FF00"/>
                </a:highlight>
                <a:latin typeface="Courier" pitchFamily="2" charset="0"/>
              </a:rPr>
              <a:t>fox is crazy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7030A0"/>
                </a:solidFill>
                <a:highlight>
                  <a:srgbClr val="00FF00"/>
                </a:highlight>
                <a:latin typeface="Courier" pitchFamily="2" charset="0"/>
              </a:rPr>
              <a:t>crazy fox is here</a:t>
            </a:r>
          </a:p>
          <a:p>
            <a:pPr marL="0" indent="0">
              <a:buNone/>
            </a:pPr>
            <a:endParaRPr lang="en-US" sz="12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FFB441"/>
                </a:highlight>
                <a:latin typeface="Courier New"/>
                <a:cs typeface="Courier New"/>
              </a:rPr>
              <a:t>$SPARK_HOME/bin/</a:t>
            </a:r>
            <a:r>
              <a:rPr lang="en-US" dirty="0" err="1">
                <a:solidFill>
                  <a:schemeClr val="tx1"/>
                </a:solidFill>
                <a:highlight>
                  <a:srgbClr val="FFB441"/>
                </a:highlight>
                <a:latin typeface="Courier New"/>
                <a:cs typeface="Courier New"/>
              </a:rPr>
              <a:t>pyspark</a:t>
            </a:r>
            <a:endParaRPr lang="en-US" dirty="0">
              <a:solidFill>
                <a:schemeClr val="tx1"/>
              </a:solidFill>
              <a:highlight>
                <a:srgbClr val="FFB441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highlight>
                  <a:srgbClr val="FFFF66"/>
                </a:highlight>
                <a:latin typeface="Courier New"/>
                <a:cs typeface="Courier New"/>
              </a:rPr>
              <a:t>&gt;&gt;&gt; # read input and create a new RDD as </a:t>
            </a:r>
            <a:r>
              <a:rPr lang="en-US" sz="1600" dirty="0" err="1">
                <a:solidFill>
                  <a:schemeClr val="tx1"/>
                </a:solidFill>
                <a:highlight>
                  <a:srgbClr val="FFFF66"/>
                </a:highlight>
                <a:latin typeface="Courier New"/>
                <a:cs typeface="Courier New"/>
              </a:rPr>
              <a:t>rdd</a:t>
            </a:r>
            <a:r>
              <a:rPr lang="en-US" sz="1600" dirty="0">
                <a:solidFill>
                  <a:schemeClr val="tx1"/>
                </a:solidFill>
                <a:highlight>
                  <a:srgbClr val="FFFF66"/>
                </a:highlight>
                <a:latin typeface="Courier New"/>
                <a:cs typeface="Courier New"/>
              </a:rPr>
              <a:t> : RDD[String]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  <a:latin typeface="Courier New"/>
                <a:cs typeface="Courier New"/>
              </a:rPr>
              <a:t>&gt;&gt;&gt; </a:t>
            </a:r>
            <a:r>
              <a:rPr lang="en-US" sz="1600" b="1" dirty="0" err="1">
                <a:solidFill>
                  <a:srgbClr val="7030A0"/>
                </a:solidFill>
                <a:latin typeface="Courier New"/>
                <a:cs typeface="Courier New"/>
              </a:rPr>
              <a:t>rdd</a:t>
            </a:r>
            <a:r>
              <a:rPr lang="en-US" sz="1600" b="1" dirty="0">
                <a:solidFill>
                  <a:srgbClr val="7030A0"/>
                </a:solidFill>
                <a:latin typeface="Courier New"/>
                <a:cs typeface="Courier New"/>
              </a:rPr>
              <a:t> = </a:t>
            </a:r>
            <a:r>
              <a:rPr lang="en-US" sz="1600" b="1" dirty="0" err="1">
                <a:solidFill>
                  <a:srgbClr val="7030A0"/>
                </a:solidFill>
                <a:latin typeface="Courier New"/>
                <a:cs typeface="Courier New"/>
              </a:rPr>
              <a:t>spark.sparkContext.textFile</a:t>
            </a:r>
            <a:r>
              <a:rPr lang="en-US" sz="1600" b="1" dirty="0">
                <a:solidFill>
                  <a:srgbClr val="7030A0"/>
                </a:solidFill>
                <a:latin typeface="Courier New"/>
                <a:cs typeface="Courier New"/>
              </a:rPr>
              <a:t>("/</a:t>
            </a:r>
            <a:r>
              <a:rPr lang="en-US" sz="1600" b="1" dirty="0" err="1">
                <a:solidFill>
                  <a:srgbClr val="7030A0"/>
                </a:solidFill>
                <a:latin typeface="Courier New"/>
                <a:cs typeface="Courier New"/>
              </a:rPr>
              <a:t>tmp</a:t>
            </a:r>
            <a:r>
              <a:rPr lang="en-US" sz="1600" b="1" dirty="0">
                <a:solidFill>
                  <a:srgbClr val="7030A0"/>
                </a:solidFill>
                <a:latin typeface="Courier New"/>
                <a:cs typeface="Courier New"/>
              </a:rPr>
              <a:t>/</a:t>
            </a:r>
            <a:r>
              <a:rPr lang="en-US" sz="1600" b="1" dirty="0" err="1">
                <a:solidFill>
                  <a:srgbClr val="7030A0"/>
                </a:solidFill>
                <a:latin typeface="Courier New"/>
                <a:cs typeface="Courier New"/>
              </a:rPr>
              <a:t>data.txt</a:t>
            </a:r>
            <a:r>
              <a:rPr lang="en-US" sz="1600" b="1" dirty="0">
                <a:solidFill>
                  <a:srgbClr val="7030A0"/>
                </a:solidFill>
                <a:latin typeface="Courier New"/>
                <a:cs typeface="Courier New"/>
              </a:rPr>
              <a:t>")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  <a:latin typeface="Courier New"/>
                <a:cs typeface="Courier New"/>
              </a:rPr>
              <a:t>&gt;&gt;&gt; </a:t>
            </a:r>
            <a:r>
              <a:rPr lang="en-US" sz="1600" b="1" dirty="0" err="1">
                <a:solidFill>
                  <a:srgbClr val="7030A0"/>
                </a:solidFill>
                <a:latin typeface="Courier New"/>
                <a:cs typeface="Courier New"/>
              </a:rPr>
              <a:t>rdd.collect</a:t>
            </a:r>
            <a:r>
              <a:rPr lang="en-US" sz="1600" b="1" dirty="0">
                <a:solidFill>
                  <a:srgbClr val="7030A0"/>
                </a:solidFill>
                <a:latin typeface="Courier New"/>
                <a:cs typeface="Courier New"/>
              </a:rPr>
              <a:t>()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7030A0"/>
                </a:solidFill>
                <a:latin typeface="Courier New"/>
                <a:cs typeface="Courier New"/>
              </a:rPr>
              <a:t>[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7030A0"/>
                </a:solidFill>
                <a:latin typeface="Courier New"/>
                <a:cs typeface="Courier New"/>
              </a:rPr>
              <a:t> 'fox jumped high’, 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7030A0"/>
                </a:solidFill>
                <a:latin typeface="Courier New"/>
                <a:cs typeface="Courier New"/>
              </a:rPr>
              <a:t> 'fox is crazy’,  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7030A0"/>
                </a:solidFill>
                <a:latin typeface="Courier New"/>
                <a:cs typeface="Courier New"/>
              </a:rPr>
              <a:t> 'crazy fox is here’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7030A0"/>
                </a:solidFill>
                <a:latin typeface="Courier New"/>
                <a:cs typeface="Courier New"/>
              </a:rPr>
              <a:t>]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  <a:highlight>
                  <a:srgbClr val="FFFF00"/>
                </a:highlight>
                <a:latin typeface="Courier New"/>
                <a:cs typeface="Courier New"/>
              </a:rPr>
              <a:t>&gt;&gt;&gt; # Count the number of elements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7030A0"/>
                </a:solidFill>
                <a:latin typeface="Courier New"/>
                <a:cs typeface="Courier New"/>
              </a:rPr>
              <a:t>&gt;&gt;&gt; </a:t>
            </a:r>
            <a:r>
              <a:rPr lang="en-US" sz="1200" b="1" dirty="0" err="1">
                <a:solidFill>
                  <a:srgbClr val="7030A0"/>
                </a:solidFill>
                <a:latin typeface="Courier New"/>
                <a:cs typeface="Courier New"/>
              </a:rPr>
              <a:t>rdd.count</a:t>
            </a:r>
            <a:r>
              <a:rPr lang="en-US" sz="1200" b="1" dirty="0">
                <a:solidFill>
                  <a:srgbClr val="7030A0"/>
                </a:solidFill>
                <a:latin typeface="Courier New"/>
                <a:cs typeface="Courier New"/>
              </a:rPr>
              <a:t>()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7030A0"/>
                </a:solidFill>
                <a:latin typeface="Courier New"/>
                <a:cs typeface="Courier New"/>
              </a:rPr>
              <a:t>3</a:t>
            </a:r>
            <a:endParaRPr lang="en-US" sz="1050" b="1" dirty="0">
              <a:solidFill>
                <a:srgbClr val="7030A0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330770528"/>
      </p:ext>
    </p:extLst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SparkContext (</a:t>
            </a:r>
            <a:r>
              <a:rPr lang="en-US" sz="5400" dirty="0" err="1">
                <a:solidFill>
                  <a:srgbClr val="FF6600"/>
                </a:solidFill>
              </a:rPr>
              <a:t>sc</a:t>
            </a:r>
            <a:r>
              <a:rPr lang="en-US" sz="40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Main entry point to Spark functionality</a:t>
            </a:r>
          </a:p>
          <a:p>
            <a:r>
              <a:rPr lang="en-US" sz="3200" dirty="0"/>
              <a:t>Available in shell as variable </a:t>
            </a:r>
            <a:r>
              <a:rPr lang="en-US" sz="6000" dirty="0" err="1">
                <a:solidFill>
                  <a:srgbClr val="FF6600"/>
                </a:solidFill>
                <a:latin typeface="Lucida Console"/>
                <a:cs typeface="Lucida Console"/>
              </a:rPr>
              <a:t>sc</a:t>
            </a:r>
            <a:endParaRPr lang="en-US" sz="6000" dirty="0">
              <a:solidFill>
                <a:srgbClr val="FF6600"/>
              </a:solidFill>
              <a:latin typeface="Lucida Console"/>
              <a:cs typeface="Lucida Console"/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0070C0"/>
                </a:solidFill>
                <a:latin typeface="Lucida Console"/>
                <a:cs typeface="Lucida Console"/>
              </a:rPr>
              <a:t># use </a:t>
            </a:r>
            <a:r>
              <a:rPr lang="en-US" sz="3200" dirty="0" err="1">
                <a:solidFill>
                  <a:srgbClr val="0070C0"/>
                </a:solidFill>
                <a:latin typeface="Lucida Console"/>
                <a:cs typeface="Lucida Console"/>
              </a:rPr>
              <a:t>sc</a:t>
            </a:r>
            <a:r>
              <a:rPr lang="en-US" sz="3200" dirty="0">
                <a:solidFill>
                  <a:srgbClr val="0070C0"/>
                </a:solidFill>
                <a:latin typeface="Lucida Console"/>
                <a:cs typeface="Lucida Console"/>
              </a:rPr>
              <a:t> for RDDs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70C0"/>
                </a:solidFill>
                <a:latin typeface="Lucida Console"/>
                <a:cs typeface="Lucida Console"/>
              </a:rPr>
              <a:t># </a:t>
            </a:r>
            <a:r>
              <a:rPr lang="en-US" sz="3200" dirty="0">
                <a:solidFill>
                  <a:srgbClr val="C00000"/>
                </a:solidFill>
                <a:latin typeface="Lucida Console"/>
                <a:cs typeface="Lucida Console"/>
              </a:rPr>
              <a:t>spark</a:t>
            </a:r>
            <a:r>
              <a:rPr lang="en-US" sz="3200" dirty="0">
                <a:solidFill>
                  <a:srgbClr val="0070C0"/>
                </a:solidFill>
                <a:latin typeface="Lucida Console"/>
                <a:cs typeface="Lucida Console"/>
              </a:rPr>
              <a:t> : SparkSession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70C0"/>
                </a:solidFill>
                <a:latin typeface="Lucida Console"/>
                <a:cs typeface="Lucida Console"/>
              </a:rPr>
              <a:t># </a:t>
            </a:r>
            <a:r>
              <a:rPr lang="en-US" sz="3200" dirty="0" err="1">
                <a:solidFill>
                  <a:srgbClr val="0070C0"/>
                </a:solidFill>
                <a:latin typeface="Lucida Console"/>
                <a:cs typeface="Lucida Console"/>
              </a:rPr>
              <a:t>sc</a:t>
            </a:r>
            <a:r>
              <a:rPr lang="en-US" sz="3200" dirty="0">
                <a:solidFill>
                  <a:srgbClr val="0070C0"/>
                </a:solidFill>
                <a:latin typeface="Lucida Console"/>
                <a:cs typeface="Lucida Console"/>
              </a:rPr>
              <a:t> : SparkContext</a:t>
            </a:r>
          </a:p>
          <a:p>
            <a:pPr marL="0" indent="0">
              <a:buNone/>
            </a:pPr>
            <a:r>
              <a:rPr lang="en-US" sz="3200" dirty="0" err="1">
                <a:solidFill>
                  <a:srgbClr val="0070C0"/>
                </a:solidFill>
                <a:latin typeface="Lucida Console"/>
                <a:cs typeface="Lucida Console"/>
              </a:rPr>
              <a:t>sc</a:t>
            </a:r>
            <a:r>
              <a:rPr lang="en-US" sz="3200" dirty="0">
                <a:solidFill>
                  <a:srgbClr val="0070C0"/>
                </a:solidFill>
                <a:latin typeface="Lucida Console"/>
                <a:cs typeface="Lucida Console"/>
              </a:rPr>
              <a:t> = </a:t>
            </a:r>
            <a:r>
              <a:rPr lang="en-US" sz="3200" dirty="0" err="1">
                <a:solidFill>
                  <a:srgbClr val="C00000"/>
                </a:solidFill>
                <a:latin typeface="Lucida Console"/>
                <a:cs typeface="Lucida Console"/>
              </a:rPr>
              <a:t>spark</a:t>
            </a:r>
            <a:r>
              <a:rPr lang="en-US" sz="3200" dirty="0" err="1">
                <a:solidFill>
                  <a:srgbClr val="0070C0"/>
                </a:solidFill>
                <a:latin typeface="Lucida Console"/>
                <a:cs typeface="Lucida Console"/>
              </a:rPr>
              <a:t>.sparkContext</a:t>
            </a:r>
            <a:endParaRPr lang="en-US" sz="3200" dirty="0">
              <a:solidFill>
                <a:srgbClr val="0070C0"/>
              </a:solidFill>
              <a:latin typeface="Lucida Console"/>
              <a:cs typeface="Lucida Console"/>
            </a:endParaRPr>
          </a:p>
        </p:txBody>
      </p:sp>
    </p:spTree>
    <p:extLst>
      <p:ext uri="{BB962C8B-B14F-4D97-AF65-F5344CB8AC3E}">
        <p14:creationId xmlns:p14="http://schemas.microsoft.com/office/powerpoint/2010/main" val="2375864082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77874"/>
          </a:xfrm>
        </p:spPr>
        <p:txBody>
          <a:bodyPr/>
          <a:lstStyle/>
          <a:p>
            <a:r>
              <a:rPr lang="en-US" sz="4000" dirty="0"/>
              <a:t>Creating RDDs from 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93380"/>
            <a:ext cx="8520745" cy="4221162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rgbClr val="008040"/>
                </a:solidFill>
                <a:latin typeface="Lucida Console"/>
                <a:cs typeface="Lucida Console"/>
              </a:rPr>
              <a:t># </a:t>
            </a:r>
            <a:r>
              <a:rPr lang="en-US" sz="2400" dirty="0" err="1">
                <a:solidFill>
                  <a:srgbClr val="008040"/>
                </a:solidFill>
                <a:latin typeface="Lucida Console"/>
                <a:cs typeface="Lucida Console"/>
              </a:rPr>
              <a:t>sc</a:t>
            </a:r>
            <a:r>
              <a:rPr lang="en-US" sz="2400" dirty="0">
                <a:solidFill>
                  <a:srgbClr val="008040"/>
                </a:solidFill>
                <a:latin typeface="Lucida Console"/>
                <a:cs typeface="Lucida Console"/>
              </a:rPr>
              <a:t> : </a:t>
            </a:r>
            <a:r>
              <a:rPr lang="en-US" sz="2400" dirty="0" err="1">
                <a:solidFill>
                  <a:srgbClr val="008040"/>
                </a:solidFill>
                <a:latin typeface="Lucida Console"/>
                <a:cs typeface="Lucida Console"/>
              </a:rPr>
              <a:t>SparKContext</a:t>
            </a:r>
            <a:endParaRPr lang="en-US" sz="2400" dirty="0">
              <a:solidFill>
                <a:srgbClr val="008040"/>
              </a:solidFill>
              <a:latin typeface="Lucida Console"/>
              <a:cs typeface="Lucida Console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2400" dirty="0">
              <a:solidFill>
                <a:srgbClr val="008040"/>
              </a:solidFill>
              <a:latin typeface="Lucida Console"/>
              <a:cs typeface="Lucida Console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rgbClr val="008040"/>
                </a:solidFill>
                <a:latin typeface="Lucida Console"/>
                <a:cs typeface="Lucida Console"/>
              </a:rPr>
              <a:t># Turn a Python collection into an RDD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chemeClr val="tx1"/>
                </a:solidFill>
                <a:highlight>
                  <a:srgbClr val="FFFF00"/>
                </a:highlight>
                <a:latin typeface="Lucida Console"/>
                <a:cs typeface="Lucida Console"/>
              </a:rPr>
              <a:t># </a:t>
            </a:r>
            <a:r>
              <a:rPr lang="en-US" sz="2400" dirty="0" err="1">
                <a:solidFill>
                  <a:schemeClr val="tx1"/>
                </a:solidFill>
                <a:highlight>
                  <a:srgbClr val="FFFF00"/>
                </a:highlight>
                <a:latin typeface="Lucida Console"/>
                <a:cs typeface="Lucida Console"/>
              </a:rPr>
              <a:t>nums_rdd</a:t>
            </a:r>
            <a:r>
              <a:rPr lang="en-US" sz="2400" dirty="0">
                <a:solidFill>
                  <a:schemeClr val="tx1"/>
                </a:solidFill>
                <a:highlight>
                  <a:srgbClr val="FFFF00"/>
                </a:highlight>
                <a:latin typeface="Lucida Console"/>
                <a:cs typeface="Lucida Console"/>
              </a:rPr>
              <a:t> : RDD[Integer]</a:t>
            </a: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400" dirty="0" err="1">
                <a:latin typeface="Lucida Console"/>
                <a:cs typeface="Lucida Console"/>
              </a:rPr>
              <a:t>nums_rdd</a:t>
            </a:r>
            <a:r>
              <a:rPr lang="en-US" sz="2400" dirty="0">
                <a:latin typeface="Lucida Console"/>
                <a:cs typeface="Lucida Console"/>
              </a:rPr>
              <a:t> = </a:t>
            </a:r>
            <a:r>
              <a:rPr lang="en-US" sz="2400" dirty="0" err="1">
                <a:latin typeface="Lucida Console"/>
                <a:cs typeface="Lucida Console"/>
              </a:rPr>
              <a:t>sc.parallelize</a:t>
            </a:r>
            <a:r>
              <a:rPr lang="en-US" sz="2400" dirty="0">
                <a:latin typeface="Lucida Console"/>
                <a:cs typeface="Lucida Console"/>
              </a:rPr>
              <a:t>([1, 2, 3])</a:t>
            </a:r>
          </a:p>
          <a:p>
            <a:pPr>
              <a:spcBef>
                <a:spcPts val="0"/>
              </a:spcBef>
              <a:buClr>
                <a:schemeClr val="bg1">
                  <a:lumMod val="75000"/>
                </a:schemeClr>
              </a:buClr>
              <a:buFont typeface="Lucida Grande"/>
              <a:buChar char="&gt;"/>
            </a:pPr>
            <a:endParaRPr lang="en-US" sz="2400" dirty="0">
              <a:latin typeface="Lucida Console"/>
              <a:cs typeface="Lucida Console"/>
            </a:endParaRP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400" dirty="0">
                <a:solidFill>
                  <a:srgbClr val="00B050"/>
                </a:solidFill>
                <a:latin typeface="Lucida Console"/>
                <a:cs typeface="Lucida Console"/>
              </a:rPr>
              <a:t># Turn (key, value) pairs into an RDD</a:t>
            </a: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400" dirty="0">
                <a:latin typeface="Lucida Console"/>
                <a:cs typeface="Lucida Console"/>
              </a:rPr>
              <a:t>pairs = [(‘A’, 2), (‘A’, 3), (‘B’, 4)]</a:t>
            </a: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400" dirty="0">
                <a:highlight>
                  <a:srgbClr val="FFFF00"/>
                </a:highlight>
                <a:latin typeface="Lucida Console"/>
                <a:cs typeface="Lucida Console"/>
              </a:rPr>
              <a:t># </a:t>
            </a:r>
            <a:r>
              <a:rPr lang="en-US" sz="2400" dirty="0" err="1">
                <a:highlight>
                  <a:srgbClr val="FFFF00"/>
                </a:highlight>
                <a:latin typeface="Lucida Console"/>
                <a:cs typeface="Lucida Console"/>
              </a:rPr>
              <a:t>rdd</a:t>
            </a:r>
            <a:r>
              <a:rPr lang="en-US" sz="2400" dirty="0">
                <a:highlight>
                  <a:srgbClr val="FFFF00"/>
                </a:highlight>
                <a:latin typeface="Lucida Console"/>
                <a:cs typeface="Lucida Console"/>
              </a:rPr>
              <a:t> : RDD[(String, Integer)]</a:t>
            </a: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400" dirty="0" err="1">
                <a:latin typeface="Lucida Console"/>
                <a:cs typeface="Lucida Console"/>
              </a:rPr>
              <a:t>rdd</a:t>
            </a:r>
            <a:r>
              <a:rPr lang="en-US" sz="2400" dirty="0">
                <a:latin typeface="Lucida Console"/>
                <a:cs typeface="Lucida Console"/>
              </a:rPr>
              <a:t> = </a:t>
            </a:r>
            <a:r>
              <a:rPr lang="en-US" sz="2400" dirty="0" err="1">
                <a:latin typeface="Lucida Console"/>
                <a:cs typeface="Lucida Console"/>
              </a:rPr>
              <a:t>sc.parallelize</a:t>
            </a:r>
            <a:r>
              <a:rPr lang="en-US" sz="2400" dirty="0">
                <a:latin typeface="Lucida Console"/>
                <a:cs typeface="Lucida Console"/>
              </a:rPr>
              <a:t>(pairs)</a:t>
            </a: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endParaRPr lang="en-US" sz="2100" dirty="0">
              <a:latin typeface="Lucida Console"/>
              <a:cs typeface="Lucida Console"/>
            </a:endParaRPr>
          </a:p>
        </p:txBody>
      </p:sp>
    </p:spTree>
    <p:extLst>
      <p:ext uri="{BB962C8B-B14F-4D97-AF65-F5344CB8AC3E}">
        <p14:creationId xmlns:p14="http://schemas.microsoft.com/office/powerpoint/2010/main" val="885306623"/>
      </p:ext>
    </p:extLst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77874"/>
          </a:xfrm>
        </p:spPr>
        <p:txBody>
          <a:bodyPr/>
          <a:lstStyle/>
          <a:p>
            <a:r>
              <a:rPr lang="en-US" sz="4000" dirty="0"/>
              <a:t>Creating RDDs from Text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93380"/>
            <a:ext cx="8520745" cy="4221162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100" dirty="0">
                <a:solidFill>
                  <a:srgbClr val="008040"/>
                </a:solidFill>
                <a:latin typeface="Lucida Console"/>
                <a:cs typeface="Lucida Console"/>
              </a:rPr>
              <a:t># </a:t>
            </a:r>
            <a:r>
              <a:rPr lang="en-US" sz="2100" dirty="0" err="1">
                <a:solidFill>
                  <a:srgbClr val="008040"/>
                </a:solidFill>
                <a:latin typeface="Lucida Console"/>
                <a:cs typeface="Lucida Console"/>
              </a:rPr>
              <a:t>sc</a:t>
            </a:r>
            <a:r>
              <a:rPr lang="en-US" sz="2100" dirty="0">
                <a:solidFill>
                  <a:srgbClr val="008040"/>
                </a:solidFill>
                <a:latin typeface="Lucida Console"/>
                <a:cs typeface="Lucida Console"/>
              </a:rPr>
              <a:t> : SparkContext</a:t>
            </a:r>
            <a:endParaRPr lang="en-US" sz="2100" dirty="0">
              <a:latin typeface="Lucida Console"/>
              <a:cs typeface="Lucida Console"/>
            </a:endParaRPr>
          </a:p>
          <a:p>
            <a:pPr>
              <a:spcBef>
                <a:spcPts val="0"/>
              </a:spcBef>
              <a:buFont typeface="Lucida Grande"/>
              <a:buChar char="&gt;"/>
            </a:pPr>
            <a:endParaRPr lang="en-US" sz="2100" dirty="0">
              <a:latin typeface="Lucida Console"/>
              <a:cs typeface="Lucida Console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100" dirty="0">
                <a:solidFill>
                  <a:srgbClr val="008040"/>
                </a:solidFill>
                <a:latin typeface="Lucida Console"/>
                <a:cs typeface="Lucida Console"/>
              </a:rPr>
              <a:t># Load text file from local FS, HDFS, or S3</a:t>
            </a:r>
          </a:p>
          <a:p>
            <a:pPr marL="0" indent="0">
              <a:spcBef>
                <a:spcPts val="0"/>
              </a:spcBef>
              <a:buNone/>
            </a:pPr>
            <a:endParaRPr lang="en-US" sz="2100" dirty="0">
              <a:solidFill>
                <a:srgbClr val="008040"/>
              </a:solidFill>
              <a:latin typeface="Lucida Console"/>
              <a:cs typeface="Lucida Console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100" dirty="0">
                <a:solidFill>
                  <a:srgbClr val="008040"/>
                </a:solidFill>
                <a:latin typeface="Lucida Console"/>
                <a:cs typeface="Lucida Console"/>
              </a:rPr>
              <a:t># 1. read a single file</a:t>
            </a: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100" dirty="0">
                <a:latin typeface="Lucida Console"/>
                <a:cs typeface="Lucida Console"/>
              </a:rPr>
              <a:t>rdd1 = </a:t>
            </a:r>
            <a:r>
              <a:rPr lang="en-US" sz="2100" dirty="0" err="1">
                <a:latin typeface="Lucida Console"/>
                <a:cs typeface="Lucida Console"/>
              </a:rPr>
              <a:t>sc.textFile</a:t>
            </a:r>
            <a:r>
              <a:rPr lang="en-US" sz="2100" dirty="0">
                <a:latin typeface="Lucida Console"/>
                <a:cs typeface="Lucida Console"/>
              </a:rPr>
              <a:t>(</a:t>
            </a:r>
            <a:r>
              <a:rPr lang="en-US" sz="2100" dirty="0">
                <a:solidFill>
                  <a:srgbClr val="000090"/>
                </a:solidFill>
                <a:latin typeface="Lucida Console"/>
                <a:cs typeface="Lucida Console"/>
              </a:rPr>
              <a:t>“</a:t>
            </a:r>
            <a:r>
              <a:rPr lang="en-US" sz="2100" dirty="0" err="1">
                <a:solidFill>
                  <a:srgbClr val="000090"/>
                </a:solidFill>
                <a:latin typeface="Lucida Console"/>
                <a:cs typeface="Lucida Console"/>
              </a:rPr>
              <a:t>file.txt</a:t>
            </a:r>
            <a:r>
              <a:rPr lang="en-US" sz="2100" dirty="0">
                <a:solidFill>
                  <a:srgbClr val="000090"/>
                </a:solidFill>
                <a:latin typeface="Lucida Console"/>
                <a:cs typeface="Lucida Console"/>
              </a:rPr>
              <a:t>”</a:t>
            </a:r>
            <a:r>
              <a:rPr lang="en-US" sz="2100" dirty="0">
                <a:latin typeface="Lucida Console"/>
                <a:cs typeface="Lucida Console"/>
              </a:rPr>
              <a:t>)</a:t>
            </a: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endParaRPr lang="en-US" sz="2100" dirty="0">
              <a:latin typeface="Lucida Console"/>
              <a:cs typeface="Lucida Console"/>
            </a:endParaRP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100" dirty="0">
                <a:latin typeface="Lucida Console"/>
                <a:cs typeface="Lucida Console"/>
              </a:rPr>
              <a:t># 2. read many files ending with “.txt”</a:t>
            </a: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100" dirty="0">
                <a:latin typeface="Lucida Console"/>
                <a:cs typeface="Lucida Console"/>
              </a:rPr>
              <a:t>rdd2 = </a:t>
            </a:r>
            <a:r>
              <a:rPr lang="en-US" sz="2100" dirty="0" err="1">
                <a:latin typeface="Lucida Console"/>
                <a:cs typeface="Lucida Console"/>
              </a:rPr>
              <a:t>sc.textFile</a:t>
            </a:r>
            <a:r>
              <a:rPr lang="en-US" sz="2100" dirty="0">
                <a:latin typeface="Lucida Console"/>
                <a:cs typeface="Lucida Console"/>
              </a:rPr>
              <a:t>(</a:t>
            </a:r>
            <a:r>
              <a:rPr lang="en-US" sz="2100" dirty="0">
                <a:solidFill>
                  <a:srgbClr val="000090"/>
                </a:solidFill>
                <a:latin typeface="Lucida Console"/>
                <a:cs typeface="Lucida Console"/>
              </a:rPr>
              <a:t>“directory/*.txt”</a:t>
            </a:r>
            <a:r>
              <a:rPr lang="en-US" sz="2100" dirty="0">
                <a:latin typeface="Lucida Console"/>
                <a:cs typeface="Lucida Console"/>
              </a:rPr>
              <a:t>)</a:t>
            </a: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endParaRPr lang="en-US" sz="2100" dirty="0">
              <a:latin typeface="Lucida Console"/>
              <a:cs typeface="Lucida Console"/>
            </a:endParaRP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100" dirty="0">
                <a:latin typeface="Lucida Console"/>
                <a:cs typeface="Lucida Console"/>
              </a:rPr>
              <a:t># 3. read a file from Hadoop’s HDFS</a:t>
            </a: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100" dirty="0">
                <a:latin typeface="Lucida Console"/>
                <a:cs typeface="Lucida Console"/>
              </a:rPr>
              <a:t>rdd3 = </a:t>
            </a:r>
            <a:r>
              <a:rPr lang="en-US" dirty="0" err="1">
                <a:latin typeface="Lucida Console"/>
                <a:cs typeface="Lucida Console"/>
              </a:rPr>
              <a:t>sc.textFile</a:t>
            </a:r>
            <a:r>
              <a:rPr lang="en-US" dirty="0">
                <a:latin typeface="Lucida Console"/>
                <a:cs typeface="Lucida Console"/>
              </a:rPr>
              <a:t>(</a:t>
            </a:r>
            <a:r>
              <a:rPr lang="en-US" dirty="0">
                <a:solidFill>
                  <a:srgbClr val="000090"/>
                </a:solidFill>
                <a:latin typeface="Lucida Console"/>
                <a:cs typeface="Lucida Console"/>
              </a:rPr>
              <a:t>“</a:t>
            </a:r>
            <a:r>
              <a:rPr lang="en-US" dirty="0" err="1">
                <a:solidFill>
                  <a:srgbClr val="000090"/>
                </a:solidFill>
                <a:latin typeface="Lucida Console"/>
                <a:cs typeface="Lucida Console"/>
              </a:rPr>
              <a:t>hdfs</a:t>
            </a:r>
            <a:r>
              <a:rPr lang="en-US" dirty="0">
                <a:solidFill>
                  <a:srgbClr val="000090"/>
                </a:solidFill>
                <a:latin typeface="Lucida Console"/>
                <a:cs typeface="Lucida Console"/>
              </a:rPr>
              <a:t>://namenode:9000/path/file”</a:t>
            </a:r>
            <a:r>
              <a:rPr lang="en-US" dirty="0">
                <a:latin typeface="Lucida Console"/>
                <a:cs typeface="Lucida Console"/>
              </a:rPr>
              <a:t>)</a:t>
            </a:r>
            <a:endParaRPr lang="en-US" sz="2100" dirty="0">
              <a:latin typeface="Lucida Console"/>
              <a:cs typeface="Lucida Console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2100" dirty="0">
              <a:latin typeface="Lucida Console"/>
              <a:cs typeface="Lucida Console"/>
            </a:endParaRPr>
          </a:p>
        </p:txBody>
      </p:sp>
    </p:spTree>
    <p:extLst>
      <p:ext uri="{BB962C8B-B14F-4D97-AF65-F5344CB8AC3E}">
        <p14:creationId xmlns:p14="http://schemas.microsoft.com/office/powerpoint/2010/main" val="150715885"/>
      </p:ext>
    </p:extLst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65127"/>
            <a:ext cx="8134350" cy="625474"/>
          </a:xfrm>
        </p:spPr>
        <p:txBody>
          <a:bodyPr/>
          <a:lstStyle/>
          <a:p>
            <a:r>
              <a:rPr lang="en-US" sz="3200" dirty="0"/>
              <a:t>Basic Transformations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1" y="1143000"/>
            <a:ext cx="8686800" cy="5029201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100" dirty="0">
                <a:solidFill>
                  <a:srgbClr val="00B050"/>
                </a:solidFill>
                <a:latin typeface="Lucida Console"/>
                <a:cs typeface="Lucida Console"/>
              </a:rPr>
              <a:t># Create an RDD[Integer]</a:t>
            </a: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100" dirty="0" err="1">
                <a:latin typeface="Lucida Console"/>
                <a:cs typeface="Lucida Console"/>
              </a:rPr>
              <a:t>nums</a:t>
            </a:r>
            <a:r>
              <a:rPr lang="en-US" sz="2100" dirty="0">
                <a:latin typeface="Lucida Console"/>
                <a:cs typeface="Lucida Console"/>
              </a:rPr>
              <a:t> = </a:t>
            </a:r>
            <a:r>
              <a:rPr lang="en-US" sz="2100" dirty="0" err="1">
                <a:latin typeface="Lucida Console"/>
                <a:cs typeface="Lucida Console"/>
              </a:rPr>
              <a:t>sc.parallelize</a:t>
            </a:r>
            <a:r>
              <a:rPr lang="en-US" sz="2100" dirty="0">
                <a:latin typeface="Lucida Console"/>
                <a:cs typeface="Lucida Console"/>
              </a:rPr>
              <a:t>([1, 2, 3, 4, 5, 6]) </a:t>
            </a: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100" dirty="0">
                <a:latin typeface="Lucida Console"/>
                <a:cs typeface="Lucida Console"/>
              </a:rPr>
              <a:t># </a:t>
            </a:r>
            <a:r>
              <a:rPr lang="en-US" sz="2100" dirty="0">
                <a:solidFill>
                  <a:srgbClr val="008040"/>
                </a:solidFill>
                <a:latin typeface="Lucida Console"/>
                <a:cs typeface="Lucida Console"/>
              </a:rPr>
              <a:t>[1, 2, 3, 4, 5, 6]</a:t>
            </a: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br>
              <a:rPr lang="en-US" sz="2100" dirty="0">
                <a:latin typeface="Lucida Console"/>
                <a:cs typeface="Lucida Console"/>
              </a:rPr>
            </a:br>
            <a:endParaRPr lang="en-US" sz="2100" dirty="0">
              <a:latin typeface="Lucida Console"/>
              <a:cs typeface="Lucida Console"/>
            </a:endParaRP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100" dirty="0">
                <a:solidFill>
                  <a:srgbClr val="008040"/>
                </a:solidFill>
                <a:latin typeface="Lucida Console"/>
                <a:cs typeface="Lucida Console"/>
              </a:rPr>
              <a:t># Pass each element through a function</a:t>
            </a: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100" dirty="0">
                <a:solidFill>
                  <a:srgbClr val="008040"/>
                </a:solidFill>
                <a:latin typeface="Lucida Console"/>
                <a:cs typeface="Lucida Console"/>
              </a:rPr>
              <a:t># squares : RDD[Integer]</a:t>
            </a: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100" dirty="0">
                <a:solidFill>
                  <a:srgbClr val="008040"/>
                </a:solidFill>
                <a:latin typeface="Lucida Console"/>
                <a:cs typeface="Lucida Console"/>
              </a:rPr>
              <a:t># x refers to an element of </a:t>
            </a:r>
            <a:r>
              <a:rPr lang="en-US" sz="2100" dirty="0" err="1">
                <a:solidFill>
                  <a:srgbClr val="008040"/>
                </a:solidFill>
                <a:latin typeface="Lucida Console"/>
                <a:cs typeface="Lucida Console"/>
              </a:rPr>
              <a:t>nums</a:t>
            </a:r>
            <a:endParaRPr lang="en-US" sz="2100" dirty="0">
              <a:solidFill>
                <a:srgbClr val="008040"/>
              </a:solidFill>
              <a:latin typeface="Lucida Console"/>
              <a:cs typeface="Lucida Console"/>
            </a:endParaRP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100" dirty="0">
                <a:latin typeface="Lucida Console"/>
                <a:cs typeface="Lucida Console"/>
              </a:rPr>
              <a:t>squares = </a:t>
            </a:r>
            <a:r>
              <a:rPr lang="en-US" sz="2100" dirty="0" err="1">
                <a:latin typeface="Lucida Console"/>
                <a:cs typeface="Lucida Console"/>
              </a:rPr>
              <a:t>nums.</a:t>
            </a:r>
            <a:r>
              <a:rPr lang="en-US" sz="2100" dirty="0" err="1">
                <a:solidFill>
                  <a:srgbClr val="3366FF"/>
                </a:solidFill>
                <a:latin typeface="Lucida Console"/>
                <a:cs typeface="Lucida Console"/>
              </a:rPr>
              <a:t>map</a:t>
            </a:r>
            <a:r>
              <a:rPr lang="en-US" sz="2100" dirty="0">
                <a:latin typeface="Lucida Console"/>
                <a:cs typeface="Lucida Console"/>
              </a:rPr>
              <a:t>(</a:t>
            </a:r>
            <a:r>
              <a:rPr lang="en-US" sz="2100" dirty="0">
                <a:solidFill>
                  <a:srgbClr val="FF0080"/>
                </a:solidFill>
                <a:latin typeface="Lucida Console"/>
                <a:cs typeface="Lucida Console"/>
              </a:rPr>
              <a:t>lambda x: x*x</a:t>
            </a:r>
            <a:r>
              <a:rPr lang="en-US" sz="2100" dirty="0">
                <a:latin typeface="Lucida Console"/>
                <a:cs typeface="Lucida Console"/>
              </a:rPr>
              <a:t>) </a:t>
            </a: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100" dirty="0">
                <a:latin typeface="Lucida Console"/>
                <a:cs typeface="Lucida Console"/>
              </a:rPr>
              <a:t># </a:t>
            </a:r>
            <a:r>
              <a:rPr lang="en-US" sz="2100" dirty="0">
                <a:solidFill>
                  <a:srgbClr val="008040"/>
                </a:solidFill>
                <a:latin typeface="Lucida Console"/>
                <a:cs typeface="Lucida Console"/>
              </a:rPr>
              <a:t>[1, 4, 9, 16, 25, 36]</a:t>
            </a:r>
          </a:p>
          <a:p>
            <a:pPr>
              <a:spcBef>
                <a:spcPts val="0"/>
              </a:spcBef>
              <a:buClr>
                <a:schemeClr val="bg1">
                  <a:lumMod val="75000"/>
                </a:schemeClr>
              </a:buClr>
              <a:buFont typeface="Lucida Grande"/>
              <a:buChar char="&gt;"/>
            </a:pPr>
            <a:endParaRPr lang="en-US" sz="2100" dirty="0">
              <a:latin typeface="Lucida Console"/>
              <a:cs typeface="Lucida Console"/>
            </a:endParaRPr>
          </a:p>
          <a:p>
            <a:pPr>
              <a:spcBef>
                <a:spcPts val="0"/>
              </a:spcBef>
              <a:buClr>
                <a:schemeClr val="bg1">
                  <a:lumMod val="75000"/>
                </a:schemeClr>
              </a:buClr>
              <a:buFont typeface="Lucida Grande"/>
              <a:buChar char="&gt;"/>
            </a:pPr>
            <a:endParaRPr lang="en-US" sz="2100" dirty="0">
              <a:latin typeface="Lucida Console"/>
              <a:cs typeface="Lucida Console"/>
            </a:endParaRP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100" dirty="0">
                <a:solidFill>
                  <a:srgbClr val="008040"/>
                </a:solidFill>
                <a:latin typeface="Lucida Console"/>
                <a:cs typeface="Lucida Console"/>
              </a:rPr>
              <a:t># Keep elements passing a predicate</a:t>
            </a: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100" dirty="0">
                <a:solidFill>
                  <a:srgbClr val="008040"/>
                </a:solidFill>
                <a:latin typeface="Lucida Console"/>
                <a:cs typeface="Lucida Console"/>
              </a:rPr>
              <a:t># even : RDD[Integer]</a:t>
            </a:r>
            <a:endParaRPr lang="en-US" sz="2100" dirty="0">
              <a:latin typeface="Lucida Console"/>
              <a:cs typeface="Lucida Console"/>
            </a:endParaRP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100" dirty="0">
                <a:latin typeface="Lucida Console"/>
                <a:cs typeface="Lucida Console"/>
              </a:rPr>
              <a:t>even = </a:t>
            </a:r>
            <a:r>
              <a:rPr lang="en-US" sz="2100" dirty="0" err="1">
                <a:latin typeface="Lucida Console"/>
                <a:cs typeface="Lucida Console"/>
              </a:rPr>
              <a:t>squares.</a:t>
            </a:r>
            <a:r>
              <a:rPr lang="en-US" sz="2100" dirty="0" err="1">
                <a:solidFill>
                  <a:srgbClr val="3366FF"/>
                </a:solidFill>
                <a:latin typeface="Lucida Console"/>
                <a:cs typeface="Lucida Console"/>
              </a:rPr>
              <a:t>filter</a:t>
            </a:r>
            <a:r>
              <a:rPr lang="en-US" sz="2100" dirty="0">
                <a:latin typeface="Lucida Console"/>
                <a:cs typeface="Lucida Console"/>
              </a:rPr>
              <a:t>(</a:t>
            </a:r>
            <a:r>
              <a:rPr lang="en-US" sz="2100" dirty="0">
                <a:solidFill>
                  <a:srgbClr val="FF0080"/>
                </a:solidFill>
                <a:latin typeface="Lucida Console"/>
                <a:cs typeface="Lucida Console"/>
              </a:rPr>
              <a:t>lambda x: x % 2 == 0</a:t>
            </a:r>
            <a:r>
              <a:rPr lang="en-US" sz="2100" dirty="0">
                <a:latin typeface="Lucida Console"/>
                <a:cs typeface="Lucida Console"/>
              </a:rPr>
              <a:t>) </a:t>
            </a: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100" dirty="0">
                <a:solidFill>
                  <a:srgbClr val="008040"/>
                </a:solidFill>
                <a:latin typeface="Lucida Console"/>
                <a:cs typeface="Lucida Console"/>
              </a:rPr>
              <a:t># {4, 16, 36}</a:t>
            </a:r>
          </a:p>
          <a:p>
            <a:pPr>
              <a:spcBef>
                <a:spcPts val="0"/>
              </a:spcBef>
              <a:buClr>
                <a:schemeClr val="bg1">
                  <a:lumMod val="75000"/>
                </a:schemeClr>
              </a:buClr>
              <a:buFont typeface="Lucida Grande"/>
              <a:buChar char="&gt;"/>
            </a:pPr>
            <a:endParaRPr lang="en-US" sz="2100" dirty="0">
              <a:solidFill>
                <a:srgbClr val="008040"/>
              </a:solidFill>
              <a:latin typeface="Lucida Console"/>
              <a:cs typeface="Lucida Console"/>
            </a:endParaRPr>
          </a:p>
        </p:txBody>
      </p:sp>
    </p:spTree>
    <p:extLst>
      <p:ext uri="{BB962C8B-B14F-4D97-AF65-F5344CB8AC3E}">
        <p14:creationId xmlns:p14="http://schemas.microsoft.com/office/powerpoint/2010/main" val="3030995180"/>
      </p:ext>
    </p:extLst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Basic Transformations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944" y="1594070"/>
            <a:ext cx="8954223" cy="4578131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100" dirty="0">
                <a:solidFill>
                  <a:srgbClr val="00B050"/>
                </a:solidFill>
                <a:latin typeface="Lucida Console"/>
                <a:cs typeface="Lucida Console"/>
              </a:rPr>
              <a:t># </a:t>
            </a:r>
            <a:r>
              <a:rPr lang="en-US" sz="2100" dirty="0" err="1">
                <a:solidFill>
                  <a:srgbClr val="00B050"/>
                </a:solidFill>
                <a:latin typeface="Lucida Console"/>
                <a:cs typeface="Lucida Console"/>
              </a:rPr>
              <a:t>sc</a:t>
            </a:r>
            <a:r>
              <a:rPr lang="en-US" sz="2100" dirty="0">
                <a:solidFill>
                  <a:srgbClr val="00B050"/>
                </a:solidFill>
                <a:latin typeface="Lucida Console"/>
                <a:cs typeface="Lucida Console"/>
              </a:rPr>
              <a:t> : SparkContext</a:t>
            </a: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100" dirty="0">
                <a:solidFill>
                  <a:srgbClr val="00B050"/>
                </a:solidFill>
                <a:latin typeface="Lucida Console"/>
                <a:cs typeface="Lucida Console"/>
              </a:rPr>
              <a:t># </a:t>
            </a:r>
            <a:r>
              <a:rPr lang="en-US" sz="2100" dirty="0" err="1">
                <a:solidFill>
                  <a:srgbClr val="00B050"/>
                </a:solidFill>
                <a:latin typeface="Lucida Console"/>
                <a:cs typeface="Lucida Console"/>
              </a:rPr>
              <a:t>nums</a:t>
            </a:r>
            <a:r>
              <a:rPr lang="en-US" sz="2100" dirty="0">
                <a:solidFill>
                  <a:srgbClr val="00B050"/>
                </a:solidFill>
                <a:latin typeface="Lucida Console"/>
                <a:cs typeface="Lucida Console"/>
              </a:rPr>
              <a:t> : RDD[Integer]</a:t>
            </a: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100" dirty="0" err="1">
                <a:latin typeface="Lucida Console"/>
                <a:cs typeface="Lucida Console"/>
              </a:rPr>
              <a:t>nums</a:t>
            </a:r>
            <a:r>
              <a:rPr lang="en-US" sz="2100" dirty="0">
                <a:latin typeface="Lucida Console"/>
                <a:cs typeface="Lucida Console"/>
              </a:rPr>
              <a:t> = </a:t>
            </a:r>
            <a:r>
              <a:rPr lang="en-US" sz="2100" dirty="0" err="1">
                <a:latin typeface="Lucida Console"/>
                <a:cs typeface="Lucida Console"/>
              </a:rPr>
              <a:t>sc.parallelize</a:t>
            </a:r>
            <a:r>
              <a:rPr lang="en-US" sz="2100" dirty="0">
                <a:latin typeface="Lucida Console"/>
                <a:cs typeface="Lucida Console"/>
              </a:rPr>
              <a:t>([1, 2, 3, 4])</a:t>
            </a: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100" dirty="0" err="1">
                <a:latin typeface="Lucida Console"/>
                <a:cs typeface="Lucida Console"/>
              </a:rPr>
              <a:t>nums.count</a:t>
            </a:r>
            <a:r>
              <a:rPr lang="en-US" sz="2100" dirty="0">
                <a:latin typeface="Lucida Console"/>
                <a:cs typeface="Lucida Console"/>
              </a:rPr>
              <a:t>()</a:t>
            </a:r>
            <a:br>
              <a:rPr lang="en-US" sz="2100" dirty="0">
                <a:latin typeface="Lucida Console"/>
                <a:cs typeface="Lucida Console"/>
              </a:rPr>
            </a:br>
            <a:r>
              <a:rPr lang="en-US" sz="2100" dirty="0">
                <a:latin typeface="Lucida Console"/>
                <a:cs typeface="Lucida Console"/>
              </a:rPr>
              <a:t>4</a:t>
            </a:r>
          </a:p>
          <a:p>
            <a:pPr>
              <a:spcBef>
                <a:spcPts val="0"/>
              </a:spcBef>
              <a:buClr>
                <a:schemeClr val="bg1">
                  <a:lumMod val="75000"/>
                </a:schemeClr>
              </a:buClr>
              <a:buFont typeface="Lucida Grande"/>
              <a:buChar char="&gt;"/>
            </a:pPr>
            <a:endParaRPr lang="en-US" sz="2100" dirty="0">
              <a:solidFill>
                <a:srgbClr val="008040"/>
              </a:solidFill>
              <a:latin typeface="Lucida Console"/>
              <a:cs typeface="Lucida Console"/>
            </a:endParaRP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100" dirty="0">
                <a:solidFill>
                  <a:srgbClr val="008040"/>
                </a:solidFill>
                <a:latin typeface="Lucida Console"/>
                <a:cs typeface="Lucida Console"/>
              </a:rPr>
              <a:t># map each element to zero or more others</a:t>
            </a: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100" dirty="0" err="1">
                <a:latin typeface="Lucida Console"/>
                <a:cs typeface="Lucida Console"/>
              </a:rPr>
              <a:t>rdd</a:t>
            </a:r>
            <a:r>
              <a:rPr lang="en-US" sz="2100" dirty="0">
                <a:latin typeface="Lucida Console"/>
                <a:cs typeface="Lucida Console"/>
              </a:rPr>
              <a:t> = </a:t>
            </a:r>
            <a:r>
              <a:rPr lang="en-US" sz="2100" dirty="0" err="1">
                <a:latin typeface="Lucida Console"/>
                <a:cs typeface="Lucida Console"/>
              </a:rPr>
              <a:t>nums.</a:t>
            </a:r>
            <a:r>
              <a:rPr lang="en-US" sz="2100" dirty="0" err="1">
                <a:solidFill>
                  <a:srgbClr val="3366FF"/>
                </a:solidFill>
                <a:latin typeface="Lucida Console"/>
                <a:cs typeface="Lucida Console"/>
              </a:rPr>
              <a:t>flatMap</a:t>
            </a:r>
            <a:r>
              <a:rPr lang="en-US" sz="2100" dirty="0">
                <a:latin typeface="Lucida Console"/>
                <a:cs typeface="Lucida Console"/>
              </a:rPr>
              <a:t>(</a:t>
            </a:r>
            <a:r>
              <a:rPr lang="en-US" sz="2100" dirty="0">
                <a:solidFill>
                  <a:srgbClr val="FF0080"/>
                </a:solidFill>
                <a:latin typeface="Lucida Console"/>
                <a:cs typeface="Lucida Console"/>
              </a:rPr>
              <a:t>lambda x: =&gt; range(x)</a:t>
            </a:r>
            <a:r>
              <a:rPr lang="en-US" sz="2100" dirty="0">
                <a:latin typeface="Lucida Console"/>
                <a:cs typeface="Lucida Console"/>
              </a:rPr>
              <a:t>)</a:t>
            </a: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100" dirty="0" err="1">
                <a:latin typeface="Lucida Console"/>
                <a:cs typeface="Lucida Console"/>
              </a:rPr>
              <a:t>rdd.collect</a:t>
            </a:r>
            <a:r>
              <a:rPr lang="en-US" sz="2100" dirty="0">
                <a:latin typeface="Lucida Console"/>
                <a:cs typeface="Lucida Console"/>
              </a:rPr>
              <a:t>()</a:t>
            </a: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dirty="0">
                <a:solidFill>
                  <a:srgbClr val="008040"/>
                </a:solidFill>
                <a:latin typeface="Lucida Console"/>
                <a:cs typeface="Lucida Console"/>
              </a:rPr>
              <a:t>{0, 0, 1, 0, 1, 2, 0, 1, 2, 3}</a:t>
            </a: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endParaRPr lang="en-US" sz="1700" dirty="0">
              <a:solidFill>
                <a:srgbClr val="008040"/>
              </a:solidFill>
              <a:latin typeface="Lucida Console"/>
              <a:cs typeface="Lucida Console"/>
            </a:endParaRP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1700" dirty="0" err="1">
                <a:solidFill>
                  <a:schemeClr val="tx1"/>
                </a:solidFill>
                <a:latin typeface="Lucida Console"/>
                <a:cs typeface="Lucida Console"/>
              </a:rPr>
              <a:t>rdd.count</a:t>
            </a:r>
            <a:r>
              <a:rPr lang="en-US" sz="1700" dirty="0">
                <a:solidFill>
                  <a:schemeClr val="tx1"/>
                </a:solidFill>
                <a:latin typeface="Lucida Console"/>
                <a:cs typeface="Lucida Console"/>
              </a:rPr>
              <a:t>()</a:t>
            </a: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1700" dirty="0">
                <a:solidFill>
                  <a:srgbClr val="008040"/>
                </a:solidFill>
                <a:latin typeface="Lucida Console"/>
                <a:cs typeface="Lucida Console"/>
              </a:rPr>
              <a:t>10</a:t>
            </a:r>
          </a:p>
        </p:txBody>
      </p:sp>
      <p:sp>
        <p:nvSpPr>
          <p:cNvPr id="4" name="Rectangular Callout 3"/>
          <p:cNvSpPr/>
          <p:nvPr/>
        </p:nvSpPr>
        <p:spPr>
          <a:xfrm>
            <a:off x="5638800" y="4800600"/>
            <a:ext cx="2963857" cy="735490"/>
          </a:xfrm>
          <a:prstGeom prst="wedgeRectCallout">
            <a:avLst>
              <a:gd name="adj1" fmla="val -43644"/>
              <a:gd name="adj2" fmla="val -132789"/>
            </a:avLst>
          </a:prstGeom>
          <a:solidFill>
            <a:schemeClr val="bg1">
              <a:lumMod val="75000"/>
            </a:schemeClr>
          </a:solidFill>
          <a:ln>
            <a:noFill/>
            <a:headEnd type="none" w="med" len="med"/>
            <a:tailEnd type="none"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>
                <a:solidFill>
                  <a:schemeClr val="tx1"/>
                </a:solidFill>
              </a:rPr>
              <a:t>Range object (sequence of numbers 0, 1, …, x-1)</a:t>
            </a:r>
          </a:p>
        </p:txBody>
      </p:sp>
    </p:spTree>
    <p:extLst>
      <p:ext uri="{BB962C8B-B14F-4D97-AF65-F5344CB8AC3E}">
        <p14:creationId xmlns:p14="http://schemas.microsoft.com/office/powerpoint/2010/main" val="3993473280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762000"/>
          </a:xfrm>
        </p:spPr>
        <p:txBody>
          <a:bodyPr/>
          <a:lstStyle/>
          <a:p>
            <a:r>
              <a:rPr lang="en-US" sz="3600" dirty="0"/>
              <a:t>Basic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82000" cy="5408448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100" dirty="0">
                <a:solidFill>
                  <a:srgbClr val="00B050"/>
                </a:solidFill>
                <a:latin typeface="Lucida Console"/>
                <a:cs typeface="Lucida Console"/>
              </a:rPr>
              <a:t># </a:t>
            </a:r>
            <a:r>
              <a:rPr lang="en-US" sz="2100" dirty="0" err="1">
                <a:solidFill>
                  <a:srgbClr val="00B050"/>
                </a:solidFill>
                <a:latin typeface="Lucida Console"/>
                <a:cs typeface="Lucida Console"/>
              </a:rPr>
              <a:t>nums</a:t>
            </a:r>
            <a:r>
              <a:rPr lang="en-US" sz="2100" dirty="0">
                <a:solidFill>
                  <a:srgbClr val="00B050"/>
                </a:solidFill>
                <a:latin typeface="Lucida Console"/>
                <a:cs typeface="Lucida Console"/>
              </a:rPr>
              <a:t> : RDD[Integer]</a:t>
            </a: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100" dirty="0" err="1">
                <a:latin typeface="Lucida Console"/>
                <a:cs typeface="Lucida Console"/>
              </a:rPr>
              <a:t>nums</a:t>
            </a:r>
            <a:r>
              <a:rPr lang="en-US" sz="2100" dirty="0">
                <a:latin typeface="Lucida Console"/>
                <a:cs typeface="Lucida Console"/>
              </a:rPr>
              <a:t> = </a:t>
            </a:r>
            <a:r>
              <a:rPr lang="en-US" sz="2100" dirty="0" err="1">
                <a:latin typeface="Lucida Console"/>
                <a:cs typeface="Lucida Console"/>
              </a:rPr>
              <a:t>sc.parallelize</a:t>
            </a:r>
            <a:r>
              <a:rPr lang="en-US" sz="2100" dirty="0">
                <a:latin typeface="Lucida Console"/>
                <a:cs typeface="Lucida Console"/>
              </a:rPr>
              <a:t>([1, 2, 3, 4])</a:t>
            </a:r>
            <a:br>
              <a:rPr lang="en-US" sz="2100" dirty="0">
                <a:latin typeface="Lucida Console"/>
                <a:cs typeface="Lucida Console"/>
              </a:rPr>
            </a:br>
            <a:endParaRPr lang="en-US" sz="1200" dirty="0">
              <a:latin typeface="Lucida Console"/>
              <a:cs typeface="Lucida Console"/>
            </a:endParaRP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100" dirty="0">
                <a:solidFill>
                  <a:srgbClr val="008040"/>
                </a:solidFill>
                <a:latin typeface="Lucida Console"/>
                <a:cs typeface="Lucida Console"/>
              </a:rPr>
              <a:t># Retrieve RDD contents as a local collection</a:t>
            </a: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100" dirty="0" err="1">
                <a:latin typeface="Lucida Console"/>
                <a:cs typeface="Lucida Console"/>
              </a:rPr>
              <a:t>my_list</a:t>
            </a:r>
            <a:r>
              <a:rPr lang="en-US" sz="2100" dirty="0">
                <a:latin typeface="Lucida Console"/>
                <a:cs typeface="Lucida Console"/>
              </a:rPr>
              <a:t>= </a:t>
            </a:r>
            <a:r>
              <a:rPr lang="en-US" sz="2100" dirty="0" err="1">
                <a:latin typeface="Lucida Console"/>
                <a:cs typeface="Lucida Console"/>
              </a:rPr>
              <a:t>nums.</a:t>
            </a:r>
            <a:r>
              <a:rPr lang="en-US" sz="2100" dirty="0" err="1">
                <a:solidFill>
                  <a:srgbClr val="3366FF"/>
                </a:solidFill>
                <a:latin typeface="Lucida Console"/>
                <a:cs typeface="Lucida Console"/>
              </a:rPr>
              <a:t>collect</a:t>
            </a:r>
            <a:r>
              <a:rPr lang="en-US" sz="2100" dirty="0">
                <a:latin typeface="Lucida Console"/>
                <a:cs typeface="Lucida Console"/>
              </a:rPr>
              <a:t>() </a:t>
            </a:r>
            <a:r>
              <a:rPr lang="en-US" sz="2100" dirty="0">
                <a:solidFill>
                  <a:srgbClr val="008040"/>
                </a:solidFill>
                <a:latin typeface="Lucida Console"/>
                <a:cs typeface="Lucida Console"/>
              </a:rPr>
              <a:t># =&gt; [1, 2, 3, 4]</a:t>
            </a:r>
          </a:p>
          <a:p>
            <a:pPr>
              <a:spcBef>
                <a:spcPts val="0"/>
              </a:spcBef>
              <a:buClr>
                <a:schemeClr val="bg1">
                  <a:lumMod val="75000"/>
                </a:schemeClr>
              </a:buClr>
              <a:buFont typeface="Lucida Grande"/>
              <a:buChar char="&gt;"/>
            </a:pPr>
            <a:endParaRPr lang="en-US" sz="1200" dirty="0">
              <a:solidFill>
                <a:srgbClr val="008040"/>
              </a:solidFill>
              <a:latin typeface="Lucida Console"/>
              <a:cs typeface="Lucida Console"/>
            </a:endParaRP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100" dirty="0">
                <a:solidFill>
                  <a:srgbClr val="008040"/>
                </a:solidFill>
                <a:latin typeface="Lucida Console"/>
                <a:cs typeface="Lucida Console"/>
              </a:rPr>
              <a:t># Return first K elements</a:t>
            </a: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100" dirty="0" err="1">
                <a:latin typeface="Lucida Console"/>
                <a:cs typeface="Lucida Console"/>
              </a:rPr>
              <a:t>nums.</a:t>
            </a:r>
            <a:r>
              <a:rPr lang="en-US" sz="2100" dirty="0" err="1">
                <a:solidFill>
                  <a:srgbClr val="3366FF"/>
                </a:solidFill>
                <a:latin typeface="Lucida Console"/>
                <a:cs typeface="Lucida Console"/>
              </a:rPr>
              <a:t>take</a:t>
            </a:r>
            <a:r>
              <a:rPr lang="en-US" sz="2100" dirty="0">
                <a:latin typeface="Lucida Console"/>
                <a:cs typeface="Lucida Console"/>
              </a:rPr>
              <a:t>(2)   </a:t>
            </a:r>
            <a:r>
              <a:rPr lang="en-US" sz="2100" dirty="0">
                <a:solidFill>
                  <a:srgbClr val="008040"/>
                </a:solidFill>
                <a:latin typeface="Lucida Console"/>
                <a:cs typeface="Lucida Console"/>
              </a:rPr>
              <a:t># =&gt; [1, 2]</a:t>
            </a:r>
          </a:p>
          <a:p>
            <a:pPr>
              <a:spcBef>
                <a:spcPts val="0"/>
              </a:spcBef>
              <a:buClr>
                <a:schemeClr val="bg1">
                  <a:lumMod val="75000"/>
                </a:schemeClr>
              </a:buClr>
              <a:buFont typeface="Lucida Grande"/>
              <a:buChar char="&gt;"/>
            </a:pPr>
            <a:endParaRPr lang="en-US" sz="1200" dirty="0">
              <a:latin typeface="Lucida Console"/>
              <a:cs typeface="Lucida Console"/>
            </a:endParaRP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100" dirty="0">
                <a:solidFill>
                  <a:srgbClr val="008040"/>
                </a:solidFill>
                <a:latin typeface="Lucida Console"/>
                <a:cs typeface="Lucida Console"/>
              </a:rPr>
              <a:t># Count number of elements</a:t>
            </a: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100" dirty="0" err="1">
                <a:latin typeface="Lucida Console"/>
                <a:cs typeface="Lucida Console"/>
              </a:rPr>
              <a:t>nums.</a:t>
            </a:r>
            <a:r>
              <a:rPr lang="en-US" sz="2100" dirty="0" err="1">
                <a:solidFill>
                  <a:srgbClr val="3366FF"/>
                </a:solidFill>
                <a:latin typeface="Lucida Console"/>
                <a:cs typeface="Lucida Console"/>
              </a:rPr>
              <a:t>count</a:t>
            </a:r>
            <a:r>
              <a:rPr lang="en-US" sz="2100" dirty="0">
                <a:latin typeface="Lucida Console"/>
                <a:cs typeface="Lucida Console"/>
              </a:rPr>
              <a:t>()   </a:t>
            </a:r>
            <a:r>
              <a:rPr lang="en-US" sz="2100" dirty="0">
                <a:solidFill>
                  <a:srgbClr val="008040"/>
                </a:solidFill>
                <a:latin typeface="Lucida Console"/>
                <a:cs typeface="Lucida Console"/>
              </a:rPr>
              <a:t># =&gt; 4</a:t>
            </a:r>
          </a:p>
          <a:p>
            <a:pPr>
              <a:spcBef>
                <a:spcPts val="0"/>
              </a:spcBef>
              <a:buClr>
                <a:schemeClr val="bg1">
                  <a:lumMod val="75000"/>
                </a:schemeClr>
              </a:buClr>
              <a:buFont typeface="Lucida Grande"/>
              <a:buChar char="&gt;"/>
            </a:pPr>
            <a:endParaRPr lang="en-US" sz="1200" dirty="0">
              <a:solidFill>
                <a:srgbClr val="008040"/>
              </a:solidFill>
              <a:latin typeface="Lucida Console"/>
              <a:cs typeface="Lucida Console"/>
            </a:endParaRP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100" dirty="0">
                <a:solidFill>
                  <a:srgbClr val="008040"/>
                </a:solidFill>
                <a:latin typeface="Lucida Console"/>
                <a:cs typeface="Lucida Console"/>
              </a:rPr>
              <a:t># Merge elements with an associative function</a:t>
            </a: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100" dirty="0" err="1">
                <a:latin typeface="Lucida Console"/>
                <a:cs typeface="Lucida Console"/>
              </a:rPr>
              <a:t>nums.</a:t>
            </a:r>
            <a:r>
              <a:rPr lang="en-US" sz="2100" dirty="0" err="1">
                <a:solidFill>
                  <a:srgbClr val="3366FF"/>
                </a:solidFill>
                <a:latin typeface="Lucida Console"/>
                <a:cs typeface="Lucida Console"/>
              </a:rPr>
              <a:t>reduce</a:t>
            </a:r>
            <a:r>
              <a:rPr lang="en-US" sz="2100" dirty="0">
                <a:latin typeface="Lucida Console"/>
                <a:cs typeface="Lucida Console"/>
              </a:rPr>
              <a:t>(</a:t>
            </a:r>
            <a:r>
              <a:rPr lang="en-US" sz="2100" dirty="0">
                <a:solidFill>
                  <a:srgbClr val="FF0080"/>
                </a:solidFill>
                <a:latin typeface="Lucida Console"/>
                <a:cs typeface="Lucida Console"/>
              </a:rPr>
              <a:t>lambda x, y: x + y</a:t>
            </a:r>
            <a:r>
              <a:rPr lang="en-US" sz="2100" dirty="0">
                <a:latin typeface="Lucida Console"/>
                <a:cs typeface="Lucida Console"/>
              </a:rPr>
              <a:t>)  </a:t>
            </a:r>
            <a:r>
              <a:rPr lang="en-US" sz="2100" dirty="0">
                <a:solidFill>
                  <a:srgbClr val="008040"/>
                </a:solidFill>
                <a:latin typeface="Lucida Console"/>
                <a:cs typeface="Lucida Console"/>
              </a:rPr>
              <a:t># =&gt; 10</a:t>
            </a:r>
            <a:endParaRPr lang="en-US" sz="1200" dirty="0">
              <a:solidFill>
                <a:srgbClr val="008040"/>
              </a:solidFill>
              <a:latin typeface="Lucida Console"/>
              <a:cs typeface="Lucida Console"/>
            </a:endParaRPr>
          </a:p>
          <a:p>
            <a:pPr>
              <a:spcBef>
                <a:spcPts val="0"/>
              </a:spcBef>
              <a:buClr>
                <a:schemeClr val="bg1">
                  <a:lumMod val="75000"/>
                </a:schemeClr>
              </a:buClr>
              <a:buFont typeface="Lucida Grande"/>
              <a:buChar char="&gt;"/>
            </a:pPr>
            <a:endParaRPr lang="en-US" sz="1200" dirty="0">
              <a:solidFill>
                <a:srgbClr val="008040"/>
              </a:solidFill>
              <a:latin typeface="Lucida Console"/>
              <a:cs typeface="Lucida Console"/>
            </a:endParaRP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100" dirty="0">
                <a:solidFill>
                  <a:srgbClr val="008040"/>
                </a:solidFill>
                <a:latin typeface="Lucida Console"/>
                <a:cs typeface="Lucida Console"/>
              </a:rPr>
              <a:t># Write elements to a text file</a:t>
            </a:r>
          </a:p>
          <a:p>
            <a:pPr marL="0" indent="0">
              <a:spcBef>
                <a:spcPts val="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100" dirty="0" err="1">
                <a:latin typeface="Lucida Console"/>
                <a:cs typeface="Lucida Console"/>
              </a:rPr>
              <a:t>nums.</a:t>
            </a:r>
            <a:r>
              <a:rPr lang="en-US" sz="2100" dirty="0" err="1">
                <a:solidFill>
                  <a:srgbClr val="3366FF"/>
                </a:solidFill>
                <a:latin typeface="Lucida Console"/>
                <a:cs typeface="Lucida Console"/>
              </a:rPr>
              <a:t>saveAsTextFile</a:t>
            </a:r>
            <a:r>
              <a:rPr lang="en-US" sz="2100" dirty="0">
                <a:latin typeface="Lucida Console"/>
                <a:cs typeface="Lucida Console"/>
              </a:rPr>
              <a:t>(</a:t>
            </a:r>
            <a:r>
              <a:rPr lang="en-US" sz="2100" dirty="0">
                <a:solidFill>
                  <a:srgbClr val="000090"/>
                </a:solidFill>
                <a:latin typeface="Lucida Console"/>
                <a:cs typeface="Lucida Console"/>
              </a:rPr>
              <a:t>“</a:t>
            </a:r>
            <a:r>
              <a:rPr lang="en-US" sz="2100" dirty="0" err="1">
                <a:solidFill>
                  <a:srgbClr val="000090"/>
                </a:solidFill>
                <a:latin typeface="Lucida Console"/>
                <a:cs typeface="Lucida Console"/>
              </a:rPr>
              <a:t>hdfs</a:t>
            </a:r>
            <a:r>
              <a:rPr lang="en-US" sz="2100" dirty="0">
                <a:solidFill>
                  <a:srgbClr val="000090"/>
                </a:solidFill>
                <a:latin typeface="Lucida Console"/>
                <a:cs typeface="Lucida Console"/>
              </a:rPr>
              <a:t>://</a:t>
            </a:r>
            <a:r>
              <a:rPr lang="en-US" sz="2100" dirty="0" err="1">
                <a:solidFill>
                  <a:srgbClr val="000090"/>
                </a:solidFill>
                <a:latin typeface="Lucida Console"/>
                <a:cs typeface="Lucida Console"/>
              </a:rPr>
              <a:t>file.txt</a:t>
            </a:r>
            <a:r>
              <a:rPr lang="en-US" sz="2100" dirty="0">
                <a:solidFill>
                  <a:srgbClr val="000090"/>
                </a:solidFill>
                <a:latin typeface="Lucida Console"/>
                <a:cs typeface="Lucida Console"/>
              </a:rPr>
              <a:t>”</a:t>
            </a:r>
            <a:r>
              <a:rPr lang="en-US" sz="2100" dirty="0">
                <a:latin typeface="Lucida Console"/>
                <a:cs typeface="Lucida Console"/>
              </a:rPr>
              <a:t>)</a:t>
            </a:r>
            <a:endParaRPr lang="en-US" sz="2100" dirty="0">
              <a:solidFill>
                <a:srgbClr val="008040"/>
              </a:solidFill>
              <a:latin typeface="Lucida Console"/>
              <a:cs typeface="Lucida Console"/>
            </a:endParaRPr>
          </a:p>
        </p:txBody>
      </p:sp>
    </p:spTree>
    <p:extLst>
      <p:ext uri="{BB962C8B-B14F-4D97-AF65-F5344CB8AC3E}">
        <p14:creationId xmlns:p14="http://schemas.microsoft.com/office/powerpoint/2010/main" val="869002185"/>
      </p:ext>
    </p:extLst>
  </p:cSld>
  <p:clrMapOvr>
    <a:masterClrMapping/>
  </p:clrMapOvr>
  <p:transition spd="med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685800"/>
          </a:xfrm>
        </p:spPr>
        <p:txBody>
          <a:bodyPr/>
          <a:lstStyle/>
          <a:p>
            <a:r>
              <a:rPr lang="en-US" sz="4000" dirty="0"/>
              <a:t>Working with Key-Value Pairs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930" y="1143001"/>
            <a:ext cx="7720419" cy="838199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1400"/>
              </a:spcBef>
              <a:buNone/>
            </a:pPr>
            <a:r>
              <a:rPr lang="en-US" sz="2400" dirty="0"/>
              <a:t>Spark’s “distributed reduce” transformations operate on RDDs of key-value pairs</a:t>
            </a:r>
          </a:p>
        </p:txBody>
      </p:sp>
      <p:sp>
        <p:nvSpPr>
          <p:cNvPr id="4" name="Rectangle 3"/>
          <p:cNvSpPr/>
          <p:nvPr/>
        </p:nvSpPr>
        <p:spPr>
          <a:xfrm>
            <a:off x="990600" y="2133601"/>
            <a:ext cx="6039017" cy="35907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lang="en-US" sz="2800" dirty="0">
                <a:solidFill>
                  <a:srgbClr val="FF6600"/>
                </a:solidFill>
              </a:rPr>
              <a:t>Python</a:t>
            </a:r>
            <a:r>
              <a:rPr lang="en-US" sz="2000" dirty="0">
                <a:solidFill>
                  <a:srgbClr val="FF6600"/>
                </a:solidFill>
              </a:rPr>
              <a:t>:</a:t>
            </a:r>
            <a:r>
              <a:rPr lang="en-US" sz="2000" dirty="0"/>
              <a:t> 	</a:t>
            </a:r>
            <a:r>
              <a:rPr lang="en-US" sz="2000" dirty="0">
                <a:latin typeface="Consolas"/>
                <a:cs typeface="Consolas"/>
              </a:rPr>
              <a:t>pair = (a, b)</a:t>
            </a:r>
            <a:br>
              <a:rPr lang="en-US" sz="2000" dirty="0">
                <a:latin typeface="Consolas"/>
                <a:cs typeface="Consolas"/>
              </a:rPr>
            </a:br>
            <a:r>
              <a:rPr lang="en-US" sz="2000" dirty="0">
                <a:latin typeface="Consolas"/>
                <a:cs typeface="Consolas"/>
              </a:rPr>
              <a:t>            		pair[0] </a:t>
            </a:r>
            <a:r>
              <a:rPr lang="en-US" sz="2000" dirty="0">
                <a:solidFill>
                  <a:srgbClr val="008000"/>
                </a:solidFill>
                <a:latin typeface="Consolas"/>
                <a:cs typeface="Consolas"/>
              </a:rPr>
              <a:t># =&gt; a </a:t>
            </a:r>
            <a:br>
              <a:rPr lang="en-US" sz="2000" dirty="0">
                <a:solidFill>
                  <a:srgbClr val="008000"/>
                </a:solidFill>
                <a:latin typeface="Consolas"/>
                <a:cs typeface="Consolas"/>
              </a:rPr>
            </a:br>
            <a:r>
              <a:rPr lang="en-US" sz="2000" dirty="0">
                <a:solidFill>
                  <a:srgbClr val="008000"/>
                </a:solidFill>
                <a:latin typeface="Consolas"/>
                <a:cs typeface="Consolas"/>
              </a:rPr>
              <a:t>			</a:t>
            </a:r>
            <a:r>
              <a:rPr lang="en-US" sz="2000" dirty="0">
                <a:latin typeface="Consolas"/>
                <a:cs typeface="Consolas"/>
              </a:rPr>
              <a:t>pair[1] </a:t>
            </a:r>
            <a:r>
              <a:rPr lang="en-US" sz="2000" dirty="0">
                <a:solidFill>
                  <a:srgbClr val="008000"/>
                </a:solidFill>
                <a:latin typeface="Consolas"/>
                <a:cs typeface="Consolas"/>
              </a:rPr>
              <a:t># =&gt; b</a:t>
            </a:r>
          </a:p>
          <a:p>
            <a:pPr>
              <a:spcBef>
                <a:spcPts val="1400"/>
              </a:spcBef>
            </a:pPr>
            <a:r>
              <a:rPr lang="en-US" sz="2800" dirty="0">
                <a:solidFill>
                  <a:srgbClr val="FF6600"/>
                </a:solidFill>
              </a:rPr>
              <a:t>Scala</a:t>
            </a:r>
            <a:r>
              <a:rPr lang="en-US" sz="2000" dirty="0">
                <a:solidFill>
                  <a:srgbClr val="FF6600"/>
                </a:solidFill>
              </a:rPr>
              <a:t>: </a:t>
            </a:r>
            <a:r>
              <a:rPr lang="en-US" sz="2000" dirty="0"/>
              <a:t>	</a:t>
            </a:r>
            <a:r>
              <a:rPr lang="en-US" sz="2000" b="1" dirty="0" err="1">
                <a:latin typeface="Consolas"/>
                <a:cs typeface="Consolas"/>
              </a:rPr>
              <a:t>val</a:t>
            </a:r>
            <a:r>
              <a:rPr lang="en-US" sz="2000" dirty="0">
                <a:latin typeface="Consolas"/>
                <a:cs typeface="Consolas"/>
              </a:rPr>
              <a:t> pair = (a, b)</a:t>
            </a:r>
            <a:br>
              <a:rPr lang="en-US" sz="2000" dirty="0">
                <a:latin typeface="Consolas"/>
                <a:cs typeface="Consolas"/>
              </a:rPr>
            </a:br>
            <a:r>
              <a:rPr lang="en-US" sz="2000" dirty="0">
                <a:latin typeface="Consolas"/>
                <a:cs typeface="Consolas"/>
              </a:rPr>
              <a:t>			pair._1 </a:t>
            </a:r>
            <a:r>
              <a:rPr lang="en-US" sz="2000" dirty="0">
                <a:solidFill>
                  <a:srgbClr val="008000"/>
                </a:solidFill>
                <a:latin typeface="Consolas"/>
                <a:cs typeface="Consolas"/>
              </a:rPr>
              <a:t>// =&gt; a</a:t>
            </a:r>
            <a:br>
              <a:rPr lang="en-US" sz="2000" dirty="0">
                <a:solidFill>
                  <a:srgbClr val="008000"/>
                </a:solidFill>
                <a:latin typeface="Consolas"/>
                <a:cs typeface="Consolas"/>
              </a:rPr>
            </a:br>
            <a:r>
              <a:rPr lang="en-US" sz="2000" dirty="0">
                <a:solidFill>
                  <a:srgbClr val="008000"/>
                </a:solidFill>
                <a:latin typeface="Consolas"/>
                <a:cs typeface="Consolas"/>
              </a:rPr>
              <a:t>			</a:t>
            </a:r>
            <a:r>
              <a:rPr lang="en-US" sz="2000" dirty="0">
                <a:latin typeface="Consolas"/>
                <a:cs typeface="Consolas"/>
              </a:rPr>
              <a:t>pair._2 </a:t>
            </a:r>
            <a:r>
              <a:rPr lang="en-US" sz="2000" dirty="0">
                <a:solidFill>
                  <a:srgbClr val="008000"/>
                </a:solidFill>
                <a:latin typeface="Consolas"/>
                <a:cs typeface="Consolas"/>
              </a:rPr>
              <a:t>// =&gt; b</a:t>
            </a:r>
            <a:endParaRPr lang="en-US" sz="2000" dirty="0">
              <a:solidFill>
                <a:srgbClr val="008000"/>
              </a:solidFill>
            </a:endParaRPr>
          </a:p>
          <a:p>
            <a:pPr>
              <a:spcBef>
                <a:spcPts val="1400"/>
              </a:spcBef>
            </a:pPr>
            <a:r>
              <a:rPr lang="en-US" sz="2800" dirty="0">
                <a:solidFill>
                  <a:srgbClr val="FF6600"/>
                </a:solidFill>
              </a:rPr>
              <a:t>Java</a:t>
            </a:r>
            <a:r>
              <a:rPr lang="en-US" sz="2000" dirty="0">
                <a:solidFill>
                  <a:srgbClr val="FF6600"/>
                </a:solidFill>
              </a:rPr>
              <a:t>:</a:t>
            </a:r>
            <a:r>
              <a:rPr lang="en-US" sz="2000" dirty="0"/>
              <a:t>	</a:t>
            </a:r>
            <a:r>
              <a:rPr lang="en-US" sz="2000" dirty="0">
                <a:latin typeface="Consolas"/>
                <a:cs typeface="Consolas"/>
              </a:rPr>
              <a:t>Tuple2 pair = </a:t>
            </a:r>
            <a:r>
              <a:rPr lang="en-US" sz="2000" b="1" dirty="0">
                <a:latin typeface="Consolas"/>
                <a:cs typeface="Consolas"/>
              </a:rPr>
              <a:t>new</a:t>
            </a:r>
            <a:r>
              <a:rPr lang="en-US" sz="2000" dirty="0">
                <a:latin typeface="Consolas"/>
                <a:cs typeface="Consolas"/>
              </a:rPr>
              <a:t> Tuple2(a, b); </a:t>
            </a:r>
            <a:br>
              <a:rPr lang="en-US" sz="2000" dirty="0">
                <a:solidFill>
                  <a:srgbClr val="008000"/>
                </a:solidFill>
                <a:latin typeface="Consolas"/>
                <a:cs typeface="Consolas"/>
              </a:rPr>
            </a:br>
            <a:r>
              <a:rPr lang="en-US" sz="2000" dirty="0">
                <a:solidFill>
                  <a:srgbClr val="008000"/>
                </a:solidFill>
                <a:latin typeface="Consolas"/>
                <a:cs typeface="Consolas"/>
              </a:rPr>
              <a:t>		</a:t>
            </a:r>
            <a:r>
              <a:rPr lang="en-US" sz="2000" dirty="0">
                <a:latin typeface="Consolas"/>
                <a:cs typeface="Consolas"/>
              </a:rPr>
              <a:t>pair._1 </a:t>
            </a:r>
            <a:r>
              <a:rPr lang="en-US" sz="2000" dirty="0">
                <a:solidFill>
                  <a:srgbClr val="008000"/>
                </a:solidFill>
                <a:latin typeface="Consolas"/>
                <a:cs typeface="Consolas"/>
              </a:rPr>
              <a:t>// =&gt; a</a:t>
            </a:r>
            <a:br>
              <a:rPr lang="en-US" sz="2000" dirty="0">
                <a:solidFill>
                  <a:srgbClr val="008000"/>
                </a:solidFill>
                <a:latin typeface="Consolas"/>
                <a:cs typeface="Consolas"/>
              </a:rPr>
            </a:br>
            <a:r>
              <a:rPr lang="en-US" sz="2000" dirty="0">
                <a:latin typeface="Consolas"/>
                <a:cs typeface="Consolas"/>
              </a:rPr>
              <a:t>		pair._2 </a:t>
            </a:r>
            <a:r>
              <a:rPr lang="en-US" sz="2000" dirty="0">
                <a:solidFill>
                  <a:srgbClr val="008000"/>
                </a:solidFill>
                <a:latin typeface="Consolas"/>
                <a:cs typeface="Consolas"/>
              </a:rPr>
              <a:t>// =&gt; b</a:t>
            </a:r>
            <a:endParaRPr lang="en-US" sz="2000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498088"/>
      </p:ext>
    </p:extLst>
  </p:cSld>
  <p:clrMapOvr>
    <a:masterClrMapping/>
  </p:clrMapOvr>
  <p:transition spd="med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04800"/>
            <a:ext cx="7696199" cy="60960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Working with Key-Value Pairs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1" y="990600"/>
            <a:ext cx="6781800" cy="1447799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1400"/>
              </a:spcBef>
              <a:buNone/>
            </a:pPr>
            <a:r>
              <a:rPr lang="en-US" sz="2400" dirty="0"/>
              <a:t>Spark’s distributed </a:t>
            </a:r>
            <a:r>
              <a:rPr lang="en-US" sz="2400" dirty="0" err="1">
                <a:latin typeface="Courier" pitchFamily="2" charset="0"/>
              </a:rPr>
              <a:t>reduceByKey</a:t>
            </a:r>
            <a:r>
              <a:rPr lang="en-US" sz="2400" dirty="0">
                <a:latin typeface="Courier" pitchFamily="2" charset="0"/>
              </a:rPr>
              <a:t>(), </a:t>
            </a:r>
            <a:r>
              <a:rPr lang="en-US" sz="2400" dirty="0" err="1">
                <a:latin typeface="Courier" pitchFamily="2" charset="0"/>
              </a:rPr>
              <a:t>groupByKey</a:t>
            </a:r>
            <a:r>
              <a:rPr lang="en-US" sz="2400" dirty="0">
                <a:latin typeface="Courier" pitchFamily="2" charset="0"/>
              </a:rPr>
              <a:t>(), </a:t>
            </a:r>
            <a:r>
              <a:rPr lang="en-US" sz="2400" dirty="0" err="1">
                <a:latin typeface="Courier" pitchFamily="2" charset="0"/>
              </a:rPr>
              <a:t>combineByKey</a:t>
            </a:r>
            <a:r>
              <a:rPr lang="en-US" sz="2400" dirty="0">
                <a:latin typeface="Courier" pitchFamily="2" charset="0"/>
              </a:rPr>
              <a:t>() </a:t>
            </a:r>
            <a:r>
              <a:rPr lang="en-US" sz="2400" dirty="0"/>
              <a:t>transformations operate on RDDs of (key, value) pairs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0098" y="2438399"/>
            <a:ext cx="6447502" cy="35753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lang="en-US" sz="2800" dirty="0">
                <a:solidFill>
                  <a:srgbClr val="FF6600"/>
                </a:solidFill>
              </a:rPr>
              <a:t>Python</a:t>
            </a:r>
            <a:r>
              <a:rPr lang="en-US" sz="2000" dirty="0">
                <a:solidFill>
                  <a:srgbClr val="FF6600"/>
                </a:solidFill>
              </a:rPr>
              <a:t>:</a:t>
            </a:r>
            <a:r>
              <a:rPr lang="en-US" sz="2000" dirty="0"/>
              <a:t> 	</a:t>
            </a:r>
            <a:r>
              <a:rPr lang="en-US" sz="2000" dirty="0">
                <a:latin typeface="Consolas"/>
                <a:cs typeface="Consolas"/>
              </a:rPr>
              <a:t>pair = (a, b)</a:t>
            </a:r>
            <a:br>
              <a:rPr lang="en-US" sz="2000" dirty="0">
                <a:latin typeface="Consolas"/>
                <a:cs typeface="Consolas"/>
              </a:rPr>
            </a:br>
            <a:r>
              <a:rPr lang="en-US" sz="2000" dirty="0">
                <a:latin typeface="Consolas"/>
                <a:cs typeface="Consolas"/>
              </a:rPr>
              <a:t>            		pair[0] </a:t>
            </a:r>
            <a:r>
              <a:rPr lang="en-US" sz="2000" dirty="0">
                <a:solidFill>
                  <a:srgbClr val="008000"/>
                </a:solidFill>
                <a:latin typeface="Consolas"/>
                <a:cs typeface="Consolas"/>
              </a:rPr>
              <a:t># </a:t>
            </a:r>
            <a:r>
              <a:rPr lang="en-US" sz="2000" dirty="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cs typeface="Consolas"/>
              </a:rPr>
              <a:t>=&gt; a as KEY </a:t>
            </a:r>
            <a:br>
              <a:rPr lang="en-US" sz="2000" dirty="0">
                <a:solidFill>
                  <a:srgbClr val="008000"/>
                </a:solidFill>
                <a:latin typeface="Consolas"/>
                <a:cs typeface="Consolas"/>
              </a:rPr>
            </a:br>
            <a:r>
              <a:rPr lang="en-US" sz="2000" dirty="0">
                <a:solidFill>
                  <a:srgbClr val="008000"/>
                </a:solidFill>
                <a:latin typeface="Consolas"/>
                <a:cs typeface="Consolas"/>
              </a:rPr>
              <a:t>			</a:t>
            </a:r>
            <a:r>
              <a:rPr lang="en-US" sz="2000" dirty="0">
                <a:latin typeface="Consolas"/>
                <a:cs typeface="Consolas"/>
              </a:rPr>
              <a:t>pair[1] </a:t>
            </a:r>
            <a:r>
              <a:rPr lang="en-US" sz="2000" dirty="0">
                <a:solidFill>
                  <a:srgbClr val="008000"/>
                </a:solidFill>
                <a:latin typeface="Consolas"/>
                <a:cs typeface="Consolas"/>
              </a:rPr>
              <a:t># </a:t>
            </a:r>
            <a:r>
              <a:rPr lang="en-US" sz="2000" dirty="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cs typeface="Consolas"/>
              </a:rPr>
              <a:t>=&gt; b as VALUE</a:t>
            </a:r>
          </a:p>
          <a:p>
            <a:pPr>
              <a:spcBef>
                <a:spcPts val="1400"/>
              </a:spcBef>
            </a:pPr>
            <a:r>
              <a:rPr lang="en-US" sz="2000" u="sng" dirty="0">
                <a:latin typeface="Consolas"/>
                <a:cs typeface="Consolas"/>
              </a:rPr>
              <a:t>Examples of (key, value):</a:t>
            </a:r>
          </a:p>
          <a:p>
            <a:pPr>
              <a:spcBef>
                <a:spcPts val="1400"/>
              </a:spcBef>
            </a:pPr>
            <a:r>
              <a:rPr lang="en-US" sz="2000" dirty="0">
                <a:solidFill>
                  <a:srgbClr val="008000"/>
                </a:solidFill>
                <a:latin typeface="Consolas"/>
                <a:cs typeface="Consolas"/>
              </a:rPr>
              <a:t>(“fox”, 1)</a:t>
            </a:r>
          </a:p>
          <a:p>
            <a:pPr>
              <a:spcBef>
                <a:spcPts val="1400"/>
              </a:spcBef>
            </a:pPr>
            <a:r>
              <a:rPr lang="en-US" sz="2000" dirty="0">
                <a:solidFill>
                  <a:srgbClr val="008000"/>
                </a:solidFill>
                <a:latin typeface="Consolas"/>
                <a:cs typeface="Consolas"/>
              </a:rPr>
              <a:t>(“gene_77”, [1, 2, 4, 3, 2, 7])</a:t>
            </a:r>
          </a:p>
          <a:p>
            <a:pPr>
              <a:spcBef>
                <a:spcPts val="1400"/>
              </a:spcBef>
            </a:pPr>
            <a:r>
              <a:rPr lang="en-US" sz="2000" dirty="0">
                <a:solidFill>
                  <a:srgbClr val="008000"/>
                </a:solidFill>
                <a:latin typeface="Consolas"/>
                <a:cs typeface="Consolas"/>
              </a:rPr>
              <a:t>(“</a:t>
            </a:r>
            <a:r>
              <a:rPr lang="en-US" sz="2000" dirty="0" err="1">
                <a:solidFill>
                  <a:srgbClr val="008000"/>
                </a:solidFill>
                <a:latin typeface="Consolas"/>
                <a:cs typeface="Consolas"/>
              </a:rPr>
              <a:t>alex</a:t>
            </a:r>
            <a:r>
              <a:rPr lang="en-US" sz="2000" dirty="0">
                <a:solidFill>
                  <a:srgbClr val="008000"/>
                </a:solidFill>
                <a:latin typeface="Consolas"/>
                <a:cs typeface="Consolas"/>
              </a:rPr>
              <a:t>”, (20, 30))</a:t>
            </a:r>
          </a:p>
          <a:p>
            <a:pPr>
              <a:spcBef>
                <a:spcPts val="1400"/>
              </a:spcBef>
            </a:pPr>
            <a:r>
              <a:rPr lang="en-US" sz="2000" dirty="0">
                <a:solidFill>
                  <a:srgbClr val="008000"/>
                </a:solidFill>
                <a:latin typeface="Consolas"/>
                <a:cs typeface="Consolas"/>
              </a:rPr>
              <a:t>((“USA”, “Cupertino”), (1, 3, 8))</a:t>
            </a:r>
          </a:p>
        </p:txBody>
      </p:sp>
    </p:spTree>
    <p:extLst>
      <p:ext uri="{BB962C8B-B14F-4D97-AF65-F5344CB8AC3E}">
        <p14:creationId xmlns:p14="http://schemas.microsoft.com/office/powerpoint/2010/main" val="350924523"/>
      </p:ext>
    </p:extLst>
  </p:cSld>
  <p:clrMapOvr>
    <a:masterClrMapping/>
  </p:clrMapOvr>
  <p:transition spd="med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801"/>
            <a:ext cx="7886700" cy="685800"/>
          </a:xfrm>
        </p:spPr>
        <p:txBody>
          <a:bodyPr>
            <a:noAutofit/>
          </a:bodyPr>
          <a:lstStyle/>
          <a:p>
            <a:r>
              <a:rPr lang="en-US" sz="4000" dirty="0"/>
              <a:t>Some Key-Value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066802"/>
            <a:ext cx="8318975" cy="5105400"/>
          </a:xfrm>
        </p:spPr>
        <p:txBody>
          <a:bodyPr>
            <a:normAutofit fontScale="92500" lnSpcReduction="20000"/>
          </a:bodyPr>
          <a:lstStyle/>
          <a:p>
            <a:pPr marL="0" indent="0">
              <a:buClr>
                <a:schemeClr val="bg1">
                  <a:lumMod val="75000"/>
                </a:schemeClr>
              </a:buClr>
              <a:buNone/>
            </a:pPr>
            <a:r>
              <a:rPr lang="en-US" sz="1800" dirty="0">
                <a:solidFill>
                  <a:srgbClr val="00B050"/>
                </a:solidFill>
                <a:latin typeface="Lucida Console"/>
                <a:cs typeface="Lucida Console"/>
              </a:rPr>
              <a:t># </a:t>
            </a:r>
            <a:r>
              <a:rPr lang="en-US" sz="1800" dirty="0" err="1">
                <a:solidFill>
                  <a:srgbClr val="00B050"/>
                </a:solidFill>
                <a:latin typeface="Lucida Console"/>
                <a:cs typeface="Lucida Console"/>
              </a:rPr>
              <a:t>rdd</a:t>
            </a:r>
            <a:r>
              <a:rPr lang="en-US" sz="1800" dirty="0">
                <a:solidFill>
                  <a:srgbClr val="00B050"/>
                </a:solidFill>
                <a:latin typeface="Lucida Console"/>
                <a:cs typeface="Lucida Console"/>
              </a:rPr>
              <a:t> : RDD[(String, Integer)]</a:t>
            </a:r>
          </a:p>
          <a:p>
            <a:pPr marL="0" indent="0">
              <a:buClr>
                <a:schemeClr val="bg1">
                  <a:lumMod val="75000"/>
                </a:schemeClr>
              </a:buClr>
              <a:buNone/>
            </a:pPr>
            <a:r>
              <a:rPr lang="en-US" sz="1800" dirty="0">
                <a:latin typeface="Lucida Console"/>
                <a:cs typeface="Lucida Console"/>
              </a:rPr>
              <a:t>pets = [(</a:t>
            </a:r>
            <a:r>
              <a:rPr lang="en-US" sz="1800" dirty="0">
                <a:solidFill>
                  <a:srgbClr val="000090"/>
                </a:solidFill>
                <a:latin typeface="Lucida Console"/>
                <a:cs typeface="Lucida Console"/>
              </a:rPr>
              <a:t>“cat”</a:t>
            </a:r>
            <a:r>
              <a:rPr lang="en-US" sz="1800" dirty="0">
                <a:latin typeface="Lucida Console"/>
                <a:cs typeface="Lucida Console"/>
              </a:rPr>
              <a:t>, 2), (</a:t>
            </a:r>
            <a:r>
              <a:rPr lang="en-US" sz="1800" dirty="0">
                <a:solidFill>
                  <a:srgbClr val="000090"/>
                </a:solidFill>
                <a:latin typeface="Lucida Console"/>
                <a:cs typeface="Lucida Console"/>
              </a:rPr>
              <a:t>“dog”</a:t>
            </a:r>
            <a:r>
              <a:rPr lang="en-US" sz="1800" dirty="0">
                <a:latin typeface="Lucida Console"/>
                <a:cs typeface="Lucida Console"/>
              </a:rPr>
              <a:t>, 3), (</a:t>
            </a:r>
            <a:r>
              <a:rPr lang="en-US" sz="1800" dirty="0">
                <a:solidFill>
                  <a:srgbClr val="000090"/>
                </a:solidFill>
                <a:latin typeface="Lucida Console"/>
                <a:cs typeface="Lucida Console"/>
              </a:rPr>
              <a:t>“dog”</a:t>
            </a:r>
            <a:r>
              <a:rPr lang="en-US" sz="1800" dirty="0">
                <a:latin typeface="Lucida Console"/>
                <a:cs typeface="Lucida Console"/>
              </a:rPr>
              <a:t>, 5), (</a:t>
            </a:r>
            <a:r>
              <a:rPr lang="en-US" sz="1800" dirty="0">
                <a:solidFill>
                  <a:srgbClr val="000090"/>
                </a:solidFill>
                <a:latin typeface="Lucida Console"/>
                <a:cs typeface="Lucida Console"/>
              </a:rPr>
              <a:t>“cat”</a:t>
            </a:r>
            <a:r>
              <a:rPr lang="en-US" sz="1800" dirty="0">
                <a:latin typeface="Lucida Console"/>
                <a:cs typeface="Lucida Console"/>
              </a:rPr>
              <a:t>, 4)])</a:t>
            </a:r>
          </a:p>
          <a:p>
            <a:pPr marL="0" indent="0">
              <a:buClr>
                <a:schemeClr val="bg1">
                  <a:lumMod val="75000"/>
                </a:schemeClr>
              </a:buClr>
              <a:buNone/>
            </a:pPr>
            <a:r>
              <a:rPr lang="en-US" sz="1900" dirty="0" err="1">
                <a:latin typeface="Lucida Console"/>
                <a:cs typeface="Lucida Console"/>
              </a:rPr>
              <a:t>rdd</a:t>
            </a:r>
            <a:r>
              <a:rPr lang="en-US" sz="1900" dirty="0">
                <a:latin typeface="Lucida Console"/>
                <a:cs typeface="Lucida Console"/>
              </a:rPr>
              <a:t> = = </a:t>
            </a:r>
            <a:r>
              <a:rPr lang="en-US" sz="1900" dirty="0" err="1">
                <a:latin typeface="Lucida Console"/>
                <a:cs typeface="Lucida Console"/>
              </a:rPr>
              <a:t>sc.parallelize</a:t>
            </a:r>
            <a:r>
              <a:rPr lang="en-US" sz="1900" dirty="0">
                <a:latin typeface="Lucida Console"/>
                <a:cs typeface="Lucida Console"/>
              </a:rPr>
              <a:t>(pets)</a:t>
            </a:r>
            <a:br>
              <a:rPr lang="en-US" sz="1900" dirty="0">
                <a:latin typeface="Lucida Console"/>
                <a:cs typeface="Lucida Console"/>
              </a:rPr>
            </a:br>
            <a:r>
              <a:rPr lang="en-US" sz="1900" dirty="0">
                <a:latin typeface="Lucida Console"/>
                <a:cs typeface="Lucida Console"/>
              </a:rPr>
              <a:t>  </a:t>
            </a:r>
          </a:p>
          <a:p>
            <a:pPr marL="0" indent="0">
              <a:buClr>
                <a:schemeClr val="bg1">
                  <a:lumMod val="75000"/>
                </a:schemeClr>
              </a:buClr>
              <a:buNone/>
            </a:pPr>
            <a:r>
              <a:rPr lang="en-US" sz="1900" dirty="0">
                <a:solidFill>
                  <a:srgbClr val="00B050"/>
                </a:solidFill>
                <a:latin typeface="Lucida Console"/>
                <a:cs typeface="Lucida Console"/>
              </a:rPr>
              <a:t># apply reduction on (key, value) pairs</a:t>
            </a:r>
          </a:p>
          <a:p>
            <a:pPr marL="0" indent="0">
              <a:buClr>
                <a:schemeClr val="bg1">
                  <a:lumMod val="75000"/>
                </a:schemeClr>
              </a:buClr>
              <a:buNone/>
            </a:pPr>
            <a:r>
              <a:rPr lang="en-US" sz="1900" dirty="0">
                <a:latin typeface="Lucida Console"/>
                <a:cs typeface="Lucida Console"/>
              </a:rPr>
              <a:t>reduced = </a:t>
            </a:r>
            <a:r>
              <a:rPr lang="en-US" sz="1900" dirty="0" err="1">
                <a:latin typeface="Lucida Console"/>
                <a:cs typeface="Lucida Console"/>
              </a:rPr>
              <a:t>pets.</a:t>
            </a:r>
            <a:r>
              <a:rPr lang="en-US" sz="1900" dirty="0" err="1">
                <a:solidFill>
                  <a:srgbClr val="3366FF"/>
                </a:solidFill>
                <a:latin typeface="Lucida Console"/>
                <a:cs typeface="Lucida Console"/>
              </a:rPr>
              <a:t>reduceByKey</a:t>
            </a:r>
            <a:r>
              <a:rPr lang="en-US" sz="1900" dirty="0">
                <a:latin typeface="Lucida Console"/>
                <a:cs typeface="Lucida Console"/>
              </a:rPr>
              <a:t>(</a:t>
            </a:r>
            <a:r>
              <a:rPr lang="en-US" sz="1900" dirty="0">
                <a:solidFill>
                  <a:srgbClr val="FF0080"/>
                </a:solidFill>
                <a:latin typeface="Lucida Console"/>
                <a:cs typeface="Lucida Console"/>
              </a:rPr>
              <a:t>lambda x, y: x + y</a:t>
            </a:r>
            <a:r>
              <a:rPr lang="en-US" sz="1900" dirty="0">
                <a:latin typeface="Lucida Console"/>
                <a:cs typeface="Lucida Console"/>
              </a:rPr>
              <a:t>)</a:t>
            </a:r>
            <a:br>
              <a:rPr lang="en-US" sz="1900" dirty="0">
                <a:latin typeface="Lucida Console"/>
                <a:cs typeface="Lucida Console"/>
              </a:rPr>
            </a:br>
            <a:r>
              <a:rPr lang="en-US" sz="1900" dirty="0">
                <a:solidFill>
                  <a:srgbClr val="008040"/>
                </a:solidFill>
                <a:latin typeface="Lucida Console"/>
                <a:cs typeface="Lucida Console"/>
              </a:rPr>
              <a:t># =&gt; {(cat, 6), (dog, 8)}</a:t>
            </a:r>
          </a:p>
          <a:p>
            <a:pPr marL="0" indent="0">
              <a:buClr>
                <a:schemeClr val="bg1">
                  <a:lumMod val="75000"/>
                </a:schemeClr>
              </a:buClr>
              <a:buNone/>
            </a:pPr>
            <a:endParaRPr lang="en-US" sz="1900" dirty="0">
              <a:latin typeface="Lucida Console"/>
              <a:cs typeface="Lucida Console"/>
            </a:endParaRPr>
          </a:p>
          <a:p>
            <a:pPr marL="0" indent="0">
              <a:buClr>
                <a:schemeClr val="bg1">
                  <a:lumMod val="75000"/>
                </a:schemeClr>
              </a:buClr>
              <a:buNone/>
            </a:pPr>
            <a:r>
              <a:rPr lang="en-US" sz="1900" dirty="0">
                <a:solidFill>
                  <a:srgbClr val="00B050"/>
                </a:solidFill>
                <a:latin typeface="Lucida Console"/>
                <a:cs typeface="Lucida Console"/>
              </a:rPr>
              <a:t># apply reduction on (key, value) pairs</a:t>
            </a:r>
          </a:p>
          <a:p>
            <a:pPr marL="0" indent="0">
              <a:buClr>
                <a:schemeClr val="bg1">
                  <a:lumMod val="75000"/>
                </a:schemeClr>
              </a:buClr>
              <a:buNone/>
            </a:pPr>
            <a:r>
              <a:rPr lang="en-US" sz="1900" dirty="0">
                <a:latin typeface="Lucida Console"/>
                <a:cs typeface="Lucida Console"/>
              </a:rPr>
              <a:t>grouped = </a:t>
            </a:r>
            <a:r>
              <a:rPr lang="en-US" sz="1900" dirty="0" err="1">
                <a:latin typeface="Lucida Console"/>
                <a:cs typeface="Lucida Console"/>
              </a:rPr>
              <a:t>pets.</a:t>
            </a:r>
            <a:r>
              <a:rPr lang="en-US" sz="1900" dirty="0" err="1">
                <a:solidFill>
                  <a:srgbClr val="3366FF"/>
                </a:solidFill>
                <a:latin typeface="Lucida Console"/>
                <a:cs typeface="Lucida Console"/>
              </a:rPr>
              <a:t>groupByKey</a:t>
            </a:r>
            <a:r>
              <a:rPr lang="en-US" sz="1900" dirty="0">
                <a:latin typeface="Lucida Console"/>
                <a:cs typeface="Lucida Console"/>
              </a:rPr>
              <a:t>() </a:t>
            </a:r>
          </a:p>
          <a:p>
            <a:pPr marL="0" indent="0">
              <a:buClr>
                <a:schemeClr val="bg1">
                  <a:lumMod val="75000"/>
                </a:schemeClr>
              </a:buClr>
              <a:buNone/>
            </a:pPr>
            <a:r>
              <a:rPr lang="en-US" sz="1900" dirty="0">
                <a:solidFill>
                  <a:srgbClr val="008040"/>
                </a:solidFill>
                <a:latin typeface="Lucida Console"/>
                <a:cs typeface="Lucida Console"/>
              </a:rPr>
              <a:t># =&gt; {(cat, [2, 4]), (dog, [3, 5])}</a:t>
            </a:r>
          </a:p>
          <a:p>
            <a:pPr marL="0" indent="0">
              <a:buClr>
                <a:schemeClr val="bg1">
                  <a:lumMod val="75000"/>
                </a:schemeClr>
              </a:buClr>
              <a:buNone/>
            </a:pPr>
            <a:endParaRPr lang="en-US" sz="1900" dirty="0">
              <a:latin typeface="Lucida Console"/>
              <a:cs typeface="Lucida Console"/>
            </a:endParaRPr>
          </a:p>
          <a:p>
            <a:pPr marL="0" indent="0">
              <a:buClr>
                <a:schemeClr val="bg1">
                  <a:lumMod val="75000"/>
                </a:schemeClr>
              </a:buClr>
              <a:buNone/>
            </a:pPr>
            <a:r>
              <a:rPr lang="en-US" sz="1900" dirty="0">
                <a:latin typeface="Lucida Console"/>
                <a:cs typeface="Lucida Console"/>
              </a:rPr>
              <a:t>sorted = </a:t>
            </a:r>
            <a:r>
              <a:rPr lang="en-US" sz="1900" dirty="0" err="1">
                <a:latin typeface="Lucida Console"/>
                <a:cs typeface="Lucida Console"/>
              </a:rPr>
              <a:t>pets.</a:t>
            </a:r>
            <a:r>
              <a:rPr lang="en-US" sz="1900" dirty="0" err="1">
                <a:solidFill>
                  <a:srgbClr val="3366FF"/>
                </a:solidFill>
                <a:latin typeface="Lucida Console"/>
                <a:cs typeface="Lucida Console"/>
              </a:rPr>
              <a:t>sortByKey</a:t>
            </a:r>
            <a:r>
              <a:rPr lang="en-US" sz="1900" dirty="0">
                <a:latin typeface="Lucida Console"/>
                <a:cs typeface="Lucida Console"/>
              </a:rPr>
              <a:t>() </a:t>
            </a:r>
            <a:r>
              <a:rPr lang="en-US" sz="1900" dirty="0">
                <a:solidFill>
                  <a:srgbClr val="008040"/>
                </a:solidFill>
                <a:latin typeface="Lucida Console"/>
                <a:cs typeface="Lucida Console"/>
              </a:rPr>
              <a:t> </a:t>
            </a:r>
          </a:p>
          <a:p>
            <a:pPr marL="0" indent="0">
              <a:buClr>
                <a:schemeClr val="bg1">
                  <a:lumMod val="75000"/>
                </a:schemeClr>
              </a:buClr>
              <a:buNone/>
            </a:pPr>
            <a:r>
              <a:rPr lang="en-US" sz="1900" dirty="0">
                <a:solidFill>
                  <a:srgbClr val="008040"/>
                </a:solidFill>
                <a:latin typeface="Lucida Console"/>
                <a:cs typeface="Lucida Console"/>
              </a:rPr>
              <a:t>=&gt; {(cat, 2), (cat, 4), (dog, 3) (dog, 5)}</a:t>
            </a:r>
          </a:p>
          <a:p>
            <a:pPr marL="0" indent="0">
              <a:buNone/>
            </a:pPr>
            <a:endParaRPr lang="en-US" sz="1400" dirty="0">
              <a:latin typeface="Lucida Console"/>
              <a:cs typeface="Lucida Console"/>
            </a:endParaRPr>
          </a:p>
          <a:p>
            <a:pPr marL="0" indent="0">
              <a:buNone/>
            </a:pPr>
            <a:r>
              <a:rPr lang="en-US" sz="1400" dirty="0">
                <a:latin typeface="Lucida Console"/>
                <a:cs typeface="Lucida Console"/>
              </a:rPr>
              <a:t>NOTE: </a:t>
            </a:r>
            <a:r>
              <a:rPr lang="en-US" sz="1400" dirty="0" err="1">
                <a:latin typeface="Lucida Console"/>
                <a:cs typeface="Lucida Console"/>
              </a:rPr>
              <a:t>reduceByKey</a:t>
            </a:r>
            <a:r>
              <a:rPr lang="en-US" sz="1400" dirty="0">
                <a:latin typeface="Lucida Console"/>
                <a:cs typeface="Lucida Console"/>
              </a:rPr>
              <a:t>()</a:t>
            </a:r>
            <a:r>
              <a:rPr lang="en-US" sz="1800" dirty="0">
                <a:cs typeface="Lucida Console"/>
              </a:rPr>
              <a:t> also automatically implements combiners on the map side</a:t>
            </a:r>
          </a:p>
        </p:txBody>
      </p:sp>
    </p:spTree>
    <p:extLst>
      <p:ext uri="{BB962C8B-B14F-4D97-AF65-F5344CB8AC3E}">
        <p14:creationId xmlns:p14="http://schemas.microsoft.com/office/powerpoint/2010/main" val="3624318549"/>
      </p:ext>
    </p:extLst>
  </p:cSld>
  <p:clrMapOvr>
    <a:masterClrMapping/>
  </p:clrMapOvr>
  <p:transition spd="med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545141"/>
            <a:ext cx="8229600" cy="674060"/>
          </a:xfrm>
        </p:spPr>
        <p:txBody>
          <a:bodyPr>
            <a:normAutofit/>
          </a:bodyPr>
          <a:lstStyle/>
          <a:p>
            <a:r>
              <a:rPr lang="en-US" sz="4000" dirty="0"/>
              <a:t>Example: Word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6344"/>
            <a:ext cx="8229600" cy="2009468"/>
          </a:xfrm>
        </p:spPr>
        <p:txBody>
          <a:bodyPr>
            <a:normAutofit/>
          </a:bodyPr>
          <a:lstStyle/>
          <a:p>
            <a:pPr>
              <a:buClr>
                <a:schemeClr val="bg1">
                  <a:lumMod val="75000"/>
                </a:schemeClr>
              </a:buClr>
              <a:buFont typeface="Lucida Grande"/>
              <a:buChar char="&gt;"/>
            </a:pPr>
            <a:r>
              <a:rPr lang="en-US" sz="1800" dirty="0">
                <a:latin typeface="Lucida Console"/>
                <a:cs typeface="Lucida Console"/>
              </a:rPr>
              <a:t> </a:t>
            </a:r>
            <a:r>
              <a:rPr lang="en-US" sz="1800" dirty="0">
                <a:solidFill>
                  <a:srgbClr val="00B050"/>
                </a:solidFill>
                <a:latin typeface="Lucida Console"/>
                <a:cs typeface="Lucida Console"/>
              </a:rPr>
              <a:t># </a:t>
            </a:r>
            <a:r>
              <a:rPr lang="en-US" sz="1800" dirty="0" err="1">
                <a:solidFill>
                  <a:srgbClr val="00B050"/>
                </a:solidFill>
                <a:latin typeface="Lucida Console"/>
                <a:cs typeface="Lucida Console"/>
              </a:rPr>
              <a:t>sc</a:t>
            </a:r>
            <a:r>
              <a:rPr lang="en-US" sz="1800" dirty="0">
                <a:solidFill>
                  <a:srgbClr val="00B050"/>
                </a:solidFill>
                <a:latin typeface="Lucida Console"/>
                <a:cs typeface="Lucida Console"/>
              </a:rPr>
              <a:t> : SparkContext</a:t>
            </a:r>
          </a:p>
          <a:p>
            <a:pPr>
              <a:buClr>
                <a:schemeClr val="bg1">
                  <a:lumMod val="75000"/>
                </a:schemeClr>
              </a:buClr>
              <a:buFont typeface="Lucida Grande"/>
              <a:buChar char="&gt;"/>
            </a:pPr>
            <a:r>
              <a:rPr lang="en-US" sz="1800" dirty="0">
                <a:latin typeface="Lucida Console"/>
                <a:cs typeface="Lucida Console"/>
              </a:rPr>
              <a:t> lines = </a:t>
            </a:r>
            <a:r>
              <a:rPr lang="en-US" sz="1800" dirty="0" err="1">
                <a:latin typeface="Lucida Console"/>
                <a:cs typeface="Lucida Console"/>
              </a:rPr>
              <a:t>sc.textFile</a:t>
            </a:r>
            <a:r>
              <a:rPr lang="en-US" sz="1800" dirty="0">
                <a:latin typeface="Lucida Console"/>
                <a:cs typeface="Lucida Console"/>
              </a:rPr>
              <a:t>(</a:t>
            </a:r>
            <a:r>
              <a:rPr lang="en-US" sz="1800" dirty="0">
                <a:solidFill>
                  <a:srgbClr val="000090"/>
                </a:solidFill>
                <a:latin typeface="Lucida Console"/>
                <a:cs typeface="Lucida Console"/>
              </a:rPr>
              <a:t>“</a:t>
            </a:r>
            <a:r>
              <a:rPr lang="en-US" sz="1800" dirty="0" err="1">
                <a:solidFill>
                  <a:srgbClr val="000090"/>
                </a:solidFill>
                <a:latin typeface="Lucida Console"/>
                <a:cs typeface="Lucida Console"/>
              </a:rPr>
              <a:t>hamlet.txt</a:t>
            </a:r>
            <a:r>
              <a:rPr lang="en-US" sz="1800" dirty="0">
                <a:solidFill>
                  <a:srgbClr val="000090"/>
                </a:solidFill>
                <a:latin typeface="Lucida Console"/>
                <a:cs typeface="Lucida Console"/>
              </a:rPr>
              <a:t>”</a:t>
            </a:r>
            <a:r>
              <a:rPr lang="en-US" sz="1800" dirty="0">
                <a:latin typeface="Lucida Console"/>
                <a:cs typeface="Lucida Console"/>
              </a:rPr>
              <a:t>)</a:t>
            </a:r>
          </a:p>
          <a:p>
            <a:pPr>
              <a:buClr>
                <a:schemeClr val="bg1">
                  <a:lumMod val="75000"/>
                </a:schemeClr>
              </a:buClr>
              <a:buFont typeface="Lucida Grande"/>
              <a:buChar char="&gt;"/>
            </a:pPr>
            <a:r>
              <a:rPr lang="en-US" sz="1800" dirty="0">
                <a:latin typeface="Lucida Console"/>
                <a:cs typeface="Lucida Console"/>
              </a:rPr>
              <a:t> counts = </a:t>
            </a:r>
            <a:r>
              <a:rPr lang="en-US" sz="1800" dirty="0" err="1">
                <a:latin typeface="Lucida Console"/>
                <a:cs typeface="Lucida Console"/>
              </a:rPr>
              <a:t>lines.</a:t>
            </a:r>
            <a:r>
              <a:rPr lang="en-US" sz="1800" dirty="0" err="1">
                <a:solidFill>
                  <a:srgbClr val="3366FF"/>
                </a:solidFill>
                <a:latin typeface="Lucida Console"/>
                <a:cs typeface="Lucida Console"/>
              </a:rPr>
              <a:t>flatMap</a:t>
            </a:r>
            <a:r>
              <a:rPr lang="en-US" sz="1800" dirty="0">
                <a:latin typeface="Lucida Console"/>
                <a:cs typeface="Lucida Console"/>
              </a:rPr>
              <a:t>(</a:t>
            </a:r>
            <a:r>
              <a:rPr lang="en-US" sz="1800" dirty="0">
                <a:solidFill>
                  <a:srgbClr val="FF0080"/>
                </a:solidFill>
                <a:latin typeface="Lucida Console"/>
                <a:cs typeface="Lucida Console"/>
              </a:rPr>
              <a:t>lambda line: </a:t>
            </a:r>
            <a:r>
              <a:rPr lang="en-US" sz="1800" dirty="0" err="1">
                <a:solidFill>
                  <a:srgbClr val="FF0080"/>
                </a:solidFill>
                <a:latin typeface="Lucida Console"/>
                <a:cs typeface="Lucida Console"/>
              </a:rPr>
              <a:t>line.split</a:t>
            </a:r>
            <a:r>
              <a:rPr lang="en-US" sz="1800" dirty="0">
                <a:solidFill>
                  <a:srgbClr val="FF0080"/>
                </a:solidFill>
                <a:latin typeface="Lucida Console"/>
                <a:cs typeface="Lucida Console"/>
              </a:rPr>
              <a:t>(“ ”)</a:t>
            </a:r>
            <a:r>
              <a:rPr lang="en-US" sz="1800" dirty="0">
                <a:latin typeface="Lucida Console"/>
                <a:cs typeface="Lucida Console"/>
              </a:rPr>
              <a:t>)\</a:t>
            </a:r>
            <a:br>
              <a:rPr lang="en-US" sz="1800" dirty="0">
                <a:latin typeface="Lucida Console"/>
                <a:cs typeface="Lucida Console"/>
              </a:rPr>
            </a:br>
            <a:r>
              <a:rPr lang="en-US" sz="1800" dirty="0">
                <a:latin typeface="Lucida Console"/>
                <a:cs typeface="Lucida Console"/>
              </a:rPr>
              <a:t>              .</a:t>
            </a:r>
            <a:r>
              <a:rPr lang="en-US" sz="1800" dirty="0">
                <a:solidFill>
                  <a:srgbClr val="3366FF"/>
                </a:solidFill>
                <a:latin typeface="Lucida Console"/>
                <a:cs typeface="Lucida Console"/>
              </a:rPr>
              <a:t>map</a:t>
            </a:r>
            <a:r>
              <a:rPr lang="en-US" sz="1800" dirty="0">
                <a:latin typeface="Lucida Console"/>
                <a:cs typeface="Lucida Console"/>
              </a:rPr>
              <a:t>(</a:t>
            </a:r>
            <a:r>
              <a:rPr lang="en-US" sz="1800" dirty="0">
                <a:solidFill>
                  <a:srgbClr val="FF0080"/>
                </a:solidFill>
                <a:latin typeface="Lucida Console"/>
                <a:cs typeface="Lucida Console"/>
              </a:rPr>
              <a:t>lambda word =&gt; (word, 1)</a:t>
            </a:r>
            <a:r>
              <a:rPr lang="en-US" sz="1800" dirty="0">
                <a:latin typeface="Lucida Console"/>
                <a:cs typeface="Lucida Console"/>
              </a:rPr>
              <a:t>)\</a:t>
            </a:r>
            <a:br>
              <a:rPr lang="en-US" sz="1800" dirty="0">
                <a:latin typeface="Lucida Console"/>
                <a:cs typeface="Lucida Console"/>
              </a:rPr>
            </a:br>
            <a:r>
              <a:rPr lang="en-US" sz="1800" dirty="0">
                <a:latin typeface="Lucida Console"/>
                <a:cs typeface="Lucida Console"/>
              </a:rPr>
              <a:t>              .</a:t>
            </a:r>
            <a:r>
              <a:rPr lang="en-US" sz="1800" dirty="0" err="1">
                <a:solidFill>
                  <a:srgbClr val="3366FF"/>
                </a:solidFill>
                <a:latin typeface="Lucida Console"/>
                <a:cs typeface="Lucida Console"/>
              </a:rPr>
              <a:t>reduceByKey</a:t>
            </a:r>
            <a:r>
              <a:rPr lang="en-US" sz="1800" dirty="0">
                <a:latin typeface="Lucida Console"/>
                <a:cs typeface="Lucida Console"/>
              </a:rPr>
              <a:t>(</a:t>
            </a:r>
            <a:r>
              <a:rPr lang="en-US" sz="1800" dirty="0">
                <a:solidFill>
                  <a:srgbClr val="FF0080"/>
                </a:solidFill>
                <a:latin typeface="Lucida Console"/>
                <a:cs typeface="Lucida Console"/>
              </a:rPr>
              <a:t>lambda x, y: x + y</a:t>
            </a:r>
            <a:r>
              <a:rPr lang="en-US" sz="1800" dirty="0">
                <a:latin typeface="Lucida Console"/>
                <a:cs typeface="Lucida Console"/>
              </a:rPr>
              <a:t>)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762000" y="3505812"/>
            <a:ext cx="6642533" cy="2196728"/>
            <a:chOff x="1364823" y="4724400"/>
            <a:chExt cx="5926182" cy="2079313"/>
          </a:xfrm>
        </p:grpSpPr>
        <p:sp>
          <p:nvSpPr>
            <p:cNvPr id="5" name="TextBox 4"/>
            <p:cNvSpPr txBox="1"/>
            <p:nvPr/>
          </p:nvSpPr>
          <p:spPr>
            <a:xfrm>
              <a:off x="1364823" y="5080000"/>
              <a:ext cx="1091476" cy="3787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Corbel"/>
                  <a:cs typeface="Corbel"/>
                </a:rPr>
                <a:t>“to be or”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364823" y="6146741"/>
              <a:ext cx="1197127" cy="3787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Corbel"/>
                  <a:cs typeface="Corbel"/>
                </a:rPr>
                <a:t>“not to be”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56599" y="4724400"/>
              <a:ext cx="588070" cy="9613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Corbel"/>
                  <a:cs typeface="Corbel"/>
                </a:rPr>
                <a:t>“to”</a:t>
              </a:r>
              <a:br>
                <a:rPr lang="en-US" sz="2000" dirty="0">
                  <a:latin typeface="Corbel"/>
                  <a:cs typeface="Corbel"/>
                </a:rPr>
              </a:br>
              <a:r>
                <a:rPr lang="en-US" sz="2000" dirty="0">
                  <a:latin typeface="Corbel"/>
                  <a:cs typeface="Corbel"/>
                </a:rPr>
                <a:t>“be”</a:t>
              </a:r>
              <a:br>
                <a:rPr lang="en-US" sz="2000" dirty="0">
                  <a:latin typeface="Corbel"/>
                  <a:cs typeface="Corbel"/>
                </a:rPr>
              </a:br>
              <a:r>
                <a:rPr lang="en-US" sz="2000" dirty="0">
                  <a:latin typeface="Corbel"/>
                  <a:cs typeface="Corbel"/>
                </a:rPr>
                <a:t>“or”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56599" y="5842337"/>
              <a:ext cx="668157" cy="9613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Corbel"/>
                  <a:cs typeface="Corbel"/>
                </a:rPr>
                <a:t>“not”</a:t>
              </a:r>
              <a:br>
                <a:rPr lang="en-US" sz="2000" dirty="0">
                  <a:latin typeface="Corbel"/>
                  <a:cs typeface="Corbel"/>
                </a:rPr>
              </a:br>
              <a:r>
                <a:rPr lang="en-US" sz="2000" dirty="0">
                  <a:latin typeface="Corbel"/>
                  <a:cs typeface="Corbel"/>
                </a:rPr>
                <a:t>“to”</a:t>
              </a:r>
              <a:br>
                <a:rPr lang="en-US" sz="2000" dirty="0">
                  <a:latin typeface="Corbel"/>
                  <a:cs typeface="Corbel"/>
                </a:rPr>
              </a:br>
              <a:r>
                <a:rPr lang="en-US" sz="2000" dirty="0">
                  <a:latin typeface="Corbel"/>
                  <a:cs typeface="Corbel"/>
                </a:rPr>
                <a:t>“be”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761126" y="4724400"/>
              <a:ext cx="747082" cy="9613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Corbel"/>
                  <a:cs typeface="Corbel"/>
                </a:rPr>
                <a:t>(to, 1)</a:t>
              </a:r>
              <a:br>
                <a:rPr lang="en-US" sz="2000" dirty="0">
                  <a:latin typeface="Corbel"/>
                  <a:cs typeface="Corbel"/>
                </a:rPr>
              </a:br>
              <a:r>
                <a:rPr lang="en-US" sz="2000" dirty="0">
                  <a:latin typeface="Corbel"/>
                  <a:cs typeface="Corbel"/>
                </a:rPr>
                <a:t>(be, 1)</a:t>
              </a:r>
              <a:br>
                <a:rPr lang="en-US" sz="2000" dirty="0">
                  <a:latin typeface="Corbel"/>
                  <a:cs typeface="Corbel"/>
                </a:rPr>
              </a:br>
              <a:r>
                <a:rPr lang="en-US" sz="2000" dirty="0">
                  <a:latin typeface="Corbel"/>
                  <a:cs typeface="Corbel"/>
                </a:rPr>
                <a:t>(or, 1)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761126" y="5842337"/>
              <a:ext cx="830544" cy="9613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Corbel"/>
                  <a:cs typeface="Corbel"/>
                </a:rPr>
                <a:t>(not, 1)</a:t>
              </a:r>
              <a:br>
                <a:rPr lang="en-US" sz="2000" dirty="0">
                  <a:latin typeface="Corbel"/>
                  <a:cs typeface="Corbel"/>
                </a:rPr>
              </a:br>
              <a:r>
                <a:rPr lang="en-US" sz="2000" dirty="0">
                  <a:latin typeface="Corbel"/>
                  <a:cs typeface="Corbel"/>
                </a:rPr>
                <a:t>(to, 1)</a:t>
              </a:r>
              <a:br>
                <a:rPr lang="en-US" sz="2000" dirty="0">
                  <a:latin typeface="Corbel"/>
                  <a:cs typeface="Corbel"/>
                </a:rPr>
              </a:br>
              <a:r>
                <a:rPr lang="en-US" sz="2000" dirty="0">
                  <a:latin typeface="Corbel"/>
                  <a:cs typeface="Corbel"/>
                </a:rPr>
                <a:t>(be, 1)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460461" y="4885074"/>
              <a:ext cx="830544" cy="6700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Corbel"/>
                  <a:cs typeface="Corbel"/>
                </a:rPr>
                <a:t>(be, 2)</a:t>
              </a:r>
              <a:br>
                <a:rPr lang="en-US" sz="2000" dirty="0">
                  <a:latin typeface="Corbel"/>
                  <a:cs typeface="Corbel"/>
                </a:rPr>
              </a:br>
              <a:r>
                <a:rPr lang="en-US" sz="2000" dirty="0">
                  <a:latin typeface="Corbel"/>
                  <a:cs typeface="Corbel"/>
                </a:rPr>
                <a:t>(not, 1)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460461" y="6001851"/>
              <a:ext cx="726412" cy="6700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Corbel"/>
                  <a:cs typeface="Corbel"/>
                </a:rPr>
                <a:t>(or, 1)</a:t>
              </a:r>
            </a:p>
            <a:p>
              <a:r>
                <a:rPr lang="en-US" sz="2000" dirty="0">
                  <a:latin typeface="Corbel"/>
                  <a:cs typeface="Corbel"/>
                </a:rPr>
                <a:t>(to, 2)</a:t>
              </a:r>
            </a:p>
          </p:txBody>
        </p:sp>
        <p:cxnSp>
          <p:nvCxnSpPr>
            <p:cNvPr id="23" name="Straight Connector 22"/>
            <p:cNvCxnSpPr/>
            <p:nvPr/>
          </p:nvCxnSpPr>
          <p:spPr>
            <a:xfrm>
              <a:off x="2518918" y="5287749"/>
              <a:ext cx="670540" cy="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2518918" y="6357863"/>
              <a:ext cx="670540" cy="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3973353" y="5264150"/>
              <a:ext cx="670540" cy="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973353" y="6400800"/>
              <a:ext cx="670540" cy="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5640793" y="5219821"/>
              <a:ext cx="764090" cy="1125631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5640793" y="5215684"/>
              <a:ext cx="764090" cy="101768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flipV="1">
              <a:off x="5640793" y="5311916"/>
              <a:ext cx="764090" cy="1117432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flipV="1">
              <a:off x="5640793" y="6340732"/>
              <a:ext cx="764090" cy="101027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69758684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38200"/>
          </a:xfrm>
        </p:spPr>
        <p:txBody>
          <a:bodyPr/>
          <a:lstStyle/>
          <a:p>
            <a:r>
              <a:rPr lang="en-US" sz="3600" dirty="0"/>
              <a:t>Word Count in Java/JDK8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156" y="1447801"/>
            <a:ext cx="8318975" cy="4648200"/>
          </a:xfrm>
        </p:spPr>
        <p:txBody>
          <a:bodyPr>
            <a:noAutofit/>
          </a:bodyPr>
          <a:lstStyle/>
          <a:p>
            <a:pPr marL="0" indent="0">
              <a:buClr>
                <a:schemeClr val="bg1">
                  <a:lumMod val="75000"/>
                </a:schemeClr>
              </a:buClr>
              <a:buNone/>
            </a:pPr>
            <a:r>
              <a:rPr lang="en-US" sz="2000" dirty="0" err="1">
                <a:solidFill>
                  <a:srgbClr val="660066"/>
                </a:solidFill>
                <a:latin typeface="Lucida Console"/>
                <a:cs typeface="Lucida Console"/>
              </a:rPr>
              <a:t>JavaSparkContext</a:t>
            </a:r>
            <a:r>
              <a:rPr lang="en-US" sz="2000" dirty="0">
                <a:solidFill>
                  <a:srgbClr val="660066"/>
                </a:solidFill>
                <a:latin typeface="Lucida Console"/>
                <a:cs typeface="Lucida Console"/>
              </a:rPr>
              <a:t> </a:t>
            </a:r>
            <a:r>
              <a:rPr lang="en-US" sz="2000" dirty="0" err="1">
                <a:solidFill>
                  <a:srgbClr val="660066"/>
                </a:solidFill>
                <a:latin typeface="Lucida Console"/>
                <a:cs typeface="Lucida Console"/>
              </a:rPr>
              <a:t>sc</a:t>
            </a:r>
            <a:r>
              <a:rPr lang="en-US" sz="2000" dirty="0">
                <a:solidFill>
                  <a:srgbClr val="660066"/>
                </a:solidFill>
                <a:latin typeface="Lucida Console"/>
                <a:cs typeface="Lucida Console"/>
              </a:rPr>
              <a:t> = new </a:t>
            </a:r>
            <a:r>
              <a:rPr lang="en-US" sz="2000" dirty="0" err="1">
                <a:solidFill>
                  <a:srgbClr val="660066"/>
                </a:solidFill>
                <a:latin typeface="Lucida Console"/>
                <a:cs typeface="Lucida Console"/>
              </a:rPr>
              <a:t>JavaSparkContext</a:t>
            </a:r>
            <a:r>
              <a:rPr lang="en-US" sz="2000" dirty="0">
                <a:solidFill>
                  <a:srgbClr val="660066"/>
                </a:solidFill>
                <a:latin typeface="Lucida Console"/>
                <a:cs typeface="Lucida Console"/>
              </a:rPr>
              <a:t>();</a:t>
            </a:r>
          </a:p>
          <a:p>
            <a:pPr marL="0" indent="0">
              <a:buClr>
                <a:schemeClr val="bg1">
                  <a:lumMod val="75000"/>
                </a:schemeClr>
              </a:buClr>
              <a:buNone/>
            </a:pPr>
            <a:r>
              <a:rPr lang="en-US" sz="2000" dirty="0" err="1">
                <a:solidFill>
                  <a:srgbClr val="660066"/>
                </a:solidFill>
                <a:latin typeface="Lucida Console"/>
                <a:cs typeface="Lucida Console"/>
              </a:rPr>
              <a:t>JavaRDD</a:t>
            </a:r>
            <a:r>
              <a:rPr lang="en-US" sz="2000" dirty="0">
                <a:solidFill>
                  <a:srgbClr val="660066"/>
                </a:solidFill>
                <a:latin typeface="Lucida Console"/>
                <a:cs typeface="Lucida Console"/>
              </a:rPr>
              <a:t>&lt;String&gt; </a:t>
            </a:r>
            <a:r>
              <a:rPr lang="en-US" sz="2000" dirty="0" err="1">
                <a:solidFill>
                  <a:srgbClr val="660066"/>
                </a:solidFill>
                <a:latin typeface="Lucida Console"/>
                <a:cs typeface="Lucida Console"/>
              </a:rPr>
              <a:t>rdd</a:t>
            </a:r>
            <a:r>
              <a:rPr lang="en-US" sz="2000" dirty="0">
                <a:solidFill>
                  <a:srgbClr val="660066"/>
                </a:solidFill>
                <a:latin typeface="Lucida Console"/>
                <a:cs typeface="Lucida Console"/>
              </a:rPr>
              <a:t> = </a:t>
            </a:r>
            <a:r>
              <a:rPr lang="en-US" sz="2000" dirty="0" err="1">
                <a:solidFill>
                  <a:srgbClr val="660066"/>
                </a:solidFill>
                <a:latin typeface="Lucida Console"/>
                <a:cs typeface="Lucida Console"/>
              </a:rPr>
              <a:t>sc.textFile</a:t>
            </a:r>
            <a:r>
              <a:rPr lang="en-US" sz="2000" dirty="0">
                <a:solidFill>
                  <a:srgbClr val="660066"/>
                </a:solidFill>
                <a:latin typeface="Lucida Console"/>
                <a:cs typeface="Lucida Console"/>
              </a:rPr>
              <a:t>(</a:t>
            </a:r>
            <a:r>
              <a:rPr lang="en-US" sz="2000" dirty="0" err="1">
                <a:solidFill>
                  <a:srgbClr val="660066"/>
                </a:solidFill>
                <a:latin typeface="Lucida Console"/>
                <a:cs typeface="Lucida Console"/>
              </a:rPr>
              <a:t>inputPath</a:t>
            </a:r>
            <a:r>
              <a:rPr lang="en-US" sz="2000" dirty="0">
                <a:solidFill>
                  <a:srgbClr val="660066"/>
                </a:solidFill>
                <a:latin typeface="Lucida Console"/>
                <a:cs typeface="Lucida Console"/>
              </a:rPr>
              <a:t>);</a:t>
            </a:r>
          </a:p>
          <a:p>
            <a:pPr marL="0" indent="0">
              <a:buClr>
                <a:schemeClr val="bg1">
                  <a:lumMod val="75000"/>
                </a:schemeClr>
              </a:buClr>
              <a:buNone/>
            </a:pPr>
            <a:r>
              <a:rPr lang="en-US" sz="2000" dirty="0">
                <a:solidFill>
                  <a:srgbClr val="008000"/>
                </a:solidFill>
                <a:latin typeface="Lucida Console"/>
                <a:cs typeface="Lucida Console"/>
              </a:rPr>
              <a:t>// counts = (word: K, </a:t>
            </a:r>
            <a:r>
              <a:rPr lang="en-US" sz="2000" dirty="0" err="1">
                <a:solidFill>
                  <a:srgbClr val="008000"/>
                </a:solidFill>
                <a:latin typeface="Lucida Console"/>
                <a:cs typeface="Lucida Console"/>
              </a:rPr>
              <a:t>frequencey</a:t>
            </a:r>
            <a:r>
              <a:rPr lang="en-US" sz="2000" dirty="0">
                <a:solidFill>
                  <a:srgbClr val="008000"/>
                </a:solidFill>
                <a:latin typeface="Lucida Console"/>
                <a:cs typeface="Lucida Console"/>
              </a:rPr>
              <a:t>: V)</a:t>
            </a:r>
          </a:p>
          <a:p>
            <a:pPr marL="0" indent="0">
              <a:buClr>
                <a:schemeClr val="bg1">
                  <a:lumMod val="75000"/>
                </a:schemeClr>
              </a:buClr>
              <a:buNone/>
            </a:pPr>
            <a:r>
              <a:rPr lang="en-US" sz="2000" dirty="0" err="1">
                <a:latin typeface="Lucida Console"/>
                <a:cs typeface="Lucida Console"/>
              </a:rPr>
              <a:t>JavaPairRDD</a:t>
            </a:r>
            <a:r>
              <a:rPr lang="en-US" sz="2000" dirty="0">
                <a:latin typeface="Lucida Console"/>
                <a:cs typeface="Lucida Console"/>
              </a:rPr>
              <a:t>&lt;String, Integer&gt; counts = </a:t>
            </a:r>
            <a:r>
              <a:rPr lang="en-US" sz="2000" dirty="0" err="1">
                <a:latin typeface="Lucida Console"/>
                <a:cs typeface="Lucida Console"/>
              </a:rPr>
              <a:t>rdd</a:t>
            </a:r>
            <a:endParaRPr lang="en-US" sz="2000" dirty="0">
              <a:latin typeface="Lucida Console"/>
              <a:cs typeface="Lucida Console"/>
            </a:endParaRPr>
          </a:p>
          <a:p>
            <a:pPr marL="0" indent="0">
              <a:buClr>
                <a:schemeClr val="bg1">
                  <a:lumMod val="75000"/>
                </a:schemeClr>
              </a:buClr>
              <a:buNone/>
            </a:pPr>
            <a:r>
              <a:rPr lang="en-US" sz="2000" dirty="0">
                <a:latin typeface="Lucida Console"/>
                <a:cs typeface="Lucida Console"/>
              </a:rPr>
              <a:t>  .</a:t>
            </a:r>
            <a:r>
              <a:rPr lang="en-US" sz="2000" b="1" dirty="0" err="1">
                <a:solidFill>
                  <a:srgbClr val="0000FF"/>
                </a:solidFill>
                <a:latin typeface="Lucida Console"/>
                <a:cs typeface="Lucida Console"/>
              </a:rPr>
              <a:t>flatMap</a:t>
            </a:r>
            <a:r>
              <a:rPr lang="en-US" sz="2000" dirty="0">
                <a:latin typeface="Lucida Console"/>
                <a:cs typeface="Lucida Console"/>
              </a:rPr>
              <a:t>(x -&gt; </a:t>
            </a:r>
            <a:r>
              <a:rPr lang="en-US" sz="2000" dirty="0" err="1">
                <a:latin typeface="Lucida Console"/>
                <a:cs typeface="Lucida Console"/>
              </a:rPr>
              <a:t>Arrays.asList</a:t>
            </a:r>
            <a:r>
              <a:rPr lang="en-US" sz="2000" dirty="0">
                <a:latin typeface="Lucida Console"/>
                <a:cs typeface="Lucida Console"/>
              </a:rPr>
              <a:t>(</a:t>
            </a:r>
            <a:r>
              <a:rPr lang="en-US" sz="2000" dirty="0" err="1">
                <a:latin typeface="Lucida Console"/>
                <a:cs typeface="Lucida Console"/>
              </a:rPr>
              <a:t>x.split</a:t>
            </a:r>
            <a:r>
              <a:rPr lang="en-US" sz="2000" dirty="0">
                <a:latin typeface="Lucida Console"/>
                <a:cs typeface="Lucida Console"/>
              </a:rPr>
              <a:t>(" ")))</a:t>
            </a:r>
          </a:p>
          <a:p>
            <a:pPr marL="0" indent="0">
              <a:buClr>
                <a:schemeClr val="bg1">
                  <a:lumMod val="75000"/>
                </a:schemeClr>
              </a:buClr>
              <a:buNone/>
            </a:pPr>
            <a:r>
              <a:rPr lang="en-US" sz="2000" dirty="0">
                <a:latin typeface="Lucida Console"/>
                <a:cs typeface="Lucida Console"/>
              </a:rPr>
              <a:t>  .</a:t>
            </a:r>
            <a:r>
              <a:rPr lang="en-US" sz="2000" b="1" dirty="0" err="1">
                <a:solidFill>
                  <a:srgbClr val="0000FF"/>
                </a:solidFill>
                <a:latin typeface="Lucida Console"/>
                <a:cs typeface="Lucida Console"/>
              </a:rPr>
              <a:t>mapToPair</a:t>
            </a:r>
            <a:r>
              <a:rPr lang="en-US" sz="2000" dirty="0">
                <a:latin typeface="Lucida Console"/>
                <a:cs typeface="Lucida Console"/>
              </a:rPr>
              <a:t>(x -&gt; new Tuple2&lt;String, Integer&gt;(x, 1))</a:t>
            </a:r>
          </a:p>
          <a:p>
            <a:pPr marL="0" indent="0">
              <a:buClr>
                <a:schemeClr val="bg1">
                  <a:lumMod val="75000"/>
                </a:schemeClr>
              </a:buClr>
              <a:buNone/>
            </a:pPr>
            <a:r>
              <a:rPr lang="en-US" sz="2000" dirty="0">
                <a:latin typeface="Lucida Console"/>
                <a:cs typeface="Lucida Console"/>
              </a:rPr>
              <a:t>  .</a:t>
            </a:r>
            <a:r>
              <a:rPr lang="en-US" sz="2000" b="1" dirty="0" err="1">
                <a:solidFill>
                  <a:srgbClr val="0000FF"/>
                </a:solidFill>
                <a:latin typeface="Lucida Console"/>
                <a:cs typeface="Lucida Console"/>
              </a:rPr>
              <a:t>reduceByKey</a:t>
            </a:r>
            <a:r>
              <a:rPr lang="en-US" sz="2000" dirty="0">
                <a:latin typeface="Lucida Console"/>
                <a:cs typeface="Lucida Console"/>
              </a:rPr>
              <a:t>((x, y) -&gt; x + y);</a:t>
            </a:r>
          </a:p>
          <a:p>
            <a:pPr marL="0" indent="0">
              <a:buClr>
                <a:schemeClr val="bg1">
                  <a:lumMod val="75000"/>
                </a:schemeClr>
              </a:buClr>
              <a:buNone/>
            </a:pPr>
            <a:endParaRPr lang="en-US" sz="2000" dirty="0">
              <a:latin typeface="Lucida Console"/>
              <a:cs typeface="Lucida Console"/>
            </a:endParaRPr>
          </a:p>
          <a:p>
            <a:pPr marL="0" indent="0">
              <a:buClr>
                <a:schemeClr val="bg1">
                  <a:lumMod val="75000"/>
                </a:schemeClr>
              </a:buClr>
              <a:buNone/>
            </a:pPr>
            <a:r>
              <a:rPr lang="en-US" sz="2000" dirty="0" err="1">
                <a:latin typeface="Lucida Console"/>
                <a:cs typeface="Lucida Console"/>
              </a:rPr>
              <a:t>counts.saveAsTextFile</a:t>
            </a:r>
            <a:r>
              <a:rPr lang="en-US" sz="2000" dirty="0">
                <a:latin typeface="Lucida Console"/>
                <a:cs typeface="Lucida Console"/>
              </a:rPr>
              <a:t>(</a:t>
            </a:r>
            <a:r>
              <a:rPr lang="en-US" sz="2000" dirty="0" err="1">
                <a:latin typeface="Lucida Console"/>
                <a:cs typeface="Lucida Console"/>
              </a:rPr>
              <a:t>outputPath</a:t>
            </a:r>
            <a:r>
              <a:rPr lang="en-US" sz="2000" dirty="0">
                <a:latin typeface="Lucida Console"/>
                <a:cs typeface="Lucida Console"/>
              </a:rPr>
              <a:t>);</a:t>
            </a:r>
          </a:p>
          <a:p>
            <a:pPr marL="0" indent="0">
              <a:buClr>
                <a:schemeClr val="bg1">
                  <a:lumMod val="75000"/>
                </a:schemeClr>
              </a:buClr>
              <a:buNone/>
            </a:pPr>
            <a:endParaRPr lang="en-US" sz="2000" dirty="0">
              <a:latin typeface="Lucida Console"/>
              <a:cs typeface="Lucida Console"/>
            </a:endParaRPr>
          </a:p>
          <a:p>
            <a:pPr marL="0" indent="0">
              <a:buClr>
                <a:schemeClr val="bg1">
                  <a:lumMod val="75000"/>
                </a:schemeClr>
              </a:buClr>
              <a:buNone/>
            </a:pPr>
            <a:endParaRPr lang="en-US" sz="2000" dirty="0">
              <a:latin typeface="Lucida Console"/>
              <a:cs typeface="Lucida Console"/>
            </a:endParaRPr>
          </a:p>
        </p:txBody>
      </p:sp>
    </p:spTree>
    <p:extLst>
      <p:ext uri="{BB962C8B-B14F-4D97-AF65-F5344CB8AC3E}">
        <p14:creationId xmlns:p14="http://schemas.microsoft.com/office/powerpoint/2010/main" val="609380952"/>
      </p:ext>
    </p:extLst>
  </p:cSld>
  <p:clrMapOvr>
    <a:masterClrMapping/>
  </p:clrMapOvr>
  <p:transition spd="med"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US" sz="3600" dirty="0"/>
              <a:t>Other Key-Value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156" y="1671374"/>
            <a:ext cx="8318975" cy="4826561"/>
          </a:xfrm>
        </p:spPr>
        <p:txBody>
          <a:bodyPr>
            <a:noAutofit/>
          </a:bodyPr>
          <a:lstStyle/>
          <a:p>
            <a:pPr>
              <a:buClr>
                <a:schemeClr val="bg1">
                  <a:lumMod val="75000"/>
                </a:schemeClr>
              </a:buClr>
              <a:buFont typeface="Lucida Grande"/>
              <a:buChar char="&gt;"/>
            </a:pPr>
            <a:r>
              <a:rPr lang="en-US" sz="1600" dirty="0">
                <a:latin typeface="Lucida Console"/>
                <a:cs typeface="Lucida Console"/>
              </a:rPr>
              <a:t>visits = </a:t>
            </a:r>
            <a:r>
              <a:rPr lang="en-US" sz="1600" dirty="0" err="1">
                <a:latin typeface="Lucida Console"/>
                <a:cs typeface="Lucida Console"/>
              </a:rPr>
              <a:t>sc.parallelize</a:t>
            </a:r>
            <a:r>
              <a:rPr lang="en-US" sz="1600" dirty="0">
                <a:latin typeface="Lucida Console"/>
                <a:cs typeface="Lucida Console"/>
              </a:rPr>
              <a:t>([ (</a:t>
            </a:r>
            <a:r>
              <a:rPr lang="en-US" sz="1600" dirty="0">
                <a:solidFill>
                  <a:srgbClr val="000090"/>
                </a:solidFill>
                <a:latin typeface="Lucida Console"/>
                <a:cs typeface="Lucida Console"/>
              </a:rPr>
              <a:t>“index”</a:t>
            </a:r>
            <a:r>
              <a:rPr lang="en-US" sz="1600" dirty="0">
                <a:latin typeface="Lucida Console"/>
                <a:cs typeface="Lucida Console"/>
              </a:rPr>
              <a:t>,</a:t>
            </a:r>
            <a:r>
              <a:rPr lang="en-US" sz="1600" dirty="0">
                <a:solidFill>
                  <a:srgbClr val="000090"/>
                </a:solidFill>
                <a:latin typeface="Lucida Console"/>
                <a:cs typeface="Lucida Console"/>
              </a:rPr>
              <a:t> “4”</a:t>
            </a:r>
            <a:r>
              <a:rPr lang="en-US" sz="1600" dirty="0">
                <a:latin typeface="Lucida Console"/>
                <a:cs typeface="Lucida Console"/>
              </a:rPr>
              <a:t>),</a:t>
            </a:r>
            <a:br>
              <a:rPr lang="en-US" sz="1600" dirty="0">
                <a:latin typeface="Lucida Console"/>
                <a:cs typeface="Lucida Console"/>
              </a:rPr>
            </a:br>
            <a:r>
              <a:rPr lang="en-US" sz="1600" dirty="0">
                <a:latin typeface="Lucida Console"/>
                <a:cs typeface="Lucida Console"/>
              </a:rPr>
              <a:t>                          (</a:t>
            </a:r>
            <a:r>
              <a:rPr lang="en-US" sz="1600" dirty="0">
                <a:solidFill>
                  <a:srgbClr val="000090"/>
                </a:solidFill>
                <a:latin typeface="Lucida Console"/>
                <a:cs typeface="Lucida Console"/>
              </a:rPr>
              <a:t>“about”</a:t>
            </a:r>
            <a:r>
              <a:rPr lang="en-US" sz="1600" dirty="0">
                <a:solidFill>
                  <a:srgbClr val="000000"/>
                </a:solidFill>
                <a:latin typeface="Lucida Console"/>
                <a:cs typeface="Lucida Console"/>
              </a:rPr>
              <a:t>,</a:t>
            </a:r>
            <a:r>
              <a:rPr lang="en-US" sz="1600" dirty="0">
                <a:solidFill>
                  <a:srgbClr val="000090"/>
                </a:solidFill>
                <a:latin typeface="Lucida Console"/>
                <a:cs typeface="Lucida Console"/>
              </a:rPr>
              <a:t> “6”</a:t>
            </a:r>
            <a:r>
              <a:rPr lang="en-US" sz="1600" dirty="0">
                <a:latin typeface="Lucida Console"/>
                <a:cs typeface="Lucida Console"/>
              </a:rPr>
              <a:t>),</a:t>
            </a:r>
            <a:br>
              <a:rPr lang="en-US" sz="1600" dirty="0">
                <a:latin typeface="Lucida Console"/>
                <a:cs typeface="Lucida Console"/>
              </a:rPr>
            </a:br>
            <a:r>
              <a:rPr lang="en-US" sz="1600" dirty="0">
                <a:latin typeface="Lucida Console"/>
                <a:cs typeface="Lucida Console"/>
              </a:rPr>
              <a:t>                          (</a:t>
            </a:r>
            <a:r>
              <a:rPr lang="en-US" sz="1600" dirty="0">
                <a:solidFill>
                  <a:srgbClr val="000090"/>
                </a:solidFill>
                <a:latin typeface="Lucida Console"/>
                <a:cs typeface="Lucida Console"/>
              </a:rPr>
              <a:t>“index”</a:t>
            </a:r>
            <a:r>
              <a:rPr lang="en-US" sz="1600" dirty="0">
                <a:solidFill>
                  <a:srgbClr val="000000"/>
                </a:solidFill>
                <a:latin typeface="Lucida Console"/>
                <a:cs typeface="Lucida Console"/>
              </a:rPr>
              <a:t>,</a:t>
            </a:r>
            <a:r>
              <a:rPr lang="en-US" sz="1600" dirty="0">
                <a:solidFill>
                  <a:srgbClr val="000090"/>
                </a:solidFill>
                <a:latin typeface="Lucida Console"/>
                <a:cs typeface="Lucida Console"/>
              </a:rPr>
              <a:t> “1”</a:t>
            </a:r>
            <a:r>
              <a:rPr lang="en-US" sz="1600" dirty="0">
                <a:latin typeface="Lucida Console"/>
                <a:cs typeface="Lucida Console"/>
              </a:rPr>
              <a:t>) ])</a:t>
            </a:r>
          </a:p>
          <a:p>
            <a:pPr>
              <a:buClr>
                <a:schemeClr val="bg1">
                  <a:lumMod val="75000"/>
                </a:schemeClr>
              </a:buClr>
              <a:buFont typeface="Lucida Grande"/>
              <a:buChar char="&gt;"/>
            </a:pPr>
            <a:endParaRPr lang="en-US" sz="1600" dirty="0">
              <a:latin typeface="Lucida Console"/>
              <a:cs typeface="Lucida Console"/>
            </a:endParaRPr>
          </a:p>
          <a:p>
            <a:pPr>
              <a:buClr>
                <a:schemeClr val="bg1">
                  <a:lumMod val="75000"/>
                </a:schemeClr>
              </a:buClr>
              <a:buFont typeface="Lucida Grande"/>
              <a:buChar char="&gt;"/>
            </a:pPr>
            <a:r>
              <a:rPr lang="en-US" sz="1600" dirty="0" err="1">
                <a:latin typeface="Lucida Console"/>
                <a:cs typeface="Lucida Console"/>
              </a:rPr>
              <a:t>pageNames</a:t>
            </a:r>
            <a:r>
              <a:rPr lang="en-US" sz="1600" dirty="0">
                <a:latin typeface="Lucida Console"/>
                <a:cs typeface="Lucida Console"/>
              </a:rPr>
              <a:t> = </a:t>
            </a:r>
            <a:r>
              <a:rPr lang="en-US" sz="1600" dirty="0" err="1">
                <a:latin typeface="Lucida Console"/>
                <a:cs typeface="Lucida Console"/>
              </a:rPr>
              <a:t>sc.parallelize</a:t>
            </a:r>
            <a:r>
              <a:rPr lang="en-US" sz="1600" dirty="0">
                <a:latin typeface="Lucida Console"/>
                <a:cs typeface="Lucida Console"/>
              </a:rPr>
              <a:t>([ (</a:t>
            </a:r>
            <a:r>
              <a:rPr lang="en-US" sz="1600" dirty="0">
                <a:solidFill>
                  <a:srgbClr val="000090"/>
                </a:solidFill>
                <a:latin typeface="Lucida Console"/>
                <a:cs typeface="Lucida Console"/>
              </a:rPr>
              <a:t>“index”</a:t>
            </a:r>
            <a:r>
              <a:rPr lang="en-US" sz="1600" dirty="0">
                <a:latin typeface="Lucida Console"/>
                <a:cs typeface="Lucida Console"/>
              </a:rPr>
              <a:t>, </a:t>
            </a:r>
            <a:r>
              <a:rPr lang="en-US" sz="1600" dirty="0">
                <a:solidFill>
                  <a:srgbClr val="000090"/>
                </a:solidFill>
                <a:latin typeface="Lucida Console"/>
                <a:cs typeface="Lucida Console"/>
              </a:rPr>
              <a:t>“Home”</a:t>
            </a:r>
            <a:r>
              <a:rPr lang="en-US" sz="1600" dirty="0">
                <a:latin typeface="Lucida Console"/>
                <a:cs typeface="Lucida Console"/>
              </a:rPr>
              <a:t>),</a:t>
            </a:r>
            <a:br>
              <a:rPr lang="en-US" sz="1600" dirty="0">
                <a:latin typeface="Lucida Console"/>
                <a:cs typeface="Lucida Console"/>
              </a:rPr>
            </a:br>
            <a:r>
              <a:rPr lang="en-US" sz="1600" dirty="0">
                <a:latin typeface="Lucida Console"/>
                <a:cs typeface="Lucida Console"/>
              </a:rPr>
              <a:t>                             (</a:t>
            </a:r>
            <a:r>
              <a:rPr lang="en-US" sz="1600" dirty="0">
                <a:solidFill>
                  <a:srgbClr val="000090"/>
                </a:solidFill>
                <a:latin typeface="Lucida Console"/>
                <a:cs typeface="Lucida Console"/>
              </a:rPr>
              <a:t>“about”</a:t>
            </a:r>
            <a:r>
              <a:rPr lang="en-US" sz="1600" dirty="0">
                <a:latin typeface="Lucida Console"/>
                <a:cs typeface="Lucida Console"/>
              </a:rPr>
              <a:t>, </a:t>
            </a:r>
            <a:r>
              <a:rPr lang="en-US" sz="1600" dirty="0">
                <a:solidFill>
                  <a:srgbClr val="000090"/>
                </a:solidFill>
                <a:latin typeface="Lucida Console"/>
                <a:cs typeface="Lucida Console"/>
              </a:rPr>
              <a:t>“About”</a:t>
            </a:r>
            <a:r>
              <a:rPr lang="en-US" sz="1600" dirty="0">
                <a:latin typeface="Lucida Console"/>
                <a:cs typeface="Lucida Console"/>
              </a:rPr>
              <a:t>) ])</a:t>
            </a:r>
          </a:p>
          <a:p>
            <a:pPr>
              <a:buClr>
                <a:schemeClr val="bg1">
                  <a:lumMod val="75000"/>
                </a:schemeClr>
              </a:buClr>
              <a:buFont typeface="Lucida Grande"/>
              <a:buChar char="&gt;"/>
            </a:pPr>
            <a:endParaRPr lang="en-US" sz="1600" dirty="0">
              <a:latin typeface="Lucida Console"/>
              <a:cs typeface="Lucida Console"/>
            </a:endParaRPr>
          </a:p>
          <a:p>
            <a:pPr>
              <a:buClr>
                <a:schemeClr val="bg1">
                  <a:lumMod val="75000"/>
                </a:schemeClr>
              </a:buClr>
              <a:buFont typeface="Lucida Grande"/>
              <a:buChar char="&gt;"/>
            </a:pPr>
            <a:r>
              <a:rPr lang="en-US" sz="1600" dirty="0" err="1">
                <a:latin typeface="Lucida Console"/>
                <a:cs typeface="Lucida Console"/>
              </a:rPr>
              <a:t>visits.</a:t>
            </a:r>
            <a:r>
              <a:rPr lang="en-US" sz="1600" dirty="0" err="1">
                <a:solidFill>
                  <a:srgbClr val="3366FF"/>
                </a:solidFill>
                <a:latin typeface="Lucida Console"/>
                <a:cs typeface="Lucida Console"/>
              </a:rPr>
              <a:t>join</a:t>
            </a:r>
            <a:r>
              <a:rPr lang="en-US" sz="1600" dirty="0">
                <a:latin typeface="Lucida Console"/>
                <a:cs typeface="Lucida Console"/>
              </a:rPr>
              <a:t>(</a:t>
            </a:r>
            <a:r>
              <a:rPr lang="en-US" sz="1600" dirty="0" err="1">
                <a:latin typeface="Lucida Console"/>
                <a:cs typeface="Lucida Console"/>
              </a:rPr>
              <a:t>pageNames</a:t>
            </a:r>
            <a:r>
              <a:rPr lang="en-US" sz="1600" dirty="0">
                <a:latin typeface="Lucida Console"/>
                <a:cs typeface="Lucida Console"/>
              </a:rPr>
              <a:t>) </a:t>
            </a:r>
            <a:br>
              <a:rPr lang="en-US" sz="1600" dirty="0">
                <a:solidFill>
                  <a:srgbClr val="008040"/>
                </a:solidFill>
                <a:latin typeface="Lucida Console"/>
                <a:cs typeface="Lucida Console"/>
              </a:rPr>
            </a:br>
            <a:r>
              <a:rPr lang="en-US" sz="1600" dirty="0">
                <a:solidFill>
                  <a:srgbClr val="008040"/>
                </a:solidFill>
                <a:latin typeface="Lucida Console"/>
                <a:cs typeface="Lucida Console"/>
              </a:rPr>
              <a:t># (“index”, (“4”, “Home”))</a:t>
            </a:r>
            <a:br>
              <a:rPr lang="en-US" sz="1600" dirty="0">
                <a:solidFill>
                  <a:srgbClr val="008040"/>
                </a:solidFill>
                <a:latin typeface="Lucida Console"/>
                <a:cs typeface="Lucida Console"/>
              </a:rPr>
            </a:br>
            <a:r>
              <a:rPr lang="en-US" sz="1600" dirty="0">
                <a:solidFill>
                  <a:srgbClr val="008040"/>
                </a:solidFill>
                <a:latin typeface="Lucida Console"/>
                <a:cs typeface="Lucida Console"/>
              </a:rPr>
              <a:t># (“index”, (“1”, “Home”))</a:t>
            </a:r>
            <a:br>
              <a:rPr lang="en-US" sz="1600" dirty="0">
                <a:solidFill>
                  <a:srgbClr val="008040"/>
                </a:solidFill>
                <a:latin typeface="Lucida Console"/>
                <a:cs typeface="Lucida Console"/>
              </a:rPr>
            </a:br>
            <a:r>
              <a:rPr lang="en-US" sz="1600" dirty="0">
                <a:solidFill>
                  <a:srgbClr val="008040"/>
                </a:solidFill>
                <a:latin typeface="Lucida Console"/>
                <a:cs typeface="Lucida Console"/>
              </a:rPr>
              <a:t># (“about”, (“6”, “About”))</a:t>
            </a:r>
          </a:p>
          <a:p>
            <a:pPr>
              <a:buClr>
                <a:schemeClr val="bg1">
                  <a:lumMod val="75000"/>
                </a:schemeClr>
              </a:buClr>
              <a:buFont typeface="Lucida Grande"/>
              <a:buChar char="&gt;"/>
            </a:pPr>
            <a:endParaRPr lang="en-US" sz="1600" dirty="0">
              <a:latin typeface="Lucida Console"/>
              <a:cs typeface="Lucida Console"/>
            </a:endParaRPr>
          </a:p>
          <a:p>
            <a:pPr>
              <a:buClr>
                <a:schemeClr val="bg1">
                  <a:lumMod val="75000"/>
                </a:schemeClr>
              </a:buClr>
              <a:buFont typeface="Lucida Grande"/>
              <a:buChar char="&gt;"/>
            </a:pPr>
            <a:r>
              <a:rPr lang="en-US" sz="1600" dirty="0" err="1">
                <a:latin typeface="Lucida Console"/>
                <a:cs typeface="Lucida Console"/>
              </a:rPr>
              <a:t>visits.</a:t>
            </a:r>
            <a:r>
              <a:rPr lang="en-US" sz="1600" dirty="0" err="1">
                <a:solidFill>
                  <a:srgbClr val="3366FF"/>
                </a:solidFill>
                <a:latin typeface="Lucida Console"/>
                <a:cs typeface="Lucida Console"/>
              </a:rPr>
              <a:t>cogroup</a:t>
            </a:r>
            <a:r>
              <a:rPr lang="en-US" sz="1600" dirty="0">
                <a:latin typeface="Lucida Console"/>
                <a:cs typeface="Lucida Console"/>
              </a:rPr>
              <a:t>(</a:t>
            </a:r>
            <a:r>
              <a:rPr lang="en-US" sz="1600" dirty="0" err="1">
                <a:latin typeface="Lucida Console"/>
                <a:cs typeface="Lucida Console"/>
              </a:rPr>
              <a:t>pageNames</a:t>
            </a:r>
            <a:r>
              <a:rPr lang="en-US" sz="1600" dirty="0">
                <a:latin typeface="Lucida Console"/>
                <a:cs typeface="Lucida Console"/>
              </a:rPr>
              <a:t>) </a:t>
            </a:r>
            <a:br>
              <a:rPr lang="en-US" sz="1600" dirty="0">
                <a:solidFill>
                  <a:srgbClr val="008040"/>
                </a:solidFill>
                <a:latin typeface="Lucida Console"/>
                <a:cs typeface="Lucida Console"/>
              </a:rPr>
            </a:br>
            <a:r>
              <a:rPr lang="en-US" sz="1600" dirty="0">
                <a:solidFill>
                  <a:srgbClr val="008040"/>
                </a:solidFill>
                <a:latin typeface="Lucida Console"/>
                <a:cs typeface="Lucida Console"/>
              </a:rPr>
              <a:t># (“index”, ([“4”, “1”], [“Home”]))</a:t>
            </a:r>
            <a:br>
              <a:rPr lang="en-US" sz="1600" dirty="0">
                <a:solidFill>
                  <a:srgbClr val="008040"/>
                </a:solidFill>
                <a:latin typeface="Lucida Console"/>
                <a:cs typeface="Lucida Console"/>
              </a:rPr>
            </a:br>
            <a:r>
              <a:rPr lang="en-US" sz="1600" dirty="0">
                <a:solidFill>
                  <a:srgbClr val="008040"/>
                </a:solidFill>
                <a:latin typeface="Lucida Console"/>
                <a:cs typeface="Lucida Console"/>
              </a:rPr>
              <a:t># (“about”, ([“6”], [“About”]))</a:t>
            </a:r>
          </a:p>
        </p:txBody>
      </p:sp>
    </p:spTree>
    <p:extLst>
      <p:ext uri="{BB962C8B-B14F-4D97-AF65-F5344CB8AC3E}">
        <p14:creationId xmlns:p14="http://schemas.microsoft.com/office/powerpoint/2010/main" val="236826069"/>
      </p:ext>
    </p:extLst>
  </p:cSld>
  <p:clrMapOvr>
    <a:masterClrMapping/>
  </p:clrMapOvr>
  <p:transition spd="med"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/>
          <a:lstStyle/>
          <a:p>
            <a:r>
              <a:rPr lang="en-US" sz="3600" dirty="0"/>
              <a:t>PageRank Performance</a:t>
            </a: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5687321"/>
              </p:ext>
            </p:extLst>
          </p:nvPr>
        </p:nvGraphicFramePr>
        <p:xfrm>
          <a:off x="1600202" y="2209800"/>
          <a:ext cx="5953125" cy="4229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852234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500" dirty="0"/>
              <a:t>Other Iterative Algorithms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6200" y="2590801"/>
            <a:ext cx="8839200" cy="3906411"/>
            <a:chOff x="381000" y="2183436"/>
            <a:chExt cx="8534400" cy="2983138"/>
          </a:xfrm>
        </p:grpSpPr>
        <p:graphicFrame>
          <p:nvGraphicFramePr>
            <p:cNvPr id="10" name="Chart 9"/>
            <p:cNvGraphicFramePr/>
            <p:nvPr>
              <p:extLst>
                <p:ext uri="{D42A27DB-BD31-4B8C-83A1-F6EECF244321}">
                  <p14:modId xmlns:p14="http://schemas.microsoft.com/office/powerpoint/2010/main" val="1062604608"/>
                </p:ext>
              </p:extLst>
            </p:nvPr>
          </p:nvGraphicFramePr>
          <p:xfrm>
            <a:off x="381000" y="3505200"/>
            <a:ext cx="7391401" cy="116631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aphicFrame>
          <p:nvGraphicFramePr>
            <p:cNvPr id="11" name="Chart 10"/>
            <p:cNvGraphicFramePr/>
            <p:nvPr>
              <p:extLst>
                <p:ext uri="{D42A27DB-BD31-4B8C-83A1-F6EECF244321}">
                  <p14:modId xmlns:p14="http://schemas.microsoft.com/office/powerpoint/2010/main" val="1279234677"/>
                </p:ext>
              </p:extLst>
            </p:nvPr>
          </p:nvGraphicFramePr>
          <p:xfrm>
            <a:off x="381000" y="2183436"/>
            <a:ext cx="8534400" cy="116631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2" name="TextBox 11"/>
            <p:cNvSpPr txBox="1"/>
            <p:nvPr/>
          </p:nvSpPr>
          <p:spPr>
            <a:xfrm>
              <a:off x="3612630" y="4837526"/>
              <a:ext cx="2696135" cy="329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+mn-lt"/>
                  <a:cs typeface="Corbel"/>
                </a:rPr>
                <a:t>Time per Iteration (s)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36672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01674"/>
          </a:xfrm>
        </p:spPr>
        <p:txBody>
          <a:bodyPr/>
          <a:lstStyle/>
          <a:p>
            <a:r>
              <a:rPr lang="en-US" sz="4000" dirty="0"/>
              <a:t>Conclusion</a:t>
            </a:r>
          </a:p>
        </p:txBody>
      </p:sp>
      <p:sp>
        <p:nvSpPr>
          <p:cNvPr id="6" name="Vertical Text Placeholder 5"/>
          <p:cNvSpPr>
            <a:spLocks noGrp="1"/>
          </p:cNvSpPr>
          <p:nvPr>
            <p:ph idx="1"/>
          </p:nvPr>
        </p:nvSpPr>
        <p:spPr>
          <a:xfrm>
            <a:off x="628650" y="1219201"/>
            <a:ext cx="7886700" cy="4957764"/>
          </a:xfrm>
        </p:spPr>
        <p:txBody>
          <a:bodyPr>
            <a:normAutofit/>
          </a:bodyPr>
          <a:lstStyle/>
          <a:p>
            <a:r>
              <a:rPr lang="en-US" sz="3200" dirty="0"/>
              <a:t>Spark offers a rich API to make data analytics </a:t>
            </a:r>
            <a:r>
              <a:rPr lang="en-US" sz="3200" i="1" dirty="0"/>
              <a:t>fast</a:t>
            </a:r>
            <a:r>
              <a:rPr lang="en-US" sz="3200" dirty="0"/>
              <a:t>: both fast to write and fast to run</a:t>
            </a:r>
          </a:p>
          <a:p>
            <a:r>
              <a:rPr lang="en-US" sz="3200" dirty="0"/>
              <a:t>Achieves 100x speedups in real applications</a:t>
            </a:r>
          </a:p>
          <a:p>
            <a:r>
              <a:rPr lang="en-US" sz="3200" dirty="0"/>
              <a:t>Growing community with 50+ companies contributing</a:t>
            </a:r>
          </a:p>
        </p:txBody>
      </p:sp>
    </p:spTree>
    <p:extLst>
      <p:ext uri="{BB962C8B-B14F-4D97-AF65-F5344CB8AC3E}">
        <p14:creationId xmlns:p14="http://schemas.microsoft.com/office/powerpoint/2010/main" val="3999875110"/>
      </p:ext>
    </p:extLst>
  </p:cSld>
  <p:clrMapOvr>
    <a:masterClrMapping/>
  </p:clrMapOvr>
  <p:transition spd="med"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92161"/>
          </a:xfrm>
        </p:spPr>
        <p:txBody>
          <a:bodyPr/>
          <a:lstStyle/>
          <a:p>
            <a:r>
              <a:rPr lang="en-US" sz="2800" dirty="0">
                <a:solidFill>
                  <a:srgbClr val="0000FF"/>
                </a:solidFill>
              </a:rPr>
              <a:t>SUMMARY: What is Spark?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490623" y="3978922"/>
            <a:ext cx="4040188" cy="639763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FF6600"/>
                </a:solidFill>
              </a:rPr>
              <a:t>Efficient</a:t>
            </a:r>
            <a:endParaRPr lang="en-US" sz="4000" dirty="0"/>
          </a:p>
        </p:txBody>
      </p:sp>
      <p:sp>
        <p:nvSpPr>
          <p:cNvPr id="16" name="Content Placeholder 15"/>
          <p:cNvSpPr>
            <a:spLocks noGrp="1"/>
          </p:cNvSpPr>
          <p:nvPr>
            <p:ph sz="half" idx="2"/>
          </p:nvPr>
        </p:nvSpPr>
        <p:spPr>
          <a:xfrm>
            <a:off x="468341" y="4673591"/>
            <a:ext cx="4040188" cy="2067659"/>
          </a:xfrm>
        </p:spPr>
        <p:txBody>
          <a:bodyPr/>
          <a:lstStyle/>
          <a:p>
            <a:r>
              <a:rPr lang="en-US" sz="3200" dirty="0"/>
              <a:t>General execution graphs</a:t>
            </a:r>
          </a:p>
          <a:p>
            <a:r>
              <a:rPr lang="en-US" sz="3200" dirty="0"/>
              <a:t>In-memory storage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3"/>
          </p:nvPr>
        </p:nvSpPr>
        <p:spPr>
          <a:xfrm>
            <a:off x="4656169" y="3978922"/>
            <a:ext cx="4041775" cy="639763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FF6600"/>
                </a:solidFill>
              </a:rPr>
              <a:t>Usable</a:t>
            </a:r>
            <a:endParaRPr lang="en-US" sz="4000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4"/>
          </p:nvPr>
        </p:nvSpPr>
        <p:spPr>
          <a:xfrm>
            <a:off x="4656169" y="4686759"/>
            <a:ext cx="4041775" cy="1835726"/>
          </a:xfrm>
        </p:spPr>
        <p:txBody>
          <a:bodyPr>
            <a:normAutofit/>
          </a:bodyPr>
          <a:lstStyle/>
          <a:p>
            <a:r>
              <a:rPr lang="en-US" sz="3200" dirty="0"/>
              <a:t>Rich APIs in Java, </a:t>
            </a:r>
            <a:r>
              <a:rPr lang="en-US" sz="3200" dirty="0" err="1"/>
              <a:t>Scala</a:t>
            </a:r>
            <a:r>
              <a:rPr lang="en-US" sz="3200" dirty="0"/>
              <a:t>, Python</a:t>
            </a:r>
          </a:p>
          <a:p>
            <a:r>
              <a:rPr lang="en-US" sz="3200" dirty="0"/>
              <a:t>Interactive shell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81880" y="2590565"/>
            <a:ext cx="8354733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b="1" dirty="0">
              <a:solidFill>
                <a:srgbClr val="FF66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F66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56923" y="1289626"/>
            <a:ext cx="790287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Helvetica Neue Light"/>
                <a:cs typeface="Helvetica Neue Light"/>
              </a:rPr>
              <a:t>Fast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Helvetica Neue Light"/>
                <a:cs typeface="Helvetica Neue Light"/>
              </a:rPr>
              <a:t> and </a:t>
            </a: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Helvetica Neue Light"/>
                <a:cs typeface="Helvetica Neue Light"/>
              </a:rPr>
              <a:t>Expressive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Helvetica Neue Light"/>
                <a:cs typeface="Helvetica Neue Light"/>
              </a:rPr>
              <a:t> Cluster Computing System Compatible with Apache Hadoop</a:t>
            </a:r>
          </a:p>
        </p:txBody>
      </p:sp>
      <p:sp>
        <p:nvSpPr>
          <p:cNvPr id="24" name="Rounded Rectangle 23"/>
          <p:cNvSpPr/>
          <p:nvPr/>
        </p:nvSpPr>
        <p:spPr>
          <a:xfrm rot="634753">
            <a:off x="5748141" y="3366029"/>
            <a:ext cx="2784268" cy="667423"/>
          </a:xfrm>
          <a:prstGeom prst="roundRect">
            <a:avLst/>
          </a:prstGeom>
          <a:solidFill>
            <a:schemeClr val="bg1">
              <a:lumMod val="85000"/>
              <a:alpha val="80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4000" b="1" dirty="0">
                <a:solidFill>
                  <a:srgbClr val="FF6600"/>
                </a:solidFill>
                <a:latin typeface="Corbel"/>
                <a:cs typeface="Corbel"/>
              </a:rPr>
              <a:t>2-5× </a:t>
            </a:r>
            <a:r>
              <a:rPr lang="en-US" sz="2800" dirty="0">
                <a:solidFill>
                  <a:srgbClr val="FF6600"/>
                </a:solidFill>
                <a:latin typeface="Corbel"/>
                <a:cs typeface="Corbel"/>
              </a:rPr>
              <a:t>less code</a:t>
            </a:r>
          </a:p>
        </p:txBody>
      </p:sp>
      <p:sp>
        <p:nvSpPr>
          <p:cNvPr id="25" name="Rounded Rectangle 24"/>
          <p:cNvSpPr/>
          <p:nvPr/>
        </p:nvSpPr>
        <p:spPr>
          <a:xfrm rot="531739">
            <a:off x="962736" y="2849902"/>
            <a:ext cx="3778962" cy="1188811"/>
          </a:xfrm>
          <a:prstGeom prst="roundRect">
            <a:avLst/>
          </a:prstGeom>
          <a:solidFill>
            <a:schemeClr val="bg1">
              <a:lumMod val="85000"/>
              <a:alpha val="80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2400" dirty="0">
                <a:solidFill>
                  <a:srgbClr val="FF6600"/>
                </a:solidFill>
                <a:latin typeface="Corbel"/>
                <a:cs typeface="Corbel"/>
              </a:rPr>
              <a:t>Up to </a:t>
            </a:r>
            <a:r>
              <a:rPr lang="en-US" sz="4000" b="1" dirty="0">
                <a:solidFill>
                  <a:srgbClr val="FF6600"/>
                </a:solidFill>
                <a:latin typeface="Corbel"/>
                <a:cs typeface="Corbel"/>
              </a:rPr>
              <a:t>10×</a:t>
            </a:r>
            <a:r>
              <a:rPr lang="en-US" sz="2400" dirty="0">
                <a:solidFill>
                  <a:srgbClr val="FF6600"/>
                </a:solidFill>
                <a:latin typeface="Corbel"/>
                <a:cs typeface="Corbel"/>
              </a:rPr>
              <a:t> faster on disk,</a:t>
            </a:r>
            <a:br>
              <a:rPr lang="en-US" sz="2400" dirty="0">
                <a:solidFill>
                  <a:srgbClr val="FF6600"/>
                </a:solidFill>
                <a:latin typeface="Corbel"/>
                <a:cs typeface="Corbel"/>
              </a:rPr>
            </a:br>
            <a:r>
              <a:rPr lang="en-US" sz="4000" b="1" dirty="0">
                <a:solidFill>
                  <a:srgbClr val="FF6600"/>
                </a:solidFill>
                <a:latin typeface="Corbel"/>
                <a:cs typeface="Corbel"/>
              </a:rPr>
              <a:t>100×</a:t>
            </a:r>
            <a:r>
              <a:rPr lang="en-US" sz="3200" b="1" dirty="0">
                <a:solidFill>
                  <a:srgbClr val="FF6600"/>
                </a:solidFill>
                <a:latin typeface="Corbel"/>
                <a:cs typeface="Corbel"/>
              </a:rPr>
              <a:t> </a:t>
            </a:r>
            <a:r>
              <a:rPr lang="en-US" sz="2400" dirty="0">
                <a:solidFill>
                  <a:srgbClr val="FF6600"/>
                </a:solidFill>
                <a:latin typeface="Corbel"/>
                <a:cs typeface="Corbel"/>
              </a:rPr>
              <a:t>in memory</a:t>
            </a:r>
          </a:p>
        </p:txBody>
      </p:sp>
    </p:spTree>
    <p:extLst>
      <p:ext uri="{BB962C8B-B14F-4D97-AF65-F5344CB8AC3E}">
        <p14:creationId xmlns:p14="http://schemas.microsoft.com/office/powerpoint/2010/main" val="721818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>
                <a:solidFill>
                  <a:srgbClr val="0000FF"/>
                </a:solidFill>
              </a:rPr>
              <a:t>Get Started on </a:t>
            </a:r>
            <a:br>
              <a:rPr lang="en-US" sz="3600" dirty="0">
                <a:solidFill>
                  <a:srgbClr val="0000FF"/>
                </a:solidFill>
              </a:rPr>
            </a:br>
            <a:r>
              <a:rPr lang="en-US" sz="3600" dirty="0">
                <a:solidFill>
                  <a:schemeClr val="tx2">
                    <a:lumMod val="50000"/>
                  </a:schemeClr>
                </a:solidFill>
              </a:rPr>
              <a:t>Spark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1463" y="1600201"/>
            <a:ext cx="3462337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6600"/>
                </a:solidFill>
              </a:rPr>
              <a:t>Up and Running in a Few Steps</a:t>
            </a:r>
          </a:p>
          <a:p>
            <a:r>
              <a:rPr lang="en-US" dirty="0"/>
              <a:t>Download</a:t>
            </a:r>
          </a:p>
          <a:p>
            <a:r>
              <a:rPr lang="en-US" dirty="0"/>
              <a:t>Unzip</a:t>
            </a:r>
          </a:p>
          <a:p>
            <a:r>
              <a:rPr lang="en-US" dirty="0"/>
              <a:t>Shell</a:t>
            </a:r>
          </a:p>
          <a:p>
            <a:pPr marL="0" indent="0">
              <a:buNone/>
            </a:pPr>
            <a:endParaRPr lang="en-US" dirty="0">
              <a:solidFill>
                <a:srgbClr val="FF66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6600"/>
                </a:solidFill>
              </a:rPr>
              <a:t>Project Resources</a:t>
            </a:r>
          </a:p>
          <a:p>
            <a:r>
              <a:rPr lang="en-US" dirty="0"/>
              <a:t>Examples on the Project Site</a:t>
            </a:r>
          </a:p>
          <a:p>
            <a:r>
              <a:rPr lang="en-US" dirty="0"/>
              <a:t>Examples in the Distribution</a:t>
            </a:r>
          </a:p>
          <a:p>
            <a:r>
              <a:rPr lang="en-US" dirty="0"/>
              <a:t>Documentation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48549" y="5431390"/>
            <a:ext cx="28080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/>
              <a:t>http://</a:t>
            </a:r>
            <a:r>
              <a:rPr lang="en-US" sz="2000" dirty="0" err="1"/>
              <a:t>spark.apache.org</a:t>
            </a:r>
            <a:endParaRPr lang="en-US" sz="2000" dirty="0"/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2B6117DF-7136-9348-A3CB-91B91E1246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1" y="0"/>
            <a:ext cx="5410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02520"/>
      </p:ext>
    </p:extLst>
  </p:cSld>
  <p:clrMapOvr>
    <a:masterClrMapping/>
  </p:clrMapOvr>
  <p:transition spd="med">
    <p:wipe dir="r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71462" y="228600"/>
            <a:ext cx="8601075" cy="3200400"/>
          </a:xfrm>
        </p:spPr>
        <p:txBody>
          <a:bodyPr>
            <a:normAutofit fontScale="90000"/>
          </a:bodyPr>
          <a:lstStyle/>
          <a:p>
            <a:r>
              <a:rPr lang="en-US" sz="6000" dirty="0"/>
              <a:t>Demo </a:t>
            </a:r>
            <a:br>
              <a:rPr lang="en-US" sz="7200" dirty="0"/>
            </a:br>
            <a:r>
              <a:rPr lang="en-US" sz="7200" dirty="0"/>
              <a:t>   </a:t>
            </a:r>
            <a:r>
              <a:rPr lang="en-US" sz="4800" dirty="0"/>
              <a:t>of </a:t>
            </a:r>
            <a:br>
              <a:rPr lang="en-US" sz="7200" dirty="0"/>
            </a:br>
            <a:r>
              <a:rPr lang="en-US" sz="11500" dirty="0"/>
              <a:t>PySpark</a:t>
            </a:r>
            <a:endParaRPr lang="en-US" sz="7200" dirty="0"/>
          </a:p>
        </p:txBody>
      </p:sp>
      <p:sp>
        <p:nvSpPr>
          <p:cNvPr id="6" name="Vertical Text Placeholder 5"/>
          <p:cNvSpPr>
            <a:spLocks noGrp="1"/>
          </p:cNvSpPr>
          <p:nvPr>
            <p:ph idx="1"/>
          </p:nvPr>
        </p:nvSpPr>
        <p:spPr>
          <a:xfrm>
            <a:off x="276183" y="4495800"/>
            <a:ext cx="8595360" cy="1811554"/>
          </a:xfrm>
        </p:spPr>
        <p:txBody>
          <a:bodyPr>
            <a:normAutofit/>
          </a:bodyPr>
          <a:lstStyle/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42537439"/>
      </p:ext>
    </p:extLst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Illumina_Template_EXTERNAL_NON-MARKETING_MS2007">
  <a:themeElements>
    <a:clrScheme name="Illumina Colors">
      <a:dk1>
        <a:srgbClr val="4D4D4F"/>
      </a:dk1>
      <a:lt1>
        <a:srgbClr val="FFFFFF"/>
      </a:lt1>
      <a:dk2>
        <a:srgbClr val="4D4D4F"/>
      </a:dk2>
      <a:lt2>
        <a:srgbClr val="BBBBBB"/>
      </a:lt2>
      <a:accent1>
        <a:srgbClr val="AD73AC"/>
      </a:accent1>
      <a:accent2>
        <a:srgbClr val="7CA8D4"/>
      </a:accent2>
      <a:accent3>
        <a:srgbClr val="B9C980"/>
      </a:accent3>
      <a:accent4>
        <a:srgbClr val="D04C4F"/>
      </a:accent4>
      <a:accent5>
        <a:srgbClr val="D3BCD2"/>
      </a:accent5>
      <a:accent6>
        <a:srgbClr val="A9C1D9"/>
      </a:accent6>
      <a:hlink>
        <a:srgbClr val="B9C980"/>
      </a:hlink>
      <a:folHlink>
        <a:srgbClr val="7CA8D4"/>
      </a:folHlink>
    </a:clrScheme>
    <a:fontScheme name="2_IlluminaTemplateEXTERNAL01_08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Illumina Colors">
        <a:dk1>
          <a:srgbClr val="4D4D4F"/>
        </a:dk1>
        <a:lt1>
          <a:srgbClr val="FFFFFF"/>
        </a:lt1>
        <a:dk2>
          <a:srgbClr val="4D4D4F"/>
        </a:dk2>
        <a:lt2>
          <a:srgbClr val="BBBBBB"/>
        </a:lt2>
        <a:accent1>
          <a:srgbClr val="AD73AC"/>
        </a:accent1>
        <a:accent2>
          <a:srgbClr val="7CA8D4"/>
        </a:accent2>
        <a:accent3>
          <a:srgbClr val="B9C980"/>
        </a:accent3>
        <a:accent4>
          <a:srgbClr val="D04C4F"/>
        </a:accent4>
        <a:accent5>
          <a:srgbClr val="D3BCD2"/>
        </a:accent5>
        <a:accent6>
          <a:srgbClr val="A9C1D9"/>
        </a:accent6>
        <a:hlink>
          <a:srgbClr val="B9C980"/>
        </a:hlink>
        <a:folHlink>
          <a:srgbClr val="7CA8D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llumina Colors">
        <a:dk1>
          <a:srgbClr val="4D4D4F"/>
        </a:dk1>
        <a:lt1>
          <a:srgbClr val="FFFFFF"/>
        </a:lt1>
        <a:dk2>
          <a:srgbClr val="4D4D4F"/>
        </a:dk2>
        <a:lt2>
          <a:srgbClr val="BBBBBB"/>
        </a:lt2>
        <a:accent1>
          <a:srgbClr val="AD73AC"/>
        </a:accent1>
        <a:accent2>
          <a:srgbClr val="7CA8D4"/>
        </a:accent2>
        <a:accent3>
          <a:srgbClr val="B9C980"/>
        </a:accent3>
        <a:accent4>
          <a:srgbClr val="D04C4F"/>
        </a:accent4>
        <a:accent5>
          <a:srgbClr val="D3BCD2"/>
        </a:accent5>
        <a:accent6>
          <a:srgbClr val="A9C1D9"/>
        </a:accent6>
        <a:hlink>
          <a:srgbClr val="B9C980"/>
        </a:hlink>
        <a:folHlink>
          <a:srgbClr val="7CA8D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IlluminaTemplateEXTERNAL01_08">
  <a:themeElements>
    <a:clrScheme name="Illumina Colors">
      <a:dk1>
        <a:srgbClr val="4D4D4F"/>
      </a:dk1>
      <a:lt1>
        <a:srgbClr val="FFFFFF"/>
      </a:lt1>
      <a:dk2>
        <a:srgbClr val="4D4D4F"/>
      </a:dk2>
      <a:lt2>
        <a:srgbClr val="BBBBBB"/>
      </a:lt2>
      <a:accent1>
        <a:srgbClr val="AD73AC"/>
      </a:accent1>
      <a:accent2>
        <a:srgbClr val="7CA8D4"/>
      </a:accent2>
      <a:accent3>
        <a:srgbClr val="B9C980"/>
      </a:accent3>
      <a:accent4>
        <a:srgbClr val="D04C4F"/>
      </a:accent4>
      <a:accent5>
        <a:srgbClr val="D3BCD2"/>
      </a:accent5>
      <a:accent6>
        <a:srgbClr val="A9C1D9"/>
      </a:accent6>
      <a:hlink>
        <a:srgbClr val="B9C980"/>
      </a:hlink>
      <a:folHlink>
        <a:srgbClr val="7CA8D4"/>
      </a:folHlink>
    </a:clrScheme>
    <a:fontScheme name="3_IlluminaTemplateEXTERNAL01_08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Illumina Colors">
        <a:dk1>
          <a:srgbClr val="4D4D4F"/>
        </a:dk1>
        <a:lt1>
          <a:srgbClr val="FFFFFF"/>
        </a:lt1>
        <a:dk2>
          <a:srgbClr val="4D4D4F"/>
        </a:dk2>
        <a:lt2>
          <a:srgbClr val="BBBBBB"/>
        </a:lt2>
        <a:accent1>
          <a:srgbClr val="AD73AC"/>
        </a:accent1>
        <a:accent2>
          <a:srgbClr val="7CA8D4"/>
        </a:accent2>
        <a:accent3>
          <a:srgbClr val="B9C980"/>
        </a:accent3>
        <a:accent4>
          <a:srgbClr val="D04C4F"/>
        </a:accent4>
        <a:accent5>
          <a:srgbClr val="D3BCD2"/>
        </a:accent5>
        <a:accent6>
          <a:srgbClr val="A9C1D9"/>
        </a:accent6>
        <a:hlink>
          <a:srgbClr val="B9C980"/>
        </a:hlink>
        <a:folHlink>
          <a:srgbClr val="7CA8D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llumina Colors">
        <a:dk1>
          <a:srgbClr val="4D4D4F"/>
        </a:dk1>
        <a:lt1>
          <a:srgbClr val="FFFFFF"/>
        </a:lt1>
        <a:dk2>
          <a:srgbClr val="4D4D4F"/>
        </a:dk2>
        <a:lt2>
          <a:srgbClr val="BBBBBB"/>
        </a:lt2>
        <a:accent1>
          <a:srgbClr val="AD73AC"/>
        </a:accent1>
        <a:accent2>
          <a:srgbClr val="7CA8D4"/>
        </a:accent2>
        <a:accent3>
          <a:srgbClr val="B9C980"/>
        </a:accent3>
        <a:accent4>
          <a:srgbClr val="D04C4F"/>
        </a:accent4>
        <a:accent5>
          <a:srgbClr val="D3BCD2"/>
        </a:accent5>
        <a:accent6>
          <a:srgbClr val="A9C1D9"/>
        </a:accent6>
        <a:hlink>
          <a:srgbClr val="B9C980"/>
        </a:hlink>
        <a:folHlink>
          <a:srgbClr val="7CA8D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scu-ppt-master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Illumina_Template_EXTERNAL_NON-MARKETING_MS2007.potx</Template>
  <TotalTime>21166</TotalTime>
  <Words>3353</Words>
  <Application>Microsoft Macintosh PowerPoint</Application>
  <PresentationFormat>On-screen Show (4:3)</PresentationFormat>
  <Paragraphs>504</Paragraphs>
  <Slides>53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53</vt:i4>
      </vt:variant>
    </vt:vector>
  </HeadingPairs>
  <TitlesOfParts>
    <vt:vector size="72" baseType="lpstr">
      <vt:lpstr>Arial</vt:lpstr>
      <vt:lpstr>Avenir Black</vt:lpstr>
      <vt:lpstr>Calibri</vt:lpstr>
      <vt:lpstr>Calibri Light</vt:lpstr>
      <vt:lpstr>Consolas</vt:lpstr>
      <vt:lpstr>Corbel</vt:lpstr>
      <vt:lpstr>Courier</vt:lpstr>
      <vt:lpstr>Courier New</vt:lpstr>
      <vt:lpstr>Franklin Gothic Medium Cond</vt:lpstr>
      <vt:lpstr>Helvetica Light</vt:lpstr>
      <vt:lpstr>Helvetica Neue Light</vt:lpstr>
      <vt:lpstr>Lucida Console</vt:lpstr>
      <vt:lpstr>Lucida Grande</vt:lpstr>
      <vt:lpstr>Menlo-Bold</vt:lpstr>
      <vt:lpstr>Menlo-Regular</vt:lpstr>
      <vt:lpstr>Wingdings</vt:lpstr>
      <vt:lpstr>Illumina_Template_EXTERNAL_NON-MARKETING_MS2007</vt:lpstr>
      <vt:lpstr>4_IlluminaTemplateEXTERNAL01_08</vt:lpstr>
      <vt:lpstr>scu-ppt-master</vt:lpstr>
      <vt:lpstr> Introduction to  https://spark.apache.org</vt:lpstr>
      <vt:lpstr>What is</vt:lpstr>
      <vt:lpstr>What is</vt:lpstr>
      <vt:lpstr>What is</vt:lpstr>
      <vt:lpstr>What is</vt:lpstr>
      <vt:lpstr>Architecture of</vt:lpstr>
      <vt:lpstr>What is</vt:lpstr>
      <vt:lpstr>What is</vt:lpstr>
      <vt:lpstr>What is</vt:lpstr>
      <vt:lpstr>What is</vt:lpstr>
      <vt:lpstr>What is</vt:lpstr>
      <vt:lpstr>What is</vt:lpstr>
      <vt:lpstr>Spark Data Sources</vt:lpstr>
      <vt:lpstr>Language Support</vt:lpstr>
      <vt:lpstr>Data Abstractions in</vt:lpstr>
      <vt:lpstr>Data Abstractions in</vt:lpstr>
      <vt:lpstr>Data Abstractions in</vt:lpstr>
      <vt:lpstr>Data Abstractions in</vt:lpstr>
      <vt:lpstr>Data Abstractions in</vt:lpstr>
      <vt:lpstr>RDDs in</vt:lpstr>
      <vt:lpstr>RDDs in</vt:lpstr>
      <vt:lpstr>RDDs in</vt:lpstr>
      <vt:lpstr>RDDs Examples</vt:lpstr>
      <vt:lpstr>DataFrame Example:  with 4 columns and Billions of rows</vt:lpstr>
      <vt:lpstr>Operations in</vt:lpstr>
      <vt:lpstr>Operations in</vt:lpstr>
      <vt:lpstr>Working With RDDs</vt:lpstr>
      <vt:lpstr>Key Concepts in Spark</vt:lpstr>
      <vt:lpstr>DataFrame API</vt:lpstr>
      <vt:lpstr>Transformations &amp; Actions</vt:lpstr>
      <vt:lpstr>Example: Log Mining</vt:lpstr>
      <vt:lpstr>Interactive Shell</vt:lpstr>
      <vt:lpstr>Interactive Shell</vt:lpstr>
      <vt:lpstr>PySpark: interactive shell</vt:lpstr>
      <vt:lpstr>PySpark: interactive shell</vt:lpstr>
      <vt:lpstr>SparkContext (sc)</vt:lpstr>
      <vt:lpstr>Creating RDDs from Collections</vt:lpstr>
      <vt:lpstr>Creating RDDs from Text Files</vt:lpstr>
      <vt:lpstr>Basic Transformations</vt:lpstr>
      <vt:lpstr>Basic Transformations</vt:lpstr>
      <vt:lpstr>Basic Actions</vt:lpstr>
      <vt:lpstr>Working with Key-Value Pairs</vt:lpstr>
      <vt:lpstr>Working with Key-Value Pairs</vt:lpstr>
      <vt:lpstr>Some Key-Value Operations</vt:lpstr>
      <vt:lpstr>Example: Word Count</vt:lpstr>
      <vt:lpstr>Word Count in Java/JDK8</vt:lpstr>
      <vt:lpstr>Other Key-Value Operations</vt:lpstr>
      <vt:lpstr>PageRank Performance</vt:lpstr>
      <vt:lpstr>Other Iterative Algorithms</vt:lpstr>
      <vt:lpstr>Conclusion</vt:lpstr>
      <vt:lpstr>SUMMARY: What is Spark?</vt:lpstr>
      <vt:lpstr>Get Started on  Spark</vt:lpstr>
      <vt:lpstr>Demo     of  PySpark</vt:lpstr>
    </vt:vector>
  </TitlesOfParts>
  <Company>Illumina,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mgalligani</dc:creator>
  <cp:lastModifiedBy>Mahmoud Parsian</cp:lastModifiedBy>
  <cp:revision>302</cp:revision>
  <cp:lastPrinted>2014-02-23T08:32:16Z</cp:lastPrinted>
  <dcterms:created xsi:type="dcterms:W3CDTF">2010-03-25T23:49:58Z</dcterms:created>
  <dcterms:modified xsi:type="dcterms:W3CDTF">2026-09-04T04:34:52Z</dcterms:modified>
</cp:coreProperties>
</file>