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87" r:id="rId3"/>
    <p:sldId id="257" r:id="rId4"/>
    <p:sldId id="286" r:id="rId5"/>
    <p:sldId id="285" r:id="rId6"/>
    <p:sldId id="282" r:id="rId7"/>
    <p:sldId id="283" r:id="rId8"/>
    <p:sldId id="284" r:id="rId9"/>
    <p:sldId id="272" r:id="rId10"/>
    <p:sldId id="279" r:id="rId11"/>
    <p:sldId id="280" r:id="rId12"/>
    <p:sldId id="258" r:id="rId13"/>
    <p:sldId id="273" r:id="rId14"/>
    <p:sldId id="259" r:id="rId15"/>
    <p:sldId id="274" r:id="rId16"/>
    <p:sldId id="260" r:id="rId17"/>
    <p:sldId id="275" r:id="rId18"/>
    <p:sldId id="261" r:id="rId19"/>
    <p:sldId id="276" r:id="rId20"/>
    <p:sldId id="262" r:id="rId21"/>
    <p:sldId id="277" r:id="rId22"/>
    <p:sldId id="264" r:id="rId23"/>
    <p:sldId id="265" r:id="rId24"/>
    <p:sldId id="266" r:id="rId25"/>
    <p:sldId id="271" r:id="rId26"/>
    <p:sldId id="263" r:id="rId27"/>
    <p:sldId id="278" r:id="rId28"/>
    <p:sldId id="28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6327"/>
  </p:normalViewPr>
  <p:slideViewPr>
    <p:cSldViewPr snapToGrid="0" snapToObjects="1">
      <p:cViewPr varScale="1">
        <p:scale>
          <a:sx n="110" d="100"/>
          <a:sy n="110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600" y="3991335"/>
            <a:ext cx="9144000" cy="1395551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600" y="5386885"/>
            <a:ext cx="9144000" cy="55671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Google Shape;11;p9">
            <a:extLst>
              <a:ext uri="{FF2B5EF4-FFF2-40B4-BE49-F238E27FC236}">
                <a16:creationId xmlns:a16="http://schemas.microsoft.com/office/drawing/2014/main" id="{F562F608-3FAF-F944-B5A5-1195B295175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790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06843"/>
            <a:ext cx="9144000" cy="3070496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89609"/>
            <a:ext cx="9144000" cy="623015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9843B12E-2970-164E-96C4-CA89A1450B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7711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B50043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42BD6F60-39BB-9B49-8AE1-7982FC4CA8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2694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Google Shape;19;p11">
            <a:extLst>
              <a:ext uri="{FF2B5EF4-FFF2-40B4-BE49-F238E27FC236}">
                <a16:creationId xmlns:a16="http://schemas.microsoft.com/office/drawing/2014/main" id="{56B763D1-B56A-134D-84FC-A52CB9F6A5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7875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34167"/>
            <a:ext cx="5365749" cy="539751"/>
          </a:xfrm>
        </p:spPr>
        <p:txBody>
          <a:bodyPr anchor="t">
            <a:normAutofit/>
          </a:bodyPr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11297"/>
            <a:ext cx="10515600" cy="4065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D1EBC6D6-B7A7-8349-BB7D-34239AFEBB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431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851" y="976617"/>
            <a:ext cx="10515600" cy="1003801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851" y="378638"/>
            <a:ext cx="5365749" cy="539751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851" y="2111297"/>
            <a:ext cx="10515600" cy="2055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FE203F3-27C1-6942-B96E-19FD27429A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95436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95" y="1081798"/>
            <a:ext cx="5365271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584" y="542605"/>
            <a:ext cx="536574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695" y="2756452"/>
            <a:ext cx="11071829" cy="3420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960ADD97-4AD0-0A42-9114-EBC9F2ED47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4178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174027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634834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634834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36802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3586056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3046863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3046863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15;p10">
            <a:extLst>
              <a:ext uri="{FF2B5EF4-FFF2-40B4-BE49-F238E27FC236}">
                <a16:creationId xmlns:a16="http://schemas.microsoft.com/office/drawing/2014/main" id="{8A3194B9-CC43-E546-A5E4-9AD4D155F1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7530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620991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1081798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1081799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876801" y="3667447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A7E0C015-0061-4141-B120-DD81D01FA9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9074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0128" y="1464895"/>
            <a:ext cx="6713723" cy="83252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128" y="85083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0128" y="2371725"/>
            <a:ext cx="6713723" cy="31797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383957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DE36E4F5-5D6D-DF48-B7A4-0AC093DE60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7801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633" y="1110976"/>
            <a:ext cx="5876111" cy="13638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5632" y="533317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633" y="2512705"/>
            <a:ext cx="5876111" cy="33086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42744" y="1600200"/>
            <a:ext cx="3657600" cy="3657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24FE092B-3872-D545-8104-23189B691C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5592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337" y="1078391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24" y="267111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9675" y="1078391"/>
            <a:ext cx="3352799" cy="5000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50866" y="1078393"/>
            <a:ext cx="3352799" cy="5000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0CAD2A9F-C0BE-1D4C-9CB5-9F353CB7EC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3468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6" y="1081242"/>
            <a:ext cx="8789076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15337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EF772DB-EBED-AC4E-A6B4-D6788D3D616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4570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9067" y="1620992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89067" y="318715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05" y="447391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31305" y="2401603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D728A0-FBA7-A944-9FC3-D964968E5F8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31305" y="4349939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64431A57-6760-9247-9E2A-0A0473D22C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8750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1081242"/>
            <a:ext cx="8621925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78752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56028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96661309-1A64-9B40-8E09-EB7C41D02D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73294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231" y="3424738"/>
            <a:ext cx="3535680" cy="2855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11316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94468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Google Shape;30;p13">
            <a:extLst>
              <a:ext uri="{FF2B5EF4-FFF2-40B4-BE49-F238E27FC236}">
                <a16:creationId xmlns:a16="http://schemas.microsoft.com/office/drawing/2014/main" id="{4B5F8AAA-BFCE-4243-BCCA-044109B0E3F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572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12F6D154-7CC0-C540-AA65-63CBA5A000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4514" y="3587178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2EB95A51-2BFE-CF45-AF89-35310B6F25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7599" y="3587177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0A9B9C3-F6C3-E14E-B1BC-001989E7BF8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610751" y="3587175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0" name="Google Shape;30;p13">
            <a:extLst>
              <a:ext uri="{FF2B5EF4-FFF2-40B4-BE49-F238E27FC236}">
                <a16:creationId xmlns:a16="http://schemas.microsoft.com/office/drawing/2014/main" id="{F6FCBC8F-7CCE-2C4C-AAF7-4952D113F0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24641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4568" y="281392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41798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605" y="2277977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9474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EF3CB1-11C9-364F-BB5B-A911A25998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8862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236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B1F5A97-5AAD-B944-ACE3-759382926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61978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D467BC90-669B-E145-A934-88F0093AEA0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51366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012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20F56272-45A8-464E-A2EF-92E963522C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84993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91AC9B6C-283F-8246-AA1C-A18DA4F7E3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74381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ABE50-ACB3-F540-B07F-B7E5E31B4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07883" y="2277978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EAAA06-A9FA-5C44-BDE5-45762EF59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2753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AB995A1D-84D4-B04C-B7C1-C51D005CC92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482141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9" name="Google Shape;30;p13">
            <a:extLst>
              <a:ext uri="{FF2B5EF4-FFF2-40B4-BE49-F238E27FC236}">
                <a16:creationId xmlns:a16="http://schemas.microsoft.com/office/drawing/2014/main" id="{846B281D-577A-2847-8901-3BC5DDAA2F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87538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467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oogle Shape;30;p13">
            <a:extLst>
              <a:ext uri="{FF2B5EF4-FFF2-40B4-BE49-F238E27FC236}">
                <a16:creationId xmlns:a16="http://schemas.microsoft.com/office/drawing/2014/main" id="{52095448-BA23-8B4C-9877-FF23F4EB99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22181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Google Shape;30;p13">
            <a:extLst>
              <a:ext uri="{FF2B5EF4-FFF2-40B4-BE49-F238E27FC236}">
                <a16:creationId xmlns:a16="http://schemas.microsoft.com/office/drawing/2014/main" id="{E74E0DDA-6146-E846-9C90-721AC3DB06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36909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0;p13">
            <a:extLst>
              <a:ext uri="{FF2B5EF4-FFF2-40B4-BE49-F238E27FC236}">
                <a16:creationId xmlns:a16="http://schemas.microsoft.com/office/drawing/2014/main" id="{EF4D445F-0EE7-E74E-B0B3-D782FE7112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59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DCDAFC0-B225-9546-961B-DC5B9BDD74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00476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EE4A9134-7030-7749-89EA-6705EE9756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454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3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72127"/>
            <a:ext cx="10515600" cy="4604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C6A4C-6C9C-1247-9E17-AAB2A147EAAC}"/>
              </a:ext>
            </a:extLst>
          </p:cNvPr>
          <p:cNvSpPr txBox="1"/>
          <p:nvPr/>
        </p:nvSpPr>
        <p:spPr>
          <a:xfrm>
            <a:off x="2052578" y="72534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4543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0" i="0" kern="1200">
          <a:solidFill>
            <a:schemeClr val="tx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Clr>
          <a:schemeClr val="bg2">
            <a:lumMod val="25000"/>
          </a:schemeClr>
        </a:buClr>
        <a:buSzPct val="85000"/>
        <a:buFont typeface="Arial" panose="020B0604020202020204" pitchFamily="34" charset="0"/>
        <a:buChar char="•"/>
        <a:defRPr sz="2667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Courier New" panose="02070309020205020404" pitchFamily="49" charset="0"/>
        <a:buChar char="o"/>
        <a:defRPr sz="24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Wingdings" pitchFamily="2" charset="2"/>
        <a:buChar char="§"/>
        <a:defRPr sz="2133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introduction-to-parallel-computing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74643"/>
            <a:ext cx="9144000" cy="2792896"/>
          </a:xfrm>
        </p:spPr>
        <p:txBody>
          <a:bodyPr>
            <a:normAutofit/>
          </a:bodyPr>
          <a:lstStyle/>
          <a:p>
            <a:r>
              <a:rPr lang="en-US" dirty="0"/>
              <a:t>Understanding </a:t>
            </a:r>
            <a:br>
              <a:rPr lang="en-US" dirty="0"/>
            </a:br>
            <a:r>
              <a:rPr lang="en-US" dirty="0"/>
              <a:t>Parallelism &amp; Concurrency</a:t>
            </a:r>
            <a:br>
              <a:rPr lang="en-US" dirty="0"/>
            </a:br>
            <a:r>
              <a:rPr lang="en-US" sz="2700" dirty="0"/>
              <a:t>(informal introduction)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2791"/>
            <a:ext cx="9144000" cy="94563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Mahmoud Parsian</a:t>
            </a:r>
          </a:p>
          <a:p>
            <a:r>
              <a:rPr lang="en-US" sz="1800" dirty="0">
                <a:solidFill>
                  <a:srgbClr val="002060"/>
                </a:solidFill>
              </a:rPr>
              <a:t>Ph.D. in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596631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71637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Why Parallelism?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1222514"/>
            <a:ext cx="10465905" cy="4800599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Parallelism and Partitioning are  foundations of big data solutions.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MapReduce is based on parallelism and partitioning data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Hadoop is based on parallelism and partitioning data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Spark is based on parallelism and partitioning data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Snowflake is based on parallelism and partitioning data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The concept of </a:t>
            </a:r>
            <a:r>
              <a:rPr lang="en-US" sz="2800" b="1" u="sng" dirty="0"/>
              <a:t>parallel computing </a:t>
            </a:r>
            <a:r>
              <a:rPr lang="en-US" sz="2800" dirty="0"/>
              <a:t>is based on 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dividing a large problem into smaller ones, and 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each of them is carried out by one single processor individually. </a:t>
            </a:r>
          </a:p>
        </p:txBody>
      </p:sp>
    </p:spTree>
    <p:extLst>
      <p:ext uri="{BB962C8B-B14F-4D97-AF65-F5344CB8AC3E}">
        <p14:creationId xmlns:p14="http://schemas.microsoft.com/office/powerpoint/2010/main" val="24573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71637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Parallelism Example: array addition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1222514"/>
            <a:ext cx="10465905" cy="4800599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ourier" pitchFamily="2" charset="0"/>
              </a:rPr>
              <a:t>// a: a[0], a[1], …, a[n-1]          </a:t>
            </a:r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c[0] = a[0] + b[0]</a:t>
            </a:r>
            <a:endParaRPr lang="en-US" sz="2000" dirty="0">
              <a:solidFill>
                <a:schemeClr val="tx1"/>
              </a:solidFill>
              <a:latin typeface="Courier" pitchFamily="2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" pitchFamily="2" charset="0"/>
              </a:rPr>
              <a:t>// b: b[0], b[1], …, b[n-1]</a:t>
            </a:r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          c[1] = a[1] + b[1]</a:t>
            </a:r>
            <a:endParaRPr lang="en-US" sz="2000" dirty="0">
              <a:solidFill>
                <a:schemeClr val="tx1"/>
              </a:solidFill>
              <a:latin typeface="Courier" pitchFamily="2" charset="0"/>
            </a:endParaRPr>
          </a:p>
          <a:p>
            <a:r>
              <a:rPr lang="en-US" sz="2000" b="1" dirty="0">
                <a:solidFill>
                  <a:srgbClr val="7030A0"/>
                </a:solidFill>
                <a:latin typeface="Courier" pitchFamily="2" charset="0"/>
              </a:rPr>
              <a:t>for</a:t>
            </a:r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 (</a:t>
            </a:r>
            <a:r>
              <a:rPr lang="en-US" sz="2000" dirty="0" err="1">
                <a:solidFill>
                  <a:srgbClr val="7030A0"/>
                </a:solidFill>
                <a:latin typeface="Courier" pitchFamily="2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 = 0; </a:t>
            </a:r>
            <a:r>
              <a:rPr lang="en-US" sz="2000" dirty="0" err="1">
                <a:solidFill>
                  <a:srgbClr val="7030A0"/>
                </a:solidFill>
                <a:latin typeface="Courier" pitchFamily="2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 &lt; n; </a:t>
            </a:r>
            <a:r>
              <a:rPr lang="en-US" sz="2000" dirty="0" err="1">
                <a:solidFill>
                  <a:srgbClr val="7030A0"/>
                </a:solidFill>
                <a:latin typeface="Courier" pitchFamily="2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++) {            c[2] = a[2] + b[2]</a:t>
            </a:r>
          </a:p>
          <a:p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    c[</a:t>
            </a:r>
            <a:r>
              <a:rPr lang="en-US" sz="2000" dirty="0" err="1">
                <a:solidFill>
                  <a:srgbClr val="7030A0"/>
                </a:solidFill>
                <a:latin typeface="Courier" pitchFamily="2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] = a[</a:t>
            </a:r>
            <a:r>
              <a:rPr lang="en-US" sz="2000" dirty="0" err="1">
                <a:solidFill>
                  <a:srgbClr val="7030A0"/>
                </a:solidFill>
                <a:latin typeface="Courier" pitchFamily="2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] + b[</a:t>
            </a:r>
            <a:r>
              <a:rPr lang="en-US" sz="2000" dirty="0" err="1">
                <a:solidFill>
                  <a:srgbClr val="7030A0"/>
                </a:solidFill>
                <a:latin typeface="Courier" pitchFamily="2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];              …</a:t>
            </a:r>
          </a:p>
          <a:p>
            <a:r>
              <a:rPr lang="en-US" sz="2000" dirty="0">
                <a:solidFill>
                  <a:srgbClr val="7030A0"/>
                </a:solidFill>
                <a:latin typeface="Courier" pitchFamily="2" charset="0"/>
              </a:rPr>
              <a:t>}                                    c[n-1] = a[n-1] + b[n-1]</a:t>
            </a:r>
          </a:p>
          <a:p>
            <a:endParaRPr lang="en-US" sz="2000" dirty="0">
              <a:solidFill>
                <a:srgbClr val="7030A0"/>
              </a:solidFill>
              <a:latin typeface="Courier" pitchFamily="2" charset="0"/>
            </a:endParaRPr>
          </a:p>
          <a:p>
            <a:r>
              <a:rPr lang="en-US" sz="2800" b="1" u="sng" dirty="0">
                <a:solidFill>
                  <a:srgbClr val="7030A0"/>
                </a:solidFill>
                <a:latin typeface="Courier" pitchFamily="2" charset="0"/>
              </a:rPr>
              <a:t>Sequential:</a:t>
            </a:r>
            <a:r>
              <a:rPr lang="en-US" sz="2800" dirty="0">
                <a:solidFill>
                  <a:srgbClr val="7030A0"/>
                </a:solidFill>
                <a:latin typeface="Courier" pitchFamily="2" charset="0"/>
              </a:rPr>
              <a:t>               </a:t>
            </a:r>
            <a:r>
              <a:rPr lang="en-US" sz="2800" b="1" u="sng" dirty="0">
                <a:solidFill>
                  <a:srgbClr val="7030A0"/>
                </a:solidFill>
                <a:latin typeface="Courier" pitchFamily="2" charset="0"/>
              </a:rPr>
              <a:t>Parallel</a:t>
            </a:r>
            <a:r>
              <a:rPr lang="en-US" sz="2800" u="sng" dirty="0">
                <a:solidFill>
                  <a:srgbClr val="7030A0"/>
                </a:solidFill>
                <a:latin typeface="Courier" pitchFamily="2" charset="0"/>
              </a:rPr>
              <a:t>:</a:t>
            </a:r>
          </a:p>
          <a:p>
            <a:r>
              <a:rPr lang="en-US" sz="2800" dirty="0">
                <a:solidFill>
                  <a:srgbClr val="7030A0"/>
                </a:solidFill>
                <a:latin typeface="Courier" pitchFamily="2" charset="0"/>
              </a:rPr>
              <a:t>  n steps                   one step</a:t>
            </a:r>
          </a:p>
          <a:p>
            <a:r>
              <a:rPr lang="en-US" sz="2800" dirty="0">
                <a:solidFill>
                  <a:srgbClr val="7030A0"/>
                </a:solidFill>
                <a:latin typeface="Courier" pitchFamily="2" charset="0"/>
              </a:rPr>
              <a:t>  one processor             n processors</a:t>
            </a:r>
          </a:p>
          <a:p>
            <a:endParaRPr lang="en-US" sz="2000" dirty="0">
              <a:solidFill>
                <a:srgbClr val="7030A0"/>
              </a:solidFill>
              <a:latin typeface="Courier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0F97A37-2C9A-BA18-A02C-59CD758097D8}"/>
              </a:ext>
            </a:extLst>
          </p:cNvPr>
          <p:cNvCxnSpPr>
            <a:cxnSpLocks/>
          </p:cNvCxnSpPr>
          <p:nvPr/>
        </p:nvCxnSpPr>
        <p:spPr>
          <a:xfrm>
            <a:off x="5824330" y="1331843"/>
            <a:ext cx="0" cy="1942698"/>
          </a:xfrm>
          <a:prstGeom prst="line">
            <a:avLst/>
          </a:prstGeom>
          <a:ln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23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71637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Concurrency &amp; Parallelism </a:t>
            </a:r>
            <a:r>
              <a:rPr lang="en-US" sz="2000" dirty="0">
                <a:solidFill>
                  <a:srgbClr val="002060"/>
                </a:solidFill>
              </a:rPr>
              <a:t>(informal definition):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1222514"/>
            <a:ext cx="10465905" cy="4800599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Some definitions: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The fact of </a:t>
            </a:r>
            <a:r>
              <a:rPr lang="en-US" sz="2800" u="sng" dirty="0">
                <a:solidFill>
                  <a:schemeClr val="tx1"/>
                </a:solidFill>
              </a:rPr>
              <a:t>two or more events</a:t>
            </a:r>
            <a:r>
              <a:rPr lang="en-US" sz="2800" dirty="0">
                <a:solidFill>
                  <a:schemeClr val="tx1"/>
                </a:solidFill>
              </a:rPr>
              <a:t> or circumstances happening                              or existing </a:t>
            </a:r>
            <a:r>
              <a:rPr lang="en-US" sz="2800" u="sng" dirty="0">
                <a:solidFill>
                  <a:schemeClr val="tx1"/>
                </a:solidFill>
              </a:rPr>
              <a:t>at the same time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The ability to </a:t>
            </a:r>
            <a:r>
              <a:rPr lang="en-US" sz="2800" u="sng" dirty="0">
                <a:solidFill>
                  <a:schemeClr val="tx1"/>
                </a:solidFill>
              </a:rPr>
              <a:t>execute more than one </a:t>
            </a:r>
            <a:r>
              <a:rPr lang="en-US" sz="2800" dirty="0">
                <a:solidFill>
                  <a:schemeClr val="tx1"/>
                </a:solidFill>
              </a:rPr>
              <a:t>program or task simultaneously.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Example: "a high level of concurrency is crucial to good performance in a multiuser database system”</a:t>
            </a:r>
          </a:p>
          <a:p>
            <a:pPr marL="800089" lvl="1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Multiple reads at a time</a:t>
            </a:r>
          </a:p>
          <a:p>
            <a:pPr marL="800089" lvl="1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Multiple writes at a time</a:t>
            </a:r>
          </a:p>
        </p:txBody>
      </p:sp>
    </p:spTree>
    <p:extLst>
      <p:ext uri="{BB962C8B-B14F-4D97-AF65-F5344CB8AC3E}">
        <p14:creationId xmlns:p14="http://schemas.microsoft.com/office/powerpoint/2010/main" val="129867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71637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Concurrency &amp; Parallelism </a:t>
            </a:r>
            <a:r>
              <a:rPr lang="en-US" sz="2000" dirty="0">
                <a:solidFill>
                  <a:srgbClr val="002060"/>
                </a:solidFill>
              </a:rPr>
              <a:t>(informal definition):</a:t>
            </a:r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CFD82199-933D-D24D-C7A6-95AD824C6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596" y="1227438"/>
            <a:ext cx="9502346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96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64599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Concurrency &amp; Parallelism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1272746"/>
            <a:ext cx="10465905" cy="475036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3200" dirty="0"/>
              <a:t>Task A = { A1, A2, A3, A4},    Task B = {B1, B2, B3}, Task C = {C1, C2}</a:t>
            </a:r>
          </a:p>
          <a:p>
            <a:pPr algn="l"/>
            <a:r>
              <a:rPr lang="en-US" sz="3200" dirty="0">
                <a:solidFill>
                  <a:schemeClr val="tx1"/>
                </a:solidFill>
              </a:rPr>
              <a:t>Execute Tasks A and B and C (in sequential order):</a:t>
            </a:r>
          </a:p>
          <a:p>
            <a:pPr lvl="1" algn="l"/>
            <a:r>
              <a:rPr lang="en-US" sz="2800" dirty="0"/>
              <a:t>1. </a:t>
            </a:r>
            <a:r>
              <a:rPr lang="en-US" sz="2800" dirty="0">
                <a:solidFill>
                  <a:srgbClr val="C00000"/>
                </a:solidFill>
              </a:rPr>
              <a:t>A1</a:t>
            </a:r>
          </a:p>
          <a:p>
            <a:pPr lvl="1" algn="l"/>
            <a:r>
              <a:rPr lang="en-US" sz="2800" dirty="0"/>
              <a:t>2. </a:t>
            </a:r>
            <a:r>
              <a:rPr lang="en-US" sz="2800" dirty="0">
                <a:solidFill>
                  <a:srgbClr val="C00000"/>
                </a:solidFill>
              </a:rPr>
              <a:t>A2</a:t>
            </a:r>
          </a:p>
          <a:p>
            <a:pPr lvl="1" algn="l"/>
            <a:r>
              <a:rPr lang="en-US" sz="2800" dirty="0"/>
              <a:t>3. </a:t>
            </a:r>
            <a:r>
              <a:rPr lang="en-US" sz="2800" dirty="0">
                <a:solidFill>
                  <a:srgbClr val="C00000"/>
                </a:solidFill>
              </a:rPr>
              <a:t>A3</a:t>
            </a:r>
          </a:p>
          <a:p>
            <a:pPr lvl="1" algn="l"/>
            <a:r>
              <a:rPr lang="en-US" sz="2800" dirty="0"/>
              <a:t>4. </a:t>
            </a:r>
            <a:r>
              <a:rPr lang="en-US" sz="2800" dirty="0">
                <a:solidFill>
                  <a:srgbClr val="C00000"/>
                </a:solidFill>
              </a:rPr>
              <a:t>A4</a:t>
            </a:r>
          </a:p>
          <a:p>
            <a:pPr lvl="1" algn="l"/>
            <a:r>
              <a:rPr lang="en-US" sz="2800" dirty="0"/>
              <a:t>5. </a:t>
            </a:r>
            <a:r>
              <a:rPr lang="en-US" sz="2800" dirty="0">
                <a:solidFill>
                  <a:srgbClr val="C00000"/>
                </a:solidFill>
              </a:rPr>
              <a:t>B1</a:t>
            </a:r>
          </a:p>
          <a:p>
            <a:pPr lvl="1" algn="l"/>
            <a:r>
              <a:rPr lang="en-US" sz="2800" dirty="0"/>
              <a:t>6. </a:t>
            </a:r>
            <a:r>
              <a:rPr lang="en-US" sz="2800" dirty="0">
                <a:solidFill>
                  <a:srgbClr val="C00000"/>
                </a:solidFill>
              </a:rPr>
              <a:t>B2</a:t>
            </a:r>
          </a:p>
          <a:p>
            <a:pPr lvl="1" algn="l"/>
            <a:r>
              <a:rPr lang="en-US" sz="2800" dirty="0"/>
              <a:t>7. </a:t>
            </a:r>
            <a:r>
              <a:rPr lang="en-US" sz="2800" dirty="0">
                <a:solidFill>
                  <a:srgbClr val="C00000"/>
                </a:solidFill>
              </a:rPr>
              <a:t>B3</a:t>
            </a:r>
          </a:p>
          <a:p>
            <a:pPr lvl="1" algn="l"/>
            <a:r>
              <a:rPr lang="en-US" sz="2800" dirty="0"/>
              <a:t>8. </a:t>
            </a:r>
            <a:r>
              <a:rPr lang="en-US" sz="2800" dirty="0">
                <a:solidFill>
                  <a:srgbClr val="C00000"/>
                </a:solidFill>
              </a:rPr>
              <a:t>C1</a:t>
            </a:r>
          </a:p>
          <a:p>
            <a:pPr lvl="1" algn="l"/>
            <a:r>
              <a:rPr lang="en-US" sz="2800" dirty="0"/>
              <a:t>9. </a:t>
            </a:r>
            <a:r>
              <a:rPr lang="en-US" sz="2800" dirty="0">
                <a:solidFill>
                  <a:srgbClr val="C00000"/>
                </a:solidFill>
              </a:rPr>
              <a:t>C2</a:t>
            </a:r>
          </a:p>
          <a:p>
            <a:pPr algn="l"/>
            <a:endParaRPr lang="en-US" sz="3200" dirty="0"/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AD5E0BB8-4676-90C2-5AEA-BBC7587A5EC8}"/>
              </a:ext>
            </a:extLst>
          </p:cNvPr>
          <p:cNvSpPr/>
          <p:nvPr/>
        </p:nvSpPr>
        <p:spPr>
          <a:xfrm>
            <a:off x="2325756" y="2246245"/>
            <a:ext cx="268356" cy="33390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47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64599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Concurrency &amp; Parallelism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1272746"/>
            <a:ext cx="10465905" cy="4750367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Task A = { A1, A2, A3, A4}     Task B = {B1, B2, B3}, Task C = {C1, C2}</a:t>
            </a:r>
          </a:p>
          <a:p>
            <a:pPr algn="l"/>
            <a:r>
              <a:rPr lang="en-US" sz="3200" dirty="0">
                <a:solidFill>
                  <a:schemeClr val="tx1"/>
                </a:solidFill>
              </a:rPr>
              <a:t>Assume that Tasks (A, B, and C) are independent of each other</a:t>
            </a:r>
          </a:p>
          <a:p>
            <a:pPr algn="l"/>
            <a:r>
              <a:rPr lang="en-US" sz="3200" dirty="0">
                <a:solidFill>
                  <a:schemeClr val="tx1"/>
                </a:solidFill>
              </a:rPr>
              <a:t>Execute Tasks A, B, C: (concurrently)</a:t>
            </a:r>
          </a:p>
          <a:p>
            <a:pPr algn="l"/>
            <a:r>
              <a:rPr lang="en-US" sz="3200" dirty="0">
                <a:solidFill>
                  <a:schemeClr val="tx1"/>
                </a:solidFill>
              </a:rPr>
              <a:t>1.</a:t>
            </a:r>
            <a:r>
              <a:rPr lang="en-US" sz="3200" dirty="0"/>
              <a:t>   A1   B1   C1 (3 tasks running concurrently)</a:t>
            </a:r>
          </a:p>
          <a:p>
            <a:pPr algn="l"/>
            <a:r>
              <a:rPr lang="en-US" sz="3200" dirty="0">
                <a:solidFill>
                  <a:schemeClr val="tx1"/>
                </a:solidFill>
              </a:rPr>
              <a:t>2.</a:t>
            </a:r>
            <a:r>
              <a:rPr lang="en-US" sz="3200" dirty="0"/>
              <a:t>   A2   B2   C2 (3 tasks running concurrently)  </a:t>
            </a:r>
          </a:p>
          <a:p>
            <a:pPr marL="514350" indent="-514350">
              <a:buAutoNum type="arabicPeriod" startAt="3"/>
            </a:pPr>
            <a:r>
              <a:rPr lang="en-US" sz="3200" dirty="0"/>
              <a:t>A3   B3         (2 tasks running concurrently)</a:t>
            </a:r>
          </a:p>
          <a:p>
            <a:pPr marL="514350" indent="-514350">
              <a:buAutoNum type="arabicPeriod" startAt="3"/>
            </a:pPr>
            <a:r>
              <a:rPr lang="en-US" sz="3200" dirty="0"/>
              <a:t>A4                  (1 task running) </a:t>
            </a:r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DFB8609A-C027-FDAE-4E0D-EB48C91138FF}"/>
              </a:ext>
            </a:extLst>
          </p:cNvPr>
          <p:cNvSpPr/>
          <p:nvPr/>
        </p:nvSpPr>
        <p:spPr>
          <a:xfrm>
            <a:off x="7772400" y="3289852"/>
            <a:ext cx="268356" cy="22954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76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645998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2060"/>
                </a:solidFill>
              </a:rPr>
              <a:t>Concurrency &amp; Parallelism: Maximum Parallelism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2208" y="1062682"/>
            <a:ext cx="9740349" cy="4960431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Task A = { A1, A2, A3, A4}     </a:t>
            </a:r>
          </a:p>
          <a:p>
            <a:pPr algn="l"/>
            <a:r>
              <a:rPr lang="en-US" sz="3200" dirty="0"/>
              <a:t>Task B = {B1, B2, B3}, </a:t>
            </a:r>
          </a:p>
          <a:p>
            <a:pPr algn="l"/>
            <a:r>
              <a:rPr lang="en-US" sz="3200" dirty="0"/>
              <a:t>Task C = {C1, C2}</a:t>
            </a:r>
          </a:p>
          <a:p>
            <a:pPr algn="l"/>
            <a:r>
              <a:rPr lang="en-US" sz="3200" dirty="0">
                <a:solidFill>
                  <a:schemeClr val="tx1"/>
                </a:solidFill>
              </a:rPr>
              <a:t>If there is NO dependency between any tasks:</a:t>
            </a:r>
          </a:p>
          <a:p>
            <a:pPr algn="l"/>
            <a:r>
              <a:rPr lang="en-US" sz="3200" dirty="0">
                <a:solidFill>
                  <a:schemeClr val="tx1"/>
                </a:solidFill>
              </a:rPr>
              <a:t>Then run all of these 9 tasks concurrently:</a:t>
            </a:r>
            <a:endParaRPr lang="en-US" sz="3200" dirty="0"/>
          </a:p>
          <a:p>
            <a:pPr algn="ctr"/>
            <a:r>
              <a:rPr lang="en-US" sz="3200" dirty="0">
                <a:latin typeface="Courier" pitchFamily="2" charset="0"/>
              </a:rPr>
              <a:t>A1, A2, A3, A4, B1, B2, B3, C1, C2 </a:t>
            </a:r>
          </a:p>
        </p:txBody>
      </p:sp>
    </p:spTree>
    <p:extLst>
      <p:ext uri="{BB962C8B-B14F-4D97-AF65-F5344CB8AC3E}">
        <p14:creationId xmlns:p14="http://schemas.microsoft.com/office/powerpoint/2010/main" val="1787089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607046"/>
          </a:xfrm>
        </p:spPr>
        <p:txBody>
          <a:bodyPr>
            <a:normAutofit fontScale="90000"/>
          </a:bodyPr>
          <a:lstStyle/>
          <a:p>
            <a:r>
              <a:rPr lang="en-US" dirty="0"/>
              <a:t>Parallelism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3365" y="1023730"/>
            <a:ext cx="10237305" cy="492980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3000" b="1" dirty="0"/>
              <a:t>Parallelism</a:t>
            </a:r>
            <a:r>
              <a:rPr lang="en-US" sz="3000" dirty="0"/>
              <a:t> is basically a type of computation in which</a:t>
            </a:r>
          </a:p>
          <a:p>
            <a:pPr algn="l"/>
            <a:r>
              <a:rPr lang="en-US" sz="3000" dirty="0"/>
              <a:t>many tasks/computations/operations are carried out in parallel. </a:t>
            </a:r>
          </a:p>
          <a:p>
            <a:pPr algn="l"/>
            <a:endParaRPr lang="en-US" dirty="0"/>
          </a:p>
          <a:p>
            <a:pPr algn="l"/>
            <a:r>
              <a:rPr lang="en-US" b="1" u="sng" dirty="0">
                <a:solidFill>
                  <a:schemeClr val="tx1"/>
                </a:solidFill>
              </a:rPr>
              <a:t>Sequential Tasks:</a:t>
            </a: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/>
              <a:t>		                </a:t>
            </a:r>
            <a:r>
              <a:rPr lang="en-US" b="1" u="sng" dirty="0">
                <a:solidFill>
                  <a:schemeClr val="tx1"/>
                </a:solidFill>
              </a:rPr>
              <a:t>Parallel Tasks:</a:t>
            </a:r>
          </a:p>
          <a:p>
            <a:pPr algn="l"/>
            <a:r>
              <a:rPr lang="en-US" dirty="0"/>
              <a:t>Task-1: 20 minutes		               Task-1, Task-2, Task-3, Task-4</a:t>
            </a:r>
          </a:p>
          <a:p>
            <a:pPr algn="l"/>
            <a:r>
              <a:rPr lang="en-US" dirty="0"/>
              <a:t>Task-2: 20 minutes</a:t>
            </a:r>
          </a:p>
          <a:p>
            <a:pPr algn="l"/>
            <a:r>
              <a:rPr lang="en-US" dirty="0"/>
              <a:t>Task-3: 25 minutes</a:t>
            </a:r>
          </a:p>
          <a:p>
            <a:pPr algn="l"/>
            <a:r>
              <a:rPr lang="en-US" dirty="0"/>
              <a:t>Task-4: 25 minutes</a:t>
            </a:r>
          </a:p>
          <a:p>
            <a:pPr algn="l"/>
            <a:r>
              <a:rPr lang="en-US" dirty="0"/>
              <a:t>===============			==================</a:t>
            </a:r>
          </a:p>
          <a:p>
            <a:pPr algn="l"/>
            <a:r>
              <a:rPr lang="en-US" b="1" dirty="0">
                <a:solidFill>
                  <a:srgbClr val="002060"/>
                </a:solidFill>
              </a:rPr>
              <a:t>Total Elapsed time: 90 minutes</a:t>
            </a:r>
            <a:r>
              <a:rPr lang="en-US" dirty="0"/>
              <a:t>		</a:t>
            </a:r>
            <a:r>
              <a:rPr lang="en-US" b="1" dirty="0">
                <a:solidFill>
                  <a:srgbClr val="002060"/>
                </a:solidFill>
              </a:rPr>
              <a:t>Total Elapsed time: 25 minutes</a:t>
            </a:r>
          </a:p>
          <a:p>
            <a:pPr algn="l"/>
            <a:r>
              <a:rPr lang="en-US" sz="1400" dirty="0"/>
              <a:t>(assuming that there is no dependencies between tasks)</a:t>
            </a:r>
          </a:p>
          <a:p>
            <a:pPr algn="l"/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lang="en-US" dirty="0">
                <a:solidFill>
                  <a:schemeClr val="tx1"/>
                </a:solidFill>
              </a:rPr>
              <a:t>Therefore, Parallelism improves execution time.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73B2DD-0418-4045-A4D6-74B43C0B7F50}"/>
              </a:ext>
            </a:extLst>
          </p:cNvPr>
          <p:cNvCxnSpPr>
            <a:cxnSpLocks/>
          </p:cNvCxnSpPr>
          <p:nvPr/>
        </p:nvCxnSpPr>
        <p:spPr>
          <a:xfrm>
            <a:off x="5148470" y="2508422"/>
            <a:ext cx="0" cy="2739439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own Arrow 5">
            <a:extLst>
              <a:ext uri="{FF2B5EF4-FFF2-40B4-BE49-F238E27FC236}">
                <a16:creationId xmlns:a16="http://schemas.microsoft.com/office/drawing/2014/main" id="{B5DE0B2F-2D03-4D08-0FA1-0FC2480FAFD4}"/>
              </a:ext>
            </a:extLst>
          </p:cNvPr>
          <p:cNvSpPr/>
          <p:nvPr/>
        </p:nvSpPr>
        <p:spPr>
          <a:xfrm>
            <a:off x="3289852" y="2802836"/>
            <a:ext cx="268356" cy="1550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35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7592" y="357049"/>
            <a:ext cx="9144000" cy="716376"/>
          </a:xfrm>
        </p:spPr>
        <p:txBody>
          <a:bodyPr>
            <a:normAutofit fontScale="90000"/>
          </a:bodyPr>
          <a:lstStyle/>
          <a:p>
            <a:r>
              <a:rPr lang="en-US" dirty="0"/>
              <a:t>Parallelism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1073426"/>
            <a:ext cx="10465905" cy="4701209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>
                <a:solidFill>
                  <a:srgbClr val="00B050"/>
                </a:solidFill>
              </a:rPr>
              <a:t>What if  </a:t>
            </a:r>
            <a:r>
              <a:rPr lang="en-US" b="1" dirty="0">
                <a:solidFill>
                  <a:schemeClr val="tx1"/>
                </a:solidFill>
              </a:rPr>
              <a:t>{Task-3 and Task-4} </a:t>
            </a:r>
            <a:r>
              <a:rPr lang="en-US" b="1" dirty="0">
                <a:solidFill>
                  <a:srgbClr val="00B050"/>
                </a:solidFill>
              </a:rPr>
              <a:t>depends on output of  </a:t>
            </a:r>
            <a:r>
              <a:rPr lang="en-US" b="1" dirty="0">
                <a:solidFill>
                  <a:schemeClr val="tx1"/>
                </a:solidFill>
              </a:rPr>
              <a:t>{Task-1 and Task-2}</a:t>
            </a:r>
            <a:endParaRPr lang="en-US" dirty="0"/>
          </a:p>
          <a:p>
            <a:pPr algn="l"/>
            <a:r>
              <a:rPr lang="en-US" b="1" u="sng" dirty="0">
                <a:solidFill>
                  <a:schemeClr val="tx1"/>
                </a:solidFill>
              </a:rPr>
              <a:t>4 Sequential Tasks:</a:t>
            </a: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/>
              <a:t>	              4 </a:t>
            </a:r>
            <a:r>
              <a:rPr lang="en-US" b="1" u="sng" dirty="0">
                <a:solidFill>
                  <a:schemeClr val="tx1"/>
                </a:solidFill>
              </a:rPr>
              <a:t>Parallel Tasks:</a:t>
            </a:r>
          </a:p>
          <a:p>
            <a:r>
              <a:rPr lang="en-US" dirty="0">
                <a:solidFill>
                  <a:srgbClr val="0070C0"/>
                </a:solidFill>
              </a:rPr>
              <a:t>Iteration-1:</a:t>
            </a: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</a:rPr>
              <a:t>Task-1 </a:t>
            </a:r>
            <a:r>
              <a:rPr lang="en-US" dirty="0"/>
              <a:t>: 20 minutes	               </a:t>
            </a:r>
            <a:r>
              <a:rPr lang="en-US" i="1" dirty="0">
                <a:solidFill>
                  <a:srgbClr val="0070C0"/>
                </a:solidFill>
              </a:rPr>
              <a:t>Iteration-1</a:t>
            </a:r>
            <a:r>
              <a:rPr lang="en-US" dirty="0">
                <a:solidFill>
                  <a:srgbClr val="0070C0"/>
                </a:solidFill>
              </a:rPr>
              <a:t>:</a:t>
            </a: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</a:rPr>
              <a:t>Task-1</a:t>
            </a:r>
            <a:r>
              <a:rPr lang="en-US" dirty="0"/>
              <a:t>, </a:t>
            </a:r>
            <a:r>
              <a:rPr lang="en-US" b="1" dirty="0">
                <a:solidFill>
                  <a:schemeClr val="tx1"/>
                </a:solidFill>
              </a:rPr>
              <a:t>Task-2</a:t>
            </a:r>
            <a:r>
              <a:rPr lang="en-US" dirty="0"/>
              <a:t> (duration: 20 mins)</a:t>
            </a:r>
          </a:p>
          <a:p>
            <a:r>
              <a:rPr lang="en-US" dirty="0">
                <a:solidFill>
                  <a:srgbClr val="0070C0"/>
                </a:solidFill>
              </a:rPr>
              <a:t>Iteration-2:</a:t>
            </a: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</a:rPr>
              <a:t>Task-2 </a:t>
            </a:r>
            <a:r>
              <a:rPr lang="en-US" dirty="0"/>
              <a:t>: 20 minutes                 </a:t>
            </a:r>
            <a:r>
              <a:rPr lang="en-US" i="1" dirty="0">
                <a:solidFill>
                  <a:srgbClr val="0070C0"/>
                </a:solidFill>
              </a:rPr>
              <a:t>Iteration-2:</a:t>
            </a: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</a:rPr>
              <a:t>Task-3</a:t>
            </a:r>
            <a:r>
              <a:rPr lang="en-US" dirty="0"/>
              <a:t>, </a:t>
            </a:r>
            <a:r>
              <a:rPr lang="en-US" b="1" dirty="0">
                <a:solidFill>
                  <a:schemeClr val="tx1"/>
                </a:solidFill>
              </a:rPr>
              <a:t>Task-4</a:t>
            </a:r>
            <a:r>
              <a:rPr lang="en-US" dirty="0"/>
              <a:t> (duration: 25 mins)</a:t>
            </a:r>
          </a:p>
          <a:p>
            <a:r>
              <a:rPr lang="en-US" dirty="0">
                <a:solidFill>
                  <a:srgbClr val="0070C0"/>
                </a:solidFill>
              </a:rPr>
              <a:t>Iteration-3:</a:t>
            </a: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</a:rPr>
              <a:t>Task-3</a:t>
            </a:r>
            <a:r>
              <a:rPr lang="en-US" dirty="0"/>
              <a:t>: 25 minutes</a:t>
            </a:r>
          </a:p>
          <a:p>
            <a:r>
              <a:rPr lang="en-US" dirty="0">
                <a:solidFill>
                  <a:srgbClr val="0070C0"/>
                </a:solidFill>
              </a:rPr>
              <a:t>Iteration-4:</a:t>
            </a: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</a:rPr>
              <a:t>Task-4 </a:t>
            </a:r>
            <a:r>
              <a:rPr lang="en-US" dirty="0"/>
              <a:t>: 25 minutes</a:t>
            </a:r>
          </a:p>
          <a:p>
            <a:pPr algn="l"/>
            <a:r>
              <a:rPr lang="en-US" dirty="0"/>
              <a:t>======================                           ======================</a:t>
            </a:r>
          </a:p>
          <a:p>
            <a:pPr algn="l"/>
            <a:r>
              <a:rPr lang="en-US" b="1" dirty="0">
                <a:solidFill>
                  <a:srgbClr val="002060"/>
                </a:solidFill>
              </a:rPr>
              <a:t>Total Elapsed time: 90 minutes</a:t>
            </a:r>
            <a:r>
              <a:rPr lang="en-US" dirty="0"/>
              <a:t>	                 </a:t>
            </a:r>
            <a:r>
              <a:rPr lang="en-US" b="1" dirty="0">
                <a:solidFill>
                  <a:srgbClr val="002060"/>
                </a:solidFill>
              </a:rPr>
              <a:t>Total Elapsed time: 45 minutes</a:t>
            </a:r>
          </a:p>
          <a:p>
            <a:pPr algn="l"/>
            <a:r>
              <a:rPr lang="en-US" sz="1400" dirty="0"/>
              <a:t>(assuming that there is no dependencies between tasks)</a:t>
            </a:r>
          </a:p>
          <a:p>
            <a:pPr algn="l"/>
            <a:r>
              <a:rPr lang="en-US" b="1" dirty="0">
                <a:solidFill>
                  <a:srgbClr val="C00000"/>
                </a:solidFill>
              </a:rPr>
              <a:t>Dependencies can be bottlenecks!!!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73B2DD-0418-4045-A4D6-74B43C0B7F50}"/>
              </a:ext>
            </a:extLst>
          </p:cNvPr>
          <p:cNvCxnSpPr>
            <a:cxnSpLocks/>
          </p:cNvCxnSpPr>
          <p:nvPr/>
        </p:nvCxnSpPr>
        <p:spPr>
          <a:xfrm>
            <a:off x="5272038" y="2059280"/>
            <a:ext cx="0" cy="3093488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own Arrow 5">
            <a:extLst>
              <a:ext uri="{FF2B5EF4-FFF2-40B4-BE49-F238E27FC236}">
                <a16:creationId xmlns:a16="http://schemas.microsoft.com/office/drawing/2014/main" id="{7B12F390-A07D-927F-C8BC-BD5D542201D7}"/>
              </a:ext>
            </a:extLst>
          </p:cNvPr>
          <p:cNvSpPr/>
          <p:nvPr/>
        </p:nvSpPr>
        <p:spPr>
          <a:xfrm>
            <a:off x="4516663" y="2156792"/>
            <a:ext cx="268356" cy="1550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14E1BADD-B798-1AA5-8B3A-31C1CDA1128E}"/>
              </a:ext>
            </a:extLst>
          </p:cNvPr>
          <p:cNvSpPr/>
          <p:nvPr/>
        </p:nvSpPr>
        <p:spPr>
          <a:xfrm>
            <a:off x="10734261" y="2099037"/>
            <a:ext cx="268356" cy="6957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52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716376"/>
          </a:xfrm>
        </p:spPr>
        <p:txBody>
          <a:bodyPr>
            <a:normAutofit fontScale="90000"/>
          </a:bodyPr>
          <a:lstStyle/>
          <a:p>
            <a:r>
              <a:rPr lang="en-US" dirty="0"/>
              <a:t>Parallelism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EC2735CE-CC34-9D4F-881A-6D8C40CA6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647" y="1133060"/>
            <a:ext cx="10008705" cy="417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394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636864"/>
          </a:xfrm>
        </p:spPr>
        <p:txBody>
          <a:bodyPr>
            <a:normAutofit fontScale="90000"/>
          </a:bodyPr>
          <a:lstStyle/>
          <a:p>
            <a:r>
              <a:rPr lang="en-US" dirty="0"/>
              <a:t>Birthday 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1053548"/>
            <a:ext cx="10465905" cy="4899991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Alex wants to throw a big birthday party.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He has a list of 1000 items to buy from a Safeway (grocery store).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Items to buy:</a:t>
            </a:r>
          </a:p>
          <a:p>
            <a:pPr algn="l"/>
            <a:endParaRPr lang="en-US" dirty="0"/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item-1: ice-cream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item-2: chips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item-3: oranges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item-4: cup cakes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…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item-1000: grapes</a:t>
            </a:r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How long will it take for Alex to buy all these 1000 items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assuming that he is the only person in grocery store?</a:t>
            </a:r>
          </a:p>
        </p:txBody>
      </p:sp>
    </p:spTree>
    <p:extLst>
      <p:ext uri="{BB962C8B-B14F-4D97-AF65-F5344CB8AC3E}">
        <p14:creationId xmlns:p14="http://schemas.microsoft.com/office/powerpoint/2010/main" val="3525803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1E0D-B4D4-694C-9B94-14DCBC76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65126"/>
            <a:ext cx="8219661" cy="1003801"/>
          </a:xfrm>
        </p:spPr>
        <p:txBody>
          <a:bodyPr/>
          <a:lstStyle/>
          <a:p>
            <a:r>
              <a:rPr lang="en-US" dirty="0"/>
              <a:t>What is our Data?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6CF21EE-B52D-A147-A1D0-A196DA4EC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7935762"/>
              </p:ext>
            </p:extLst>
          </p:nvPr>
        </p:nvGraphicFramePr>
        <p:xfrm>
          <a:off x="3193774" y="1441173"/>
          <a:ext cx="4904228" cy="41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818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4205410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589248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ice-cream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Cup-cakes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6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487777"/>
          </a:xfrm>
        </p:spPr>
        <p:txBody>
          <a:bodyPr>
            <a:noAutofit/>
          </a:bodyPr>
          <a:lstStyle/>
          <a:p>
            <a:r>
              <a:rPr lang="en-US" sz="3600" dirty="0"/>
              <a:t>Birthday Example 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974035"/>
            <a:ext cx="10465905" cy="4671391"/>
          </a:xfrm>
        </p:spPr>
        <p:txBody>
          <a:bodyPr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How long will it take for Alex to buy all these 1000 items? 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400" dirty="0"/>
              <a:t>assuming that he is the only person in grocery store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It is estimated that on average he needs 14 seconds to find the item and put in the shopping cart.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Therefore, he will spend </a:t>
            </a:r>
          </a:p>
          <a:p>
            <a:pPr algn="l"/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1000 x 14 = 14,000 seconds = 234 minutes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>
                <a:solidFill>
                  <a:srgbClr val="0070C0"/>
                </a:solidFill>
              </a:rPr>
              <a:t>BUT, Alex is busy and can not spend </a:t>
            </a:r>
            <a:r>
              <a:rPr lang="en-US" sz="2800" b="1" dirty="0"/>
              <a:t>234 minutes </a:t>
            </a:r>
            <a:r>
              <a:rPr lang="en-US" sz="2800" dirty="0">
                <a:solidFill>
                  <a:srgbClr val="0070C0"/>
                </a:solidFill>
              </a:rPr>
              <a:t>for shopping.</a:t>
            </a:r>
          </a:p>
          <a:p>
            <a:pPr algn="l"/>
            <a:r>
              <a:rPr lang="en-US" sz="2800" dirty="0">
                <a:solidFill>
                  <a:srgbClr val="0070C0"/>
                </a:solidFill>
              </a:rPr>
              <a:t>What to do?</a:t>
            </a:r>
          </a:p>
        </p:txBody>
      </p:sp>
    </p:spTree>
    <p:extLst>
      <p:ext uri="{BB962C8B-B14F-4D97-AF65-F5344CB8AC3E}">
        <p14:creationId xmlns:p14="http://schemas.microsoft.com/office/powerpoint/2010/main" val="3722164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1E0D-B4D4-694C-9B94-14DCBC76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10936"/>
          </a:xfrm>
        </p:spPr>
        <p:txBody>
          <a:bodyPr/>
          <a:lstStyle/>
          <a:p>
            <a:r>
              <a:rPr lang="en-US" dirty="0"/>
              <a:t>Processing Data? One Executor: Alex</a:t>
            </a:r>
            <a:br>
              <a:rPr lang="en-US" dirty="0"/>
            </a:br>
            <a:r>
              <a:rPr lang="en-US" dirty="0"/>
              <a:t>Buy item-1, then item-2, …, then item-1000, …</a:t>
            </a:r>
            <a:br>
              <a:rPr lang="en-US" dirty="0"/>
            </a:br>
            <a:r>
              <a:rPr lang="en-US" dirty="0"/>
              <a:t>All is done in sequence: No Parallelism yet.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6CF21EE-B52D-A147-A1D0-A196DA4EC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9297873"/>
              </p:ext>
            </p:extLst>
          </p:nvPr>
        </p:nvGraphicFramePr>
        <p:xfrm>
          <a:off x="3064566" y="2613990"/>
          <a:ext cx="2556981" cy="3425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818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58163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84485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ice-cream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Cup-cakes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945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487777"/>
          </a:xfrm>
        </p:spPr>
        <p:txBody>
          <a:bodyPr>
            <a:noAutofit/>
          </a:bodyPr>
          <a:lstStyle/>
          <a:p>
            <a:r>
              <a:rPr lang="en-US" sz="3600" dirty="0"/>
              <a:t>Birthday Example 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974035"/>
            <a:ext cx="10465905" cy="4681330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But, Alex </a:t>
            </a:r>
            <a:r>
              <a:rPr lang="en-US" sz="2800" b="1" dirty="0"/>
              <a:t>is busy </a:t>
            </a:r>
            <a:r>
              <a:rPr lang="en-US" sz="2800" dirty="0"/>
              <a:t>and can not spend </a:t>
            </a:r>
            <a:r>
              <a:rPr lang="en-US" sz="2800" b="1" dirty="0"/>
              <a:t>234 minutes </a:t>
            </a:r>
            <a:r>
              <a:rPr lang="en-US" sz="2800" dirty="0"/>
              <a:t>for shopping.</a:t>
            </a:r>
          </a:p>
          <a:p>
            <a:pPr algn="l"/>
            <a:r>
              <a:rPr lang="en-US" sz="2800" b="1" dirty="0"/>
              <a:t>What to do?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Alex calls 10 of his friends (F1, F2, …, F10): 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they will do shopping and deliver to Alex.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Therefore, Each friend will buy 100 items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Total time elapsed to buy all items: </a:t>
            </a:r>
          </a:p>
          <a:p>
            <a:pPr lvl="1" algn="l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100 x 14 = 1400 seconds = 24 minutes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THIS IS a BIG IMPROVEMENT:  </a:t>
            </a:r>
            <a:r>
              <a:rPr lang="en-US" sz="2800" b="1" dirty="0">
                <a:solidFill>
                  <a:srgbClr val="002060"/>
                </a:solidFill>
              </a:rPr>
              <a:t>234 minutes </a:t>
            </a:r>
            <a:r>
              <a:rPr lang="en-US" sz="2800" dirty="0">
                <a:solidFill>
                  <a:srgbClr val="002060"/>
                </a:solidFill>
              </a:rPr>
              <a:t>reduced to </a:t>
            </a:r>
            <a:r>
              <a:rPr lang="en-US" sz="2800" b="1" dirty="0">
                <a:solidFill>
                  <a:srgbClr val="002060"/>
                </a:solidFill>
              </a:rPr>
              <a:t>24 minutes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Alex is still not satisfied with this plan.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070C0"/>
              </a:solidFill>
            </a:endParaRPr>
          </a:p>
          <a:p>
            <a:pPr algn="l"/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120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1E0D-B4D4-694C-9B94-14DCBC76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7751"/>
          </a:xfrm>
        </p:spPr>
        <p:txBody>
          <a:bodyPr>
            <a:normAutofit/>
          </a:bodyPr>
          <a:lstStyle/>
          <a:p>
            <a:r>
              <a:rPr lang="en-US" dirty="0"/>
              <a:t>Processing Data? 10 parallel executors</a:t>
            </a:r>
            <a:br>
              <a:rPr lang="en-US" dirty="0"/>
            </a:br>
            <a:r>
              <a:rPr lang="en-US" sz="4000" dirty="0">
                <a:solidFill>
                  <a:srgbClr val="FF0000"/>
                </a:solidFill>
              </a:rPr>
              <a:t>Each executor operates in parallel &amp; independently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6CF21EE-B52D-A147-A1D0-A196DA4EC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2525634"/>
              </p:ext>
            </p:extLst>
          </p:nvPr>
        </p:nvGraphicFramePr>
        <p:xfrm>
          <a:off x="838200" y="2405270"/>
          <a:ext cx="2411896" cy="372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2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4276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ice-cream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Cup-cakes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759530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438B72-0B00-8A4F-837A-BE2F8890C7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2566581"/>
              </p:ext>
            </p:extLst>
          </p:nvPr>
        </p:nvGraphicFramePr>
        <p:xfrm>
          <a:off x="8418356" y="2405270"/>
          <a:ext cx="2249556" cy="3585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07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39147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535429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E03036A-4151-6440-8794-404D60131226}"/>
              </a:ext>
            </a:extLst>
          </p:cNvPr>
          <p:cNvSpPr txBox="1">
            <a:spLocks/>
          </p:cNvSpPr>
          <p:nvPr/>
        </p:nvSpPr>
        <p:spPr>
          <a:xfrm>
            <a:off x="838201" y="1818861"/>
            <a:ext cx="2411895" cy="57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</a:rPr>
              <a:t>Executor-1: F1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0B6B63-922A-EB42-9977-ECF67BC0E1A6}"/>
              </a:ext>
            </a:extLst>
          </p:cNvPr>
          <p:cNvSpPr/>
          <p:nvPr/>
        </p:nvSpPr>
        <p:spPr>
          <a:xfrm>
            <a:off x="8274239" y="1943605"/>
            <a:ext cx="2537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Executor-10: F-10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13AEF52-4699-3641-AFAE-AC7A32256810}"/>
              </a:ext>
            </a:extLst>
          </p:cNvPr>
          <p:cNvSpPr txBox="1">
            <a:spLocks/>
          </p:cNvSpPr>
          <p:nvPr/>
        </p:nvSpPr>
        <p:spPr>
          <a:xfrm>
            <a:off x="6408769" y="1692875"/>
            <a:ext cx="1042355" cy="902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rgbClr val="FF0000"/>
                </a:solidFill>
              </a:rPr>
              <a:t>…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07F028B1-31AA-D343-9D1D-CED03DD00E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8856916"/>
              </p:ext>
            </p:extLst>
          </p:nvPr>
        </p:nvGraphicFramePr>
        <p:xfrm>
          <a:off x="3422330" y="2435022"/>
          <a:ext cx="2411896" cy="372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2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4276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759530"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83093760-6E6F-E24E-AAEA-57F9A0AB185C}"/>
              </a:ext>
            </a:extLst>
          </p:cNvPr>
          <p:cNvSpPr txBox="1">
            <a:spLocks/>
          </p:cNvSpPr>
          <p:nvPr/>
        </p:nvSpPr>
        <p:spPr>
          <a:xfrm>
            <a:off x="3278213" y="1855930"/>
            <a:ext cx="2411895" cy="57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</a:rPr>
              <a:t>Executor-1: F2</a:t>
            </a:r>
          </a:p>
        </p:txBody>
      </p:sp>
    </p:spTree>
    <p:extLst>
      <p:ext uri="{BB962C8B-B14F-4D97-AF65-F5344CB8AC3E}">
        <p14:creationId xmlns:p14="http://schemas.microsoft.com/office/powerpoint/2010/main" val="1143646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888" y="297415"/>
            <a:ext cx="9144000" cy="487777"/>
          </a:xfrm>
        </p:spPr>
        <p:txBody>
          <a:bodyPr>
            <a:noAutofit/>
          </a:bodyPr>
          <a:lstStyle/>
          <a:p>
            <a:r>
              <a:rPr lang="en-US" sz="3600" dirty="0"/>
              <a:t>Birthday Example 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785192"/>
            <a:ext cx="10465905" cy="4959625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0070C0"/>
                </a:solidFill>
              </a:rPr>
              <a:t>But, Alex </a:t>
            </a:r>
            <a:r>
              <a:rPr lang="en-US" sz="2800" b="1" dirty="0">
                <a:solidFill>
                  <a:srgbClr val="0070C0"/>
                </a:solidFill>
              </a:rPr>
              <a:t>is busy </a:t>
            </a:r>
            <a:r>
              <a:rPr lang="en-US" sz="2800" dirty="0">
                <a:solidFill>
                  <a:srgbClr val="0070C0"/>
                </a:solidFill>
              </a:rPr>
              <a:t>and can not spend 24 minutes for shopping.</a:t>
            </a:r>
          </a:p>
          <a:p>
            <a:pPr algn="l"/>
            <a:r>
              <a:rPr lang="en-US" sz="2800" b="1" dirty="0">
                <a:solidFill>
                  <a:srgbClr val="0070C0"/>
                </a:solidFill>
              </a:rPr>
              <a:t>What to do?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Alex calls 100 of his friends (F1, F2, …, F100): </a:t>
            </a:r>
          </a:p>
          <a:p>
            <a:pPr algn="l"/>
            <a:r>
              <a:rPr lang="en-US" sz="2800" dirty="0"/>
              <a:t>      they will do shopping and deliver to Alex.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Therefore, Each friend will buy 10 items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Total time elapsed to buy all items: </a:t>
            </a:r>
          </a:p>
          <a:p>
            <a:pPr lvl="1" algn="l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10 x 14 = 140 seconds = about 3 minutes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THIS IS a BIG IMPROVEMENT:  </a:t>
            </a:r>
            <a:r>
              <a:rPr lang="en-US" sz="2800" b="1" dirty="0">
                <a:solidFill>
                  <a:srgbClr val="002060"/>
                </a:solidFill>
              </a:rPr>
              <a:t>234 minutes </a:t>
            </a:r>
            <a:r>
              <a:rPr lang="en-US" sz="2800" dirty="0">
                <a:solidFill>
                  <a:srgbClr val="002060"/>
                </a:solidFill>
              </a:rPr>
              <a:t>reduced to </a:t>
            </a:r>
            <a:r>
              <a:rPr lang="en-US" sz="2800" b="1" dirty="0">
                <a:solidFill>
                  <a:srgbClr val="002060"/>
                </a:solidFill>
              </a:rPr>
              <a:t>3 minutes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Alex is still not satisfied with this plan.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070C0"/>
              </a:solidFill>
            </a:endParaRPr>
          </a:p>
          <a:p>
            <a:pPr algn="l"/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685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1E0D-B4D4-694C-9B94-14DCBC76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7751"/>
          </a:xfrm>
        </p:spPr>
        <p:txBody>
          <a:bodyPr>
            <a:normAutofit/>
          </a:bodyPr>
          <a:lstStyle/>
          <a:p>
            <a:r>
              <a:rPr lang="en-US" dirty="0"/>
              <a:t>Processing Data? 100 parallel executors</a:t>
            </a:r>
            <a:br>
              <a:rPr lang="en-US" dirty="0"/>
            </a:br>
            <a:r>
              <a:rPr lang="en-US" sz="4000" dirty="0">
                <a:solidFill>
                  <a:srgbClr val="FF0000"/>
                </a:solidFill>
              </a:rPr>
              <a:t>Each executor operates in parallel &amp; independently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6CF21EE-B52D-A147-A1D0-A196DA4EC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2919076"/>
              </p:ext>
            </p:extLst>
          </p:nvPr>
        </p:nvGraphicFramePr>
        <p:xfrm>
          <a:off x="838200" y="2405270"/>
          <a:ext cx="2411896" cy="372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2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4276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ice-cream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Cup-cakes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75953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438B72-0B00-8A4F-837A-BE2F8890C7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719829"/>
              </p:ext>
            </p:extLst>
          </p:nvPr>
        </p:nvGraphicFramePr>
        <p:xfrm>
          <a:off x="8096003" y="2476154"/>
          <a:ext cx="2249556" cy="3585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07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39147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535429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E03036A-4151-6440-8794-404D60131226}"/>
              </a:ext>
            </a:extLst>
          </p:cNvPr>
          <p:cNvSpPr txBox="1">
            <a:spLocks/>
          </p:cNvSpPr>
          <p:nvPr/>
        </p:nvSpPr>
        <p:spPr>
          <a:xfrm>
            <a:off x="838201" y="1818861"/>
            <a:ext cx="2411895" cy="57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</a:rPr>
              <a:t>Executor-1: F1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0B6B63-922A-EB42-9977-ECF67BC0E1A6}"/>
              </a:ext>
            </a:extLst>
          </p:cNvPr>
          <p:cNvSpPr/>
          <p:nvPr/>
        </p:nvSpPr>
        <p:spPr>
          <a:xfrm>
            <a:off x="8096003" y="1982604"/>
            <a:ext cx="31633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Executor-100: F-100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13AEF52-4699-3641-AFAE-AC7A32256810}"/>
              </a:ext>
            </a:extLst>
          </p:cNvPr>
          <p:cNvSpPr txBox="1">
            <a:spLocks/>
          </p:cNvSpPr>
          <p:nvPr/>
        </p:nvSpPr>
        <p:spPr>
          <a:xfrm>
            <a:off x="6530011" y="1495910"/>
            <a:ext cx="2411895" cy="902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rgbClr val="FF0000"/>
                </a:solidFill>
              </a:rPr>
              <a:t>…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8CD8E232-70EA-B04B-9693-07916E2201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9507197"/>
              </p:ext>
            </p:extLst>
          </p:nvPr>
        </p:nvGraphicFramePr>
        <p:xfrm>
          <a:off x="3424882" y="2405270"/>
          <a:ext cx="2411896" cy="372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2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4276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759530"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2F2EE3AE-EA4D-FE4D-82D5-18E0FE5EBB22}"/>
              </a:ext>
            </a:extLst>
          </p:cNvPr>
          <p:cNvSpPr txBox="1">
            <a:spLocks/>
          </p:cNvSpPr>
          <p:nvPr/>
        </p:nvSpPr>
        <p:spPr>
          <a:xfrm>
            <a:off x="3348548" y="1865177"/>
            <a:ext cx="2411895" cy="57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</a:rPr>
              <a:t>Executor-2: F2</a:t>
            </a:r>
          </a:p>
        </p:txBody>
      </p:sp>
    </p:spTree>
    <p:extLst>
      <p:ext uri="{BB962C8B-B14F-4D97-AF65-F5344CB8AC3E}">
        <p14:creationId xmlns:p14="http://schemas.microsoft.com/office/powerpoint/2010/main" val="287569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487777"/>
          </a:xfrm>
        </p:spPr>
        <p:txBody>
          <a:bodyPr>
            <a:noAutofit/>
          </a:bodyPr>
          <a:lstStyle/>
          <a:p>
            <a:r>
              <a:rPr lang="en-US" sz="3600" dirty="0"/>
              <a:t>Birthday Example 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974035"/>
            <a:ext cx="10465905" cy="468133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</a:rPr>
              <a:t>But, Alex </a:t>
            </a:r>
            <a:r>
              <a:rPr lang="en-US" b="1" dirty="0">
                <a:solidFill>
                  <a:srgbClr val="0070C0"/>
                </a:solidFill>
              </a:rPr>
              <a:t>is busy </a:t>
            </a:r>
            <a:r>
              <a:rPr lang="en-US" dirty="0">
                <a:solidFill>
                  <a:srgbClr val="0070C0"/>
                </a:solidFill>
              </a:rPr>
              <a:t>and can not even spend 3 minutes for shopping.</a:t>
            </a:r>
          </a:p>
          <a:p>
            <a:pPr algn="l"/>
            <a:r>
              <a:rPr lang="en-US" b="1" dirty="0">
                <a:solidFill>
                  <a:srgbClr val="0070C0"/>
                </a:solidFill>
              </a:rPr>
              <a:t>What to do?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Alex calls </a:t>
            </a:r>
            <a:r>
              <a:rPr lang="en-US" dirty="0"/>
              <a:t>1000</a:t>
            </a:r>
            <a:r>
              <a:rPr lang="en-US" dirty="0">
                <a:solidFill>
                  <a:srgbClr val="0070C0"/>
                </a:solidFill>
              </a:rPr>
              <a:t> of his friends (F1, F2, …, F1000): 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they will do shopping and deliver to Alex.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Therefore, Each friend will buy 1 single item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Total time elapsed to buy all items: </a:t>
            </a:r>
          </a:p>
          <a:p>
            <a:pPr lvl="1" algn="l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 x 14 = 14 seconds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THIS IS a HUGE IMPROVEMENT:  </a:t>
            </a:r>
          </a:p>
          <a:p>
            <a:pPr lvl="1" algn="l"/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234 minutes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reduced to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14 seconds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Alex is satisfied with this plan.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070C0"/>
              </a:solidFill>
            </a:endParaRPr>
          </a:p>
          <a:p>
            <a:pPr algn="l"/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653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1E0D-B4D4-694C-9B94-14DCBC76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7751"/>
          </a:xfrm>
        </p:spPr>
        <p:txBody>
          <a:bodyPr>
            <a:normAutofit/>
          </a:bodyPr>
          <a:lstStyle/>
          <a:p>
            <a:r>
              <a:rPr lang="en-US" dirty="0"/>
              <a:t>Processing Data? 1000 parallel executors</a:t>
            </a:r>
            <a:br>
              <a:rPr lang="en-US" dirty="0"/>
            </a:br>
            <a:r>
              <a:rPr lang="en-US" sz="4000" dirty="0">
                <a:solidFill>
                  <a:srgbClr val="FF0000"/>
                </a:solidFill>
              </a:rPr>
              <a:t>Each executor operates in parallel &amp; independently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6CF21EE-B52D-A147-A1D0-A196DA4EC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4306388"/>
              </p:ext>
            </p:extLst>
          </p:nvPr>
        </p:nvGraphicFramePr>
        <p:xfrm>
          <a:off x="838200" y="2405270"/>
          <a:ext cx="2411896" cy="989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2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4276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ice-cream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438B72-0B00-8A4F-837A-BE2F8890C7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606807"/>
              </p:ext>
            </p:extLst>
          </p:nvPr>
        </p:nvGraphicFramePr>
        <p:xfrm>
          <a:off x="8096003" y="2476154"/>
          <a:ext cx="2249556" cy="1043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07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39147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535429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E03036A-4151-6440-8794-404D60131226}"/>
              </a:ext>
            </a:extLst>
          </p:cNvPr>
          <p:cNvSpPr txBox="1">
            <a:spLocks/>
          </p:cNvSpPr>
          <p:nvPr/>
        </p:nvSpPr>
        <p:spPr>
          <a:xfrm>
            <a:off x="838201" y="1818861"/>
            <a:ext cx="2411895" cy="57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</a:rPr>
              <a:t>Executor-1: F1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0B6B63-922A-EB42-9977-ECF67BC0E1A6}"/>
              </a:ext>
            </a:extLst>
          </p:cNvPr>
          <p:cNvSpPr/>
          <p:nvPr/>
        </p:nvSpPr>
        <p:spPr>
          <a:xfrm>
            <a:off x="8096004" y="1982604"/>
            <a:ext cx="25308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Executor-1000: F-1000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13AEF52-4699-3641-AFAE-AC7A32256810}"/>
              </a:ext>
            </a:extLst>
          </p:cNvPr>
          <p:cNvSpPr txBox="1">
            <a:spLocks/>
          </p:cNvSpPr>
          <p:nvPr/>
        </p:nvSpPr>
        <p:spPr>
          <a:xfrm>
            <a:off x="6616508" y="2382714"/>
            <a:ext cx="2411895" cy="902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rgbClr val="FF0000"/>
                </a:solidFill>
              </a:rPr>
              <a:t>…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8CD8E232-70EA-B04B-9693-07916E2201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7949884"/>
              </p:ext>
            </p:extLst>
          </p:nvPr>
        </p:nvGraphicFramePr>
        <p:xfrm>
          <a:off x="3424882" y="2405270"/>
          <a:ext cx="2411896" cy="989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2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4276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2F2EE3AE-EA4D-FE4D-82D5-18E0FE5EBB22}"/>
              </a:ext>
            </a:extLst>
          </p:cNvPr>
          <p:cNvSpPr txBox="1">
            <a:spLocks/>
          </p:cNvSpPr>
          <p:nvPr/>
        </p:nvSpPr>
        <p:spPr>
          <a:xfrm>
            <a:off x="3348548" y="1865177"/>
            <a:ext cx="2411895" cy="57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</a:rPr>
              <a:t>Executor-2: F2</a:t>
            </a:r>
          </a:p>
        </p:txBody>
      </p:sp>
    </p:spTree>
    <p:extLst>
      <p:ext uri="{BB962C8B-B14F-4D97-AF65-F5344CB8AC3E}">
        <p14:creationId xmlns:p14="http://schemas.microsoft.com/office/powerpoint/2010/main" val="3154254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>
          <a:xfrm>
            <a:off x="2135189" y="1"/>
            <a:ext cx="8281987" cy="1323975"/>
          </a:xfrm>
        </p:spPr>
        <p:txBody>
          <a:bodyPr>
            <a:normAutofit/>
          </a:bodyPr>
          <a:lstStyle/>
          <a:p>
            <a:r>
              <a:rPr lang="en-US" dirty="0">
                <a:latin typeface="Arial" charset="0"/>
              </a:rPr>
              <a:t>How do we write 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parallel programs?</a:t>
            </a: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>
          <a:xfrm>
            <a:off x="1960562" y="1323976"/>
            <a:ext cx="8270875" cy="460851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rial" charset="0"/>
              </a:rPr>
              <a:t>Task parallelism </a:t>
            </a:r>
          </a:p>
          <a:p>
            <a:pPr lvl="1"/>
            <a:r>
              <a:rPr lang="en-US" dirty="0">
                <a:latin typeface="Arial" charset="0"/>
              </a:rPr>
              <a:t>Partition various tasks carried out solving the problem among the cores.</a:t>
            </a:r>
            <a:br>
              <a:rPr lang="en-US" dirty="0">
                <a:latin typeface="Arial" charset="0"/>
              </a:rPr>
            </a:br>
            <a:endParaRPr lang="en-US" dirty="0">
              <a:latin typeface="Arial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Arial" charset="0"/>
              </a:rPr>
              <a:t>Data parallelism</a:t>
            </a:r>
          </a:p>
          <a:p>
            <a:pPr lvl="1"/>
            <a:r>
              <a:rPr lang="en-US" dirty="0">
                <a:latin typeface="Arial" charset="0"/>
              </a:rPr>
              <a:t>Partition the data used in solving the problem among the cores.</a:t>
            </a:r>
          </a:p>
          <a:p>
            <a:pPr lvl="1"/>
            <a:r>
              <a:rPr lang="en-US" dirty="0">
                <a:latin typeface="Arial" charset="0"/>
              </a:rPr>
              <a:t>Each core carries out similar operations on it</a:t>
            </a:r>
            <a:r>
              <a:rPr lang="ja-JP" altLang="en-US">
                <a:latin typeface="Arial" charset="0"/>
              </a:rPr>
              <a:t>’</a:t>
            </a:r>
            <a:r>
              <a:rPr lang="en-US" dirty="0">
                <a:latin typeface="Arial" charset="0"/>
              </a:rPr>
              <a:t>s part of the data.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6BE44D-6AB7-7747-A5B3-8E5957F8FC9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65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>
          <a:xfrm>
            <a:off x="2135189" y="2"/>
            <a:ext cx="8281987" cy="62071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charset="0"/>
              </a:rPr>
              <a:t>Data parallelism</a:t>
            </a: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>
          <a:xfrm>
            <a:off x="2208214" y="695740"/>
            <a:ext cx="8270875" cy="554155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charset="0"/>
              </a:rPr>
              <a:t>Let your data has 200,000,000,000 data points</a:t>
            </a:r>
          </a:p>
          <a:p>
            <a:r>
              <a:rPr lang="en-US" dirty="0">
                <a:latin typeface="Arial" charset="0"/>
              </a:rPr>
              <a:t>Partition your data into 100,000 chunks:</a:t>
            </a:r>
          </a:p>
          <a:p>
            <a:pPr lvl="1"/>
            <a:r>
              <a:rPr lang="en-US" dirty="0">
                <a:solidFill>
                  <a:srgbClr val="0070C0"/>
                </a:solidFill>
                <a:latin typeface="Arial" charset="0"/>
              </a:rPr>
              <a:t>Number of partitions: </a:t>
            </a:r>
            <a:r>
              <a:rPr lang="en-US" b="1" dirty="0">
                <a:solidFill>
                  <a:srgbClr val="0070C0"/>
                </a:solidFill>
                <a:latin typeface="Arial" charset="0"/>
              </a:rPr>
              <a:t>100,000</a:t>
            </a:r>
          </a:p>
          <a:p>
            <a:pPr lvl="1"/>
            <a:r>
              <a:rPr lang="en-US" dirty="0">
                <a:solidFill>
                  <a:srgbClr val="0070C0"/>
                </a:solidFill>
                <a:latin typeface="Arial" charset="0"/>
              </a:rPr>
              <a:t>Number of records per partition: </a:t>
            </a:r>
            <a:r>
              <a:rPr lang="en-US" b="1" dirty="0">
                <a:solidFill>
                  <a:srgbClr val="0070C0"/>
                </a:solidFill>
                <a:latin typeface="Arial" charset="0"/>
              </a:rPr>
              <a:t>2000,000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Arial" charset="0"/>
              </a:rPr>
              <a:t>100,000 x 2000,000 = </a:t>
            </a:r>
            <a:r>
              <a:rPr lang="en-US" dirty="0">
                <a:latin typeface="Arial" charset="0"/>
              </a:rPr>
              <a:t>200,000,000,000</a:t>
            </a:r>
            <a:endParaRPr lang="en-US" b="1" dirty="0">
              <a:solidFill>
                <a:srgbClr val="0070C0"/>
              </a:solidFill>
              <a:latin typeface="Arial" charset="0"/>
            </a:endParaRPr>
          </a:p>
          <a:p>
            <a:r>
              <a:rPr lang="en-US" dirty="0">
                <a:latin typeface="Arial" charset="0"/>
              </a:rPr>
              <a:t>Assume you want to execute </a:t>
            </a:r>
            <a:r>
              <a:rPr lang="en-US" dirty="0">
                <a:solidFill>
                  <a:srgbClr val="0070C0"/>
                </a:solidFill>
                <a:latin typeface="Arial" charset="0"/>
              </a:rPr>
              <a:t>map(function) </a:t>
            </a:r>
            <a:r>
              <a:rPr lang="en-US" dirty="0">
                <a:latin typeface="Arial" charset="0"/>
              </a:rPr>
              <a:t>on (a transformation function) each record and create a new record</a:t>
            </a:r>
          </a:p>
          <a:p>
            <a:r>
              <a:rPr lang="en-US" dirty="0">
                <a:latin typeface="Arial" charset="0"/>
              </a:rPr>
              <a:t>With these partitioning in place, The fastest way  to execute </a:t>
            </a:r>
            <a:r>
              <a:rPr lang="en-US" dirty="0">
                <a:solidFill>
                  <a:srgbClr val="0070C0"/>
                </a:solidFill>
                <a:latin typeface="Arial" charset="0"/>
              </a:rPr>
              <a:t>map(function)  </a:t>
            </a:r>
            <a:r>
              <a:rPr lang="en-US" dirty="0">
                <a:latin typeface="Arial" charset="0"/>
              </a:rPr>
              <a:t>will be to have </a:t>
            </a:r>
            <a:r>
              <a:rPr lang="en-US" b="1" dirty="0">
                <a:solidFill>
                  <a:srgbClr val="0070C0"/>
                </a:solidFill>
                <a:latin typeface="Arial" charset="0"/>
              </a:rPr>
              <a:t>100,000</a:t>
            </a:r>
            <a:r>
              <a:rPr lang="en-US" dirty="0">
                <a:latin typeface="Arial" charset="0"/>
              </a:rPr>
              <a:t> mappers (mappers are transformations, which execute in parallel)</a:t>
            </a:r>
          </a:p>
          <a:p>
            <a:r>
              <a:rPr lang="en-US" dirty="0">
                <a:solidFill>
                  <a:srgbClr val="FF0000"/>
                </a:solidFill>
                <a:latin typeface="Arial" charset="0"/>
              </a:rPr>
              <a:t>What happens if we have only 1000 mappers?</a:t>
            </a:r>
          </a:p>
          <a:p>
            <a:pPr marL="457200" lvl="1" indent="0">
              <a:buNone/>
            </a:pPr>
            <a:endParaRPr lang="en-US" dirty="0">
              <a:latin typeface="Arial" charset="0"/>
            </a:endParaRPr>
          </a:p>
          <a:p>
            <a:pPr marL="457200" lvl="1" indent="0">
              <a:buNone/>
            </a:pPr>
            <a:endParaRPr lang="en-US" dirty="0">
              <a:latin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6BE44D-6AB7-7747-A5B3-8E5957F8FC9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22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>
          <a:xfrm>
            <a:off x="2135189" y="2"/>
            <a:ext cx="8281987" cy="62071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charset="0"/>
              </a:rPr>
              <a:t>Data parallelism</a:t>
            </a: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>
          <a:xfrm>
            <a:off x="2208214" y="695740"/>
            <a:ext cx="8270875" cy="554155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charset="0"/>
              </a:rPr>
              <a:t>What happens if we have only 1000 mappers?</a:t>
            </a:r>
          </a:p>
          <a:p>
            <a:r>
              <a:rPr lang="en-US" dirty="0">
                <a:solidFill>
                  <a:srgbClr val="0070C0"/>
                </a:solidFill>
                <a:latin typeface="Arial" charset="0"/>
              </a:rPr>
              <a:t>First, we assign 1000 of these partitions to 1000 mappers (</a:t>
            </a:r>
            <a:r>
              <a:rPr lang="en-US" b="1" dirty="0">
                <a:solidFill>
                  <a:srgbClr val="0070C0"/>
                </a:solidFill>
                <a:latin typeface="Arial" charset="0"/>
              </a:rPr>
              <a:t>each mapper gets a single partition, which has 2,000,000 records</a:t>
            </a:r>
            <a:r>
              <a:rPr lang="en-US" dirty="0">
                <a:solidFill>
                  <a:srgbClr val="0070C0"/>
                </a:solidFill>
                <a:latin typeface="Arial" charset="0"/>
              </a:rPr>
              <a:t>)</a:t>
            </a:r>
          </a:p>
          <a:p>
            <a:r>
              <a:rPr lang="en-US" dirty="0">
                <a:latin typeface="Arial" charset="0"/>
              </a:rPr>
              <a:t>Once a mapper completes its task, we assign another partition to that mapper</a:t>
            </a:r>
          </a:p>
          <a:p>
            <a:r>
              <a:rPr lang="en-US" dirty="0">
                <a:latin typeface="Arial" charset="0"/>
              </a:rPr>
              <a:t>This iteration continues until we exhaust all 100,000 partitions</a:t>
            </a:r>
          </a:p>
          <a:p>
            <a:r>
              <a:rPr lang="en-US" b="1" dirty="0">
                <a:solidFill>
                  <a:srgbClr val="00B050"/>
                </a:solidFill>
                <a:latin typeface="Arial" charset="0"/>
              </a:rPr>
              <a:t>At most 1000 mappers are executing at a single point of time.</a:t>
            </a:r>
          </a:p>
          <a:p>
            <a:r>
              <a:rPr lang="en-US" sz="3200" b="1" u="sng" dirty="0">
                <a:solidFill>
                  <a:srgbClr val="002060"/>
                </a:solidFill>
                <a:latin typeface="Arial" charset="0"/>
              </a:rPr>
              <a:t>The more mappers we have: </a:t>
            </a:r>
          </a:p>
          <a:p>
            <a:pPr marL="457200" lvl="1" indent="0">
              <a:buNone/>
            </a:pPr>
            <a:r>
              <a:rPr lang="en-US" sz="2800" b="1" u="sng" dirty="0">
                <a:solidFill>
                  <a:srgbClr val="002060"/>
                </a:solidFill>
                <a:latin typeface="Arial" charset="0"/>
              </a:rPr>
              <a:t>The more we execute faster</a:t>
            </a:r>
          </a:p>
          <a:p>
            <a:pPr marL="457200" lvl="1" indent="0">
              <a:buNone/>
            </a:pPr>
            <a:endParaRPr lang="en-US" dirty="0">
              <a:latin typeface="Arial" charset="0"/>
            </a:endParaRPr>
          </a:p>
          <a:p>
            <a:pPr marL="457200" lvl="1" indent="0">
              <a:buNone/>
            </a:pPr>
            <a:endParaRPr lang="en-US" dirty="0">
              <a:latin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6BE44D-6AB7-7747-A5B3-8E5957F8FC9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638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>
          <a:xfrm>
            <a:off x="1981200" y="4204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charset="0"/>
              </a:rPr>
              <a:t>Parallelism requires Coordination</a:t>
            </a: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1919288" y="981075"/>
            <a:ext cx="8559800" cy="511175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charset="0"/>
              </a:rPr>
              <a:t>Executors usually need to coordinate their work.</a:t>
            </a:r>
          </a:p>
          <a:p>
            <a:r>
              <a:rPr lang="en-US" dirty="0">
                <a:solidFill>
                  <a:srgbClr val="3399FF"/>
                </a:solidFill>
                <a:latin typeface="Arial" charset="0"/>
              </a:rPr>
              <a:t>Communication</a:t>
            </a:r>
            <a:r>
              <a:rPr lang="en-US" dirty="0">
                <a:latin typeface="Arial" charset="0"/>
              </a:rPr>
              <a:t> – one or more Executors send their current partial results to another core.</a:t>
            </a:r>
          </a:p>
          <a:p>
            <a:r>
              <a:rPr lang="en-US" dirty="0">
                <a:solidFill>
                  <a:srgbClr val="3399FF"/>
                </a:solidFill>
                <a:latin typeface="Arial" charset="0"/>
              </a:rPr>
              <a:t>Load balancing </a:t>
            </a:r>
            <a:r>
              <a:rPr lang="en-US" dirty="0">
                <a:latin typeface="Arial" charset="0"/>
              </a:rPr>
              <a:t>– share the work evenly among the Executors so that one is not heavily loaded.</a:t>
            </a:r>
          </a:p>
          <a:p>
            <a:r>
              <a:rPr lang="en-US" dirty="0">
                <a:solidFill>
                  <a:srgbClr val="3399FF"/>
                </a:solidFill>
                <a:latin typeface="Arial" charset="0"/>
              </a:rPr>
              <a:t>Synchronization</a:t>
            </a:r>
            <a:r>
              <a:rPr lang="en-US" dirty="0">
                <a:latin typeface="Arial" charset="0"/>
              </a:rPr>
              <a:t> – because each Executors works at its own pace, make sure Executors do not get too far ahead of the rest.</a:t>
            </a:r>
          </a:p>
          <a:p>
            <a:endParaRPr lang="en-US" dirty="0">
              <a:latin typeface="Arial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Arial" charset="0"/>
              </a:rPr>
              <a:t>NOTE: If you use Spark or MapReduce, then all          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Arial" charset="0"/>
              </a:rPr>
              <a:t>            of  these are done automagically for you!!!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6BE44D-6AB7-7747-A5B3-8E5957F8FC9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246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676619"/>
          </a:xfrm>
        </p:spPr>
        <p:txBody>
          <a:bodyPr>
            <a:noAutofit/>
          </a:bodyPr>
          <a:lstStyle/>
          <a:p>
            <a:r>
              <a:rPr lang="en-US" sz="4400" dirty="0"/>
              <a:t>Partitioner: partition data into chunks</a:t>
            </a:r>
            <a:endParaRPr lang="en-US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1093303"/>
            <a:ext cx="10465905" cy="4810539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A partitioner partitions the input into chunks.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If input has 200,000,000,000 records and we partition this input into 200,000 chunks, then we have: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Number of partitions: 200,000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Size of each partition: 1000,000 records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F0"/>
                </a:solidFill>
              </a:rPr>
              <a:t>200,000,000,000 = 200,000 x 1000,000</a:t>
            </a:r>
          </a:p>
          <a:p>
            <a:pPr algn="l"/>
            <a:endParaRPr lang="en-US" sz="2800" b="1" dirty="0">
              <a:solidFill>
                <a:srgbClr val="0070C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Typically, a chunk (1000,000 records) becomes a unit of parallelism.</a:t>
            </a:r>
          </a:p>
          <a:p>
            <a:pPr algn="l"/>
            <a:r>
              <a:rPr lang="en-US" sz="2800" b="1" dirty="0">
                <a:solidFill>
                  <a:srgbClr val="0070C0"/>
                </a:solidFill>
              </a:rPr>
              <a:t>Chunk = Partition</a:t>
            </a:r>
          </a:p>
          <a:p>
            <a:pPr algn="l"/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83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183" y="416684"/>
            <a:ext cx="9415670" cy="487777"/>
          </a:xfrm>
        </p:spPr>
        <p:txBody>
          <a:bodyPr>
            <a:noAutofit/>
          </a:bodyPr>
          <a:lstStyle/>
          <a:p>
            <a:r>
              <a:rPr lang="en-US" sz="3600" b="1" dirty="0"/>
              <a:t>Benefits of Parallel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904461"/>
            <a:ext cx="10465905" cy="4999381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</a:rPr>
              <a:t>Parallel computing models the real world</a:t>
            </a:r>
            <a:r>
              <a:rPr lang="en-US" sz="2800" dirty="0">
                <a:solidFill>
                  <a:srgbClr val="002060"/>
                </a:solidFill>
              </a:rPr>
              <a:t>. The world around us isn't serial and sequential: many things happen at the same time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/>
              <a:t>Saves time</a:t>
            </a:r>
            <a:r>
              <a:rPr lang="en-US" sz="2800" dirty="0"/>
              <a:t>. Serial/sequential computing forces fast processors to do things inefficiently.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</a:rPr>
              <a:t>Saves money</a:t>
            </a:r>
            <a:r>
              <a:rPr lang="en-US" sz="2800" dirty="0">
                <a:solidFill>
                  <a:srgbClr val="002060"/>
                </a:solidFill>
              </a:rPr>
              <a:t>. By saving time, parallel computing makes things cheaper and faster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/>
              <a:t>Solve more complex or larger problems</a:t>
            </a:r>
            <a:r>
              <a:rPr lang="en-US" sz="2800" dirty="0"/>
              <a:t>  be partitioning them into smaller problems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</a:rPr>
              <a:t>Solve Larger Problems in a short point of time.</a:t>
            </a:r>
            <a:endParaRPr lang="en-US" sz="3200" b="1" dirty="0">
              <a:solidFill>
                <a:srgbClr val="0070C0"/>
              </a:solidFill>
            </a:endParaRPr>
          </a:p>
          <a:p>
            <a:pPr algn="l"/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29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487777"/>
          </a:xfrm>
        </p:spPr>
        <p:txBody>
          <a:bodyPr>
            <a:noAutofit/>
          </a:bodyPr>
          <a:lstStyle/>
          <a:p>
            <a:r>
              <a:rPr lang="en-US" sz="3600" b="1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1093303"/>
            <a:ext cx="10465905" cy="4810539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Introduction to Parallel Computing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https://www.geeksforgeeks.org/introduction-to-parallel-computing/</a:t>
            </a:r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Introduction: Parallelism = Opportunities + Challenges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https://</a:t>
            </a:r>
            <a:r>
              <a:rPr lang="en-US" dirty="0" err="1"/>
              <a:t>courses.cs.washington.edu</a:t>
            </a:r>
            <a:r>
              <a:rPr lang="en-US" dirty="0"/>
              <a:t>/courses/csep524/07sp/poppChaper1.pdf</a:t>
            </a:r>
          </a:p>
        </p:txBody>
      </p:sp>
    </p:spTree>
    <p:extLst>
      <p:ext uri="{BB962C8B-B14F-4D97-AF65-F5344CB8AC3E}">
        <p14:creationId xmlns:p14="http://schemas.microsoft.com/office/powerpoint/2010/main" val="174078572"/>
      </p:ext>
    </p:extLst>
  </p:cSld>
  <p:clrMapOvr>
    <a:masterClrMapping/>
  </p:clrMapOvr>
</p:sld>
</file>

<file path=ppt/theme/theme1.xml><?xml version="1.0" encoding="utf-8"?>
<a:theme xmlns:a="http://schemas.openxmlformats.org/drawingml/2006/main" name="scu-ppt-master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scu-ppt-master</Template>
  <TotalTime>2215</TotalTime>
  <Words>1927</Words>
  <Application>Microsoft Macintosh PowerPoint</Application>
  <PresentationFormat>Widescreen</PresentationFormat>
  <Paragraphs>334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Calibri</vt:lpstr>
      <vt:lpstr>Calibri Light</vt:lpstr>
      <vt:lpstr>Consolas</vt:lpstr>
      <vt:lpstr>Courier</vt:lpstr>
      <vt:lpstr>Courier New</vt:lpstr>
      <vt:lpstr>Franklin Gothic Medium Cond</vt:lpstr>
      <vt:lpstr>Helvetica Light</vt:lpstr>
      <vt:lpstr>Wingdings</vt:lpstr>
      <vt:lpstr>scu-ppt-master</vt:lpstr>
      <vt:lpstr>Understanding  Parallelism &amp; Concurrency (informal introduction)</vt:lpstr>
      <vt:lpstr>Why Parallelism?</vt:lpstr>
      <vt:lpstr>Parallelism Example: array addition</vt:lpstr>
      <vt:lpstr>Concurrency &amp; Parallelism (informal definition):</vt:lpstr>
      <vt:lpstr>Concurrency &amp; Parallelism (informal definition):</vt:lpstr>
      <vt:lpstr>Concurrency &amp; Parallelism </vt:lpstr>
      <vt:lpstr>Concurrency &amp; Parallelism </vt:lpstr>
      <vt:lpstr>Concurrency &amp; Parallelism: Maximum Parallelism</vt:lpstr>
      <vt:lpstr>Parallelism</vt:lpstr>
      <vt:lpstr>Parallelism</vt:lpstr>
      <vt:lpstr>Parallelism</vt:lpstr>
      <vt:lpstr>Birthday Example</vt:lpstr>
      <vt:lpstr>What is our Data?</vt:lpstr>
      <vt:lpstr>Birthday Example …</vt:lpstr>
      <vt:lpstr>Processing Data? One Executor: Alex Buy item-1, then item-2, …, then item-1000, … All is done in sequence: No Parallelism yet.</vt:lpstr>
      <vt:lpstr>Birthday Example …</vt:lpstr>
      <vt:lpstr>Processing Data? 10 parallel executors Each executor operates in parallel &amp; independently</vt:lpstr>
      <vt:lpstr>Birthday Example …</vt:lpstr>
      <vt:lpstr>Processing Data? 100 parallel executors Each executor operates in parallel &amp; independently</vt:lpstr>
      <vt:lpstr>Birthday Example …</vt:lpstr>
      <vt:lpstr>Processing Data? 1000 parallel executors Each executor operates in parallel &amp; independently</vt:lpstr>
      <vt:lpstr>How do we write  parallel programs?</vt:lpstr>
      <vt:lpstr>Data parallelism</vt:lpstr>
      <vt:lpstr>Data parallelism</vt:lpstr>
      <vt:lpstr>Parallelism requires Coordination</vt:lpstr>
      <vt:lpstr>Partitioner: partition data into chunks</vt:lpstr>
      <vt:lpstr>Benefits of Parallel Computing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 Parallelism</dc:title>
  <dc:creator>Parsian, Mahmoud</dc:creator>
  <cp:lastModifiedBy>Mahmoud Parsian</cp:lastModifiedBy>
  <cp:revision>49</cp:revision>
  <dcterms:created xsi:type="dcterms:W3CDTF">2022-03-28T18:19:17Z</dcterms:created>
  <dcterms:modified xsi:type="dcterms:W3CDTF">2026-07-14T22:51:17Z</dcterms:modified>
</cp:coreProperties>
</file>