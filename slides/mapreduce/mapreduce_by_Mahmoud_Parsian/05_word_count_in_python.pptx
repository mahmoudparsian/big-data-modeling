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4" r:id="rId4"/>
    <p:sldId id="258" r:id="rId5"/>
    <p:sldId id="265" r:id="rId6"/>
    <p:sldId id="259" r:id="rId7"/>
    <p:sldId id="266" r:id="rId8"/>
    <p:sldId id="261" r:id="rId9"/>
    <p:sldId id="260" r:id="rId10"/>
    <p:sldId id="262" r:id="rId11"/>
    <p:sldId id="263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5600" y="3991335"/>
            <a:ext cx="9144000" cy="1395551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5600" y="5386885"/>
            <a:ext cx="9144000" cy="556715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" name="Google Shape;11;p9">
            <a:extLst>
              <a:ext uri="{FF2B5EF4-FFF2-40B4-BE49-F238E27FC236}">
                <a16:creationId xmlns:a16="http://schemas.microsoft.com/office/drawing/2014/main" id="{F562F608-3FAF-F944-B5A5-1195B295175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899" y="6267274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2180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06843"/>
            <a:ext cx="9144000" cy="3070496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489609"/>
            <a:ext cx="9144000" cy="623015"/>
          </a:xfrm>
        </p:spPr>
        <p:txBody>
          <a:bodyPr/>
          <a:lstStyle>
            <a:lvl1pPr marL="0" indent="0" algn="ctr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Google Shape;11;p9">
            <a:extLst>
              <a:ext uri="{FF2B5EF4-FFF2-40B4-BE49-F238E27FC236}">
                <a16:creationId xmlns:a16="http://schemas.microsoft.com/office/drawing/2014/main" id="{9843B12E-2970-164E-96C4-CA89A1450BB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899" y="6267274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8917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B50043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oogle Shape;11;p9">
            <a:extLst>
              <a:ext uri="{FF2B5EF4-FFF2-40B4-BE49-F238E27FC236}">
                <a16:creationId xmlns:a16="http://schemas.microsoft.com/office/drawing/2014/main" id="{42BD6F60-39BB-9B49-8AE1-7982FC4CA8D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899" y="6267274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24847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5" name="Google Shape;19;p11">
            <a:extLst>
              <a:ext uri="{FF2B5EF4-FFF2-40B4-BE49-F238E27FC236}">
                <a16:creationId xmlns:a16="http://schemas.microsoft.com/office/drawing/2014/main" id="{56B763D1-B56A-134D-84FC-A52CB9F6A54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43764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287372-0917-854E-8E17-C067520FD8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434167"/>
            <a:ext cx="5365749" cy="539751"/>
          </a:xfrm>
        </p:spPr>
        <p:txBody>
          <a:bodyPr anchor="t">
            <a:normAutofit/>
          </a:bodyPr>
          <a:lstStyle>
            <a:lvl1pPr marL="0" indent="0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11297"/>
            <a:ext cx="10515600" cy="40656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19;p11">
            <a:extLst>
              <a:ext uri="{FF2B5EF4-FFF2-40B4-BE49-F238E27FC236}">
                <a16:creationId xmlns:a16="http://schemas.microsoft.com/office/drawing/2014/main" id="{D1EBC6D6-B7A7-8349-BB7D-34239AFEBBC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2398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851" y="976617"/>
            <a:ext cx="10515600" cy="1003801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287372-0917-854E-8E17-C067520FD8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8851" y="378638"/>
            <a:ext cx="5365749" cy="539751"/>
          </a:xfrm>
        </p:spPr>
        <p:txBody>
          <a:bodyPr anchor="b">
            <a:normAutofit/>
          </a:bodyPr>
          <a:lstStyle>
            <a:lvl1pPr marL="0" indent="0" algn="l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851" y="2111297"/>
            <a:ext cx="10515600" cy="2055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FE203F3-27C1-6942-B96E-19FD27429AF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294496"/>
            <a:ext cx="12192000" cy="256350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43704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695" y="1081798"/>
            <a:ext cx="5365271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584" y="542605"/>
            <a:ext cx="536574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695" y="2756452"/>
            <a:ext cx="11071829" cy="3420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19;p11">
            <a:extLst>
              <a:ext uri="{FF2B5EF4-FFF2-40B4-BE49-F238E27FC236}">
                <a16:creationId xmlns:a16="http://schemas.microsoft.com/office/drawing/2014/main" id="{960ADD97-4AD0-0A42-9114-EBC9F2ED478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4136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9" y="1174027"/>
            <a:ext cx="3665612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7" y="634834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1" y="634834"/>
            <a:ext cx="6713723" cy="2794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A4D5AD4-5321-1C4A-B2C2-36ACAEAE06A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294496"/>
            <a:ext cx="12192000" cy="256350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64262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7" y="3586056"/>
            <a:ext cx="3665612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6" y="3046863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0" y="3046863"/>
            <a:ext cx="6713723" cy="2794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A4D5AD4-5321-1C4A-B2C2-36ACAEAE06A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256350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15;p10">
            <a:extLst>
              <a:ext uri="{FF2B5EF4-FFF2-40B4-BE49-F238E27FC236}">
                <a16:creationId xmlns:a16="http://schemas.microsoft.com/office/drawing/2014/main" id="{8A3194B9-CC43-E546-A5E4-9AD4D155F1B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899" y="6267274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584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9" y="1620991"/>
            <a:ext cx="3665612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7" y="1081798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1" y="1081799"/>
            <a:ext cx="6713723" cy="2347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876801" y="3667447"/>
            <a:ext cx="6713723" cy="2347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A7E0C015-0061-4141-B120-DD81D01FA98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51537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0128" y="1464895"/>
            <a:ext cx="6713723" cy="83252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0128" y="850839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0128" y="2371725"/>
            <a:ext cx="6713723" cy="31797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6B87FA-C788-0C43-A60C-5EB49C9779C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1" y="0"/>
            <a:ext cx="3839572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DE36E4F5-5D6D-DF48-B7A4-0AC093DE605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57830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633" y="1110976"/>
            <a:ext cx="5876111" cy="13638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5632" y="533317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633" y="2512705"/>
            <a:ext cx="5876111" cy="33086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6B87FA-C788-0C43-A60C-5EB49C9779C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42744" y="1600200"/>
            <a:ext cx="3657600" cy="36576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24FE092B-3872-D545-8104-23189B691C1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22151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337" y="1078391"/>
            <a:ext cx="3665612" cy="157109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24" y="2671110"/>
            <a:ext cx="3665939" cy="539751"/>
          </a:xfrm>
        </p:spPr>
        <p:txBody>
          <a:bodyPr anchor="ctr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9675" y="1078391"/>
            <a:ext cx="3352799" cy="5000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50866" y="1078393"/>
            <a:ext cx="3352799" cy="50009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0CAD2A9F-C0BE-1D4C-9CB5-9F353CB7EC5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41587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6" y="1081242"/>
            <a:ext cx="8789076" cy="108245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6" y="542049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476" y="2493845"/>
            <a:ext cx="4275325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115337" y="2493845"/>
            <a:ext cx="4275325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7EF772DB-EBED-AC4E-A6B4-D6788D3D616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728646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9067" y="1620992"/>
            <a:ext cx="3665612" cy="157109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89067" y="3187150"/>
            <a:ext cx="3665939" cy="539751"/>
          </a:xfrm>
        </p:spPr>
        <p:txBody>
          <a:bodyPr anchor="ctr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05" y="447391"/>
            <a:ext cx="6713723" cy="1571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31305" y="2401603"/>
            <a:ext cx="6713723" cy="1571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DD728A0-FBA7-A944-9FC3-D964968E5F8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31305" y="4349939"/>
            <a:ext cx="6713723" cy="1571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Google Shape;30;p13">
            <a:extLst>
              <a:ext uri="{FF2B5EF4-FFF2-40B4-BE49-F238E27FC236}">
                <a16:creationId xmlns:a16="http://schemas.microsoft.com/office/drawing/2014/main" id="{64431A57-6760-9247-9E2A-0A0473D22C6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718069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7" y="1081242"/>
            <a:ext cx="8621925" cy="108245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6" y="542049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476" y="2487447"/>
            <a:ext cx="3434496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78752" y="2487447"/>
            <a:ext cx="3434496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9CB098-C913-FF47-8D6F-4433AECCD96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156028" y="2487447"/>
            <a:ext cx="3434496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Google Shape;30;p13">
            <a:extLst>
              <a:ext uri="{FF2B5EF4-FFF2-40B4-BE49-F238E27FC236}">
                <a16:creationId xmlns:a16="http://schemas.microsoft.com/office/drawing/2014/main" id="{96661309-1A64-9B40-8E09-EB7C41D02DD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756929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5038" y="361423"/>
            <a:ext cx="8621925" cy="108245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63031" y="1502871"/>
            <a:ext cx="3665939" cy="539751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7271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31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231" y="3424738"/>
            <a:ext cx="3535680" cy="2855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50356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ADFEEC4C-3952-3241-AFFA-9FF6C2A44C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11316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11316" y="3471305"/>
            <a:ext cx="3535680" cy="2798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33508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7BD52A3-D0F5-C34B-B923-D91286004F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94468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9CB098-C913-FF47-8D6F-4433AECCD96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194468" y="3471305"/>
            <a:ext cx="3535680" cy="2798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7" name="Google Shape;30;p13">
            <a:extLst>
              <a:ext uri="{FF2B5EF4-FFF2-40B4-BE49-F238E27FC236}">
                <a16:creationId xmlns:a16="http://schemas.microsoft.com/office/drawing/2014/main" id="{4B5F8AAA-BFCE-4243-BCCA-044109B0E3F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342682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5038" y="361423"/>
            <a:ext cx="8621925" cy="108245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63031" y="1502871"/>
            <a:ext cx="3665939" cy="539751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7271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31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12F6D154-7CC0-C540-AA65-63CBA5A000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4514" y="3587178"/>
            <a:ext cx="2703116" cy="224082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50356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ADFEEC4C-3952-3241-AFFA-9FF6C2A44C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11316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2EB95A51-2BFE-CF45-AF89-35310B6F255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727599" y="3587177"/>
            <a:ext cx="2703116" cy="224082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33508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7BD52A3-D0F5-C34B-B923-D91286004F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94468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50A9B9C3-F6C3-E14E-B1BC-001989E7BF8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610751" y="3587175"/>
            <a:ext cx="2703116" cy="224082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0" name="Google Shape;30;p13">
            <a:extLst>
              <a:ext uri="{FF2B5EF4-FFF2-40B4-BE49-F238E27FC236}">
                <a16:creationId xmlns:a16="http://schemas.microsoft.com/office/drawing/2014/main" id="{F6FCBC8F-7CCE-2C4C-AAF7-4952D113F07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207163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4568" y="281392"/>
            <a:ext cx="8621925" cy="108245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63031" y="1417981"/>
            <a:ext cx="3665939" cy="539751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605" y="2277977"/>
            <a:ext cx="2703116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9474" y="2588653"/>
            <a:ext cx="2318105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9EF3CB1-11C9-364F-BB5B-A911A25998F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58862" y="3591434"/>
            <a:ext cx="1939329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2365" y="2277975"/>
            <a:ext cx="2703116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4B1F5A97-5AAD-B944-ACE3-759382926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61978" y="2591402"/>
            <a:ext cx="2318105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D467BC90-669B-E145-A934-88F0093AEA0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651366" y="3594183"/>
            <a:ext cx="1939329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0125" y="2277975"/>
            <a:ext cx="2703116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20F56272-45A8-464E-A2EF-92E963522C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84993" y="2591402"/>
            <a:ext cx="2318105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91AC9B6C-283F-8246-AA1C-A18DA4F7E34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574381" y="3594183"/>
            <a:ext cx="1939329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6ABE50-ACB3-F540-B07F-B7E5E31B4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07883" y="2277978"/>
            <a:ext cx="2703116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AEEAAA06-A9FA-5C44-BDE5-45762EF595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92753" y="2588653"/>
            <a:ext cx="2318105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11">
            <a:extLst>
              <a:ext uri="{FF2B5EF4-FFF2-40B4-BE49-F238E27FC236}">
                <a16:creationId xmlns:a16="http://schemas.microsoft.com/office/drawing/2014/main" id="{AB995A1D-84D4-B04C-B7C1-C51D005CC92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482141" y="3591434"/>
            <a:ext cx="1939329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9" name="Google Shape;30;p13">
            <a:extLst>
              <a:ext uri="{FF2B5EF4-FFF2-40B4-BE49-F238E27FC236}">
                <a16:creationId xmlns:a16="http://schemas.microsoft.com/office/drawing/2014/main" id="{846B281D-577A-2847-8901-3BC5DDAA2F4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2379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467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9" name="Google Shape;30;p13">
            <a:extLst>
              <a:ext uri="{FF2B5EF4-FFF2-40B4-BE49-F238E27FC236}">
                <a16:creationId xmlns:a16="http://schemas.microsoft.com/office/drawing/2014/main" id="{52095448-BA23-8B4C-9877-FF23F4EB99C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8536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Google Shape;30;p13">
            <a:extLst>
              <a:ext uri="{FF2B5EF4-FFF2-40B4-BE49-F238E27FC236}">
                <a16:creationId xmlns:a16="http://schemas.microsoft.com/office/drawing/2014/main" id="{E74E0DDA-6146-E846-9C90-721AC3DB063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258564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30;p13">
            <a:extLst>
              <a:ext uri="{FF2B5EF4-FFF2-40B4-BE49-F238E27FC236}">
                <a16:creationId xmlns:a16="http://schemas.microsoft.com/office/drawing/2014/main" id="{EF4D445F-0EE7-E74E-B0B3-D782FE7112F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47367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33"/>
            </a:lvl2pPr>
            <a:lvl3pPr>
              <a:defRPr sz="1867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7DCDAFC0-B225-9546-961B-DC5B9BDD748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908737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EE4A9134-7030-7749-89EA-6705EE97561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842884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038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72127"/>
            <a:ext cx="10515600" cy="4604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C6A4C-6C9C-1247-9E17-AAB2A147EAAC}"/>
              </a:ext>
            </a:extLst>
          </p:cNvPr>
          <p:cNvSpPr txBox="1"/>
          <p:nvPr/>
        </p:nvSpPr>
        <p:spPr>
          <a:xfrm>
            <a:off x="2052578" y="72534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62938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267" b="0" i="0" kern="1200">
          <a:solidFill>
            <a:schemeClr val="tx1"/>
          </a:solidFill>
          <a:latin typeface="Franklin Gothic Medium Cond" panose="020B0606030402020204" pitchFamily="34" charset="0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100000"/>
        </a:lnSpc>
        <a:spcBef>
          <a:spcPts val="1000"/>
        </a:spcBef>
        <a:buClr>
          <a:schemeClr val="bg2">
            <a:lumMod val="25000"/>
          </a:schemeClr>
        </a:buClr>
        <a:buSzPct val="85000"/>
        <a:buFont typeface="Arial" panose="020B0604020202020204" pitchFamily="34" charset="0"/>
        <a:buChar char="•"/>
        <a:defRPr sz="2667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685783" indent="-228594" algn="l" defTabSz="914377" rtl="0" eaLnBrk="1" latinLnBrk="0" hangingPunct="1">
        <a:lnSpc>
          <a:spcPct val="100000"/>
        </a:lnSpc>
        <a:spcBef>
          <a:spcPts val="500"/>
        </a:spcBef>
        <a:buClr>
          <a:schemeClr val="bg2">
            <a:lumMod val="25000"/>
          </a:schemeClr>
        </a:buClr>
        <a:buSzPct val="85000"/>
        <a:buFont typeface="Courier New" panose="02070309020205020404" pitchFamily="49" charset="0"/>
        <a:buChar char="o"/>
        <a:defRPr sz="2400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1142971" indent="-228594" algn="l" defTabSz="914377" rtl="0" eaLnBrk="1" latinLnBrk="0" hangingPunct="1">
        <a:lnSpc>
          <a:spcPct val="100000"/>
        </a:lnSpc>
        <a:spcBef>
          <a:spcPts val="500"/>
        </a:spcBef>
        <a:buClr>
          <a:schemeClr val="bg2">
            <a:lumMod val="25000"/>
          </a:schemeClr>
        </a:buClr>
        <a:buSzPct val="85000"/>
        <a:buFont typeface="Wingdings" pitchFamily="2" charset="2"/>
        <a:buChar char="§"/>
        <a:defRPr sz="2133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67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67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F9A50-0E7F-E04A-8CF7-B05B3A5381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1783" y="1600200"/>
            <a:ext cx="9144000" cy="19931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Word Count </a:t>
            </a:r>
            <a:br>
              <a:rPr lang="en-US" dirty="0">
                <a:solidFill>
                  <a:srgbClr val="002060"/>
                </a:solidFill>
              </a:rPr>
            </a:br>
            <a:r>
              <a:rPr lang="en-US" dirty="0">
                <a:solidFill>
                  <a:srgbClr val="002060"/>
                </a:solidFill>
              </a:rPr>
              <a:t>in </a:t>
            </a:r>
            <a:br>
              <a:rPr lang="en-US" dirty="0">
                <a:solidFill>
                  <a:srgbClr val="002060"/>
                </a:solidFill>
              </a:rPr>
            </a:br>
            <a:r>
              <a:rPr lang="en-US" b="1" dirty="0">
                <a:solidFill>
                  <a:srgbClr val="002060"/>
                </a:solidFill>
              </a:rPr>
              <a:t>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86B118-65CC-6846-8175-40FEB62138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1783" y="3929449"/>
            <a:ext cx="9144000" cy="1328351"/>
          </a:xfrm>
        </p:spPr>
        <p:txBody>
          <a:bodyPr/>
          <a:lstStyle/>
          <a:p>
            <a:endParaRPr lang="en-US" dirty="0"/>
          </a:p>
          <a:p>
            <a:r>
              <a:rPr lang="en-US" dirty="0">
                <a:latin typeface="+mn-lt"/>
                <a:cs typeface="Consolas" panose="020B0609020204030204" pitchFamily="49" charset="0"/>
              </a:rPr>
              <a:t>Mahmoud Parsian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Ph.D. in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752106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F9A50-0E7F-E04A-8CF7-B05B3A5381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08994"/>
            <a:ext cx="9144000" cy="966952"/>
          </a:xfrm>
        </p:spPr>
        <p:txBody>
          <a:bodyPr>
            <a:normAutofit/>
          </a:bodyPr>
          <a:lstStyle/>
          <a:p>
            <a:r>
              <a:rPr lang="en-US" b="1" dirty="0"/>
              <a:t>What is the Word Count Problem?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86B118-65CC-6846-8175-40FEB62138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17683"/>
            <a:ext cx="9144000" cy="3631323"/>
          </a:xfrm>
        </p:spPr>
        <p:txBody>
          <a:bodyPr>
            <a:normAutofit fontScale="92500" lnSpcReduction="20000"/>
          </a:bodyPr>
          <a:lstStyle/>
          <a:p>
            <a:pPr algn="l" fontAlgn="base"/>
            <a:r>
              <a:rPr lang="en-US" sz="4000" dirty="0"/>
              <a:t>Input: </a:t>
            </a:r>
            <a:r>
              <a:rPr lang="en-US" sz="4000" dirty="0">
                <a:solidFill>
                  <a:srgbClr val="0070C0"/>
                </a:solidFill>
              </a:rPr>
              <a:t>set of text documents</a:t>
            </a:r>
          </a:p>
          <a:p>
            <a:pPr algn="l" fontAlgn="base"/>
            <a:endParaRPr lang="en-US" sz="4000" dirty="0"/>
          </a:p>
          <a:p>
            <a:pPr algn="l" fontAlgn="base"/>
            <a:r>
              <a:rPr lang="en-US" sz="4000" dirty="0"/>
              <a:t>Program: </a:t>
            </a:r>
            <a:r>
              <a:rPr lang="en-US" sz="4000" dirty="0">
                <a:solidFill>
                  <a:srgbClr val="0070C0"/>
                </a:solidFill>
              </a:rPr>
              <a:t>counts the number of </a:t>
            </a:r>
          </a:p>
          <a:p>
            <a:pPr algn="l" fontAlgn="base"/>
            <a:r>
              <a:rPr lang="en-US" sz="4000" dirty="0">
                <a:solidFill>
                  <a:srgbClr val="0070C0"/>
                </a:solidFill>
              </a:rPr>
              <a:t>occurrences of each unique word</a:t>
            </a:r>
            <a:r>
              <a:rPr lang="en-US" sz="4000" dirty="0"/>
              <a:t>.</a:t>
            </a:r>
          </a:p>
          <a:p>
            <a:pPr algn="l" fontAlgn="base"/>
            <a:endParaRPr lang="en-US" sz="4000" dirty="0"/>
          </a:p>
          <a:p>
            <a:pPr algn="l" fontAlgn="base"/>
            <a:r>
              <a:rPr lang="en-US" sz="4000" dirty="0">
                <a:latin typeface="Consolas" panose="020B0609020204030204" pitchFamily="49" charset="0"/>
                <a:cs typeface="Consolas" panose="020B0609020204030204" pitchFamily="49" charset="0"/>
              </a:rPr>
              <a:t>Output</a:t>
            </a:r>
            <a:r>
              <a:rPr lang="en-US" sz="4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(word, frequency)</a:t>
            </a:r>
          </a:p>
        </p:txBody>
      </p:sp>
    </p:spTree>
    <p:extLst>
      <p:ext uri="{BB962C8B-B14F-4D97-AF65-F5344CB8AC3E}">
        <p14:creationId xmlns:p14="http://schemas.microsoft.com/office/powerpoint/2010/main" val="583680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F9A50-0E7F-E04A-8CF7-B05B3A5381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08994"/>
            <a:ext cx="9144000" cy="798785"/>
          </a:xfrm>
        </p:spPr>
        <p:txBody>
          <a:bodyPr>
            <a:normAutofit/>
          </a:bodyPr>
          <a:lstStyle/>
          <a:p>
            <a:r>
              <a:rPr lang="en-US" dirty="0"/>
              <a:t>Word Count Problem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86B118-65CC-6846-8175-40FEB62138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07779"/>
            <a:ext cx="9144000" cy="3450021"/>
          </a:xfrm>
        </p:spPr>
        <p:txBody>
          <a:bodyPr>
            <a:normAutofit/>
          </a:bodyPr>
          <a:lstStyle/>
          <a:p>
            <a:pPr algn="l" fontAlgn="base"/>
            <a:r>
              <a:rPr lang="en-US" b="1" dirty="0"/>
              <a:t>Find frequency of each word in a string in Python</a:t>
            </a:r>
          </a:p>
          <a:p>
            <a:pPr algn="l" fontAlgn="base"/>
            <a:r>
              <a:rPr lang="en-US" dirty="0"/>
              <a:t>Input : string =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“fox jumped over red fox over fox jumped” </a:t>
            </a:r>
          </a:p>
          <a:p>
            <a:pPr algn="l" fontAlgn="base"/>
            <a:r>
              <a:rPr lang="en-US" dirty="0"/>
              <a:t>Output : frequencies of unique words:</a:t>
            </a:r>
          </a:p>
          <a:p>
            <a:pPr algn="l" fontAlgn="base"/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fox		3</a:t>
            </a:r>
          </a:p>
          <a:p>
            <a:pPr algn="l" fontAlgn="base"/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jumped	2</a:t>
            </a:r>
          </a:p>
          <a:p>
            <a:pPr algn="l" fontAlgn="base"/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over		2</a:t>
            </a:r>
          </a:p>
          <a:p>
            <a:pPr algn="l" fontAlgn="base"/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		1</a:t>
            </a:r>
          </a:p>
        </p:txBody>
      </p:sp>
    </p:spTree>
    <p:extLst>
      <p:ext uri="{BB962C8B-B14F-4D97-AF65-F5344CB8AC3E}">
        <p14:creationId xmlns:p14="http://schemas.microsoft.com/office/powerpoint/2010/main" val="2198020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F9A50-0E7F-E04A-8CF7-B05B3A5381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67560"/>
            <a:ext cx="9144000" cy="557048"/>
          </a:xfrm>
        </p:spPr>
        <p:txBody>
          <a:bodyPr>
            <a:normAutofit/>
          </a:bodyPr>
          <a:lstStyle/>
          <a:p>
            <a:r>
              <a:rPr lang="en-US" sz="3200" dirty="0"/>
              <a:t>Solution-1: word_count_python_1.py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86B118-65CC-6846-8175-40FEB62138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124609"/>
            <a:ext cx="9144000" cy="4855778"/>
          </a:xfrm>
        </p:spPr>
        <p:txBody>
          <a:bodyPr>
            <a:normAutofit fontScale="70000" lnSpcReduction="20000"/>
          </a:bodyPr>
          <a:lstStyle/>
          <a:p>
            <a:pPr marL="457200" indent="-457200" algn="l" fontAlgn="base">
              <a:buFont typeface="+mj-lt"/>
              <a:buAutoNum type="arabicPeriod"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def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word_count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(str):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counts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dict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words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str.split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457200" indent="-457200" algn="l" fontAlgn="base">
              <a:buFont typeface="+mj-lt"/>
              <a:buAutoNum type="arabicPeriod"/>
            </a:pPr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57200" indent="-457200" algn="l" fontAlgn="base">
              <a:buFont typeface="+mj-lt"/>
              <a:buAutoNum type="arabicPeriod"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for word in words: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    if word in counts: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        counts[word] += 1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    else: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        counts[word] = 1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    #end-if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#end-for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return counts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#end-def</a:t>
            </a:r>
          </a:p>
          <a:p>
            <a:pPr algn="l" fontAlgn="base"/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 fontAlgn="base"/>
            <a:endParaRPr lang="en-US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064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F9A50-0E7F-E04A-8CF7-B05B3A5381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67560"/>
            <a:ext cx="9144000" cy="557048"/>
          </a:xfrm>
        </p:spPr>
        <p:txBody>
          <a:bodyPr>
            <a:normAutofit/>
          </a:bodyPr>
          <a:lstStyle/>
          <a:p>
            <a:r>
              <a:rPr lang="en-US" sz="3200" dirty="0"/>
              <a:t>Solution-1: word_count_python_1.py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86B118-65CC-6846-8175-40FEB62138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1124609"/>
            <a:ext cx="9480331" cy="4855778"/>
          </a:xfrm>
        </p:spPr>
        <p:txBody>
          <a:bodyPr>
            <a:normAutofit fontScale="92500" lnSpcReduction="10000"/>
          </a:bodyPr>
          <a:lstStyle/>
          <a:p>
            <a:pPr algn="l" fontAlgn="base"/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 fontAlgn="base"/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print( </a:t>
            </a:r>
            <a:r>
              <a:rPr lang="en-US" sz="1900" dirty="0" err="1">
                <a:latin typeface="Consolas" panose="020B0609020204030204" pitchFamily="49" charset="0"/>
                <a:cs typeface="Consolas" panose="020B0609020204030204" pitchFamily="49" charset="0"/>
              </a:rPr>
              <a:t>word_count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('fox jumped and jumped a gray fox jumped and jumped'))</a:t>
            </a:r>
          </a:p>
          <a:p>
            <a:pPr algn="l" fontAlgn="base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 fontAlgn="base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sample run:</a:t>
            </a:r>
          </a:p>
          <a:p>
            <a:pPr algn="l" fontAlgn="base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 fontAlgn="base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% python word_count_python_1.py</a:t>
            </a:r>
          </a:p>
          <a:p>
            <a:pPr algn="l" fontAlgn="base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{'and': 2, </a:t>
            </a:r>
          </a:p>
          <a:p>
            <a:pPr algn="l" fontAlgn="base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'jumped': 4, </a:t>
            </a:r>
          </a:p>
          <a:p>
            <a:pPr algn="l" fontAlgn="base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'fox': 2, </a:t>
            </a:r>
          </a:p>
          <a:p>
            <a:pPr algn="l" fontAlgn="base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'a': 1, </a:t>
            </a:r>
          </a:p>
          <a:p>
            <a:pPr algn="l" fontAlgn="base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'gray': 1}</a:t>
            </a:r>
          </a:p>
          <a:p>
            <a:pPr algn="l" fontAlgn="base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 fontAlgn="base"/>
            <a:endParaRPr lang="en-US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5128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F9A50-0E7F-E04A-8CF7-B05B3A5381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67560"/>
            <a:ext cx="9144000" cy="557048"/>
          </a:xfrm>
        </p:spPr>
        <p:txBody>
          <a:bodyPr>
            <a:normAutofit/>
          </a:bodyPr>
          <a:lstStyle/>
          <a:p>
            <a:r>
              <a:rPr lang="en-US" sz="3200" dirty="0"/>
              <a:t>Solution-2: word_count_python_2.py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86B118-65CC-6846-8175-40FEB62138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124609"/>
            <a:ext cx="9144000" cy="4855778"/>
          </a:xfrm>
        </p:spPr>
        <p:txBody>
          <a:bodyPr>
            <a:normAutofit/>
          </a:bodyPr>
          <a:lstStyle/>
          <a:p>
            <a:pPr marL="457200" indent="-457200" algn="l" fontAlgn="base">
              <a:buFont typeface="+mj-lt"/>
              <a:buAutoNum type="arabicPeriod"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from __future__ import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print_function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57200" indent="-457200" algn="l" fontAlgn="base">
              <a:buFont typeface="+mj-lt"/>
              <a:buAutoNum type="arabicPeriod"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from collections import Counter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import sys</a:t>
            </a:r>
          </a:p>
          <a:p>
            <a:pPr marL="457200" indent="-457200" algn="l" fontAlgn="base">
              <a:buFont typeface="+mj-lt"/>
              <a:buAutoNum type="arabicPeriod"/>
            </a:pP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57200" indent="-457200" algn="l" fontAlgn="base">
              <a:buFont typeface="+mj-lt"/>
              <a:buAutoNum type="arabicPeriod"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#---------------------------------------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def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count_word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file_name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with open(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file_name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) as f: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return Counter(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f.read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().split())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#end-def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#---------------------------------------</a:t>
            </a:r>
          </a:p>
          <a:p>
            <a:pPr algn="l" fontAlgn="base"/>
            <a:endParaRPr lang="en-US" sz="7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874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F9A50-0E7F-E04A-8CF7-B05B3A5381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67560"/>
            <a:ext cx="9144000" cy="557048"/>
          </a:xfrm>
        </p:spPr>
        <p:txBody>
          <a:bodyPr>
            <a:normAutofit/>
          </a:bodyPr>
          <a:lstStyle/>
          <a:p>
            <a:r>
              <a:rPr lang="en-US" sz="3200" dirty="0"/>
              <a:t>Solution-2: word_count_python_2.py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86B118-65CC-6846-8175-40FEB62138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124609"/>
            <a:ext cx="9144000" cy="4855778"/>
          </a:xfrm>
        </p:spPr>
        <p:txBody>
          <a:bodyPr>
            <a:normAutofit/>
          </a:bodyPr>
          <a:lstStyle/>
          <a:p>
            <a:pPr algn="l" fontAlgn="base"/>
            <a:endParaRPr lang="en-US" sz="14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42900" indent="-342900" algn="l" fontAlgn="base">
              <a:buFont typeface="+mj-lt"/>
              <a:buAutoNum type="arabicPeriod"/>
            </a:pP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input_path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sys.argv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[1]</a:t>
            </a:r>
          </a:p>
          <a:p>
            <a:pPr marL="342900" indent="-342900" algn="l" fontAlgn="base">
              <a:buFont typeface="+mj-lt"/>
              <a:buAutoNum type="arabicPeriod"/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print("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input_path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=",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input_path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342900" indent="-342900" algn="l" fontAlgn="base">
              <a:buFont typeface="+mj-lt"/>
              <a:buAutoNum type="arabicPeriod"/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</a:p>
          <a:p>
            <a:pPr marL="342900" indent="-342900" algn="l" fontAlgn="base">
              <a:buFont typeface="+mj-lt"/>
              <a:buAutoNum type="arabicPeriod"/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print("Frequency :",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count_word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input_path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  <a:p>
            <a:pPr marL="342900" indent="-342900" algn="l" fontAlgn="base">
              <a:buFont typeface="+mj-lt"/>
              <a:buAutoNum type="arabicPeriod"/>
            </a:pP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42900" indent="-342900" algn="l" fontAlgn="base">
              <a:buFont typeface="+mj-lt"/>
              <a:buAutoNum type="arabicPeriod"/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sample run:</a:t>
            </a:r>
          </a:p>
          <a:p>
            <a:pPr marL="342900" indent="-342900" algn="l" fontAlgn="base">
              <a:buFont typeface="+mj-lt"/>
              <a:buAutoNum type="arabicPeriod"/>
            </a:pP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42900" indent="-342900" algn="l" fontAlgn="base">
              <a:buFont typeface="+mj-lt"/>
              <a:buAutoNum type="arabicPeriod"/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% python word_count_python_2.py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test_file.txt</a:t>
            </a: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42900" indent="-342900" algn="l" fontAlgn="base">
              <a:buFont typeface="+mj-lt"/>
              <a:buAutoNum type="arabicPeriod"/>
            </a:pP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input_path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test_file.txt</a:t>
            </a: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42900" indent="-342900" algn="l" fontAlgn="base">
              <a:buFont typeface="+mj-lt"/>
              <a:buAutoNum type="arabicPeriod"/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Frequency : Counter({'jumped': 4, 'fox': 4, 'red': 2, 'and': 1, 'gray': 1, 'over': 1})</a:t>
            </a:r>
          </a:p>
          <a:p>
            <a:pPr algn="l" fontAlgn="base"/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638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F9A50-0E7F-E04A-8CF7-B05B3A5381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5021" y="320565"/>
            <a:ext cx="9144000" cy="383628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Solution-3: word_count_python_3.py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86B118-65CC-6846-8175-40FEB62138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704193"/>
            <a:ext cx="9144000" cy="5276194"/>
          </a:xfrm>
        </p:spPr>
        <p:txBody>
          <a:bodyPr>
            <a:normAutofit/>
          </a:bodyPr>
          <a:lstStyle/>
          <a:p>
            <a:pPr algn="l" fontAlgn="base"/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 __future__ import 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print_function</a:t>
            </a:r>
            <a:endParaRPr lang="en-US" sz="18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 fontAlgn="base"/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 re</a:t>
            </a:r>
          </a:p>
          <a:p>
            <a:pPr algn="l" fontAlgn="base"/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 string</a:t>
            </a:r>
          </a:p>
          <a:p>
            <a:pPr algn="l" fontAlgn="base"/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 sys</a:t>
            </a:r>
          </a:p>
          <a:p>
            <a:pPr algn="l" fontAlgn="base"/>
            <a:endParaRPr lang="en-US" sz="7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023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F9A50-0E7F-E04A-8CF7-B05B3A5381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67560"/>
            <a:ext cx="9144000" cy="557048"/>
          </a:xfrm>
        </p:spPr>
        <p:txBody>
          <a:bodyPr>
            <a:normAutofit/>
          </a:bodyPr>
          <a:lstStyle/>
          <a:p>
            <a:r>
              <a:rPr lang="en-US" sz="3200" dirty="0"/>
              <a:t>Solution-3: word_count_python_3.py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86B118-65CC-6846-8175-40FEB62138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124609"/>
            <a:ext cx="9144000" cy="4855778"/>
          </a:xfrm>
        </p:spPr>
        <p:txBody>
          <a:bodyPr>
            <a:noAutofit/>
          </a:bodyPr>
          <a:lstStyle/>
          <a:p>
            <a:pPr marL="228600" indent="-228600" algn="l" fontAlgn="base">
              <a:buFont typeface="+mj-lt"/>
              <a:buAutoNum type="arabicPeriod"/>
            </a:pP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 </a:t>
            </a: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count_word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file_name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 marL="228600" indent="-228600" algn="l" fontAlgn="base">
              <a:buFont typeface="+mj-lt"/>
              <a:buAutoNum type="arabicPeriod"/>
            </a:pP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text = open(</a:t>
            </a: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file_name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"r") # Open the file in read mode</a:t>
            </a:r>
          </a:p>
          <a:p>
            <a:pPr marL="228600" indent="-228600" algn="l" fontAlgn="base">
              <a:buFont typeface="+mj-lt"/>
              <a:buAutoNum type="arabicPeriod"/>
            </a:pP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d = </a:t>
            </a: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dict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# Create an empty dictionary</a:t>
            </a:r>
          </a:p>
          <a:p>
            <a:pPr marL="228600" indent="-228600" algn="l" fontAlgn="base">
              <a:buFont typeface="+mj-lt"/>
              <a:buAutoNum type="arabicPeriod"/>
            </a:pP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# Loop through each line of the file</a:t>
            </a:r>
          </a:p>
          <a:p>
            <a:pPr marL="228600" indent="-228600" algn="l" fontAlgn="base">
              <a:buFont typeface="+mj-lt"/>
              <a:buAutoNum type="arabicPeriod"/>
            </a:pP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for line in text:</a:t>
            </a:r>
          </a:p>
          <a:p>
            <a:pPr marL="228600" indent="-228600" algn="l" fontAlgn="base">
              <a:buFont typeface="+mj-lt"/>
              <a:buAutoNum type="arabicPeriod"/>
            </a:pP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line = </a:t>
            </a: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line.strip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# Remove the leading spaces</a:t>
            </a:r>
          </a:p>
          <a:p>
            <a:pPr marL="228600" indent="-228600" algn="l" fontAlgn="base">
              <a:buFont typeface="+mj-lt"/>
              <a:buAutoNum type="arabicPeriod"/>
            </a:pP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line = </a:t>
            </a: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line.lower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 </a:t>
            </a:r>
          </a:p>
          <a:p>
            <a:pPr marL="228600" indent="-228600" algn="l" fontAlgn="base">
              <a:buFont typeface="+mj-lt"/>
              <a:buAutoNum type="arabicPeriod"/>
            </a:pP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words = </a:t>
            </a: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line.split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 ")</a:t>
            </a:r>
          </a:p>
          <a:p>
            <a:pPr marL="228600" indent="-228600" algn="l" fontAlgn="base">
              <a:buFont typeface="+mj-lt"/>
              <a:buAutoNum type="arabicPeriod"/>
            </a:pP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for word in words:</a:t>
            </a:r>
          </a:p>
          <a:p>
            <a:pPr marL="228600" indent="-228600" algn="l" fontAlgn="base">
              <a:buFont typeface="+mj-lt"/>
              <a:buAutoNum type="arabicPeriod"/>
            </a:pP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if word in d: d[word] += 1</a:t>
            </a:r>
          </a:p>
          <a:p>
            <a:pPr marL="228600" indent="-228600" algn="l" fontAlgn="base">
              <a:buFont typeface="+mj-lt"/>
              <a:buAutoNum type="arabicPeriod"/>
            </a:pP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else: d[word] = 1</a:t>
            </a:r>
          </a:p>
          <a:p>
            <a:pPr marL="228600" indent="-228600" algn="l" fontAlgn="base">
              <a:buFont typeface="+mj-lt"/>
              <a:buAutoNum type="arabicPeriod"/>
            </a:pP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#end-for</a:t>
            </a:r>
          </a:p>
          <a:p>
            <a:pPr marL="228600" indent="-228600" algn="l" fontAlgn="base">
              <a:buFont typeface="+mj-lt"/>
              <a:buAutoNum type="arabicPeriod"/>
            </a:pP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#end-for</a:t>
            </a:r>
          </a:p>
          <a:p>
            <a:pPr marL="228600" indent="-228600" algn="l" fontAlgn="base">
              <a:buFont typeface="+mj-lt"/>
              <a:buAutoNum type="arabicPeriod"/>
            </a:pP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return d</a:t>
            </a:r>
          </a:p>
          <a:p>
            <a:pPr marL="228600" indent="-228600" algn="l" fontAlgn="base">
              <a:buFont typeface="+mj-lt"/>
              <a:buAutoNum type="arabicPeriod"/>
            </a:pP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#end-def</a:t>
            </a:r>
          </a:p>
        </p:txBody>
      </p:sp>
    </p:spTree>
    <p:extLst>
      <p:ext uri="{BB962C8B-B14F-4D97-AF65-F5344CB8AC3E}">
        <p14:creationId xmlns:p14="http://schemas.microsoft.com/office/powerpoint/2010/main" val="3423393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F9A50-0E7F-E04A-8CF7-B05B3A5381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67560"/>
            <a:ext cx="9144000" cy="557048"/>
          </a:xfrm>
        </p:spPr>
        <p:txBody>
          <a:bodyPr>
            <a:normAutofit/>
          </a:bodyPr>
          <a:lstStyle/>
          <a:p>
            <a:r>
              <a:rPr lang="en-US" sz="3200" dirty="0"/>
              <a:t>Solution-3: Sample Input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86B118-65CC-6846-8175-40FEB62138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124609"/>
            <a:ext cx="9144000" cy="4855778"/>
          </a:xfrm>
        </p:spPr>
        <p:txBody>
          <a:bodyPr>
            <a:noAutofit/>
          </a:bodyPr>
          <a:lstStyle/>
          <a:p>
            <a:pPr algn="l" fontAlgn="base"/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 cat </a:t>
            </a:r>
            <a:r>
              <a:rPr lang="en-US" sz="28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test_file.txt</a:t>
            </a:r>
            <a:endParaRPr lang="en-US" sz="28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 fontAlgn="base"/>
            <a:r>
              <a:rPr lang="en-US" sz="2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fox jumped and jumped</a:t>
            </a:r>
          </a:p>
          <a:p>
            <a:pPr algn="l" fontAlgn="base"/>
            <a:r>
              <a:rPr lang="en-US" sz="2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gray fox jumped over red fox</a:t>
            </a:r>
          </a:p>
          <a:p>
            <a:pPr algn="l" fontAlgn="base"/>
            <a:r>
              <a:rPr lang="en-US" sz="2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 fox jumped</a:t>
            </a:r>
          </a:p>
          <a:p>
            <a:pPr algn="l" fontAlgn="base"/>
            <a:endParaRPr lang="en-US" sz="12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193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F9A50-0E7F-E04A-8CF7-B05B3A5381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67560"/>
            <a:ext cx="9144000" cy="557048"/>
          </a:xfrm>
        </p:spPr>
        <p:txBody>
          <a:bodyPr>
            <a:normAutofit/>
          </a:bodyPr>
          <a:lstStyle/>
          <a:p>
            <a:r>
              <a:rPr lang="en-US" sz="3200" dirty="0"/>
              <a:t>Solution-3: word_count_python_3.py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86B118-65CC-6846-8175-40FEB62138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124609"/>
            <a:ext cx="9144000" cy="4855778"/>
          </a:xfrm>
        </p:spPr>
        <p:txBody>
          <a:bodyPr>
            <a:noAutofit/>
          </a:bodyPr>
          <a:lstStyle/>
          <a:p>
            <a:pPr marL="228600" indent="-228600" algn="l" fontAlgn="base">
              <a:buFont typeface="+mj-lt"/>
              <a:buAutoNum type="arabicPeriod"/>
            </a:pP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input_path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sys.argv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</a:t>
            </a:r>
          </a:p>
          <a:p>
            <a:pPr marL="228600" indent="-228600" algn="l" fontAlgn="base">
              <a:buFont typeface="+mj-lt"/>
              <a:buAutoNum type="arabicPeriod"/>
            </a:pP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print("</a:t>
            </a: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input_path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=", </a:t>
            </a: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input_path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228600" indent="-228600" algn="l" fontAlgn="base">
              <a:buFont typeface="+mj-lt"/>
              <a:buAutoNum type="arabicPeriod"/>
            </a:pP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dict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count_word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input_path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228600" indent="-228600" algn="l" fontAlgn="base">
              <a:buFont typeface="+mj-lt"/>
              <a:buAutoNum type="arabicPeriod"/>
            </a:pP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Print the contents of dictionary</a:t>
            </a:r>
          </a:p>
          <a:p>
            <a:pPr marL="228600" indent="-228600" algn="l" fontAlgn="base">
              <a:buFont typeface="+mj-lt"/>
              <a:buAutoNum type="arabicPeriod"/>
            </a:pP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key in list(</a:t>
            </a: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dict.keys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()):</a:t>
            </a:r>
          </a:p>
          <a:p>
            <a:pPr marL="228600" indent="-228600" algn="l" fontAlgn="base">
              <a:buFont typeface="+mj-lt"/>
              <a:buAutoNum type="arabicPeriod"/>
            </a:pP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print(key, ":", </a:t>
            </a: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dict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[key])   </a:t>
            </a:r>
          </a:p>
          <a:p>
            <a:pPr marL="228600" indent="-228600" algn="l" fontAlgn="base">
              <a:buFont typeface="+mj-lt"/>
              <a:buAutoNum type="arabicPeriod"/>
            </a:pPr>
            <a:r>
              <a:rPr lang="en-US" sz="1200" b="1" u="sng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sample run:</a:t>
            </a:r>
          </a:p>
          <a:p>
            <a:pPr marL="228600" indent="-228600" algn="l" fontAlgn="base">
              <a:buFont typeface="+mj-lt"/>
              <a:buAutoNum type="arabicPeriod"/>
            </a:pP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% python word_count_python_3.py </a:t>
            </a: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test_file.txt</a:t>
            </a:r>
            <a:endParaRPr lang="en-US" sz="12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28600" indent="-228600" algn="l" fontAlgn="base">
              <a:buFont typeface="+mj-lt"/>
              <a:buAutoNum type="arabicPeriod"/>
            </a:pP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input_path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test_file.txt</a:t>
            </a:r>
            <a:endParaRPr lang="en-US" sz="12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28600" indent="-228600" algn="l" fontAlgn="base">
              <a:buFont typeface="+mj-lt"/>
              <a:buAutoNum type="arabicPeriod"/>
            </a:pP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and : 1</a:t>
            </a:r>
          </a:p>
          <a:p>
            <a:pPr marL="228600" indent="-228600" algn="l" fontAlgn="base">
              <a:buFont typeface="+mj-lt"/>
              <a:buAutoNum type="arabicPeriod"/>
            </a:pP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gray : 1</a:t>
            </a:r>
          </a:p>
          <a:p>
            <a:pPr marL="228600" indent="-228600" algn="l" fontAlgn="base">
              <a:buFont typeface="+mj-lt"/>
              <a:buAutoNum type="arabicPeriod"/>
            </a:pP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jumped : 4</a:t>
            </a:r>
          </a:p>
          <a:p>
            <a:pPr marL="228600" indent="-228600" algn="l" fontAlgn="base">
              <a:buFont typeface="+mj-lt"/>
              <a:buAutoNum type="arabicPeriod"/>
            </a:pP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over : 1</a:t>
            </a:r>
          </a:p>
          <a:p>
            <a:pPr marL="228600" indent="-228600" algn="l" fontAlgn="base">
              <a:buFont typeface="+mj-lt"/>
              <a:buAutoNum type="arabicPeriod"/>
            </a:pP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fox : 4</a:t>
            </a:r>
          </a:p>
          <a:p>
            <a:pPr marL="228600" indent="-228600" algn="l" fontAlgn="base">
              <a:buFont typeface="+mj-lt"/>
              <a:buAutoNum type="arabicPeriod"/>
            </a:pP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 : 2</a:t>
            </a:r>
          </a:p>
        </p:txBody>
      </p:sp>
    </p:spTree>
    <p:extLst>
      <p:ext uri="{BB962C8B-B14F-4D97-AF65-F5344CB8AC3E}">
        <p14:creationId xmlns:p14="http://schemas.microsoft.com/office/powerpoint/2010/main" val="3707848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F9A50-0E7F-E04A-8CF7-B05B3A5381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67560"/>
            <a:ext cx="9144000" cy="557048"/>
          </a:xfrm>
        </p:spPr>
        <p:txBody>
          <a:bodyPr>
            <a:normAutofit/>
          </a:bodyPr>
          <a:lstStyle/>
          <a:p>
            <a:r>
              <a:rPr lang="en-US" sz="3200" b="1" dirty="0"/>
              <a:t>Limitations of Word Count in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86B118-65CC-6846-8175-40FEB62138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124609"/>
            <a:ext cx="9144000" cy="4855778"/>
          </a:xfrm>
        </p:spPr>
        <p:txBody>
          <a:bodyPr>
            <a:noAutofit/>
          </a:bodyPr>
          <a:lstStyle/>
          <a:p>
            <a:pPr algn="l" fontAlgn="base"/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1. All algorithmic steps are sequential</a:t>
            </a:r>
          </a:p>
          <a:p>
            <a:pPr algn="l" fontAlgn="base"/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2. You can only run the program on a single computer</a:t>
            </a:r>
          </a:p>
          <a:p>
            <a:pPr algn="l" fontAlgn="base"/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3. Data size is limited to your disk space in your computer</a:t>
            </a:r>
          </a:p>
          <a:p>
            <a:pPr algn="l" fontAlgn="base"/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4. Can NOT handle big data (of billions </a:t>
            </a:r>
          </a:p>
          <a:p>
            <a:pPr algn="l" fontAlgn="base"/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of records).</a:t>
            </a:r>
          </a:p>
          <a:p>
            <a:pPr algn="l" fontAlgn="base"/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5. Solution does NOT scale-out</a:t>
            </a:r>
          </a:p>
          <a:p>
            <a:pPr algn="l" fontAlgn="base"/>
            <a:endParaRPr lang="en-US" sz="28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825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F9A50-0E7F-E04A-8CF7-B05B3A5381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9905"/>
            <a:ext cx="9144000" cy="557048"/>
          </a:xfrm>
        </p:spPr>
        <p:txBody>
          <a:bodyPr>
            <a:normAutofit/>
          </a:bodyPr>
          <a:lstStyle/>
          <a:p>
            <a:r>
              <a:rPr lang="en-US" sz="3200" b="1" dirty="0"/>
              <a:t>Overcome Limitations of Word Count in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86B118-65CC-6846-8175-40FEB62138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966953"/>
            <a:ext cx="9144000" cy="5013434"/>
          </a:xfrm>
        </p:spPr>
        <p:txBody>
          <a:bodyPr>
            <a:noAutofit/>
          </a:bodyPr>
          <a:lstStyle/>
          <a:p>
            <a:pPr marL="514350" indent="-514350" algn="l" fontAlgn="base">
              <a:buAutoNum type="arabicPeriod"/>
            </a:pPr>
            <a:r>
              <a:rPr lang="en-US" sz="36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1. Use </a:t>
            </a:r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MapReduce/Hadoop (</a:t>
            </a:r>
            <a:r>
              <a:rPr lang="en-US" sz="3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SLOW</a:t>
            </a:r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971550" lvl="1" indent="-514350" algn="l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Uses disk I/O</a:t>
            </a:r>
          </a:p>
          <a:p>
            <a:pPr marL="971550" lvl="1" indent="-514350" algn="l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Hard to write programs in Hadoop</a:t>
            </a:r>
          </a:p>
          <a:p>
            <a:pPr algn="l" fontAlgn="base"/>
            <a:r>
              <a:rPr lang="en-US" sz="3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36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 </a:t>
            </a:r>
            <a:r>
              <a:rPr lang="en-US" sz="36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 Spark/PySpark (FAST)</a:t>
            </a:r>
          </a:p>
          <a:p>
            <a:pPr marL="914400" lvl="1" indent="-457200" algn="l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Uses memory/RAM as much as possible</a:t>
            </a:r>
          </a:p>
          <a:p>
            <a:pPr marL="914400" lvl="1" indent="-457200" algn="l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Uses disk I/O (when not enough memory)</a:t>
            </a:r>
          </a:p>
          <a:p>
            <a:pPr marL="914400" lvl="1" indent="-457200" algn="l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Spark is a superset of MapReduce</a:t>
            </a:r>
          </a:p>
          <a:p>
            <a:pPr marL="914400" lvl="1" indent="-457200" algn="l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Easy to write programs in Spark/PySpark</a:t>
            </a:r>
          </a:p>
          <a:p>
            <a:pPr lvl="1" algn="l" fontAlgn="base"/>
            <a:endParaRPr lang="en-US" sz="32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563925"/>
      </p:ext>
    </p:extLst>
  </p:cSld>
  <p:clrMapOvr>
    <a:masterClrMapping/>
  </p:clrMapOvr>
</p:sld>
</file>

<file path=ppt/theme/theme1.xml><?xml version="1.0" encoding="utf-8"?>
<a:theme xmlns:a="http://schemas.openxmlformats.org/drawingml/2006/main" name="scu-ppt-master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scu-ppt-master</Template>
  <TotalTime>91</TotalTime>
  <Words>807</Words>
  <Application>Microsoft Macintosh PowerPoint</Application>
  <PresentationFormat>Widescreen</PresentationFormat>
  <Paragraphs>127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Calibri Light</vt:lpstr>
      <vt:lpstr>Consolas</vt:lpstr>
      <vt:lpstr>Courier New</vt:lpstr>
      <vt:lpstr>Franklin Gothic Medium Cond</vt:lpstr>
      <vt:lpstr>Helvetica Light</vt:lpstr>
      <vt:lpstr>Wingdings</vt:lpstr>
      <vt:lpstr>scu-ppt-master</vt:lpstr>
      <vt:lpstr>Word Count  in  Python</vt:lpstr>
      <vt:lpstr>What is a Word Count Problem</vt:lpstr>
      <vt:lpstr>Word Count Problem</vt:lpstr>
      <vt:lpstr>Solution-1: word_count_python_1.py</vt:lpstr>
      <vt:lpstr>Solution-1: word_count_python_1.py</vt:lpstr>
      <vt:lpstr>Solution-2: word_count_python_2.py</vt:lpstr>
      <vt:lpstr>Solution-2: word_count_python_2.py</vt:lpstr>
      <vt:lpstr>Solution-3: word_count_python_3.py</vt:lpstr>
      <vt:lpstr>Solution-3: word_count_python_3.py</vt:lpstr>
      <vt:lpstr>Solution-3: Sample Input</vt:lpstr>
      <vt:lpstr>Solution-3: word_count_python_3.py</vt:lpstr>
      <vt:lpstr>Limitations of Word Count in Python</vt:lpstr>
      <vt:lpstr>Overcome Limitations of Word Count in 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Count  in  Python</dc:title>
  <dc:creator>Parsian, Mahmoud</dc:creator>
  <cp:lastModifiedBy>Parsian, Mahmoud</cp:lastModifiedBy>
  <cp:revision>16</cp:revision>
  <dcterms:created xsi:type="dcterms:W3CDTF">2022-03-28T05:26:18Z</dcterms:created>
  <dcterms:modified xsi:type="dcterms:W3CDTF">2022-05-05T22:27:19Z</dcterms:modified>
</cp:coreProperties>
</file>