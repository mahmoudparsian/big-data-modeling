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98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Explain that MapReduce is a programming paradigm — a way of thinking about computation — not a specific tool. We will keep this implementation-agnostic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why we need a new paradigm. Traditional single-node processing doesn't scale. The key idea: divide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analogy throughout the lecture. Students immediately grasp it. The 'pile' = partition, 'TA' = worker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partitions are non-overlapping and independent. No record appears in two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partitioning is what most MapReduce runtimes use by default for the shuffle phase. Range partitioning is used when sorted output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first running example. We will follow these exact 3 lines through map, shuffle, and reduce across the next several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key emitted by the mapper determines WHICH reducer will process this pair. The choice of key is the most important design decision in a MapReduce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partition. Note that ('the',1) appears multiple times — that is intentional. Deduplication happens in the reduce phase,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B is more realistic. Key design insight: we choose 'product' as the key because we want to group by product in the reduce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struggle with key choice. Use these examples to build intuition: the key is always the dimension you want to group/aggregate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shuffle is automatic — no user code. But it is expensive: it involves writing intermediate data to disk and sending it over the network. This is why key choice matters: skewed keys cause one reducer to receive far more data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are often surprised that sorting happens automatically during the shuffle. This is what enables the reducer to see all values for a key together, without loading everything into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'the' appears 6 times across the three input lines. The shuffle has done all the grouping work — the reducer just needs to sum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combine function must be associative for correctness. Commutative is ideal for performance (allows combiner optimization). Explain what a combiner is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'the' row carefully — it appears 6 times total. The reducer simply sums the list. Final output is the complete word frequency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complete 4-phase flow for Example B. Students should see how the key choice (product name) drove everything: it defined the shuffle grouping and the reducer's aggregation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master summary diagram. Return to this slide whenever students look confused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summary card. Students should be able to describe each phase without looking at notes after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students: next module will implement these exact concepts in PySpark and Hadoop. Everything they learned today maps directly to rdd.map(), rdd.reduceByKey(), and the shuffle that happens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199" y="502920"/>
            <a:ext cx="3499806" cy="45719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Paradigm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processing massive datasets in parallel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Modeling · Module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Won't Fit on One Machine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TB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generated daily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major web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10⁹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a typical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transaction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15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before your single-machine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would run out of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fundamental insight: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77724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split the data into independent chunks and process each chunk in parallel,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turn a job that takes hours into one that takes minutes — just by using more machines.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Divide, Process, Combine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grading 1,000 exam papers.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Sequential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professor grades all 1,000.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takes all weekend.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0FFF4"/>
          </a:solidFill>
          <a:ln w="12700">
            <a:solidFill>
              <a:srgbClr val="88D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Parallel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4 piles of 250.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pile to each 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grade simultaneously.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done in one evening.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MapReduce Translation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1,000 papers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56832" y="15727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67728" y="15727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dataset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0848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pile of 250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56832" y="20848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0848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596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56832" y="25968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67728" y="25968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/ task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108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one paper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56832" y="31089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7728" y="3108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map() function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Tallying final grades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56832" y="36210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36210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reduce() function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460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Data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59"/>
            <a:ext cx="6949440" cy="115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large dataset into independent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 that can be processed in parallel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Partition?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 is a non-overlapping subset of the full dataset assigned to one worker for 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Dataset  [ r₁  r₂  r₃  r₄  r₅  r₆  r₇  r₈  r₉  r₁₀  r₁₁  r₁₂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10896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92040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656832" y="2542032"/>
            <a:ext cx="0" cy="384048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  r₂  r₃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42032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r₄  r₅  r₆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r₇  r₈  r₉ 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11696" y="29260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11696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r₁₀ r₁₁ r₁₂ 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1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  </a:t>
            </a: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9051AAC-63AD-E5CA-8417-D9471294DB3C}"/>
              </a:ext>
            </a:extLst>
          </p:cNvPr>
          <p:cNvSpPr/>
          <p:nvPr/>
        </p:nvSpPr>
        <p:spPr>
          <a:xfrm>
            <a:off x="2542032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  </a:t>
            </a:r>
            <a:endParaRPr lang="en-US" sz="11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2EB8FD3E-5E55-D5F0-99A8-B17CAEDBB3EE}"/>
              </a:ext>
            </a:extLst>
          </p:cNvPr>
          <p:cNvSpPr/>
          <p:nvPr/>
        </p:nvSpPr>
        <p:spPr>
          <a:xfrm>
            <a:off x="4572000" y="385545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 </a:t>
            </a:r>
            <a:endParaRPr lang="en-US" sz="11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CA8E497-19F2-9438-6958-FE7408C8E184}"/>
              </a:ext>
            </a:extLst>
          </p:cNvPr>
          <p:cNvSpPr/>
          <p:nvPr/>
        </p:nvSpPr>
        <p:spPr>
          <a:xfrm>
            <a:off x="6582871" y="3855855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Round-Robin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Default; when records are independent and order doesn't matter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61848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Record 0 → P0, Record 1 → P1, …, Record n → P(n mod k)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8379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Perfectly balanced partitions   ✗ Records with the same key may land in different partitions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Partitioning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Before grouping or aggregating by a key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partition = hash(key) mod 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09981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records with the same key go to the same partition   ✗ Skew: a very common key overloads one partition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570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Partitioning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When you need records sorted within each partition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142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Define boundaries: [A–G] → P0, [H–P] → P1, [Q–Z] → P2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Supports ordered processing, efficient range queries   ✗ Requires knowing the key distribution in advance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 A — Word Count: Partitioning the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three lines of text. We split them across 3 partitions (one line each).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7220" y="1379095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36995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7220" y="1719072"/>
            <a:ext cx="8076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90575"/>
            <a:ext cx="7863840" cy="81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9152"/>
            <a:ext cx="0" cy="41148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3017520" y="24140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3 partitions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9904" y="288036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3218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9632" y="3429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0920"/>
            <a:ext cx="1097280" cy="1473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600" b="1" dirty="0">
              <a:solidFill>
                <a:srgbClr val="E8601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6106" y="1508760"/>
            <a:ext cx="7270694" cy="122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transformation function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record —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and in parallel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Mapper: Transform Each Record into Key-Value Pairs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Input:   one record from a partition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 zero or more (key, value)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mapper runs independently — no communication with other mappers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key you emit determines where the record goes next (in the shuffle)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Pure function — same input always produces same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840480" cy="1572768"/>
          </a:xfrm>
          <a:prstGeom prst="roundRect">
            <a:avLst>
              <a:gd name="adj" fmla="val 5814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Mapper Signature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840480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527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map(key_in, value_in)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emit(key_out, value_out)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emit(key_out, value_out)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Process one record at a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shared state between mappers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895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emit 0, 1, or many pairs per record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choice determines downstream grouping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Applying the Mapper: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logic:  for each word in the line → emit  (word, 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 (input)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73936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2633472" cy="1170432"/>
          </a:xfrm>
          <a:prstGeom prst="roundRect">
            <a:avLst>
              <a:gd name="adj" fmla="val 546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0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("cat",1) ("sat",1)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("the",1) ("mat",1)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 (input)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hat"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90288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273552" y="2907792"/>
            <a:ext cx="2633472" cy="1170432"/>
          </a:xfrm>
          <a:prstGeom prst="roundRect">
            <a:avLst>
              <a:gd name="adj" fmla="val 546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1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3246120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("cat",1) ("sat",1)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("the",1) ("hat",1)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1417320"/>
            <a:ext cx="2633472" cy="749808"/>
          </a:xfrm>
          <a:prstGeom prst="roundRect">
            <a:avLst>
              <a:gd name="adj" fmla="val 8537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813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 (input)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17373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fat cat sat on the mat"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95744" y="2194560"/>
            <a:ext cx="621792" cy="38404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2578608"/>
            <a:ext cx="0" cy="32004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089904" y="2907792"/>
            <a:ext cx="2633472" cy="1444752"/>
          </a:xfrm>
          <a:prstGeom prst="roundRect">
            <a:avLst>
              <a:gd name="adj" fmla="val 443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9809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2 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3246120"/>
            <a:ext cx="24505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("fat",1) ("cat",1)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("sat",1) ("on",1) ("the",1)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("mat",1)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 B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Logs: Partitioning &amp; Mapping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compute total revenue per product from a sales transaction log.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47088"/>
            <a:ext cx="475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tx_id | product  | qty | 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001 | Laptop   |   2 | 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002 | Phone    |   5 | 599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003 | Laptop   |   1 | 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004 | Tablet   |   3 | 399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005 | Phone    |   2 | 599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353312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435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Mapper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75564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 product 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qty × price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group all revenue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product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in reduce.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2852928"/>
            <a:ext cx="0" cy="36576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2758940" y="2944367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emits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7"/>
            <a:ext cx="8229600" cy="1315837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55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Output  (all 3 partitions combined — before shuffle):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21024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("Laptop",1998)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("Phone",2995)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("Laptop",999)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("Tablet",1197)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("Phone",1198)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Design Decision: Choosing Your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332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emitted by the mapper determines which reducer receives this record.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key to be whatever you want to group or aggregate by.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64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(What We Want to Compute)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to Emit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764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to Emit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in a document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itself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03720" y="2176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product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price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 per city per year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(city, year) — composite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0372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reading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82296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02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errors per server per hour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(server_id, hour)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03720" y="36027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78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purchases per customer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0" y="4078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03720" y="4078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297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59"/>
            <a:ext cx="6949440" cy="1355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all pairs with the same key to the same reducer — the most expensive step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Shuffle: Routing Every Pair to Its Reducer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shuffle collects all (key, value) pairs across all mappers and delivers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sharing the same key to the same reducer. No programmer writes this code — the framework handles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37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0 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"cat"→1  "the"→1  "sat"→1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"mat"→1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1 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"cat"→1  "the"→1  "sat"→1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"hat"→1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75304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2 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679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"fat"→1  "cat"→1  "sat"→1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07822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"on"→1  "the"→1  "mat"→1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176272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017520" y="3072384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017520" y="3950208"/>
            <a:ext cx="11887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251960" y="173736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51960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176272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080760" y="2926080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080760" y="3703320"/>
            <a:ext cx="914400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022592" y="1810512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856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14032" y="2084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"cat"→[1,1,1]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22592" y="2606040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14032" y="2880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"the"→[1,1,1,1,1,1]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22592" y="340156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14032" y="36758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"mat"→[1,1]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Shuffle: Three Sub-Steps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66928" cy="11430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mapper computes  partition_id = hash(key) mod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number of reducers)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writes pairs to R local files — one per reducer.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566928" cy="1143000"/>
          </a:xfrm>
          <a:prstGeom prst="rect">
            <a:avLst/>
          </a:prstGeom>
          <a:solidFill>
            <a:srgbClr val="9C5BB5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15568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272491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local file, pairs are sorted by key.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ensures the reducer receives its values in key order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sees all values for a key consecutively.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9584"/>
            <a:ext cx="566928" cy="11430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15568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&amp; 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8678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reducer fetches its partition file from every mapper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I/O). Files are merge-sorted.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reducer receives a sorted stream: (key, [val₁, val₂, …])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After the Shuffle: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shuffle, each reducer receives ALL pairs for its assigned keys — sorted.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Mapper Output (unsorted)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("cat",1)  ("on",1) 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("sat",1)  ("mat",1)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("cat",1)  ("on",1)   ("sat",1)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  ("hat",1)  ("the",1)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("fat",1)  ("cat",1)  ("sat",1)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("on",1)   ("the",1)  ("mat",1)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788920"/>
            <a:ext cx="731520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4553712" y="2542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32588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Shuffle (grouped by key)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("cat",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("fat", [1])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("hat", [1])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("mat", [1,1])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("on", 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("sat", [1,1,1])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("the", [1,1,1,1,1,1])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6117"/>
            <a:ext cx="1097280" cy="2385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 Phase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59"/>
            <a:ext cx="6949440" cy="153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all values for each key into a single final result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Reducer: Aggregate Values for Each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Receives:  (key, [val₁, val₂, …, valₙ])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Emits:     one or more (key, result)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Processes one key group at a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Values arrive sorted by key (shuffle guarantee)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Reducers run in parallel — one per key group (or per partition of keys)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95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emit a different key than it received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840480" cy="1481328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 Signature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8404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52704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reduce(key, values_iterator)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initial_value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values_iterator: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combine(result, 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emit(key, result)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28032" y="2505456"/>
            <a:ext cx="3840480" cy="1856232"/>
          </a:xfrm>
          <a:prstGeom prst="roundRect">
            <a:avLst>
              <a:gd name="adj" fmla="val 5319"/>
            </a:avLst>
          </a:prstGeom>
          <a:solidFill>
            <a:srgbClr val="F0FFF4"/>
          </a:solidFill>
          <a:ln w="12700">
            <a:solidFill>
              <a:srgbClr val="33A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60375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combine( ) can be: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sum(a, b)     → total sales, counts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312414"/>
            <a:ext cx="34747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max(a, b)     → highest temperature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10912" y="3593742"/>
            <a:ext cx="3474720" cy="283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set.add(v)    → unique visitors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92624" y="38476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list.append(v)→ ordered history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92624" y="4104663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fn     → anything you define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 — Applying the Reducer: Word 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logic:  sum all values in the list  →  emit (word, total_count)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(from shuffle)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reduce(sum)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417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240" y="1828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"fat"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2258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258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96896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88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"hat"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65960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200" y="2688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26664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65960" y="3118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[1,1]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3118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3118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965960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8229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77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"sat"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96596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[1,1,1]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22960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"the"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659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[1,1,1,1,1,1]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17220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sum = 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35240" y="4407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B — Full Pipeline: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Revenue per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93392" cy="365760"/>
          </a:xfrm>
          <a:prstGeom prst="rect">
            <a:avLst/>
          </a:prstGeom>
          <a:solidFill>
            <a:srgbClr val="BBCCE0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93392" cy="36576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993392" cy="365760"/>
          </a:xfrm>
          <a:prstGeom prst="rect">
            <a:avLst/>
          </a:prstGeom>
          <a:solidFill>
            <a:srgbClr val="9C5BB5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960120"/>
            <a:ext cx="1993392" cy="3657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tx001: Laptop 2×999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tx002: Phone  5×599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tx003: Laptop 1×999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tx004: Tablet 3×399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tx005: Phone  2×599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 1998)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  2995)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  999)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("Tablet", 1197)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  1198)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("Laptop",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[1998, 999])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("Phone",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[2995,1198])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("Tablet",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[1197])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353312"/>
            <a:ext cx="1993392" cy="2926080"/>
          </a:xfrm>
          <a:prstGeom prst="roundRect">
            <a:avLst>
              <a:gd name="adj" fmla="val 275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44752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2997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4193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1197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5915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0799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656832" y="2816352"/>
            <a:ext cx="33832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65760" y="4343400"/>
            <a:ext cx="832104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07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revenue: Laptop $2,997  ·  Phone $4,193  ·  Tablet $1,197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MapReduce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192024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960120"/>
            <a:ext cx="192024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90288" y="960120"/>
            <a:ext cx="192024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93408" y="960120"/>
            <a:ext cx="192024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r₁ r₂ r₃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22576" y="181051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48716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(k₁,v)  (k₂,v)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25696" y="181051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8404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r₄ r₅ r₆ 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22576" y="267919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48716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(k₁,v)  (k₃,v)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5696" y="267919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8404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r₇ r₈ r₉ 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22576" y="3547872"/>
            <a:ext cx="155448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48716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(k₂,v)  (k₃,v)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25696" y="3547872"/>
            <a:ext cx="155448" cy="0"/>
          </a:xfrm>
          <a:prstGeom prst="line">
            <a:avLst/>
          </a:prstGeom>
          <a:noFill/>
          <a:ln w="12700">
            <a:solidFill>
              <a:srgbClr val="9C5BB5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90288" y="1463040"/>
            <a:ext cx="1920240" cy="2596896"/>
          </a:xfrm>
          <a:prstGeom prst="roundRect">
            <a:avLst>
              <a:gd name="adj" fmla="val 3810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202996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28816" y="329184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528816" y="416052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528816" y="5029200"/>
            <a:ext cx="155448" cy="0"/>
          </a:xfrm>
          <a:prstGeom prst="line">
            <a:avLst/>
          </a:prstGeom>
          <a:noFill/>
          <a:ln w="12700">
            <a:solidFill>
              <a:srgbClr val="1A7A8A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693408" y="146304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15361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 → 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93408" y="233172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24048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k₂ → result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93408" y="32004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3273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k₃ → result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8716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9028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I/O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(expensive)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93408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group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2444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508760"/>
            <a:ext cx="6949440" cy="172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student should be able to explain after this lecture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— What You Must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8EDF3"/>
          </a:solidFill>
          <a:ln w="12700">
            <a:solidFill>
              <a:srgbClr val="BB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Partition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Splits the dataset into non-overlapping, independent chunks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partition is processed by exactly one worker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partitions = more parallelism (up to cluster limits)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Skewed partitions create bottlenecks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Transforms each record into (key, value) pairs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independently per record — no coordination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Key choice determines which reducer receives the pair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emit 0, 1, or many pairs per input record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DE7F6"/>
          </a:solidFill>
          <a:ln w="12700">
            <a:solidFill>
              <a:srgbClr val="9C5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Shuffle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Groups all pairs with the same key together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Routes each key group to one reducer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Involves network transfer — the costliest phase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— no user code required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E8F4FD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Reduce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Receives (key, [all values]) for one key at a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Applies an aggregation function across all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Produces the final output for that key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Reducers run in parallel across all key groups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029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is a paradigm, not a tool. 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ideas power Hadoop, Spark, Flink, and others — only the APIs differ.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is the most important design choice. 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32257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emit as the key from the mapper determines every downstream behavior.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7004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 comes from partitioning. 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partitions → more workers → faster jobs. But skew negates all gains.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2841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is the cost center. 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data crossing the network: filter early, reduce key cardinality where possible.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09728" cy="10972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8678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Reducers aggregate, not query. 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is a batch paradigm. It produces summaries, not random-access lookups.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Modeling · Module 1 · Introduction to MapReduce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3032</Words>
  <Application>Microsoft Macintosh PowerPoint</Application>
  <PresentationFormat>On-screen Show (16:9)</PresentationFormat>
  <Paragraphs>447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Parsian</cp:lastModifiedBy>
  <cp:revision>8</cp:revision>
  <dcterms:created xsi:type="dcterms:W3CDTF">2026-07-15T22:14:42Z</dcterms:created>
  <dcterms:modified xsi:type="dcterms:W3CDTF">2026-08-31T04:13:57Z</dcterms:modified>
</cp:coreProperties>
</file>