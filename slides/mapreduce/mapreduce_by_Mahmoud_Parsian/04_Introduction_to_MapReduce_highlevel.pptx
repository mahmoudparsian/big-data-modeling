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88" r:id="rId19"/>
    <p:sldId id="278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9" r:id="rId29"/>
    <p:sldId id="290" r:id="rId30"/>
    <p:sldId id="292" r:id="rId31"/>
    <p:sldId id="293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8A75C-3171-6A47-AE9C-AC5814822D2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14117-B901-B24E-92BF-E8BF90614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222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6811D-78D9-A044-82B7-47C3E7EC69EF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BD875-A6DF-B94C-8D9A-C5F7B0D1F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306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SICP - the famous introductory</a:t>
            </a:r>
            <a:r>
              <a:rPr lang="en-US" baseline="0" dirty="0"/>
              <a:t> computer science course at MIT, taught by Hal Abelson and Gerald </a:t>
            </a:r>
            <a:r>
              <a:rPr lang="en-US" baseline="0" dirty="0" err="1"/>
              <a:t>Sussman</a:t>
            </a:r>
            <a:r>
              <a:rPr lang="en-US" baseline="0" dirty="0"/>
              <a:t>, uses ‘Scheme’, which is a dialect of LISP.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2BD875-A6DF-B94C-8D9A-C5F7B0D1F2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85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SICP - the famous introductory</a:t>
            </a:r>
            <a:r>
              <a:rPr lang="en-US" baseline="0" dirty="0"/>
              <a:t> computer science course at MIT, taught by Hal Abelson and Gerald </a:t>
            </a:r>
            <a:r>
              <a:rPr lang="en-US" baseline="0" dirty="0" err="1"/>
              <a:t>Sussman</a:t>
            </a:r>
            <a:r>
              <a:rPr lang="en-US" baseline="0" dirty="0"/>
              <a:t>, uses ‘Scheme’, which is a dialect of LISP.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2BD875-A6DF-B94C-8D9A-C5F7B0D1F2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85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written by the user is in blue</a:t>
            </a:r>
            <a:r>
              <a:rPr lang="en-US" baseline="0" dirty="0"/>
              <a:t> (with comments in green).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2BD875-A6DF-B94C-8D9A-C5F7B0D1F2C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10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written by the user is in blue</a:t>
            </a:r>
            <a:r>
              <a:rPr lang="en-US" baseline="0" dirty="0"/>
              <a:t> (with comments in green).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2BD875-A6DF-B94C-8D9A-C5F7B0D1F2C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10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58047"/>
            <a:ext cx="7772400" cy="24424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5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5459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57200" y="5304600"/>
            <a:ext cx="8229600" cy="9617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7255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545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57200" y="5304600"/>
            <a:ext cx="8229600" cy="9617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22719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32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457200" indent="-457200">
              <a:buFont typeface="Arial"/>
              <a:buChar char="•"/>
              <a:defRPr sz="2800"/>
            </a:lvl1pPr>
            <a:lvl2pPr marL="800100" indent="-342900">
              <a:buFont typeface="Arial"/>
              <a:buChar char="•"/>
              <a:defRPr sz="2400"/>
            </a:lvl2pPr>
            <a:lvl3pPr marL="1257300" indent="-342900">
              <a:buFont typeface="Arial"/>
              <a:buChar char="•"/>
              <a:defRPr sz="2000"/>
            </a:lvl3pPr>
            <a:lvl4pPr marL="1657350" indent="-285750">
              <a:buFont typeface="Arial"/>
              <a:buChar char="•"/>
              <a:defRPr sz="1800"/>
            </a:lvl4pPr>
            <a:lvl5pPr marL="2114550" indent="-285750">
              <a:buFont typeface="Arial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6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9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79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43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4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7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58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3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050E7-0317-154D-A174-2F467E2A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4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/>
  <p:txStyles>
    <p:titleStyle>
      <a:lvl1pPr algn="l" defTabSz="457200" rtl="0" eaLnBrk="1" latinLnBrk="0" hangingPunct="1">
        <a:spcBef>
          <a:spcPct val="0"/>
        </a:spcBef>
        <a:buNone/>
        <a:defRPr sz="4400" i="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charset="2"/>
        <a:buChar char="§"/>
        <a:defRPr sz="3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charset="2"/>
        <a:buChar char="§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charset="2"/>
        <a:buChar char="§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Wingdings" charset="2"/>
        <a:buChar char="§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Wingdings" charset="2"/>
        <a:buChar char="§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</a:t>
            </a:r>
            <a:br>
              <a:rPr lang="en-US" dirty="0"/>
            </a:br>
            <a:r>
              <a:rPr lang="en-US" dirty="0"/>
              <a:t>to </a:t>
            </a:r>
            <a:br>
              <a:rPr lang="en-US" dirty="0"/>
            </a:br>
            <a:r>
              <a:rPr lang="en-US" dirty="0"/>
              <a:t>MapReduce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Feb 21, 2014</a:t>
            </a:r>
          </a:p>
        </p:txBody>
      </p:sp>
    </p:spTree>
    <p:extLst>
      <p:ext uri="{BB962C8B-B14F-4D97-AF65-F5344CB8AC3E}">
        <p14:creationId xmlns:p14="http://schemas.microsoft.com/office/powerpoint/2010/main" val="132609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programming model or abstraction.</a:t>
            </a:r>
          </a:p>
          <a:p>
            <a:endParaRPr lang="en-US" dirty="0"/>
          </a:p>
          <a:p>
            <a:r>
              <a:rPr lang="en-US" dirty="0"/>
              <a:t>A novel way of thinking about designing a solution to certain problems…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92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access to huge volumes of data.</a:t>
            </a:r>
          </a:p>
          <a:p>
            <a:r>
              <a:rPr lang="en-US" sz="2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Facebook posts and photos, twitter streams, …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35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Computational resources are cheap.</a:t>
            </a:r>
          </a:p>
          <a:p>
            <a:r>
              <a:rPr lang="en-US" sz="2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Amazon EC2, Microsoft Azure, …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27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really!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running on one CPU is simple, two is a headache, four is a nightmare, …</a:t>
            </a:r>
          </a:p>
          <a:p>
            <a:r>
              <a:rPr lang="en-US" sz="2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You get the picture.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61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Dream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Forget multiple machines.</a:t>
            </a:r>
          </a:p>
          <a:p>
            <a:r>
              <a:rPr lang="en-US" dirty="0"/>
              <a:t>Just write code imagining one CPU.</a:t>
            </a:r>
          </a:p>
          <a:p>
            <a:r>
              <a:rPr lang="en-US" dirty="0"/>
              <a:t>Someone else takes care of running the code on thousands of machines.</a:t>
            </a:r>
          </a:p>
          <a:p>
            <a:r>
              <a:rPr lang="en-US" sz="2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Free the programmer from the unnecessary details.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8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MapReduce programming model to the rescue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47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long ago…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LISP, 1958</a:t>
            </a:r>
          </a:p>
          <a:p>
            <a:endParaRPr lang="en-US" dirty="0"/>
          </a:p>
          <a:p>
            <a:r>
              <a:rPr lang="en-US" dirty="0"/>
              <a:t>A programming language that introduced several innovative ideas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i="1" dirty="0"/>
              <a:t>Recursive Functions of Symbolic Expression and Their Computation by Machine, Part I</a:t>
            </a:r>
          </a:p>
          <a:p>
            <a:r>
              <a:rPr lang="en-US" i="1" dirty="0"/>
              <a:t>John McCarthy, MIT, April 1960</a:t>
            </a:r>
          </a:p>
        </p:txBody>
      </p:sp>
    </p:spTree>
    <p:extLst>
      <p:ext uri="{BB962C8B-B14F-4D97-AF65-F5344CB8AC3E}">
        <p14:creationId xmlns:p14="http://schemas.microsoft.com/office/powerpoint/2010/main" val="4080648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</a:t>
            </a:r>
            <a:r>
              <a:rPr lang="en-US" i="1" dirty="0"/>
              <a:t>map()</a:t>
            </a:r>
            <a:r>
              <a:rPr lang="en-US" dirty="0"/>
              <a:t> and </a:t>
            </a:r>
            <a:r>
              <a:rPr lang="en-US" i="1" dirty="0"/>
              <a:t>reduce() functions.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63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map(m</a:t>
            </a:r>
            <a:r>
              <a:rPr lang="en-US" baseline="-25000" dirty="0"/>
              <a:t>f</a:t>
            </a:r>
            <a:r>
              <a:rPr lang="en-US" dirty="0"/>
              <a:t>, [a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…a</a:t>
            </a:r>
            <a:r>
              <a:rPr lang="en-US" baseline="-25000" dirty="0"/>
              <a:t>n</a:t>
            </a:r>
            <a:r>
              <a:rPr lang="en-US" dirty="0"/>
              <a:t>])</a:t>
            </a:r>
          </a:p>
          <a:p>
            <a:r>
              <a:rPr lang="en-US" dirty="0"/>
              <a:t>  -&gt;    [b</a:t>
            </a:r>
            <a:r>
              <a:rPr lang="en-US" baseline="-25000" dirty="0"/>
              <a:t>1</a:t>
            </a:r>
            <a:r>
              <a:rPr lang="en-US" dirty="0"/>
              <a:t>, b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b</a:t>
            </a:r>
            <a:r>
              <a:rPr lang="en-US" baseline="-25000" dirty="0" err="1"/>
              <a:t>n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Accepts two arguments: a function and a list of values.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Generates output by repeatedly applying the function on the list of values.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37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reduce(</a:t>
            </a:r>
            <a:r>
              <a:rPr lang="en-US" dirty="0" err="1"/>
              <a:t>r</a:t>
            </a:r>
            <a:r>
              <a:rPr lang="en-US" baseline="-25000" dirty="0" err="1"/>
              <a:t>f</a:t>
            </a:r>
            <a:r>
              <a:rPr lang="en-US" dirty="0"/>
              <a:t>, [b</a:t>
            </a:r>
            <a:r>
              <a:rPr lang="en-US" baseline="-25000" dirty="0"/>
              <a:t>1</a:t>
            </a:r>
            <a:r>
              <a:rPr lang="en-US" dirty="0"/>
              <a:t>, b</a:t>
            </a:r>
            <a:r>
              <a:rPr lang="en-US" baseline="-25000" dirty="0"/>
              <a:t>2</a:t>
            </a:r>
            <a:r>
              <a:rPr lang="en-US" dirty="0"/>
              <a:t>, …</a:t>
            </a:r>
            <a:r>
              <a:rPr lang="en-US" dirty="0" err="1"/>
              <a:t>b</a:t>
            </a:r>
            <a:r>
              <a:rPr lang="en-US" baseline="-25000" dirty="0" err="1"/>
              <a:t>n</a:t>
            </a:r>
            <a:r>
              <a:rPr lang="en-US" dirty="0"/>
              <a:t>])</a:t>
            </a:r>
          </a:p>
          <a:p>
            <a:r>
              <a:rPr lang="en-US" dirty="0"/>
              <a:t>  -&gt;    c</a:t>
            </a:r>
          </a:p>
          <a:p>
            <a:endParaRPr lang="en-US" dirty="0"/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Accepts two arguments: a function and a list of values.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Generates output by reducing the list of input values using the function.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47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Map’s output is a list of values, which reduce can accept as one of its arguments.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5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Wingdings" charset="2"/>
              <a:buChar char="§"/>
            </a:pPr>
            <a:r>
              <a:rPr lang="en-US" dirty="0"/>
              <a:t>Break large problem into small pieces</a:t>
            </a:r>
          </a:p>
          <a:p>
            <a:pPr marL="457200" indent="-457200">
              <a:buFont typeface="Wingdings" charset="2"/>
              <a:buChar char="§"/>
            </a:pPr>
            <a:r>
              <a:rPr lang="en-US" dirty="0"/>
              <a:t>Code </a:t>
            </a:r>
            <a:r>
              <a:rPr lang="en-US" i="1" dirty="0"/>
              <a:t>m</a:t>
            </a:r>
            <a:r>
              <a:rPr lang="en-US" i="1" baseline="-25000" dirty="0"/>
              <a:t>f</a:t>
            </a:r>
            <a:r>
              <a:rPr lang="en-US" dirty="0"/>
              <a:t> to solve one piece</a:t>
            </a:r>
          </a:p>
          <a:p>
            <a:pPr marL="457200" indent="-457200">
              <a:buFont typeface="Wingdings" charset="2"/>
              <a:buChar char="§"/>
            </a:pPr>
            <a:r>
              <a:rPr lang="en-US" dirty="0"/>
              <a:t>Run map to apply </a:t>
            </a:r>
            <a:r>
              <a:rPr lang="en-US" i="1" dirty="0"/>
              <a:t>m</a:t>
            </a:r>
            <a:r>
              <a:rPr lang="en-US" i="1" baseline="-25000" dirty="0"/>
              <a:t>f</a:t>
            </a:r>
            <a:r>
              <a:rPr lang="en-US" dirty="0"/>
              <a:t> on the small pieces and generate nuggets of solutions</a:t>
            </a:r>
          </a:p>
          <a:p>
            <a:pPr marL="457200" indent="-457200">
              <a:buFont typeface="Wingdings" charset="2"/>
              <a:buChar char="§"/>
            </a:pPr>
            <a:r>
              <a:rPr lang="en-US" dirty="0"/>
              <a:t>Code </a:t>
            </a:r>
            <a:r>
              <a:rPr lang="en-US" i="1" dirty="0" err="1"/>
              <a:t>r</a:t>
            </a:r>
            <a:r>
              <a:rPr lang="en-US" i="1" baseline="-25000" dirty="0" err="1"/>
              <a:t>f</a:t>
            </a:r>
            <a:r>
              <a:rPr lang="en-US" dirty="0"/>
              <a:t> to combine the nuggets</a:t>
            </a:r>
          </a:p>
          <a:p>
            <a:pPr marL="457200" indent="-457200">
              <a:buFont typeface="Wingdings" charset="2"/>
              <a:buChar char="§"/>
            </a:pPr>
            <a:r>
              <a:rPr lang="en-US" dirty="0"/>
              <a:t>Run reduce to apply </a:t>
            </a:r>
            <a:r>
              <a:rPr lang="en-US" i="1" dirty="0" err="1"/>
              <a:t>r</a:t>
            </a:r>
            <a:r>
              <a:rPr lang="en-US" i="1" baseline="-25000" dirty="0" err="1"/>
              <a:t>f</a:t>
            </a:r>
            <a:r>
              <a:rPr lang="en-US" dirty="0"/>
              <a:t> on the nuggets to output the complete solution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74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1TB file split into 100,000 chunks</a:t>
            </a:r>
          </a:p>
          <a:p>
            <a:r>
              <a:rPr lang="en-US" dirty="0"/>
              <a:t>Count number of lines in each chunk</a:t>
            </a:r>
          </a:p>
          <a:p>
            <a:r>
              <a:rPr lang="en-US" dirty="0"/>
              <a:t>Add counts together to output final line count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77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slightly different map-reduce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/>
              <a:t>Map</a:t>
            </a:r>
          </a:p>
          <a:p>
            <a:r>
              <a:rPr lang="en-US" dirty="0"/>
              <a:t>Copies a function on a number of machines and applies each copy on different pieces of the input</a:t>
            </a:r>
          </a:p>
          <a:p>
            <a:r>
              <a:rPr lang="en-US" b="1" i="1" dirty="0"/>
              <a:t>Reduce</a:t>
            </a:r>
            <a:endParaRPr lang="en-US" b="1" dirty="0"/>
          </a:p>
          <a:p>
            <a:r>
              <a:rPr lang="en-US" dirty="0"/>
              <a:t>Combine the map outputs from different machines into a final solution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23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 reintroduced…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created the awareness</a:t>
            </a:r>
          </a:p>
          <a:p>
            <a:endParaRPr lang="en-US" dirty="0"/>
          </a:p>
          <a:p>
            <a:r>
              <a:rPr lang="en-US" i="1" dirty="0">
                <a:solidFill>
                  <a:schemeClr val="accent2"/>
                </a:solidFill>
              </a:rPr>
              <a:t>Hadoop</a:t>
            </a:r>
            <a:r>
              <a:rPr lang="en-US" dirty="0"/>
              <a:t> made it into a sensation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sz="2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Hadoop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is an open-source map-reduce implementation based on Google’s paper.</a:t>
            </a:r>
            <a:endParaRPr lang="en-US" sz="22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MapReduce: Simplified Data Processing on Large Clusters</a:t>
            </a:r>
          </a:p>
          <a:p>
            <a:r>
              <a:rPr lang="en-US" dirty="0"/>
              <a:t>Jeffrey Dean and Sanjay </a:t>
            </a:r>
            <a:r>
              <a:rPr lang="en-US" dirty="0" err="1"/>
              <a:t>Ghemawat</a:t>
            </a:r>
            <a:endParaRPr lang="en-US" dirty="0"/>
          </a:p>
          <a:p>
            <a:r>
              <a:rPr lang="en-US" dirty="0"/>
              <a:t>OSDI'04: Sixth Symposium on Operating System Design and Implementation. December, 2004.</a:t>
            </a:r>
          </a:p>
        </p:txBody>
      </p:sp>
    </p:spTree>
    <p:extLst>
      <p:ext uri="{BB962C8B-B14F-4D97-AF65-F5344CB8AC3E}">
        <p14:creationId xmlns:p14="http://schemas.microsoft.com/office/powerpoint/2010/main" val="915574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pic>
        <p:nvPicPr>
          <p:cNvPr id="9" name="Content Placeholder 8" descr="hadoo-mr.ep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6885" b="-3688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18775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7" name="Content Placeholder 6" descr="hadoop-mr-example.ep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616" b="-26616"/>
          <a:stretch>
            <a:fillRect/>
          </a:stretch>
        </p:blipFill>
        <p:spPr/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68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Mapper</a:t>
            </a:r>
          </a:p>
          <a:p>
            <a:r>
              <a:rPr lang="en-US" dirty="0"/>
              <a:t>Instance of the map function</a:t>
            </a:r>
          </a:p>
          <a:p>
            <a:endParaRPr lang="en-US" dirty="0"/>
          </a:p>
          <a:p>
            <a:r>
              <a:rPr lang="en-US" dirty="0"/>
              <a:t>Reducer</a:t>
            </a:r>
          </a:p>
          <a:p>
            <a:r>
              <a:rPr lang="en-US" dirty="0"/>
              <a:t>Instance of the reduce function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58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3378"/>
            <a:ext cx="8229600" cy="4327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User’s implementation of map and reduce functions</a:t>
            </a:r>
          </a:p>
          <a:p>
            <a:r>
              <a:rPr lang="en-US" dirty="0"/>
              <a:t>Job = { </a:t>
            </a:r>
          </a:p>
          <a:p>
            <a:r>
              <a:rPr lang="en-US" dirty="0"/>
              <a:t>              1. INPUT,</a:t>
            </a:r>
          </a:p>
          <a:p>
            <a:r>
              <a:rPr lang="en-US" dirty="0"/>
              <a:t>              2. OUTPUT,</a:t>
            </a:r>
          </a:p>
          <a:p>
            <a:r>
              <a:rPr lang="en-US" dirty="0"/>
              <a:t>              3. map() function,</a:t>
            </a:r>
          </a:p>
          <a:p>
            <a:r>
              <a:rPr lang="en-US" dirty="0"/>
              <a:t>              4. reduce() function</a:t>
            </a:r>
          </a:p>
          <a:p>
            <a:r>
              <a:rPr lang="en-US" dirty="0"/>
              <a:t>           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6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the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charset="2"/>
              <a:buChar char="§"/>
            </a:pPr>
            <a:r>
              <a:rPr lang="en-US" dirty="0"/>
              <a:t>User submits job and specifies the input files.</a:t>
            </a:r>
          </a:p>
          <a:p>
            <a:pPr marL="457200" indent="-457200">
              <a:buFont typeface="Wingdings" charset="2"/>
              <a:buChar char="§"/>
            </a:pPr>
            <a:r>
              <a:rPr lang="en-US" dirty="0"/>
              <a:t>Input files are split into </a:t>
            </a:r>
            <a:r>
              <a:rPr lang="en-US" i="1" dirty="0"/>
              <a:t>chunks</a:t>
            </a:r>
            <a:r>
              <a:rPr lang="en-US" dirty="0"/>
              <a:t>.</a:t>
            </a:r>
          </a:p>
          <a:p>
            <a:pPr marL="457200" indent="-457200">
              <a:buFont typeface="Wingdings" charset="2"/>
              <a:buChar char="§"/>
            </a:pPr>
            <a:r>
              <a:rPr lang="en-US" dirty="0"/>
              <a:t>Chunks are fed to the mappers typically over a </a:t>
            </a:r>
            <a:r>
              <a:rPr lang="en-US" i="1" dirty="0"/>
              <a:t>distributed </a:t>
            </a:r>
            <a:r>
              <a:rPr lang="en-US" dirty="0"/>
              <a:t>file system like </a:t>
            </a:r>
            <a:r>
              <a:rPr lang="en-US" i="1" dirty="0"/>
              <a:t>HDFS.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31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the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JobTracker</a:t>
            </a:r>
            <a:endParaRPr lang="en-US" i="1" dirty="0"/>
          </a:p>
          <a:p>
            <a:pPr marL="457200" indent="-457200">
              <a:buFont typeface="Wingdings" charset="2"/>
              <a:buChar char="§"/>
            </a:pPr>
            <a:r>
              <a:rPr lang="en-US" dirty="0"/>
              <a:t>Hadoop service that copies the map and reduce code to available machines.</a:t>
            </a:r>
          </a:p>
          <a:p>
            <a:pPr marL="457200" indent="-457200">
              <a:buFont typeface="Wingdings" charset="2"/>
              <a:buChar char="§"/>
            </a:pPr>
            <a:r>
              <a:rPr lang="en-US" dirty="0"/>
              <a:t>Feeds the input to the mappers and connects their outputs to reducers.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10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in parallel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charset="2"/>
              <a:buChar char="§"/>
            </a:pPr>
            <a:r>
              <a:rPr lang="en-US" dirty="0"/>
              <a:t>Maps run in parallel.</a:t>
            </a:r>
          </a:p>
          <a:p>
            <a:pPr marL="457200" indent="-457200">
              <a:buFont typeface="Wingdings" charset="2"/>
              <a:buChar char="§"/>
            </a:pPr>
            <a:r>
              <a:rPr lang="en-US" dirty="0"/>
              <a:t>Each map operates on a set of chunks assigned to it by the job tracker.</a:t>
            </a:r>
          </a:p>
          <a:p>
            <a:pPr marL="457200" indent="-457200">
              <a:buFont typeface="Wingdings" charset="2"/>
              <a:buChar char="§"/>
            </a:pPr>
            <a:r>
              <a:rPr lang="en-US" dirty="0"/>
              <a:t>Maps write to local disk.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92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maps fail?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Re-run failed maps. No need to re-run maps that already succeeded.</a:t>
            </a:r>
          </a:p>
          <a:p>
            <a:endParaRPr lang="en-US" dirty="0"/>
          </a:p>
          <a:p>
            <a:r>
              <a:rPr lang="en-US" dirty="0"/>
              <a:t>Why does this work?</a:t>
            </a:r>
          </a:p>
          <a:p>
            <a:r>
              <a:rPr lang="en-US" dirty="0"/>
              <a:t>Maps typically are </a:t>
            </a:r>
            <a:r>
              <a:rPr lang="en-US" i="1" dirty="0"/>
              <a:t>idempotent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20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to reducers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#reducers</a:t>
            </a:r>
            <a:r>
              <a:rPr lang="en-US" dirty="0"/>
              <a:t> </a:t>
            </a:r>
            <a:r>
              <a:rPr lang="en-US" i="1" dirty="0"/>
              <a:t>(n)</a:t>
            </a:r>
            <a:r>
              <a:rPr lang="en-US" dirty="0"/>
              <a:t> known a priori.</a:t>
            </a:r>
          </a:p>
          <a:p>
            <a:r>
              <a:rPr lang="en-US" i="1" dirty="0"/>
              <a:t>#partitions</a:t>
            </a:r>
            <a:r>
              <a:rPr lang="en-US" dirty="0"/>
              <a:t> equals #reducers.</a:t>
            </a:r>
          </a:p>
          <a:p>
            <a:endParaRPr lang="en-US" dirty="0"/>
          </a:p>
          <a:p>
            <a:r>
              <a:rPr lang="en-US" dirty="0"/>
              <a:t>Hash on the keys of mapper outputs.</a:t>
            </a:r>
          </a:p>
          <a:p>
            <a:r>
              <a:rPr lang="en-US" sz="2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partition = hash(key) mod n</a:t>
            </a:r>
          </a:p>
          <a:p>
            <a:endParaRPr lang="en-US" dirty="0"/>
          </a:p>
          <a:p>
            <a:r>
              <a:rPr lang="en-US" dirty="0"/>
              <a:t>Load balancing by randomization.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38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before reducing…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Cannot start reducers before mappers complete.</a:t>
            </a:r>
          </a:p>
          <a:p>
            <a:endParaRPr lang="en-US" dirty="0"/>
          </a:p>
          <a:p>
            <a:r>
              <a:rPr lang="en-US" dirty="0"/>
              <a:t>Synchronization barrier between map and reduce phases. Why?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02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Embarrassing Parallelism</a:t>
            </a:r>
          </a:p>
        </p:txBody>
      </p:sp>
      <p:pic>
        <p:nvPicPr>
          <p:cNvPr id="7" name="Content Placeholder 6" descr="embarassing-parallelism.ep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26" r="-16426"/>
          <a:stretch>
            <a:fillRect/>
          </a:stretch>
        </p:blipFill>
        <p:spPr/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00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 panacea!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your workload exhibits embarrassing parallelism, Hadoop might be the ideal framework.</a:t>
            </a:r>
          </a:p>
          <a:p>
            <a:endParaRPr lang="en-US" dirty="0"/>
          </a:p>
          <a:p>
            <a:r>
              <a:rPr lang="en-US" dirty="0"/>
              <a:t>If not, look for other parallel programming paradigms.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91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Count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7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8672"/>
            <a:ext cx="8229600" cy="4886119"/>
          </a:xfrm>
        </p:spPr>
        <p:txBody>
          <a:bodyPr>
            <a:noAutofit/>
          </a:bodyPr>
          <a:lstStyle/>
          <a:p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Mapper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public static class </a:t>
            </a:r>
            <a:r>
              <a:rPr lang="en-US" sz="1800" dirty="0" err="1">
                <a:solidFill>
                  <a:schemeClr val="accent1"/>
                </a:solidFill>
              </a:rPr>
              <a:t>MyMapper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implements 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Mapper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&lt;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LongWritable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Text, Text,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IntWritable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&gt; {</a:t>
            </a:r>
          </a:p>
          <a:p>
            <a:r>
              <a:rPr lang="en-US" sz="1800" dirty="0">
                <a:solidFill>
                  <a:schemeClr val="accent1"/>
                </a:solidFill>
              </a:rPr>
              <a:t>    private final static </a:t>
            </a:r>
            <a:r>
              <a:rPr lang="en-US" sz="1800" dirty="0" err="1">
                <a:solidFill>
                  <a:schemeClr val="accent1"/>
                </a:solidFill>
              </a:rPr>
              <a:t>IntWritable</a:t>
            </a:r>
            <a:r>
              <a:rPr lang="en-US" sz="1800" dirty="0">
                <a:solidFill>
                  <a:schemeClr val="accent1"/>
                </a:solidFill>
              </a:rPr>
              <a:t> one = new </a:t>
            </a:r>
            <a:r>
              <a:rPr lang="en-US" sz="1800" dirty="0" err="1">
                <a:solidFill>
                  <a:schemeClr val="accent1"/>
                </a:solidFill>
              </a:rPr>
              <a:t>IntWritable</a:t>
            </a:r>
            <a:r>
              <a:rPr lang="en-US" sz="1800" dirty="0">
                <a:solidFill>
                  <a:schemeClr val="accent1"/>
                </a:solidFill>
              </a:rPr>
              <a:t>(1);</a:t>
            </a:r>
          </a:p>
          <a:p>
            <a:r>
              <a:rPr lang="en-US" sz="1800" dirty="0">
                <a:solidFill>
                  <a:schemeClr val="accent1"/>
                </a:solidFill>
              </a:rPr>
              <a:t>    private Text word = new Text();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public void map(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LongWritable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key, Text value,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OutputCollector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&lt;Text,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IntWritable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&gt; output,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		Reporter reporter) throws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IOException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{</a:t>
            </a:r>
          </a:p>
          <a:p>
            <a:r>
              <a:rPr lang="en-US" sz="1600" dirty="0">
                <a:solidFill>
                  <a:schemeClr val="accent3"/>
                </a:solidFill>
              </a:rPr>
              <a:t>        // Split the given line (in value) into words and emit for each word the tuple </a:t>
            </a:r>
            <a:r>
              <a:rPr lang="en-US" sz="1600" i="1" dirty="0">
                <a:solidFill>
                  <a:schemeClr val="accent3"/>
                </a:solidFill>
              </a:rPr>
              <a:t>&lt;word, 1&gt;</a:t>
            </a:r>
          </a:p>
          <a:p>
            <a:r>
              <a:rPr lang="en-US" sz="1800" dirty="0">
                <a:solidFill>
                  <a:srgbClr val="4F81BD"/>
                </a:solidFill>
              </a:rPr>
              <a:t>      String line = </a:t>
            </a:r>
            <a:r>
              <a:rPr lang="en-US" sz="1800" dirty="0" err="1">
                <a:solidFill>
                  <a:srgbClr val="4F81BD"/>
                </a:solidFill>
              </a:rPr>
              <a:t>value.toString</a:t>
            </a:r>
            <a:r>
              <a:rPr lang="en-US" sz="1800" dirty="0">
                <a:solidFill>
                  <a:srgbClr val="4F81BD"/>
                </a:solidFill>
              </a:rPr>
              <a:t>();</a:t>
            </a:r>
          </a:p>
          <a:p>
            <a:r>
              <a:rPr lang="en-US" sz="1800" dirty="0">
                <a:solidFill>
                  <a:srgbClr val="4F81BD"/>
                </a:solidFill>
              </a:rPr>
              <a:t>      </a:t>
            </a:r>
            <a:r>
              <a:rPr lang="en-US" sz="1800" dirty="0" err="1">
                <a:solidFill>
                  <a:srgbClr val="4F81BD"/>
                </a:solidFill>
              </a:rPr>
              <a:t>StringTokenizer</a:t>
            </a:r>
            <a:r>
              <a:rPr lang="en-US" sz="1800" dirty="0">
                <a:solidFill>
                  <a:srgbClr val="4F81BD"/>
                </a:solidFill>
              </a:rPr>
              <a:t> </a:t>
            </a:r>
            <a:r>
              <a:rPr lang="en-US" sz="1800" dirty="0" err="1">
                <a:solidFill>
                  <a:srgbClr val="4F81BD"/>
                </a:solidFill>
              </a:rPr>
              <a:t>itr</a:t>
            </a:r>
            <a:r>
              <a:rPr lang="en-US" sz="1800" dirty="0">
                <a:solidFill>
                  <a:srgbClr val="4F81BD"/>
                </a:solidFill>
              </a:rPr>
              <a:t> = new </a:t>
            </a:r>
            <a:r>
              <a:rPr lang="en-US" sz="1800" dirty="0" err="1">
                <a:solidFill>
                  <a:srgbClr val="4F81BD"/>
                </a:solidFill>
              </a:rPr>
              <a:t>StringTokenizer</a:t>
            </a:r>
            <a:r>
              <a:rPr lang="en-US" sz="1800" dirty="0">
                <a:solidFill>
                  <a:srgbClr val="4F81BD"/>
                </a:solidFill>
              </a:rPr>
              <a:t>(line);</a:t>
            </a:r>
          </a:p>
          <a:p>
            <a:r>
              <a:rPr lang="en-US" sz="1800" dirty="0">
                <a:solidFill>
                  <a:srgbClr val="4F81BD"/>
                </a:solidFill>
              </a:rPr>
              <a:t>      while (</a:t>
            </a:r>
            <a:r>
              <a:rPr lang="en-US" sz="1800" dirty="0" err="1">
                <a:solidFill>
                  <a:srgbClr val="4F81BD"/>
                </a:solidFill>
              </a:rPr>
              <a:t>itr.hasMoreTokens</a:t>
            </a:r>
            <a:r>
              <a:rPr lang="en-US" sz="1800" dirty="0">
                <a:solidFill>
                  <a:srgbClr val="4F81BD"/>
                </a:solidFill>
              </a:rPr>
              <a:t>()) {</a:t>
            </a:r>
          </a:p>
          <a:p>
            <a:r>
              <a:rPr lang="en-US" sz="1800" dirty="0">
                <a:solidFill>
                  <a:srgbClr val="4F81BD"/>
                </a:solidFill>
              </a:rPr>
              <a:t>        </a:t>
            </a:r>
            <a:r>
              <a:rPr lang="en-US" sz="1800" dirty="0" err="1">
                <a:solidFill>
                  <a:srgbClr val="4F81BD"/>
                </a:solidFill>
              </a:rPr>
              <a:t>word.set</a:t>
            </a:r>
            <a:r>
              <a:rPr lang="en-US" sz="1800" dirty="0">
                <a:solidFill>
                  <a:srgbClr val="4F81BD"/>
                </a:solidFill>
              </a:rPr>
              <a:t>(</a:t>
            </a:r>
            <a:r>
              <a:rPr lang="en-US" sz="1800" dirty="0" err="1">
                <a:solidFill>
                  <a:srgbClr val="4F81BD"/>
                </a:solidFill>
              </a:rPr>
              <a:t>itr.nextToken</a:t>
            </a:r>
            <a:r>
              <a:rPr lang="en-US" sz="1800" dirty="0">
                <a:solidFill>
                  <a:srgbClr val="4F81BD"/>
                </a:solidFill>
              </a:rPr>
              <a:t>());</a:t>
            </a:r>
          </a:p>
          <a:p>
            <a:r>
              <a:rPr lang="en-US" sz="1800" dirty="0">
                <a:solidFill>
                  <a:srgbClr val="4F81BD"/>
                </a:solidFill>
              </a:rPr>
              <a:t>        </a:t>
            </a:r>
            <a:r>
              <a:rPr lang="en-US" sz="1800" dirty="0" err="1">
                <a:solidFill>
                  <a:srgbClr val="4F81BD"/>
                </a:solidFill>
              </a:rPr>
              <a:t>output.collect</a:t>
            </a:r>
            <a:r>
              <a:rPr lang="en-US" sz="1800" dirty="0">
                <a:solidFill>
                  <a:srgbClr val="4F81BD"/>
                </a:solidFill>
              </a:rPr>
              <a:t>(word, one);</a:t>
            </a:r>
          </a:p>
          <a:p>
            <a:r>
              <a:rPr lang="en-US" sz="1800" dirty="0">
                <a:solidFill>
                  <a:srgbClr val="4F81BD"/>
                </a:solidFill>
              </a:rPr>
              <a:t>      }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}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1400" dirty="0"/>
              <a:t>https://</a:t>
            </a:r>
            <a:r>
              <a:rPr lang="en-US" sz="1400" dirty="0" err="1"/>
              <a:t>developer.yahoo.com</a:t>
            </a:r>
            <a:r>
              <a:rPr lang="en-US" sz="1400" dirty="0"/>
              <a:t>/</a:t>
            </a:r>
            <a:r>
              <a:rPr lang="en-US" sz="1400" dirty="0" err="1"/>
              <a:t>hadoop</a:t>
            </a:r>
            <a:r>
              <a:rPr lang="en-US" sz="1400" dirty="0"/>
              <a:t>/tutorial/module4.html</a:t>
            </a:r>
          </a:p>
        </p:txBody>
      </p:sp>
    </p:spTree>
    <p:extLst>
      <p:ext uri="{BB962C8B-B14F-4D97-AF65-F5344CB8AC3E}">
        <p14:creationId xmlns:p14="http://schemas.microsoft.com/office/powerpoint/2010/main" val="1512423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8672"/>
            <a:ext cx="8229600" cy="4886119"/>
          </a:xfrm>
        </p:spPr>
        <p:txBody>
          <a:bodyPr>
            <a:noAutofit/>
          </a:bodyPr>
          <a:lstStyle/>
          <a:p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Reducer</a:t>
            </a:r>
          </a:p>
          <a:p>
            <a:r>
              <a:rPr lang="en-US" sz="1400" dirty="0">
                <a:solidFill>
                  <a:srgbClr val="595959"/>
                </a:solidFill>
              </a:rPr>
              <a:t> public static class </a:t>
            </a:r>
            <a:r>
              <a:rPr lang="en-US" sz="1800" dirty="0" err="1">
                <a:solidFill>
                  <a:schemeClr val="accent1"/>
                </a:solidFill>
              </a:rPr>
              <a:t>MyReducer</a:t>
            </a:r>
            <a:r>
              <a:rPr lang="en-US" sz="1400" dirty="0">
                <a:solidFill>
                  <a:schemeClr val="accent1"/>
                </a:solidFill>
              </a:rPr>
              <a:t> </a:t>
            </a:r>
            <a:r>
              <a:rPr lang="en-US" sz="1400" dirty="0">
                <a:solidFill>
                  <a:srgbClr val="595959"/>
                </a:solidFill>
              </a:rPr>
              <a:t>implements Reducer&lt;Text, </a:t>
            </a:r>
            <a:r>
              <a:rPr lang="en-US" sz="1400" dirty="0" err="1">
                <a:solidFill>
                  <a:srgbClr val="595959"/>
                </a:solidFill>
              </a:rPr>
              <a:t>IntWritable</a:t>
            </a:r>
            <a:r>
              <a:rPr lang="en-US" sz="1400" dirty="0">
                <a:solidFill>
                  <a:srgbClr val="595959"/>
                </a:solidFill>
              </a:rPr>
              <a:t>, Text, </a:t>
            </a:r>
            <a:r>
              <a:rPr lang="en-US" sz="1400" dirty="0" err="1">
                <a:solidFill>
                  <a:srgbClr val="595959"/>
                </a:solidFill>
              </a:rPr>
              <a:t>IntWritable</a:t>
            </a:r>
            <a:r>
              <a:rPr lang="en-US" sz="1400" dirty="0">
                <a:solidFill>
                  <a:srgbClr val="595959"/>
                </a:solidFill>
              </a:rPr>
              <a:t>&gt; {</a:t>
            </a:r>
          </a:p>
          <a:p>
            <a:endParaRPr lang="en-US" sz="1400" dirty="0">
              <a:solidFill>
                <a:srgbClr val="595959"/>
              </a:solidFill>
            </a:endParaRPr>
          </a:p>
          <a:p>
            <a:r>
              <a:rPr lang="en-US" sz="1400" dirty="0">
                <a:solidFill>
                  <a:srgbClr val="595959"/>
                </a:solidFill>
              </a:rPr>
              <a:t>    public void reduce(Text key, Iterator&lt;</a:t>
            </a:r>
            <a:r>
              <a:rPr lang="en-US" sz="1400" dirty="0" err="1">
                <a:solidFill>
                  <a:srgbClr val="595959"/>
                </a:solidFill>
              </a:rPr>
              <a:t>IntWritable</a:t>
            </a:r>
            <a:r>
              <a:rPr lang="en-US" sz="1400" dirty="0">
                <a:solidFill>
                  <a:srgbClr val="595959"/>
                </a:solidFill>
              </a:rPr>
              <a:t>&gt; values,</a:t>
            </a:r>
          </a:p>
          <a:p>
            <a:r>
              <a:rPr lang="en-US" sz="1400" dirty="0">
                <a:solidFill>
                  <a:srgbClr val="595959"/>
                </a:solidFill>
              </a:rPr>
              <a:t>				</a:t>
            </a:r>
            <a:r>
              <a:rPr lang="en-US" sz="1400" dirty="0" err="1">
                <a:solidFill>
                  <a:srgbClr val="595959"/>
                </a:solidFill>
              </a:rPr>
              <a:t>OutputCollector</a:t>
            </a:r>
            <a:r>
              <a:rPr lang="en-US" sz="1400" dirty="0">
                <a:solidFill>
                  <a:srgbClr val="595959"/>
                </a:solidFill>
              </a:rPr>
              <a:t>&lt;Text, </a:t>
            </a:r>
            <a:r>
              <a:rPr lang="en-US" sz="1400" dirty="0" err="1">
                <a:solidFill>
                  <a:srgbClr val="595959"/>
                </a:solidFill>
              </a:rPr>
              <a:t>IntWritable</a:t>
            </a:r>
            <a:r>
              <a:rPr lang="en-US" sz="1400" dirty="0">
                <a:solidFill>
                  <a:srgbClr val="595959"/>
                </a:solidFill>
              </a:rPr>
              <a:t>&gt; output,</a:t>
            </a:r>
          </a:p>
          <a:p>
            <a:r>
              <a:rPr lang="en-US" sz="1400" dirty="0">
                <a:solidFill>
                  <a:srgbClr val="595959"/>
                </a:solidFill>
              </a:rPr>
              <a:t>				Reporter reporter) throws </a:t>
            </a:r>
            <a:r>
              <a:rPr lang="en-US" sz="1400" dirty="0" err="1">
                <a:solidFill>
                  <a:srgbClr val="595959"/>
                </a:solidFill>
              </a:rPr>
              <a:t>IOException</a:t>
            </a:r>
            <a:r>
              <a:rPr lang="en-US" sz="1400" dirty="0">
                <a:solidFill>
                  <a:srgbClr val="595959"/>
                </a:solidFill>
              </a:rPr>
              <a:t> {</a:t>
            </a:r>
          </a:p>
          <a:p>
            <a:r>
              <a:rPr lang="en-US" sz="1800" dirty="0">
                <a:solidFill>
                  <a:srgbClr val="4F81BD"/>
                </a:solidFill>
              </a:rPr>
              <a:t>      </a:t>
            </a:r>
            <a:r>
              <a:rPr lang="en-US" sz="1800" dirty="0" err="1">
                <a:solidFill>
                  <a:srgbClr val="4F81BD"/>
                </a:solidFill>
              </a:rPr>
              <a:t>int</a:t>
            </a:r>
            <a:r>
              <a:rPr lang="en-US" sz="1800" dirty="0">
                <a:solidFill>
                  <a:srgbClr val="4F81BD"/>
                </a:solidFill>
              </a:rPr>
              <a:t> sum = 0;</a:t>
            </a:r>
          </a:p>
          <a:p>
            <a:r>
              <a:rPr lang="en-US" sz="1800" dirty="0">
                <a:solidFill>
                  <a:srgbClr val="4F81BD"/>
                </a:solidFill>
              </a:rPr>
              <a:t>      while (</a:t>
            </a:r>
            <a:r>
              <a:rPr lang="en-US" sz="1800" dirty="0" err="1">
                <a:solidFill>
                  <a:srgbClr val="4F81BD"/>
                </a:solidFill>
              </a:rPr>
              <a:t>values.hasNext</a:t>
            </a:r>
            <a:r>
              <a:rPr lang="en-US" sz="1800" dirty="0">
                <a:solidFill>
                  <a:srgbClr val="4F81BD"/>
                </a:solidFill>
              </a:rPr>
              <a:t>()) {</a:t>
            </a:r>
          </a:p>
          <a:p>
            <a:r>
              <a:rPr lang="en-US" sz="1800" dirty="0">
                <a:solidFill>
                  <a:srgbClr val="4F81BD"/>
                </a:solidFill>
              </a:rPr>
              <a:t>        sum += </a:t>
            </a:r>
            <a:r>
              <a:rPr lang="en-US" sz="1800" dirty="0" err="1">
                <a:solidFill>
                  <a:srgbClr val="4F81BD"/>
                </a:solidFill>
              </a:rPr>
              <a:t>values.next</a:t>
            </a:r>
            <a:r>
              <a:rPr lang="en-US" sz="1800" dirty="0">
                <a:solidFill>
                  <a:srgbClr val="4F81BD"/>
                </a:solidFill>
              </a:rPr>
              <a:t>().get();</a:t>
            </a:r>
          </a:p>
          <a:p>
            <a:r>
              <a:rPr lang="en-US" sz="1800" dirty="0">
                <a:solidFill>
                  <a:srgbClr val="4F81BD"/>
                </a:solidFill>
              </a:rPr>
              <a:t>      }</a:t>
            </a:r>
          </a:p>
          <a:p>
            <a:r>
              <a:rPr lang="en-US" sz="1800" dirty="0">
                <a:solidFill>
                  <a:srgbClr val="4F81BD"/>
                </a:solidFill>
              </a:rPr>
              <a:t>      </a:t>
            </a:r>
            <a:r>
              <a:rPr lang="en-US" sz="1800" dirty="0" err="1">
                <a:solidFill>
                  <a:srgbClr val="4F81BD"/>
                </a:solidFill>
              </a:rPr>
              <a:t>output.collect</a:t>
            </a:r>
            <a:r>
              <a:rPr lang="en-US" sz="1800" dirty="0">
                <a:solidFill>
                  <a:srgbClr val="4F81BD"/>
                </a:solidFill>
              </a:rPr>
              <a:t>(key, new </a:t>
            </a:r>
            <a:r>
              <a:rPr lang="en-US" sz="1800" dirty="0" err="1">
                <a:solidFill>
                  <a:srgbClr val="4F81BD"/>
                </a:solidFill>
              </a:rPr>
              <a:t>IntWritable</a:t>
            </a:r>
            <a:r>
              <a:rPr lang="en-US" sz="1800" dirty="0">
                <a:solidFill>
                  <a:srgbClr val="4F81BD"/>
                </a:solidFill>
              </a:rPr>
              <a:t>(sum));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}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 21, 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CS512 | Spring 2014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1400" dirty="0"/>
              <a:t>https://</a:t>
            </a:r>
            <a:r>
              <a:rPr lang="en-US" sz="1400" dirty="0" err="1"/>
              <a:t>developer.yahoo.com</a:t>
            </a:r>
            <a:r>
              <a:rPr lang="en-US" sz="1400" dirty="0"/>
              <a:t>/</a:t>
            </a:r>
            <a:r>
              <a:rPr lang="en-US" sz="1400" dirty="0" err="1"/>
              <a:t>hadoop</a:t>
            </a:r>
            <a:r>
              <a:rPr lang="en-US" sz="1400" dirty="0"/>
              <a:t>/tutorial/module4.html</a:t>
            </a:r>
          </a:p>
        </p:txBody>
      </p:sp>
    </p:spTree>
    <p:extLst>
      <p:ext uri="{BB962C8B-B14F-4D97-AF65-F5344CB8AC3E}">
        <p14:creationId xmlns:p14="http://schemas.microsoft.com/office/powerpoint/2010/main" val="2781408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bit">
      <a:maj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1308</Words>
  <Application>Microsoft Macintosh PowerPoint</Application>
  <PresentationFormat>On-screen Show (4:3)</PresentationFormat>
  <Paragraphs>222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Candara</vt:lpstr>
      <vt:lpstr>Wingdings</vt:lpstr>
      <vt:lpstr>Office Theme</vt:lpstr>
      <vt:lpstr>Introduction  to  MapReduce</vt:lpstr>
      <vt:lpstr>MapReduce?</vt:lpstr>
      <vt:lpstr>Why?</vt:lpstr>
      <vt:lpstr>Easy…</vt:lpstr>
      <vt:lpstr>Not really!</vt:lpstr>
      <vt:lpstr>Pipe Dream</vt:lpstr>
      <vt:lpstr>MapReduce</vt:lpstr>
      <vt:lpstr>Long long ago…</vt:lpstr>
      <vt:lpstr>LISP</vt:lpstr>
      <vt:lpstr>Map</vt:lpstr>
      <vt:lpstr>Reduce</vt:lpstr>
      <vt:lpstr>Simple composition</vt:lpstr>
      <vt:lpstr>Analogy</vt:lpstr>
      <vt:lpstr>Example</vt:lpstr>
      <vt:lpstr>A slightly different map-reduce</vt:lpstr>
      <vt:lpstr>Map-reduce reintroduced…</vt:lpstr>
      <vt:lpstr>Hadoop</vt:lpstr>
      <vt:lpstr>Example</vt:lpstr>
      <vt:lpstr>Terminology</vt:lpstr>
      <vt:lpstr>MapReduce Job</vt:lpstr>
      <vt:lpstr>Splitting the input</vt:lpstr>
      <vt:lpstr>Copying the job</vt:lpstr>
      <vt:lpstr>Maps in parallel</vt:lpstr>
      <vt:lpstr>What if maps fail?</vt:lpstr>
      <vt:lpstr>Input to reducers</vt:lpstr>
      <vt:lpstr>Wait before reducing…</vt:lpstr>
      <vt:lpstr>Embarrassing Parallelism</vt:lpstr>
      <vt:lpstr>Not a panacea!</vt:lpstr>
      <vt:lpstr>Example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Map-Reduce</dc:title>
  <dc:creator>Balakrishnan Chandrasekaran</dc:creator>
  <cp:lastModifiedBy>Mahmoud Parsian</cp:lastModifiedBy>
  <cp:revision>182</cp:revision>
  <dcterms:created xsi:type="dcterms:W3CDTF">2014-02-20T06:09:59Z</dcterms:created>
  <dcterms:modified xsi:type="dcterms:W3CDTF">2026-08-31T04:25:47Z</dcterms:modified>
</cp:coreProperties>
</file>