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79" r:id="rId5"/>
    <p:sldId id="280" r:id="rId6"/>
    <p:sldId id="258" r:id="rId7"/>
    <p:sldId id="273" r:id="rId8"/>
    <p:sldId id="259" r:id="rId9"/>
    <p:sldId id="274" r:id="rId10"/>
    <p:sldId id="260" r:id="rId11"/>
    <p:sldId id="275" r:id="rId12"/>
    <p:sldId id="261" r:id="rId13"/>
    <p:sldId id="276" r:id="rId14"/>
    <p:sldId id="262" r:id="rId15"/>
    <p:sldId id="277" r:id="rId16"/>
    <p:sldId id="264" r:id="rId17"/>
    <p:sldId id="265" r:id="rId18"/>
    <p:sldId id="266" r:id="rId19"/>
    <p:sldId id="271" r:id="rId20"/>
    <p:sldId id="263" r:id="rId21"/>
    <p:sldId id="278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87E9-CDAB-9E40-B442-CF05C3E6D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CEDCB-4CFB-EC49-B1A3-3D36B05EB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14A7F-E121-6F43-9989-A3DAF324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A32E-E59E-2C41-A7D8-3B0B812C5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ACE26-5496-2445-BEE5-0BA41294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8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C3E9-03FF-0A48-874F-D078D609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F7963-5257-B340-9EE5-C265962B0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8B83E-9969-1845-A72E-CED9953B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1537D-4189-9945-B321-ADA9D8E2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8FD45-20E7-FA44-92F1-6D7343EC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0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0A54-F8A7-854F-9CC0-478342A95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37509-4A29-B14B-9299-99029828F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10AE0-AC64-2F40-8B85-4D1DDB53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F86F7-241C-AC4F-90D9-56A1CB196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ED92-344A-8C49-9364-E8E2F835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7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DB27-7A2E-424A-BF44-3EE1561B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FC1B-920D-E343-AA62-2C2F9FF4D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D2B94-4E65-FC4D-BEBE-59CA46B80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52533-DC6E-A945-B41B-B23C99840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756F6-630B-324B-B138-C2980342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EC83B-213D-F348-AD83-0B1F4A88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8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D56F-A209-D149-936C-947ACCC9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2B406-EA77-3B4E-BD48-FA6AA8EC6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902FF-6029-2C43-8C4F-138ECA5BA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4FC54-2DAC-9041-BD9A-88B91B895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31CC9A-C1AC-3448-9ACB-CBEC4D59D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83F490-3B1E-2045-86F0-B8731303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BD0A26-1EE3-294D-92C4-98AE3FFF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A80FF2-D72F-2343-9C14-EFCB710D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27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C15C3-AD32-4043-8AE3-3DA0FD19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85308-D42B-F741-9D68-7221D8FD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E3F70-6AC3-0B45-92CC-F6B6EE2D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215B8-9B78-3447-B804-8724E313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9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182A89-0912-1144-B541-A94CB6A04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40F77-EA0E-B14C-9BB2-AB58076C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00935-3CE3-704F-83B6-BADD4955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9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E1B9-EA0A-2443-89B9-4F252A97F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CCDC-FCB3-9B44-A89B-822FCC92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7FF41-E147-574B-A464-AA2D6EF68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DF68-7CB2-B04E-AB61-3C4F19111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B9A78-31BC-2C44-8D2E-D3F78B360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C448C-D645-0A48-84C7-904067CF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58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4BCE-FD99-0048-85B9-85FBEB97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C477CD-CB15-0145-9587-C041F040D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413CF-759D-9849-AF59-581E443AC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D2F49-F415-E146-B84C-3DCC14AC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504CA-34C0-2F40-8973-140474EB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645CC-8CD5-EE46-871C-16FC4898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7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83CF-0986-7A43-8A4A-56DA6F33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1B620-C744-124A-89D7-887BF91BA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1DCA2-A469-A644-90A1-CC220C2A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46D8C-7233-9344-B819-ABCF2B31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12086-7DF7-774E-98DE-513E009B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0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FDB7D-B85C-714A-A0CF-65AD81A8A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76850-CC55-A244-B1C5-02B3B7EB7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A5C66-C12D-5644-B2EF-3080FFF41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9D28-9E41-7E49-902E-4360B42E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71CCC-FF30-7C4B-86FA-C06D183F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37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644D3-91A8-FA40-99F0-2F744E70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187EC-3F06-1F4E-AC96-34DEDCEB3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D6519-D498-E149-87EF-99E11731FD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A0E31-E5E8-2745-9938-2F2816C0C90C}" type="datetimeFigureOut">
              <a:rPr lang="en-US" smtClean="0"/>
              <a:t>3/30/22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4C887-8DBC-524E-9054-90FE97D7A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019EA-4E76-A44B-8A8C-0F5F4CD91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58DE2-D65E-7A41-9FFA-9421FECE8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3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geeksforgeeks.org/introduction-to-parallel-comput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74643"/>
            <a:ext cx="9144000" cy="2792896"/>
          </a:xfrm>
        </p:spPr>
        <p:txBody>
          <a:bodyPr>
            <a:normAutofit fontScale="90000"/>
          </a:bodyPr>
          <a:lstStyle/>
          <a:p>
            <a:r>
              <a:rPr lang="en-US" dirty="0"/>
              <a:t>Understanding </a:t>
            </a:r>
            <a:br>
              <a:rPr lang="en-US" dirty="0"/>
            </a:br>
            <a:r>
              <a:rPr lang="en-US" dirty="0"/>
              <a:t>Parallelism &amp; </a:t>
            </a:r>
            <a:br>
              <a:rPr lang="en-US" dirty="0"/>
            </a:br>
            <a:r>
              <a:rPr lang="en-US" dirty="0"/>
              <a:t>Concurrency</a:t>
            </a:r>
            <a:br>
              <a:rPr lang="en-US" dirty="0"/>
            </a:br>
            <a:r>
              <a:rPr lang="en-US" sz="2700" dirty="0"/>
              <a:t> (informal introduction)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2791"/>
            <a:ext cx="9144000" cy="755373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Mahmoud Parsian</a:t>
            </a:r>
          </a:p>
          <a:p>
            <a:r>
              <a:rPr lang="en-US" sz="1600" dirty="0">
                <a:solidFill>
                  <a:srgbClr val="002060"/>
                </a:solidFill>
              </a:rPr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596631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3"/>
            <a:ext cx="9144000" cy="150156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Concurrency &amp; Parallelism </a:t>
            </a:r>
            <a:r>
              <a:rPr lang="en-US" sz="3600" dirty="0">
                <a:solidFill>
                  <a:srgbClr val="002060"/>
                </a:solidFill>
              </a:rPr>
              <a:t>(informal definition):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2017642"/>
            <a:ext cx="10465905" cy="4005471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The fact of </a:t>
            </a:r>
            <a:r>
              <a:rPr lang="en-US" sz="3200" u="sng" dirty="0"/>
              <a:t>two or more events or circumstances happening </a:t>
            </a:r>
            <a:r>
              <a:rPr lang="en-US" sz="3200" dirty="0"/>
              <a:t>or existing </a:t>
            </a:r>
            <a:r>
              <a:rPr lang="en-US" sz="3200" u="sng" dirty="0"/>
              <a:t>at the same time</a:t>
            </a:r>
            <a:r>
              <a:rPr lang="en-US" sz="3200" dirty="0"/>
              <a:t>.</a:t>
            </a:r>
          </a:p>
          <a:p>
            <a:pPr algn="l"/>
            <a:endParaRPr lang="en-US" sz="3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/>
              <a:t>The ability to execute more than one program or task simultaneously.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/>
              <a:t>Example: "a high level of concurrency is crucial to good performance in a multiuser database system"</a:t>
            </a:r>
          </a:p>
        </p:txBody>
      </p:sp>
    </p:spTree>
    <p:extLst>
      <p:ext uri="{BB962C8B-B14F-4D97-AF65-F5344CB8AC3E}">
        <p14:creationId xmlns:p14="http://schemas.microsoft.com/office/powerpoint/2010/main" val="2058237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6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82148"/>
            <a:ext cx="10465905" cy="467139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000" b="1" dirty="0"/>
              <a:t>Parallelism</a:t>
            </a:r>
            <a:r>
              <a:rPr lang="en-US" sz="3000" dirty="0"/>
              <a:t> is basically a type of computation in which</a:t>
            </a:r>
          </a:p>
          <a:p>
            <a:pPr algn="l"/>
            <a:r>
              <a:rPr lang="en-US" sz="3000" dirty="0"/>
              <a:t>many computations or operations are carried out in parallel. </a:t>
            </a:r>
          </a:p>
          <a:p>
            <a:pPr algn="l"/>
            <a:endParaRPr lang="en-US" dirty="0"/>
          </a:p>
          <a:p>
            <a:pPr algn="l"/>
            <a:r>
              <a:rPr lang="en-US" b="1" u="sng" dirty="0"/>
              <a:t>Sequential tasks:</a:t>
            </a:r>
            <a:r>
              <a:rPr lang="en-US" b="1" dirty="0"/>
              <a:t>			</a:t>
            </a:r>
            <a:r>
              <a:rPr lang="en-US" b="1" u="sng" dirty="0"/>
              <a:t>Parallel tasks:</a:t>
            </a:r>
          </a:p>
          <a:p>
            <a:pPr algn="l"/>
            <a:r>
              <a:rPr lang="en-US" dirty="0"/>
              <a:t>Task-1: 15 minutes			Task-1, Task-2, Task-3, Task-4</a:t>
            </a:r>
          </a:p>
          <a:p>
            <a:pPr algn="l"/>
            <a:r>
              <a:rPr lang="en-US" dirty="0"/>
              <a:t>Task-2: 20 minutes</a:t>
            </a:r>
          </a:p>
          <a:p>
            <a:pPr algn="l"/>
            <a:r>
              <a:rPr lang="en-US" dirty="0"/>
              <a:t>Task-3: 25 minutes</a:t>
            </a:r>
          </a:p>
          <a:p>
            <a:pPr algn="l"/>
            <a:r>
              <a:rPr lang="en-US" dirty="0"/>
              <a:t>Task-4: 20 minutes</a:t>
            </a:r>
          </a:p>
          <a:p>
            <a:pPr algn="l"/>
            <a:r>
              <a:rPr lang="en-US" dirty="0"/>
              <a:t>===============			==================</a:t>
            </a:r>
          </a:p>
          <a:p>
            <a:pPr algn="l"/>
            <a:r>
              <a:rPr lang="en-US" b="1" dirty="0">
                <a:solidFill>
                  <a:srgbClr val="002060"/>
                </a:solidFill>
              </a:rPr>
              <a:t>Total Elapsed time: 80 minutes</a:t>
            </a:r>
            <a:r>
              <a:rPr lang="en-US" dirty="0"/>
              <a:t>		</a:t>
            </a:r>
            <a:r>
              <a:rPr lang="en-US" b="1" dirty="0">
                <a:solidFill>
                  <a:srgbClr val="002060"/>
                </a:solidFill>
              </a:rPr>
              <a:t>Total Elapsed time: 25 minutes</a:t>
            </a:r>
          </a:p>
          <a:p>
            <a:pPr algn="l"/>
            <a:r>
              <a:rPr lang="en-US" sz="1400" dirty="0"/>
              <a:t>(assuming that there are no dependencies between tasks)</a:t>
            </a:r>
          </a:p>
          <a:p>
            <a:pPr algn="l"/>
            <a:r>
              <a:rPr lang="en-US" dirty="0"/>
              <a:t>Therefore, Parallelism improves execution time.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73B2DD-0418-4045-A4D6-74B43C0B7F50}"/>
              </a:ext>
            </a:extLst>
          </p:cNvPr>
          <p:cNvCxnSpPr>
            <a:cxnSpLocks/>
          </p:cNvCxnSpPr>
          <p:nvPr/>
        </p:nvCxnSpPr>
        <p:spPr>
          <a:xfrm>
            <a:off x="5148470" y="2508422"/>
            <a:ext cx="0" cy="2739439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135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6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82148"/>
            <a:ext cx="10465905" cy="4671391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solidFill>
                  <a:srgbClr val="00B050"/>
                </a:solidFill>
              </a:rPr>
              <a:t>What if </a:t>
            </a:r>
            <a:r>
              <a:rPr lang="en-US" b="1" dirty="0">
                <a:solidFill>
                  <a:srgbClr val="002060"/>
                </a:solidFill>
              </a:rPr>
              <a:t>Task-3</a:t>
            </a:r>
            <a:r>
              <a:rPr lang="en-US" b="1" dirty="0">
                <a:solidFill>
                  <a:srgbClr val="00B050"/>
                </a:solidFill>
              </a:rPr>
              <a:t> and </a:t>
            </a:r>
            <a:r>
              <a:rPr lang="en-US" b="1" dirty="0">
                <a:solidFill>
                  <a:srgbClr val="002060"/>
                </a:solidFill>
              </a:rPr>
              <a:t>Task-4</a:t>
            </a:r>
            <a:r>
              <a:rPr lang="en-US" b="1" dirty="0">
                <a:solidFill>
                  <a:srgbClr val="00B050"/>
                </a:solidFill>
              </a:rPr>
              <a:t> depend on the output of </a:t>
            </a:r>
            <a:r>
              <a:rPr lang="en-US" b="1" dirty="0">
                <a:solidFill>
                  <a:srgbClr val="002060"/>
                </a:solidFill>
              </a:rPr>
              <a:t>Task-1 and Task-2</a:t>
            </a:r>
          </a:p>
          <a:p>
            <a:pPr algn="l"/>
            <a:endParaRPr lang="en-US" dirty="0"/>
          </a:p>
          <a:p>
            <a:pPr algn="l"/>
            <a:r>
              <a:rPr lang="en-US" b="1" u="sng" dirty="0"/>
              <a:t>Sequential tasks:</a:t>
            </a:r>
            <a:r>
              <a:rPr lang="en-US" b="1" dirty="0"/>
              <a:t>			</a:t>
            </a:r>
            <a:r>
              <a:rPr lang="en-US" b="1" u="sng" dirty="0"/>
              <a:t>Parallel tasks:</a:t>
            </a:r>
          </a:p>
          <a:p>
            <a:pPr algn="l"/>
            <a:r>
              <a:rPr lang="en-US" dirty="0"/>
              <a:t>Task-1: 15 minutes			Iteration-1: Task-1, Task-2 (duration: 20 mins)</a:t>
            </a:r>
          </a:p>
          <a:p>
            <a:pPr algn="l"/>
            <a:r>
              <a:rPr lang="en-US" dirty="0"/>
              <a:t>Task-2: 20 minutes                                  Iteration-2: Task-3, Task-4 (duration: 25 mins)</a:t>
            </a:r>
          </a:p>
          <a:p>
            <a:pPr algn="l"/>
            <a:r>
              <a:rPr lang="en-US" dirty="0"/>
              <a:t>Task-3: 25 minutes</a:t>
            </a:r>
          </a:p>
          <a:p>
            <a:pPr algn="l"/>
            <a:r>
              <a:rPr lang="en-US" dirty="0"/>
              <a:t>Task-4: 20 minutes</a:t>
            </a:r>
          </a:p>
          <a:p>
            <a:pPr algn="l"/>
            <a:r>
              <a:rPr lang="en-US" dirty="0"/>
              <a:t>===============			==================</a:t>
            </a:r>
          </a:p>
          <a:p>
            <a:pPr algn="l"/>
            <a:r>
              <a:rPr lang="en-US" b="1" dirty="0">
                <a:solidFill>
                  <a:srgbClr val="002060"/>
                </a:solidFill>
              </a:rPr>
              <a:t>Total Elapsed time: 80 minutes</a:t>
            </a:r>
            <a:r>
              <a:rPr lang="en-US" dirty="0"/>
              <a:t>	</a:t>
            </a:r>
            <a:r>
              <a:rPr lang="en-US" b="1" dirty="0">
                <a:solidFill>
                  <a:srgbClr val="002060"/>
                </a:solidFill>
              </a:rPr>
              <a:t>Total Elapsed time: 45 minutes</a:t>
            </a:r>
          </a:p>
          <a:p>
            <a:pPr algn="l"/>
            <a:r>
              <a:rPr lang="en-US" sz="1400" dirty="0"/>
              <a:t>(Task-1 and Task-2 are independent of each other, and so are Task-3 and Task-4 — but Task-3 and Task-4 depend on Task-1 and Task-2 completing first)</a:t>
            </a:r>
          </a:p>
          <a:p>
            <a:pPr algn="l"/>
            <a:r>
              <a:rPr lang="en-US" b="1" dirty="0">
                <a:solidFill>
                  <a:srgbClr val="00B050"/>
                </a:solidFill>
              </a:rPr>
              <a:t>Dependencies can be bottlenecks!!!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73B2DD-0418-4045-A4D6-74B43C0B7F50}"/>
              </a:ext>
            </a:extLst>
          </p:cNvPr>
          <p:cNvCxnSpPr>
            <a:cxnSpLocks/>
          </p:cNvCxnSpPr>
          <p:nvPr/>
        </p:nvCxnSpPr>
        <p:spPr>
          <a:xfrm>
            <a:off x="5272038" y="2059280"/>
            <a:ext cx="0" cy="3093488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552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6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82148"/>
            <a:ext cx="11081862" cy="4671391"/>
          </a:xfrm>
        </p:spPr>
        <p:txBody>
          <a:bodyPr>
            <a:normAutofit/>
          </a:bodyPr>
          <a:lstStyle/>
          <a:p>
            <a:pPr algn="l"/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C2735CE-CC34-9D4F-881A-6D8C40CA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13" y="1631092"/>
            <a:ext cx="11043373" cy="379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9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716376"/>
          </a:xfrm>
        </p:spPr>
        <p:txBody>
          <a:bodyPr>
            <a:normAutofit fontScale="90000"/>
          </a:bodyPr>
          <a:lstStyle/>
          <a:p>
            <a:r>
              <a:rPr lang="en-US" dirty="0"/>
              <a:t>Birthday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765" y="1282148"/>
            <a:ext cx="10465905" cy="4671391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Alex wants to throw a big birthday party.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He has a list of 1000 items to buy from a Safeway (grocery store).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Items to buy:</a:t>
            </a:r>
          </a:p>
          <a:p>
            <a:pPr algn="l"/>
            <a:endParaRPr lang="en-US" dirty="0"/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item-1: ice-cream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item-2: chips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item-3: oranges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item-4: cup cakes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…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item-1000: grapes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How long will it take for Alex to buy all these 1000 items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assuming that he is the only person in grocery store?</a:t>
            </a:r>
          </a:p>
        </p:txBody>
      </p:sp>
    </p:spTree>
    <p:extLst>
      <p:ext uri="{BB962C8B-B14F-4D97-AF65-F5344CB8AC3E}">
        <p14:creationId xmlns:p14="http://schemas.microsoft.com/office/powerpoint/2010/main" val="352580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our Data?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54216"/>
              </p:ext>
            </p:extLst>
          </p:nvPr>
        </p:nvGraphicFramePr>
        <p:xfrm>
          <a:off x="3193774" y="1441173"/>
          <a:ext cx="5065643" cy="41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233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4205410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589248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74035"/>
            <a:ext cx="10465905" cy="4671391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How long will it take for Alex to buy all these 1000 items (assuming that he is the only person in grocery store)?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It is estimated that on average he needs 14 seconds to find the item and put it in the shopping cart.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Therefore, he will spend </a:t>
            </a:r>
          </a:p>
          <a:p>
            <a:pPr algn="l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1000 x 14 = 14,000 seconds = 233 minutes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>
                <a:solidFill>
                  <a:srgbClr val="0070C0"/>
                </a:solidFill>
              </a:rPr>
              <a:t>BUT, Alex is busy and can not spend </a:t>
            </a:r>
            <a:r>
              <a:rPr lang="en-US" sz="2800" b="1" dirty="0"/>
              <a:t>233 minutes </a:t>
            </a:r>
            <a:r>
              <a:rPr lang="en-US" sz="2800" dirty="0">
                <a:solidFill>
                  <a:srgbClr val="0070C0"/>
                </a:solidFill>
              </a:rPr>
              <a:t>for shopping.</a:t>
            </a:r>
          </a:p>
          <a:p>
            <a:pPr algn="l"/>
            <a:r>
              <a:rPr lang="en-US" sz="2800" dirty="0">
                <a:solidFill>
                  <a:srgbClr val="0070C0"/>
                </a:solidFill>
              </a:rPr>
              <a:t>What to do?</a:t>
            </a:r>
          </a:p>
        </p:txBody>
      </p:sp>
    </p:spTree>
    <p:extLst>
      <p:ext uri="{BB962C8B-B14F-4D97-AF65-F5344CB8AC3E}">
        <p14:creationId xmlns:p14="http://schemas.microsoft.com/office/powerpoint/2010/main" val="372216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48866"/>
          </a:xfrm>
        </p:spPr>
        <p:txBody>
          <a:bodyPr/>
          <a:lstStyle/>
          <a:p>
            <a:r>
              <a:rPr lang="en-US" dirty="0"/>
              <a:t>Processing Data? One Executor: Alex. </a:t>
            </a:r>
            <a:br>
              <a:rPr lang="en-US" dirty="0"/>
            </a:br>
            <a:r>
              <a:rPr lang="en-US" dirty="0"/>
              <a:t>Buy item-1, then item-2, then item-3, … </a:t>
            </a:r>
            <a:br>
              <a:rPr lang="en-US" dirty="0"/>
            </a:br>
            <a:r>
              <a:rPr lang="en-US" dirty="0"/>
              <a:t>All is done in sequence: No Parallelism yet.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156277"/>
              </p:ext>
            </p:extLst>
          </p:nvPr>
        </p:nvGraphicFramePr>
        <p:xfrm>
          <a:off x="3064566" y="2613990"/>
          <a:ext cx="2718396" cy="3391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233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58163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484485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945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74035"/>
            <a:ext cx="10465905" cy="4681330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BUT, Alex </a:t>
            </a:r>
            <a:r>
              <a:rPr lang="en-US" sz="2800" b="1" dirty="0"/>
              <a:t>is busy </a:t>
            </a:r>
            <a:r>
              <a:rPr lang="en-US" sz="2800" dirty="0"/>
              <a:t>and can not spend </a:t>
            </a:r>
            <a:r>
              <a:rPr lang="en-US" sz="2800" b="1" dirty="0"/>
              <a:t>233 minutes </a:t>
            </a:r>
            <a:r>
              <a:rPr lang="en-US" sz="2800" dirty="0"/>
              <a:t>for shopping.</a:t>
            </a:r>
          </a:p>
          <a:p>
            <a:pPr algn="l"/>
            <a:r>
              <a:rPr lang="en-US" sz="2800" b="1" dirty="0"/>
              <a:t>What to do?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Alex calls 10 of his friends (F1, F2, …, F10): they will do shopping and deliver to Alex.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Therefore, Each friend will buy 100 items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Total time elapsed to buy all items: </a:t>
            </a:r>
          </a:p>
          <a:p>
            <a:pPr lvl="1" algn="l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100 x 14 = 1400 seconds = 23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THIS IS a BIG IMPROVEMENT:  </a:t>
            </a:r>
            <a:r>
              <a:rPr lang="en-US" sz="2800" b="1" dirty="0">
                <a:solidFill>
                  <a:srgbClr val="002060"/>
                </a:solidFill>
              </a:rPr>
              <a:t>233 minutes </a:t>
            </a:r>
            <a:r>
              <a:rPr lang="en-US" sz="2800" dirty="0">
                <a:solidFill>
                  <a:srgbClr val="002060"/>
                </a:solidFill>
              </a:rPr>
              <a:t>reduced to </a:t>
            </a:r>
            <a:r>
              <a:rPr lang="en-US" sz="2800" b="1" dirty="0">
                <a:solidFill>
                  <a:srgbClr val="002060"/>
                </a:solidFill>
              </a:rPr>
              <a:t>23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Alex is still not satisfied with this plan.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12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7751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Processing Data? 10 parallel executors. 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Each executor operates in parallel &amp; independently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525634"/>
              </p:ext>
            </p:extLst>
          </p:nvPr>
        </p:nvGraphicFramePr>
        <p:xfrm>
          <a:off x="838200" y="2405270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38B72-0B00-8A4F-837A-BE2F8890C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2566581"/>
              </p:ext>
            </p:extLst>
          </p:nvPr>
        </p:nvGraphicFramePr>
        <p:xfrm>
          <a:off x="8418356" y="2405270"/>
          <a:ext cx="2249556" cy="3585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07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35429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03036A-4151-6440-8794-404D60131226}"/>
              </a:ext>
            </a:extLst>
          </p:cNvPr>
          <p:cNvSpPr txBox="1">
            <a:spLocks/>
          </p:cNvSpPr>
          <p:nvPr/>
        </p:nvSpPr>
        <p:spPr>
          <a:xfrm>
            <a:off x="838201" y="1818861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B6B63-922A-EB42-9977-ECF67BC0E1A6}"/>
              </a:ext>
            </a:extLst>
          </p:cNvPr>
          <p:cNvSpPr/>
          <p:nvPr/>
        </p:nvSpPr>
        <p:spPr>
          <a:xfrm>
            <a:off x="8274239" y="1943605"/>
            <a:ext cx="2537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Executor-10: F-10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3AEF52-4699-3641-AFAE-AC7A32256810}"/>
              </a:ext>
            </a:extLst>
          </p:cNvPr>
          <p:cNvSpPr txBox="1">
            <a:spLocks/>
          </p:cNvSpPr>
          <p:nvPr/>
        </p:nvSpPr>
        <p:spPr>
          <a:xfrm>
            <a:off x="6408769" y="1692875"/>
            <a:ext cx="1042355" cy="902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0000"/>
                </a:solidFill>
              </a:rPr>
              <a:t>…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07F028B1-31AA-D343-9D1D-CED03DD00E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8856916"/>
              </p:ext>
            </p:extLst>
          </p:nvPr>
        </p:nvGraphicFramePr>
        <p:xfrm>
          <a:off x="3422330" y="2435022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83093760-6E6F-E24E-AAEA-57F9A0AB185C}"/>
              </a:ext>
            </a:extLst>
          </p:cNvPr>
          <p:cNvSpPr txBox="1">
            <a:spLocks/>
          </p:cNvSpPr>
          <p:nvPr/>
        </p:nvSpPr>
        <p:spPr>
          <a:xfrm>
            <a:off x="3278213" y="1855930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F2</a:t>
            </a:r>
          </a:p>
        </p:txBody>
      </p:sp>
    </p:spTree>
    <p:extLst>
      <p:ext uri="{BB962C8B-B14F-4D97-AF65-F5344CB8AC3E}">
        <p14:creationId xmlns:p14="http://schemas.microsoft.com/office/powerpoint/2010/main" val="1143646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74035"/>
            <a:ext cx="10465905" cy="4681330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0070C0"/>
                </a:solidFill>
              </a:rPr>
              <a:t>BUT, Alex </a:t>
            </a:r>
            <a:r>
              <a:rPr lang="en-US" sz="2800" b="1" dirty="0">
                <a:solidFill>
                  <a:srgbClr val="0070C0"/>
                </a:solidFill>
              </a:rPr>
              <a:t>is busy </a:t>
            </a:r>
            <a:r>
              <a:rPr lang="en-US" sz="2800" dirty="0">
                <a:solidFill>
                  <a:srgbClr val="0070C0"/>
                </a:solidFill>
              </a:rPr>
              <a:t>and can not spend 23 minutes for shopping.</a:t>
            </a: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What to do?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Alex calls 100 of his friends (F1, F2, …, F100): </a:t>
            </a:r>
          </a:p>
          <a:p>
            <a:pPr algn="l"/>
            <a:r>
              <a:rPr lang="en-US" sz="2800" dirty="0"/>
              <a:t>they will do shopping and deliver to Alex.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Therefore, Each friend will buy 10 items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Total time elapsed to buy all items: </a:t>
            </a:r>
          </a:p>
          <a:p>
            <a:pPr lvl="1" algn="l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10 x 14 = 140 seconds = about 2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THIS IS a BIG IMPROVEMENT:  </a:t>
            </a:r>
            <a:r>
              <a:rPr lang="en-US" sz="2800" b="1" dirty="0">
                <a:solidFill>
                  <a:srgbClr val="002060"/>
                </a:solidFill>
              </a:rPr>
              <a:t>233 minutes </a:t>
            </a:r>
            <a:r>
              <a:rPr lang="en-US" sz="2800" dirty="0">
                <a:solidFill>
                  <a:srgbClr val="002060"/>
                </a:solidFill>
              </a:rPr>
              <a:t>reduced to </a:t>
            </a:r>
            <a:r>
              <a:rPr lang="en-US" sz="2800" b="1" dirty="0">
                <a:solidFill>
                  <a:srgbClr val="002060"/>
                </a:solidFill>
              </a:rPr>
              <a:t>2 minutes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Alex is still not satisfied with this plan.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685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7751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Processing Data? 100 parallel executors. 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Each executor operates in parallel &amp; independently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919076"/>
              </p:ext>
            </p:extLst>
          </p:nvPr>
        </p:nvGraphicFramePr>
        <p:xfrm>
          <a:off x="838200" y="2405270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Cup-cakes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38B72-0B00-8A4F-837A-BE2F8890C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719829"/>
              </p:ext>
            </p:extLst>
          </p:nvPr>
        </p:nvGraphicFramePr>
        <p:xfrm>
          <a:off x="8096003" y="2476154"/>
          <a:ext cx="2249556" cy="3585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07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35429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03036A-4151-6440-8794-404D60131226}"/>
              </a:ext>
            </a:extLst>
          </p:cNvPr>
          <p:cNvSpPr txBox="1">
            <a:spLocks/>
          </p:cNvSpPr>
          <p:nvPr/>
        </p:nvSpPr>
        <p:spPr>
          <a:xfrm>
            <a:off x="838201" y="1818861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B6B63-922A-EB42-9977-ECF67BC0E1A6}"/>
              </a:ext>
            </a:extLst>
          </p:cNvPr>
          <p:cNvSpPr/>
          <p:nvPr/>
        </p:nvSpPr>
        <p:spPr>
          <a:xfrm>
            <a:off x="8096003" y="1982604"/>
            <a:ext cx="3163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Executor-100: F-100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3AEF52-4699-3641-AFAE-AC7A32256810}"/>
              </a:ext>
            </a:extLst>
          </p:cNvPr>
          <p:cNvSpPr txBox="1">
            <a:spLocks/>
          </p:cNvSpPr>
          <p:nvPr/>
        </p:nvSpPr>
        <p:spPr>
          <a:xfrm>
            <a:off x="6530011" y="1495910"/>
            <a:ext cx="2411895" cy="902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0000"/>
                </a:solidFill>
              </a:rPr>
              <a:t>…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8CD8E232-70EA-B04B-9693-07916E2201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9507197"/>
              </p:ext>
            </p:extLst>
          </p:nvPr>
        </p:nvGraphicFramePr>
        <p:xfrm>
          <a:off x="3424882" y="2405270"/>
          <a:ext cx="2411896" cy="3727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783997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495604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6438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85793"/>
                  </a:ext>
                </a:extLst>
              </a:tr>
              <a:tr h="759530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116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2F2EE3AE-EA4D-FE4D-82D5-18E0FE5EBB22}"/>
              </a:ext>
            </a:extLst>
          </p:cNvPr>
          <p:cNvSpPr txBox="1">
            <a:spLocks/>
          </p:cNvSpPr>
          <p:nvPr/>
        </p:nvSpPr>
        <p:spPr>
          <a:xfrm>
            <a:off x="3348548" y="1865177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Executor-2: F2</a:t>
            </a:r>
          </a:p>
        </p:txBody>
      </p:sp>
    </p:spTree>
    <p:extLst>
      <p:ext uri="{BB962C8B-B14F-4D97-AF65-F5344CB8AC3E}">
        <p14:creationId xmlns:p14="http://schemas.microsoft.com/office/powerpoint/2010/main" val="287569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dirty="0"/>
              <a:t>Birthday Example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974035"/>
            <a:ext cx="10465905" cy="4681330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0070C0"/>
                </a:solidFill>
              </a:rPr>
              <a:t>BUT, Alex </a:t>
            </a:r>
            <a:r>
              <a:rPr lang="en-US" sz="2800" b="1" dirty="0">
                <a:solidFill>
                  <a:srgbClr val="0070C0"/>
                </a:solidFill>
              </a:rPr>
              <a:t>is busy </a:t>
            </a:r>
            <a:r>
              <a:rPr lang="en-US" sz="2800" dirty="0">
                <a:solidFill>
                  <a:srgbClr val="0070C0"/>
                </a:solidFill>
              </a:rPr>
              <a:t>and can not even spend 2 minutes for shopping.</a:t>
            </a: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What to do?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Alex calls </a:t>
            </a:r>
            <a:r>
              <a:rPr lang="en-US" sz="2800" dirty="0"/>
              <a:t>1000</a:t>
            </a:r>
            <a:r>
              <a:rPr lang="en-US" sz="2800" dirty="0">
                <a:solidFill>
                  <a:srgbClr val="0070C0"/>
                </a:solidFill>
              </a:rPr>
              <a:t> of his friends (F1, F2, …, F1000): they will do shopping and deliver to Alex.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Therefore, Each friend will buy 1 single item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Total time elapsed to buy all items: </a:t>
            </a:r>
          </a:p>
          <a:p>
            <a:pPr lvl="1" algn="l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 x 14 = 14 seconds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THIS IS a HUGE IMPROVEMENT:  </a:t>
            </a:r>
          </a:p>
          <a:p>
            <a:pPr lvl="1" algn="l"/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233 minutes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reduced to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14 seconds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Alex is satisfied with this plan.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653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1E0D-B4D4-694C-9B94-14DCBC7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7751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Processing Data? 1000 parallel executors. 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Each executor operates in parallel &amp; independently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CF21EE-B52D-A147-A1D0-A196DA4EC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306388"/>
              </p:ext>
            </p:extLst>
          </p:nvPr>
        </p:nvGraphicFramePr>
        <p:xfrm>
          <a:off x="838200" y="2405270"/>
          <a:ext cx="2411896" cy="989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ice-cream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438B72-0B00-8A4F-837A-BE2F8890C7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606807"/>
              </p:ext>
            </p:extLst>
          </p:nvPr>
        </p:nvGraphicFramePr>
        <p:xfrm>
          <a:off x="8096003" y="2476154"/>
          <a:ext cx="2249556" cy="1043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07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535429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50833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03036A-4151-6440-8794-404D60131226}"/>
              </a:ext>
            </a:extLst>
          </p:cNvPr>
          <p:cNvSpPr txBox="1">
            <a:spLocks/>
          </p:cNvSpPr>
          <p:nvPr/>
        </p:nvSpPr>
        <p:spPr>
          <a:xfrm>
            <a:off x="838201" y="1818861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Executor-1: F1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B6B63-922A-EB42-9977-ECF67BC0E1A6}"/>
              </a:ext>
            </a:extLst>
          </p:cNvPr>
          <p:cNvSpPr/>
          <p:nvPr/>
        </p:nvSpPr>
        <p:spPr>
          <a:xfrm>
            <a:off x="8096004" y="1982604"/>
            <a:ext cx="25308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Executor-1000: F-1000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3AEF52-4699-3641-AFAE-AC7A32256810}"/>
              </a:ext>
            </a:extLst>
          </p:cNvPr>
          <p:cNvSpPr txBox="1">
            <a:spLocks/>
          </p:cNvSpPr>
          <p:nvPr/>
        </p:nvSpPr>
        <p:spPr>
          <a:xfrm>
            <a:off x="6616508" y="2382714"/>
            <a:ext cx="2411895" cy="902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0000"/>
                </a:solidFill>
              </a:rPr>
              <a:t>…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8CD8E232-70EA-B04B-9693-07916E2201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7949884"/>
              </p:ext>
            </p:extLst>
          </p:nvPr>
        </p:nvGraphicFramePr>
        <p:xfrm>
          <a:off x="3424882" y="2405270"/>
          <a:ext cx="2411896" cy="989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27">
                  <a:extLst>
                    <a:ext uri="{9D8B030D-6E8A-4147-A177-3AD203B41FA5}">
                      <a16:colId xmlns:a16="http://schemas.microsoft.com/office/drawing/2014/main" val="4151409975"/>
                    </a:ext>
                  </a:extLst>
                </a:gridCol>
                <a:gridCol w="1842769">
                  <a:extLst>
                    <a:ext uri="{9D8B030D-6E8A-4147-A177-3AD203B41FA5}">
                      <a16:colId xmlns:a16="http://schemas.microsoft.com/office/drawing/2014/main" val="3154435277"/>
                    </a:ext>
                  </a:extLst>
                </a:gridCol>
              </a:tblGrid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to 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75438"/>
                  </a:ext>
                </a:extLst>
              </a:tr>
              <a:tr h="49460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34296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2F2EE3AE-EA4D-FE4D-82D5-18E0FE5EBB22}"/>
              </a:ext>
            </a:extLst>
          </p:cNvPr>
          <p:cNvSpPr txBox="1">
            <a:spLocks/>
          </p:cNvSpPr>
          <p:nvPr/>
        </p:nvSpPr>
        <p:spPr>
          <a:xfrm>
            <a:off x="3348548" y="1865177"/>
            <a:ext cx="2411895" cy="57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FF0000"/>
                </a:solidFill>
              </a:rPr>
              <a:t>Executor-2: F2</a:t>
            </a:r>
          </a:p>
        </p:txBody>
      </p:sp>
    </p:spTree>
    <p:extLst>
      <p:ext uri="{BB962C8B-B14F-4D97-AF65-F5344CB8AC3E}">
        <p14:creationId xmlns:p14="http://schemas.microsoft.com/office/powerpoint/2010/main" val="315425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2135189" y="1"/>
            <a:ext cx="8281987" cy="1323975"/>
          </a:xfrm>
        </p:spPr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How do we write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parallel programs?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2208214" y="1628776"/>
            <a:ext cx="8270875" cy="460851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Task parallelism </a:t>
            </a:r>
          </a:p>
          <a:p>
            <a:pPr lvl="1"/>
            <a:r>
              <a:rPr lang="en-US" dirty="0">
                <a:latin typeface="Arial" charset="0"/>
              </a:rPr>
              <a:t>Partition the various tasks involved in solving the problem among the cores.</a:t>
            </a:r>
            <a:br>
              <a:rPr lang="en-US" dirty="0">
                <a:latin typeface="Arial" charset="0"/>
              </a:rPr>
            </a:br>
            <a:endParaRPr lang="en-US" dirty="0">
              <a:latin typeface="Arial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Data parallelism</a:t>
            </a:r>
          </a:p>
          <a:p>
            <a:pPr lvl="1"/>
            <a:r>
              <a:rPr lang="en-US" dirty="0">
                <a:latin typeface="Arial" charset="0"/>
              </a:rPr>
              <a:t>Partition the data used in solving the problem among the cores.</a:t>
            </a:r>
          </a:p>
          <a:p>
            <a:pPr lvl="1"/>
            <a:r>
              <a:rPr lang="en-US" dirty="0">
                <a:latin typeface="Arial" charset="0"/>
              </a:rPr>
              <a:t>Each core carries out similar operations on its</a:t>
            </a:r>
            <a:r>
              <a:rPr lang="ja-JP" altLang="en-US">
                <a:latin typeface="Arial" charset="0"/>
              </a:rPr>
              <a:t/>
            </a:r>
            <a:r>
              <a:rPr lang="en-US" dirty="0">
                <a:latin typeface="Arial" charset="0"/>
              </a:rPr>
              <a:t> part of the data.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65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2135189" y="2"/>
            <a:ext cx="8281987" cy="62071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Data parallelism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2208214" y="695740"/>
            <a:ext cx="8270875" cy="55415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charset="0"/>
              </a:rPr>
              <a:t>Suppose your data has 200,000,000,000 data points</a:t>
            </a:r>
          </a:p>
          <a:p>
            <a:r>
              <a:rPr lang="en-US" dirty="0">
                <a:latin typeface="Arial" charset="0"/>
              </a:rPr>
              <a:t>Partition your data into 100,000 chunks: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Arial" charset="0"/>
              </a:rPr>
              <a:t>Number of partitions: 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100,000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Arial" charset="0"/>
              </a:rPr>
              <a:t>Number of records per partition: 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2,000,000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Arial" charset="0"/>
              </a:rPr>
              <a:t>100,000 x 2,000,000 = </a:t>
            </a:r>
            <a:r>
              <a:rPr lang="en-US" dirty="0">
                <a:latin typeface="Arial" charset="0"/>
              </a:rPr>
              <a:t>200,000,000,000</a:t>
            </a:r>
            <a:endParaRPr lang="en-US" b="1" dirty="0">
              <a:solidFill>
                <a:srgbClr val="0070C0"/>
              </a:solidFill>
              <a:latin typeface="Arial" charset="0"/>
            </a:endParaRPr>
          </a:p>
          <a:p>
            <a:r>
              <a:rPr lang="en-US" dirty="0">
                <a:latin typeface="Arial" charset="0"/>
              </a:rPr>
              <a:t>Assume you want to execute </a:t>
            </a:r>
            <a:r>
              <a:rPr lang="en-US" dirty="0">
                <a:solidFill>
                  <a:srgbClr val="0070C0"/>
                </a:solidFill>
                <a:latin typeface="Arial" charset="0"/>
              </a:rPr>
              <a:t>map(function) </a:t>
            </a:r>
            <a:r>
              <a:rPr lang="en-US" dirty="0">
                <a:latin typeface="Arial" charset="0"/>
              </a:rPr>
              <a:t>on (a transformation function) each record and create a new record</a:t>
            </a:r>
          </a:p>
          <a:p>
            <a:r>
              <a:rPr lang="en-US" dirty="0">
                <a:latin typeface="Arial" charset="0"/>
              </a:rPr>
              <a:t>With this partitioning in place, the fastest way to execute </a:t>
            </a:r>
            <a:r>
              <a:rPr lang="en-US" dirty="0">
                <a:solidFill>
                  <a:srgbClr val="0070C0"/>
                </a:solidFill>
                <a:latin typeface="Arial" charset="0"/>
              </a:rPr>
              <a:t>map(function) </a:t>
            </a:r>
            <a:r>
              <a:rPr lang="en-US" dirty="0">
                <a:latin typeface="Arial" charset="0"/>
              </a:rPr>
              <a:t>will be to have 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100,000</a:t>
            </a:r>
            <a:r>
              <a:rPr lang="en-US" dirty="0">
                <a:latin typeface="Arial" charset="0"/>
              </a:rPr>
              <a:t> mappers (mappers are transformations, which execute in parallel)</a:t>
            </a:r>
          </a:p>
          <a:p>
            <a:r>
              <a:rPr lang="en-US" dirty="0">
                <a:solidFill>
                  <a:srgbClr val="FF0000"/>
                </a:solidFill>
                <a:latin typeface="Arial" charset="0"/>
              </a:rPr>
              <a:t>What happens if we have only 1000 mappers?</a:t>
            </a: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22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2135189" y="2"/>
            <a:ext cx="8281987" cy="62071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charset="0"/>
              </a:rPr>
              <a:t>Data parallelism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2208214" y="695740"/>
            <a:ext cx="8270875" cy="554155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charset="0"/>
              </a:rPr>
              <a:t>What happens if we have only 1000 mappers?</a:t>
            </a:r>
          </a:p>
          <a:p>
            <a:r>
              <a:rPr lang="en-US" dirty="0">
                <a:solidFill>
                  <a:srgbClr val="0070C0"/>
                </a:solidFill>
                <a:latin typeface="Arial" charset="0"/>
              </a:rPr>
              <a:t>First, we assign 1000 of these partitions to 1000 mappers (</a:t>
            </a:r>
            <a:r>
              <a:rPr lang="en-US" b="1" dirty="0">
                <a:solidFill>
                  <a:srgbClr val="0070C0"/>
                </a:solidFill>
                <a:latin typeface="Arial" charset="0"/>
              </a:rPr>
              <a:t>each mapper gets a single partition, which has 2,000,000 records</a:t>
            </a:r>
            <a:r>
              <a:rPr lang="en-US" dirty="0">
                <a:solidFill>
                  <a:srgbClr val="0070C0"/>
                </a:solidFill>
                <a:latin typeface="Arial" charset="0"/>
              </a:rPr>
              <a:t>)</a:t>
            </a:r>
          </a:p>
          <a:p>
            <a:r>
              <a:rPr lang="en-US" dirty="0">
                <a:latin typeface="Arial" charset="0"/>
              </a:rPr>
              <a:t>Once a mapper completes its task, we assign another partition to that mapper</a:t>
            </a:r>
          </a:p>
          <a:p>
            <a:r>
              <a:rPr lang="en-US" dirty="0">
                <a:latin typeface="Arial" charset="0"/>
              </a:rPr>
              <a:t>This iteration continues until we exhaust all 100,000 partitions</a:t>
            </a:r>
          </a:p>
          <a:p>
            <a:r>
              <a:rPr lang="en-US" b="1" dirty="0">
                <a:solidFill>
                  <a:srgbClr val="00B050"/>
                </a:solidFill>
                <a:latin typeface="Arial" charset="0"/>
              </a:rPr>
              <a:t>At most 1000 mappers are executing at any single point in time.</a:t>
            </a:r>
          </a:p>
          <a:p>
            <a:r>
              <a:rPr lang="en-US" sz="3200" b="1" dirty="0">
                <a:solidFill>
                  <a:schemeClr val="accent2"/>
                </a:solidFill>
                <a:latin typeface="Arial" charset="0"/>
              </a:rPr>
              <a:t>The more mappers we have,</a:t>
            </a:r>
          </a:p>
          <a:p>
            <a:pPr marL="457200" lvl="1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charset="0"/>
              </a:rPr>
              <a:t>the faster we execute.</a:t>
            </a: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38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>
          <a:xfrm>
            <a:off x="1981200" y="42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</a:rPr>
              <a:t>Parallelism requires Coordination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1919288" y="981075"/>
            <a:ext cx="8559800" cy="5111750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Executors usually need to coordinate their work.</a:t>
            </a:r>
          </a:p>
          <a:p>
            <a:r>
              <a:rPr lang="en-US" dirty="0">
                <a:solidFill>
                  <a:srgbClr val="3399FF"/>
                </a:solidFill>
                <a:latin typeface="Arial" charset="0"/>
              </a:rPr>
              <a:t>Communication</a:t>
            </a:r>
            <a:r>
              <a:rPr lang="en-US" dirty="0">
                <a:latin typeface="Arial" charset="0"/>
              </a:rPr>
              <a:t> – one or more Executors send their current partial results to another core.</a:t>
            </a:r>
          </a:p>
          <a:p>
            <a:r>
              <a:rPr lang="en-US" dirty="0">
                <a:solidFill>
                  <a:srgbClr val="3399FF"/>
                </a:solidFill>
                <a:latin typeface="Arial" charset="0"/>
              </a:rPr>
              <a:t>Load balancing </a:t>
            </a:r>
            <a:r>
              <a:rPr lang="en-US" dirty="0">
                <a:latin typeface="Arial" charset="0"/>
              </a:rPr>
              <a:t>– share the work evenly among the Executors so that one is not heavily loaded.</a:t>
            </a:r>
          </a:p>
          <a:p>
            <a:r>
              <a:rPr lang="en-US" dirty="0">
                <a:solidFill>
                  <a:srgbClr val="3399FF"/>
                </a:solidFill>
                <a:latin typeface="Arial" charset="0"/>
              </a:rPr>
              <a:t>Synchronization</a:t>
            </a:r>
            <a:r>
              <a:rPr lang="en-US" dirty="0">
                <a:latin typeface="Arial" charset="0"/>
              </a:rPr>
              <a:t> – because each Executor works at its own pace, make sure Executors do not get too far ahead of the rest.</a:t>
            </a:r>
          </a:p>
          <a:p>
            <a:endParaRPr lang="en-US" dirty="0">
              <a:latin typeface="Arial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Arial" charset="0"/>
              </a:rPr>
              <a:t>NOTE</a:t>
            </a:r>
            <a:r>
              <a:rPr lang="en-US" dirty="0">
                <a:solidFill>
                  <a:srgbClr val="00B050"/>
                </a:solidFill>
                <a:latin typeface="Arial" charset="0"/>
              </a:rPr>
              <a:t>: If you use </a:t>
            </a:r>
            <a:r>
              <a:rPr lang="en-US" b="1" dirty="0">
                <a:solidFill>
                  <a:srgbClr val="00B050"/>
                </a:solidFill>
                <a:latin typeface="Arial" charset="0"/>
              </a:rPr>
              <a:t>Spark or MapReduce</a:t>
            </a:r>
            <a:r>
              <a:rPr lang="en-US" dirty="0">
                <a:solidFill>
                  <a:srgbClr val="00B050"/>
                </a:solidFill>
                <a:latin typeface="Arial" charset="0"/>
              </a:rPr>
              <a:t>, then all of these are done automagically for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46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676619"/>
          </a:xfrm>
        </p:spPr>
        <p:txBody>
          <a:bodyPr>
            <a:noAutofit/>
          </a:bodyPr>
          <a:lstStyle/>
          <a:p>
            <a:r>
              <a:rPr lang="en-US" sz="4400" dirty="0"/>
              <a:t>Partitioner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1093303"/>
            <a:ext cx="10465905" cy="481053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A partitioner partitions the input into chunks.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If input has 200,000,000,000 records and we partition this input into 200,000 chunks, then we have: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Number of partitions: 200,000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Size of each partition: 1,000,000 records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F0"/>
                </a:solidFill>
              </a:rPr>
              <a:t>200,000,000,000 = 200,000 x 1,000,000</a:t>
            </a:r>
          </a:p>
          <a:p>
            <a:pPr algn="l"/>
            <a:endParaRPr lang="en-US" sz="2800" b="1" dirty="0">
              <a:solidFill>
                <a:srgbClr val="0070C0"/>
              </a:solidFill>
            </a:endParaRP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Typically, a chunk (1,000,000 records) becomes a unit of parallelism.</a:t>
            </a:r>
          </a:p>
          <a:p>
            <a:pPr algn="l"/>
            <a:endParaRPr lang="en-US" sz="2800" b="1" dirty="0">
              <a:solidFill>
                <a:srgbClr val="0070C0"/>
              </a:solidFill>
            </a:endParaRPr>
          </a:p>
          <a:p>
            <a:pPr algn="l"/>
            <a:r>
              <a:rPr lang="en-US" sz="2800" b="1" dirty="0">
                <a:solidFill>
                  <a:srgbClr val="0070C0"/>
                </a:solidFill>
              </a:rPr>
              <a:t>Chunk = Partition</a:t>
            </a: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83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b="1" dirty="0"/>
              <a:t>Benefits of Parallel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1093303"/>
            <a:ext cx="10465905" cy="481053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Parallel computing models the real world</a:t>
            </a:r>
            <a:r>
              <a:rPr lang="en-US" dirty="0"/>
              <a:t>. The world around us isn't serial and sequential: many things happen at the same 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Saves time</a:t>
            </a:r>
            <a:r>
              <a:rPr lang="en-US" dirty="0"/>
              <a:t>. Serial/sequential computing forces fast processors to do things inefficiently.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Saves money</a:t>
            </a:r>
            <a:r>
              <a:rPr lang="en-US" dirty="0"/>
              <a:t>. By saving time, parallel computing makes things cheaper and faster.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Solve more complex or larger problems</a:t>
            </a:r>
            <a:r>
              <a:rPr lang="en-US" dirty="0"/>
              <a:t> by partitioning them into smaller problems.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Solve Larger Problems in a short period of 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Leverage all available resources.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70C0"/>
              </a:solidFill>
            </a:endParaRPr>
          </a:p>
          <a:p>
            <a:pPr algn="l"/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294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9DCC-362B-034D-8F27-FD123F2A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853" y="416684"/>
            <a:ext cx="9144000" cy="487777"/>
          </a:xfrm>
        </p:spPr>
        <p:txBody>
          <a:bodyPr>
            <a:noAutofit/>
          </a:bodyPr>
          <a:lstStyle/>
          <a:p>
            <a:r>
              <a:rPr lang="en-US" sz="3600" b="1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605A-59EC-A746-9EB4-C68EDC360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047" y="1093303"/>
            <a:ext cx="10465905" cy="481053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Introduction to Parallel Computing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https://www.geeksforgeeks.org/introduction-to-parallel-computing/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Introduction: Parallelism = Opportunities + Challenges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https://</a:t>
            </a:r>
            <a:r>
              <a:rPr lang="en-US" dirty="0" err="1"/>
              <a:t>courses.cs.washington.edu</a:t>
            </a:r>
            <a:r>
              <a:rPr lang="en-US" dirty="0"/>
              <a:t>/courses/csep524/07sp/poppChaper1.pdf</a:t>
            </a:r>
          </a:p>
        </p:txBody>
      </p:sp>
    </p:spTree>
    <p:extLst>
      <p:ext uri="{BB962C8B-B14F-4D97-AF65-F5344CB8AC3E}">
        <p14:creationId xmlns:p14="http://schemas.microsoft.com/office/powerpoint/2010/main" val="174078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1925</TotalTime>
  <Words>1452</Words>
  <Application>Microsoft Macintosh PowerPoint</Application>
  <PresentationFormat>Widescreen</PresentationFormat>
  <Paragraphs>285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Office Theme</vt:lpstr>
      <vt:lpstr>Understanding  Parallelism &amp; Concurrency (informal introduction)</vt:lpstr>
      <vt:lpstr>Concurrency &amp; Parallelism (informal definition):</vt:lpstr>
      <vt:lpstr>Parallelism</vt:lpstr>
      <vt:lpstr>Parallelism</vt:lpstr>
      <vt:lpstr>Parallelism</vt:lpstr>
      <vt:lpstr>Birthday Example</vt:lpstr>
      <vt:lpstr>What is our Data?</vt:lpstr>
      <vt:lpstr>Birthday Example …</vt:lpstr>
      <vt:lpstr>Processing Data? One Executor: Alex Buy item-1, then item-2, then item-3, … All is done in sequence: No Parallelism yet.</vt:lpstr>
      <vt:lpstr>Birthday Example …</vt:lpstr>
      <vt:lpstr>Processing Data? 10 parallel executors Each executor operates in parallel &amp; independently</vt:lpstr>
      <vt:lpstr>Birthday Example …</vt:lpstr>
      <vt:lpstr>Processing Data? 100 parallel executors Each executor operates in parallel &amp; independently</vt:lpstr>
      <vt:lpstr>Birthday Example …</vt:lpstr>
      <vt:lpstr>Processing Data? 1000 parallel executors Each executor operates in parallel &amp; independently</vt:lpstr>
      <vt:lpstr>How do we write  parallel programs?</vt:lpstr>
      <vt:lpstr>Data parallelism</vt:lpstr>
      <vt:lpstr>Data parallelism</vt:lpstr>
      <vt:lpstr>Parallelism requires Coordination</vt:lpstr>
      <vt:lpstr>Partitioner</vt:lpstr>
      <vt:lpstr>Benefits of Parallel Computing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 Parallelism</dc:title>
  <dc:creator>Parsian, Mahmoud</dc:creator>
  <cp:lastModifiedBy>Parsian, Mahmoud</cp:lastModifiedBy>
  <cp:revision>27</cp:revision>
  <dcterms:created xsi:type="dcterms:W3CDTF">2022-03-28T18:19:17Z</dcterms:created>
  <dcterms:modified xsi:type="dcterms:W3CDTF">2022-04-01T00:16:28Z</dcterms:modified>
</cp:coreProperties>
</file>