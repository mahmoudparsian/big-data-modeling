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4"/>
  </p:notesMasterIdLst>
  <p:sldIdLst>
    <p:sldId id="256" r:id="rId2"/>
    <p:sldId id="257" r:id="rId3"/>
    <p:sldId id="265" r:id="rId4"/>
    <p:sldId id="266" r:id="rId5"/>
    <p:sldId id="267" r:id="rId6"/>
    <p:sldId id="258" r:id="rId7"/>
    <p:sldId id="259" r:id="rId8"/>
    <p:sldId id="260" r:id="rId9"/>
    <p:sldId id="261" r:id="rId10"/>
    <p:sldId id="262" r:id="rId11"/>
    <p:sldId id="263" r:id="rId12"/>
    <p:sldId id="296" r:id="rId13"/>
    <p:sldId id="264" r:id="rId14"/>
    <p:sldId id="29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9" r:id="rId26"/>
    <p:sldId id="278" r:id="rId27"/>
    <p:sldId id="280" r:id="rId28"/>
    <p:sldId id="281" r:id="rId29"/>
    <p:sldId id="283" r:id="rId30"/>
    <p:sldId id="282" r:id="rId31"/>
    <p:sldId id="284" r:id="rId32"/>
    <p:sldId id="285" r:id="rId33"/>
    <p:sldId id="286" r:id="rId34"/>
    <p:sldId id="287" r:id="rId35"/>
    <p:sldId id="289" r:id="rId36"/>
    <p:sldId id="290" r:id="rId37"/>
    <p:sldId id="291" r:id="rId38"/>
    <p:sldId id="292" r:id="rId39"/>
    <p:sldId id="293" r:id="rId40"/>
    <p:sldId id="294" r:id="rId41"/>
    <p:sldId id="288" r:id="rId42"/>
    <p:sldId id="295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6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57A593-F132-C04E-9C49-CA5A873C54F5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F9647E-B913-3349-9A8F-DB1D64FE4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937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600" y="3991335"/>
            <a:ext cx="9144000" cy="1395551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5600" y="5386885"/>
            <a:ext cx="9144000" cy="55671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Google Shape;11;p9">
            <a:extLst>
              <a:ext uri="{FF2B5EF4-FFF2-40B4-BE49-F238E27FC236}">
                <a16:creationId xmlns:a16="http://schemas.microsoft.com/office/drawing/2014/main" id="{F562F608-3FAF-F944-B5A5-1195B295175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5777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06843"/>
            <a:ext cx="9144000" cy="3070496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89609"/>
            <a:ext cx="9144000" cy="623015"/>
          </a:xfrm>
        </p:spPr>
        <p:txBody>
          <a:bodyPr/>
          <a:lstStyle>
            <a:lvl1pPr marL="0" indent="0" algn="ctr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9843B12E-2970-164E-96C4-CA89A1450BB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2093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B50043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42BD6F60-39BB-9B49-8AE1-7982FC4CA8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4695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5" name="Google Shape;19;p11">
            <a:extLst>
              <a:ext uri="{FF2B5EF4-FFF2-40B4-BE49-F238E27FC236}">
                <a16:creationId xmlns:a16="http://schemas.microsoft.com/office/drawing/2014/main" id="{56B763D1-B56A-134D-84FC-A52CB9F6A5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653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434167"/>
            <a:ext cx="5365749" cy="539751"/>
          </a:xfrm>
        </p:spPr>
        <p:txBody>
          <a:bodyPr anchor="t">
            <a:normAutofit/>
          </a:bodyPr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11297"/>
            <a:ext cx="10515600" cy="40656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D1EBC6D6-B7A7-8349-BB7D-34239AFEBBC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4590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851" y="976617"/>
            <a:ext cx="10515600" cy="1003801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8851" y="378638"/>
            <a:ext cx="5365749" cy="539751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851" y="2111297"/>
            <a:ext cx="10515600" cy="2055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FE203F3-27C1-6942-B96E-19FD27429AF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294496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59433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695" y="1081798"/>
            <a:ext cx="5365271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584" y="542605"/>
            <a:ext cx="536574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695" y="2756452"/>
            <a:ext cx="11071829" cy="3420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960ADD97-4AD0-0A42-9114-EBC9F2ED478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9509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9" y="1174027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7" y="634834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634834"/>
            <a:ext cx="6713723" cy="279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294496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05549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7" y="3586056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3046863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0" y="3046863"/>
            <a:ext cx="6713723" cy="279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15;p10">
            <a:extLst>
              <a:ext uri="{FF2B5EF4-FFF2-40B4-BE49-F238E27FC236}">
                <a16:creationId xmlns:a16="http://schemas.microsoft.com/office/drawing/2014/main" id="{8A3194B9-CC43-E546-A5E4-9AD4D155F1B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8185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9" y="1620991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7" y="1081798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1081799"/>
            <a:ext cx="6713723" cy="234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876801" y="3667447"/>
            <a:ext cx="6713723" cy="234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A7E0C015-0061-4141-B120-DD81D01FA9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8556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0128" y="1464895"/>
            <a:ext cx="6713723" cy="83252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0128" y="85083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0128" y="2371725"/>
            <a:ext cx="6713723" cy="31797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" y="0"/>
            <a:ext cx="3839572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DE36E4F5-5D6D-DF48-B7A4-0AC093DE605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8024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633" y="1110976"/>
            <a:ext cx="5876111" cy="13638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5632" y="533317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633" y="2512705"/>
            <a:ext cx="5876111" cy="33086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42744" y="1600200"/>
            <a:ext cx="3657600" cy="36576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24FE092B-3872-D545-8104-23189B691C1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2544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337" y="1078391"/>
            <a:ext cx="3665612" cy="157109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24" y="2671110"/>
            <a:ext cx="3665939" cy="539751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9675" y="1078391"/>
            <a:ext cx="3352799" cy="5000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50866" y="1078393"/>
            <a:ext cx="3352799" cy="50009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0CAD2A9F-C0BE-1D4C-9CB5-9F353CB7EC5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25697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6" y="1081242"/>
            <a:ext cx="8789076" cy="1082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54204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476" y="2493845"/>
            <a:ext cx="4275325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115337" y="2493845"/>
            <a:ext cx="4275325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EF772DB-EBED-AC4E-A6B4-D6788D3D616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81832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9067" y="1620992"/>
            <a:ext cx="3665612" cy="157109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89067" y="3187150"/>
            <a:ext cx="3665939" cy="539751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05" y="447391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31305" y="2401603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DD728A0-FBA7-A944-9FC3-D964968E5F8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31305" y="4349939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64431A57-6760-9247-9E2A-0A0473D22C6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25461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7" y="1081242"/>
            <a:ext cx="8621925" cy="1082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54204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476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78752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56028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96661309-1A64-9B40-8E09-EB7C41D02D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58065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038" y="361423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50287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7271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31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231" y="3424738"/>
            <a:ext cx="3535680" cy="2855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0356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1316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11316" y="3471305"/>
            <a:ext cx="3535680" cy="2798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3508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94468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94468" y="3471305"/>
            <a:ext cx="3535680" cy="2798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7" name="Google Shape;30;p13">
            <a:extLst>
              <a:ext uri="{FF2B5EF4-FFF2-40B4-BE49-F238E27FC236}">
                <a16:creationId xmlns:a16="http://schemas.microsoft.com/office/drawing/2014/main" id="{4B5F8AAA-BFCE-4243-BCCA-044109B0E3F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6199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038" y="361423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50287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7271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31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12F6D154-7CC0-C540-AA65-63CBA5A000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4514" y="3587178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0356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1316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2EB95A51-2BFE-CF45-AF89-35310B6F255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27599" y="3587177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3508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94468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50A9B9C3-F6C3-E14E-B1BC-001989E7BF8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610751" y="3587175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0" name="Google Shape;30;p13">
            <a:extLst>
              <a:ext uri="{FF2B5EF4-FFF2-40B4-BE49-F238E27FC236}">
                <a16:creationId xmlns:a16="http://schemas.microsoft.com/office/drawing/2014/main" id="{F6FCBC8F-7CCE-2C4C-AAF7-4952D113F07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19975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4568" y="281392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41798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605" y="2277977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9474" y="2588653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EF3CB1-11C9-364F-BB5B-A911A25998F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58862" y="3591434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2365" y="2277975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B1F5A97-5AAD-B944-ACE3-759382926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61978" y="2591402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D467BC90-669B-E145-A934-88F0093AEA0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51366" y="3594183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0125" y="2277975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20F56272-45A8-464E-A2EF-92E963522C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84993" y="2591402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91AC9B6C-283F-8246-AA1C-A18DA4F7E34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74381" y="3594183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6ABE50-ACB3-F540-B07F-B7E5E31B4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07883" y="2277978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AEEAAA06-A9FA-5C44-BDE5-45762EF595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92753" y="2588653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11">
            <a:extLst>
              <a:ext uri="{FF2B5EF4-FFF2-40B4-BE49-F238E27FC236}">
                <a16:creationId xmlns:a16="http://schemas.microsoft.com/office/drawing/2014/main" id="{AB995A1D-84D4-B04C-B7C1-C51D005CC92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482141" y="3591434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9" name="Google Shape;30;p13">
            <a:extLst>
              <a:ext uri="{FF2B5EF4-FFF2-40B4-BE49-F238E27FC236}">
                <a16:creationId xmlns:a16="http://schemas.microsoft.com/office/drawing/2014/main" id="{846B281D-577A-2847-8901-3BC5DDAA2F4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71245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467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Google Shape;30;p13">
            <a:extLst>
              <a:ext uri="{FF2B5EF4-FFF2-40B4-BE49-F238E27FC236}">
                <a16:creationId xmlns:a16="http://schemas.microsoft.com/office/drawing/2014/main" id="{52095448-BA23-8B4C-9877-FF23F4EB99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60453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Google Shape;30;p13">
            <a:extLst>
              <a:ext uri="{FF2B5EF4-FFF2-40B4-BE49-F238E27FC236}">
                <a16:creationId xmlns:a16="http://schemas.microsoft.com/office/drawing/2014/main" id="{E74E0DDA-6146-E846-9C90-721AC3DB063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8502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30;p13">
            <a:extLst>
              <a:ext uri="{FF2B5EF4-FFF2-40B4-BE49-F238E27FC236}">
                <a16:creationId xmlns:a16="http://schemas.microsoft.com/office/drawing/2014/main" id="{EF4D445F-0EE7-E74E-B0B3-D782FE7112F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43844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DCDAFC0-B225-9546-961B-DC5B9BDD748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07041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EE4A9134-7030-7749-89EA-6705EE97561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1919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3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72127"/>
            <a:ext cx="10515600" cy="4604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C6A4C-6C9C-1247-9E17-AAB2A147EAAC}"/>
              </a:ext>
            </a:extLst>
          </p:cNvPr>
          <p:cNvSpPr txBox="1"/>
          <p:nvPr/>
        </p:nvSpPr>
        <p:spPr>
          <a:xfrm>
            <a:off x="2052578" y="72534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19904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267" b="0" i="0" kern="1200">
          <a:solidFill>
            <a:schemeClr val="tx1"/>
          </a:solidFill>
          <a:latin typeface="Franklin Gothic Medium Cond" panose="020B0606030402020204" pitchFamily="34" charset="0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1000"/>
        </a:spcBef>
        <a:buClr>
          <a:schemeClr val="bg2">
            <a:lumMod val="25000"/>
          </a:schemeClr>
        </a:buClr>
        <a:buSzPct val="85000"/>
        <a:buFont typeface="Arial" panose="020B0604020202020204" pitchFamily="34" charset="0"/>
        <a:buChar char="•"/>
        <a:defRPr sz="2667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buClr>
          <a:schemeClr val="bg2">
            <a:lumMod val="25000"/>
          </a:schemeClr>
        </a:buClr>
        <a:buSzPct val="85000"/>
        <a:buFont typeface="Courier New" panose="02070309020205020404" pitchFamily="49" charset="0"/>
        <a:buChar char="o"/>
        <a:defRPr sz="2400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buClr>
          <a:schemeClr val="bg2">
            <a:lumMod val="25000"/>
          </a:schemeClr>
        </a:buClr>
        <a:buSzPct val="85000"/>
        <a:buFont typeface="Wingdings" pitchFamily="2" charset="2"/>
        <a:buChar char="§"/>
        <a:defRPr sz="2133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67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67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8CCEB-BFDA-674C-86B0-F015AF4D0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027" y="1637414"/>
            <a:ext cx="9144000" cy="1970099"/>
          </a:xfrm>
        </p:spPr>
        <p:txBody>
          <a:bodyPr>
            <a:normAutofit/>
          </a:bodyPr>
          <a:lstStyle/>
          <a:p>
            <a:r>
              <a:rPr lang="en-US" dirty="0"/>
              <a:t>MapReduce Example:</a:t>
            </a:r>
            <a:br>
              <a:rPr lang="en-US" dirty="0"/>
            </a:br>
            <a:r>
              <a:rPr lang="en-US" dirty="0"/>
              <a:t> World Temperature </a:t>
            </a:r>
            <a:br>
              <a:rPr lang="en-US" dirty="0"/>
            </a:br>
            <a:r>
              <a:rPr lang="en-US" sz="3100" dirty="0"/>
              <a:t>(with combiners)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8B0852-494A-7C4A-AF8E-1BC0B1CE8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027" y="4213511"/>
            <a:ext cx="9144000" cy="896007"/>
          </a:xfrm>
        </p:spPr>
        <p:txBody>
          <a:bodyPr/>
          <a:lstStyle/>
          <a:p>
            <a:r>
              <a:rPr lang="en-US" dirty="0"/>
              <a:t>Mahmoud Parsian</a:t>
            </a:r>
          </a:p>
          <a:p>
            <a:r>
              <a:rPr lang="en-US" sz="1600" dirty="0"/>
              <a:t>Ph.D. in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4222941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Average Temperature per 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Input record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&lt;country&gt;&lt;,&gt;&lt;city&gt;&lt;,&gt;&lt;temperature&gt;</a:t>
            </a:r>
          </a:p>
          <a:p>
            <a:r>
              <a:rPr lang="en-US" dirty="0"/>
              <a:t>Example records: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USA,Cupertino,73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USA,Cupertino,73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CANADA,Toronto,29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CANADA,Toronto,48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INDIA,Mumbai,68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96486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job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Input path</a:t>
            </a:r>
          </a:p>
          <a:p>
            <a:r>
              <a:rPr lang="en-US" sz="4000" dirty="0"/>
              <a:t>Output path</a:t>
            </a:r>
          </a:p>
          <a:p>
            <a:r>
              <a:rPr lang="en-US" sz="4000" dirty="0"/>
              <a:t>map() function</a:t>
            </a:r>
          </a:p>
          <a:p>
            <a:r>
              <a:rPr lang="en-US" sz="4000" dirty="0"/>
              <a:t>reduce() function</a:t>
            </a:r>
          </a:p>
          <a:p>
            <a:r>
              <a:rPr lang="en-US" sz="4000" dirty="0"/>
              <a:t>combine() function [OPTIONAL]</a:t>
            </a:r>
          </a:p>
        </p:txBody>
      </p:sp>
    </p:spTree>
    <p:extLst>
      <p:ext uri="{BB962C8B-B14F-4D97-AF65-F5344CB8AC3E}">
        <p14:creationId xmlns:p14="http://schemas.microsoft.com/office/powerpoint/2010/main" val="1092344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job: Input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Input path: </a:t>
            </a:r>
            <a:r>
              <a:rPr lang="en-US" sz="4000" b="1" dirty="0">
                <a:highlight>
                  <a:srgbClr val="C0C0C0"/>
                </a:highlight>
              </a:rPr>
              <a:t>s3://</a:t>
            </a:r>
            <a:r>
              <a:rPr lang="en-US" sz="4000" b="1" dirty="0" err="1">
                <a:highlight>
                  <a:srgbClr val="C0C0C0"/>
                </a:highlight>
              </a:rPr>
              <a:t>my_bucket</a:t>
            </a:r>
            <a:r>
              <a:rPr lang="en-US" sz="4000" b="1" dirty="0">
                <a:highlight>
                  <a:srgbClr val="C0C0C0"/>
                </a:highlight>
              </a:rPr>
              <a:t>/data/</a:t>
            </a:r>
          </a:p>
          <a:p>
            <a:pPr marL="0" indent="0">
              <a:buNone/>
            </a:pPr>
            <a:r>
              <a:rPr lang="en-US" sz="4000" dirty="0"/>
              <a:t>s3://</a:t>
            </a:r>
            <a:r>
              <a:rPr lang="en-US" sz="4000" dirty="0" err="1"/>
              <a:t>my_bucket</a:t>
            </a:r>
            <a:r>
              <a:rPr lang="en-US" sz="4000" dirty="0"/>
              <a:t>/data/</a:t>
            </a:r>
            <a:r>
              <a:rPr lang="en-US" sz="4000" dirty="0" err="1"/>
              <a:t>usa.txt</a:t>
            </a:r>
            <a:endParaRPr lang="en-US" sz="4000" dirty="0"/>
          </a:p>
          <a:p>
            <a:pPr marL="0" indent="0">
              <a:buNone/>
            </a:pPr>
            <a:r>
              <a:rPr lang="en-US" sz="4000" dirty="0"/>
              <a:t>s3://</a:t>
            </a:r>
            <a:r>
              <a:rPr lang="en-US" sz="4000" dirty="0" err="1"/>
              <a:t>my_bucket</a:t>
            </a:r>
            <a:r>
              <a:rPr lang="en-US" sz="4000" dirty="0"/>
              <a:t>/data/</a:t>
            </a:r>
            <a:r>
              <a:rPr lang="en-US" sz="4000" dirty="0" err="1"/>
              <a:t>canada.txt</a:t>
            </a:r>
            <a:endParaRPr lang="en-US" sz="4000" dirty="0"/>
          </a:p>
          <a:p>
            <a:pPr marL="0" indent="0">
              <a:buNone/>
            </a:pPr>
            <a:r>
              <a:rPr lang="en-US" sz="4000" dirty="0"/>
              <a:t>s3://</a:t>
            </a:r>
            <a:r>
              <a:rPr lang="en-US" sz="4000" dirty="0" err="1"/>
              <a:t>my_bucket</a:t>
            </a:r>
            <a:r>
              <a:rPr lang="en-US" sz="4000" dirty="0"/>
              <a:t>/data/</a:t>
            </a:r>
            <a:r>
              <a:rPr lang="en-US" sz="4000" dirty="0" err="1"/>
              <a:t>india.txt</a:t>
            </a:r>
            <a:endParaRPr lang="en-US" sz="4000" dirty="0"/>
          </a:p>
          <a:p>
            <a:pPr marL="0" indent="0">
              <a:buNone/>
            </a:pPr>
            <a:r>
              <a:rPr lang="en-US" sz="4000" dirty="0"/>
              <a:t>…</a:t>
            </a:r>
          </a:p>
          <a:p>
            <a:endParaRPr lang="en-US" sz="40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5557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job: Output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Output path: </a:t>
            </a:r>
            <a:r>
              <a:rPr lang="en-US" sz="4000" b="1" dirty="0">
                <a:highlight>
                  <a:srgbClr val="C0C0C0"/>
                </a:highlight>
              </a:rPr>
              <a:t>s3://</a:t>
            </a:r>
            <a:r>
              <a:rPr lang="en-US" sz="4000" b="1" dirty="0" err="1">
                <a:highlight>
                  <a:srgbClr val="C0C0C0"/>
                </a:highlight>
              </a:rPr>
              <a:t>my_bucket</a:t>
            </a:r>
            <a:r>
              <a:rPr lang="en-US" sz="4000" b="1" dirty="0">
                <a:highlight>
                  <a:srgbClr val="C0C0C0"/>
                </a:highlight>
              </a:rPr>
              <a:t>/output/</a:t>
            </a:r>
          </a:p>
          <a:p>
            <a:pPr marL="0" indent="0">
              <a:buNone/>
            </a:pPr>
            <a:r>
              <a:rPr lang="en-US" sz="4000" dirty="0"/>
              <a:t>s3://</a:t>
            </a:r>
            <a:r>
              <a:rPr lang="en-US" sz="4000" dirty="0" err="1"/>
              <a:t>my_bucket</a:t>
            </a:r>
            <a:r>
              <a:rPr lang="en-US" sz="4000" dirty="0"/>
              <a:t>/output/_SUCCESS</a:t>
            </a:r>
          </a:p>
          <a:p>
            <a:pPr marL="0" indent="0">
              <a:buNone/>
            </a:pPr>
            <a:r>
              <a:rPr lang="en-US" sz="4000" dirty="0"/>
              <a:t>s3://</a:t>
            </a:r>
            <a:r>
              <a:rPr lang="en-US" sz="4000" dirty="0" err="1"/>
              <a:t>my_bucket</a:t>
            </a:r>
            <a:r>
              <a:rPr lang="en-US" sz="4000" dirty="0"/>
              <a:t>/output/part1</a:t>
            </a:r>
          </a:p>
          <a:p>
            <a:pPr marL="0" indent="0">
              <a:buNone/>
            </a:pPr>
            <a:r>
              <a:rPr lang="en-US" sz="4000" dirty="0"/>
              <a:t>s3://</a:t>
            </a:r>
            <a:r>
              <a:rPr lang="en-US" sz="4000" dirty="0" err="1"/>
              <a:t>my_bucket</a:t>
            </a:r>
            <a:r>
              <a:rPr lang="en-US" sz="4000" dirty="0"/>
              <a:t>/output/part2</a:t>
            </a:r>
          </a:p>
          <a:p>
            <a:pPr marL="0" indent="0">
              <a:buNone/>
            </a:pPr>
            <a:r>
              <a:rPr lang="en-US" sz="4000" dirty="0"/>
              <a:t>s3://</a:t>
            </a:r>
            <a:r>
              <a:rPr lang="en-US" sz="4000" dirty="0" err="1"/>
              <a:t>my_bucket</a:t>
            </a:r>
            <a:r>
              <a:rPr lang="en-US" sz="4000" dirty="0"/>
              <a:t>/output/part3</a:t>
            </a:r>
          </a:p>
          <a:p>
            <a:pPr marL="0" indent="0">
              <a:buNone/>
            </a:pPr>
            <a:r>
              <a:rPr lang="en-US" sz="4000" dirty="0"/>
              <a:t>…</a:t>
            </a:r>
          </a:p>
          <a:p>
            <a:endParaRPr lang="en-US" sz="4000" b="1" dirty="0"/>
          </a:p>
          <a:p>
            <a:endParaRPr lang="en-US" sz="4000" b="1" dirty="0"/>
          </a:p>
          <a:p>
            <a:endParaRPr lang="en-US" sz="4000" b="1" dirty="0"/>
          </a:p>
          <a:p>
            <a:endParaRPr lang="en-US" sz="4000" b="1" dirty="0"/>
          </a:p>
          <a:p>
            <a:endParaRPr lang="en-US" sz="4000" b="1" dirty="0"/>
          </a:p>
          <a:p>
            <a:endParaRPr lang="en-US" sz="40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95282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to mappers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# input to mappers as (key, value)</a:t>
            </a:r>
          </a:p>
          <a:p>
            <a:pPr marL="0" indent="0">
              <a:buNone/>
            </a:pPr>
            <a:r>
              <a:rPr lang="en-US" dirty="0"/>
              <a:t># key: is a record number, to be ignored by mappers </a:t>
            </a:r>
          </a:p>
          <a:p>
            <a:pPr marL="0" indent="0">
              <a:buNone/>
            </a:pPr>
            <a:r>
              <a:rPr lang="en-US" dirty="0"/>
              <a:t># value: entire record as: “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USA,Cupertino,73”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map(key, value) {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&lt;mapper logic&gt;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6471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Mapper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key: is a record number, to be ignored by mappers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value: entire record as: “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USA,Cupertino,73”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map(key, value)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# tokenize input record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tokens = value.split(“,”)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country = tokens[0]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city = tokens[1]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temperature = tokens[2]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# create a new key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new_key = country + “,” + city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emit(new_key, temperature)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 will create the following (K,V) pair: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“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USA,Cupertino”, 73)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885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if we want to exclude </a:t>
            </a:r>
            <a:br>
              <a:rPr lang="en-US" dirty="0"/>
            </a:br>
            <a:r>
              <a:rPr lang="en-US" dirty="0"/>
              <a:t>temperatures less than 0: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key: is a record number, to be ignored by mappers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value: entire record as: “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CANADA,Toronto,-28”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map(key, value)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tokens =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value.split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(“,”)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country = tokens[0]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city = tokens[1]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temperature = tokens[2]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new_key = country + “,” + city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# apply filter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if (temperature &gt;= 0)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emit(new_key, temperature)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}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 will NOT create any (K,V) pair (since </a:t>
            </a: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temperature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is negative)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314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if we want to find average </a:t>
            </a:r>
            <a:br>
              <a:rPr lang="en-US" dirty="0"/>
            </a:br>
            <a:r>
              <a:rPr lang="en-US" dirty="0"/>
              <a:t>temperatures by country as well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key: is a record number, to be ignored by mappers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value: entire record as: “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CANADA,Toronto,38”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map(key, value)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tokens =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value.split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(“,”)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country = tokens[0]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city = tokens[1]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temperature = tokens[2]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new_key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country + “,” + city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if (temperature &gt;= 0)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# create two (key, value) pairs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emit(</a:t>
            </a:r>
            <a:r>
              <a:rPr lang="en-US" sz="1800" b="1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new_key</a:t>
            </a: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temperature)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emit(country, temperature)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}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 will create the following (K,V) pairs: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18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CANADA,Toronto</a:t>
            </a: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38)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(“CANADA”, 38)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968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After ALL mappers are done:</a:t>
            </a:r>
            <a:br>
              <a:rPr lang="en-US" dirty="0"/>
            </a:br>
            <a:r>
              <a:rPr lang="en-US" dirty="0"/>
              <a:t> Sort &amp; Shuffle will take place automagically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Sort &amp; Shuffle will create the following output (which will be fed to reducers):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[45, 44, 90,…, 87])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(“USA”, [20, 40, 80, 77, 33, 25, …, 38])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r>
              <a:rPr lang="en-US" b="1" u="sng" dirty="0">
                <a:solidFill>
                  <a:schemeClr val="tx1"/>
                </a:solidFill>
              </a:rPr>
              <a:t>Sort &amp; Shuffle’s</a:t>
            </a:r>
            <a:r>
              <a:rPr lang="en-US" b="1" u="sng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u="sng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 is:</a:t>
            </a:r>
          </a:p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(“key-as-string”, [V1, V2, V3, …])</a:t>
            </a:r>
          </a:p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 V1, V2, V3, … are temperatures</a:t>
            </a:r>
          </a:p>
        </p:txBody>
      </p:sp>
    </p:spTree>
    <p:extLst>
      <p:ext uri="{BB962C8B-B14F-4D97-AF65-F5344CB8AC3E}">
        <p14:creationId xmlns:p14="http://schemas.microsoft.com/office/powerpoint/2010/main" val="2405369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6627"/>
          </a:xfrm>
        </p:spPr>
        <p:txBody>
          <a:bodyPr/>
          <a:lstStyle/>
          <a:p>
            <a:r>
              <a:rPr lang="en-US" dirty="0"/>
              <a:t>Reducer function (longer version)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752"/>
            <a:ext cx="10515600" cy="4905211"/>
          </a:xfrm>
        </p:spPr>
        <p:txBody>
          <a:bodyPr>
            <a:normAutofit lnSpcReduction="10000"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key: is a string, like “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”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values: [V1, V2, V3, …]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reduce(key, values)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total = 0.0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count = 0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for v in values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total += v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count += 1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average = total / count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emit(key, average)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18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67.80)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780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6627"/>
          </a:xfrm>
        </p:spPr>
        <p:txBody>
          <a:bodyPr/>
          <a:lstStyle/>
          <a:p>
            <a:r>
              <a:rPr lang="en-US" dirty="0"/>
              <a:t>Reducer function (shorter version)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752"/>
            <a:ext cx="10515600" cy="4905211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key: is a string, like “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”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values: [V1, V2, V3, …]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reduce(key, values)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total = sum(values)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count =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(values)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average = total / count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emit(key, average)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18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67.80)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886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83"/>
            <a:ext cx="10515600" cy="1093076"/>
          </a:xfrm>
        </p:spPr>
        <p:txBody>
          <a:bodyPr>
            <a:normAutofit fontScale="90000"/>
          </a:bodyPr>
          <a:lstStyle/>
          <a:p>
            <a:r>
              <a:rPr lang="en-US" dirty="0"/>
              <a:t>Reducer function: (longer version)</a:t>
            </a:r>
            <a:br>
              <a:rPr lang="en-US" dirty="0"/>
            </a:br>
            <a:r>
              <a:rPr lang="en-US" dirty="0"/>
              <a:t> what if we want to exclude averages less than 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7160"/>
            <a:ext cx="10515600" cy="4999804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key: is a string, like “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”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values: [V1, V2, V3, …]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reduce(key, values)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total = 0.0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count = 0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for v in values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total += v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count += 1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average = total / count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# apply a filter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if (average &gt;= 25)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emit(key, average)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18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67.80)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569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83"/>
            <a:ext cx="10515600" cy="1093076"/>
          </a:xfrm>
        </p:spPr>
        <p:txBody>
          <a:bodyPr>
            <a:normAutofit fontScale="90000"/>
          </a:bodyPr>
          <a:lstStyle/>
          <a:p>
            <a:r>
              <a:rPr lang="en-US" dirty="0"/>
              <a:t>Reducer function: (shorter version)</a:t>
            </a:r>
            <a:br>
              <a:rPr lang="en-US" dirty="0"/>
            </a:br>
            <a:r>
              <a:rPr lang="en-US" dirty="0"/>
              <a:t> what if we want to exclude averages less than 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7160"/>
            <a:ext cx="10515600" cy="4999804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key: is a string, like “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”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values: [V1, V2, V3, …]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reduce(key, values)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total = sum(values)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count =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(values)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average = total / count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# apply a filter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if (average &gt;= 25)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emit(key, average)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18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67.80)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641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rmAutofit/>
          </a:bodyPr>
          <a:lstStyle/>
          <a:p>
            <a:r>
              <a:rPr lang="en-US" dirty="0"/>
              <a:t>What about Combiners?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752"/>
            <a:ext cx="10515600" cy="4905211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3600" b="1" dirty="0"/>
              <a:t>Combiner</a:t>
            </a:r>
            <a:r>
              <a:rPr lang="en-US" sz="3600" dirty="0"/>
              <a:t> is also known as “</a:t>
            </a:r>
            <a:r>
              <a:rPr lang="en-US" sz="3600" b="1" dirty="0"/>
              <a:t>Mini-Reducer</a:t>
            </a:r>
            <a:r>
              <a:rPr lang="en-US" sz="3600" dirty="0"/>
              <a:t>” that summarizes the mapper output record with the same Key before passing it to the Reducer. </a:t>
            </a: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40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678" y="365125"/>
            <a:ext cx="9638122" cy="954627"/>
          </a:xfrm>
        </p:spPr>
        <p:txBody>
          <a:bodyPr>
            <a:noAutofit/>
          </a:bodyPr>
          <a:lstStyle/>
          <a:p>
            <a:r>
              <a:rPr lang="en-US" sz="3600" dirty="0"/>
              <a:t>What about Combiners?</a:t>
            </a:r>
            <a:br>
              <a:rPr lang="en-US" sz="3600" dirty="0"/>
            </a:br>
            <a:r>
              <a:rPr lang="en-US" sz="3600" dirty="0"/>
              <a:t> (c, 3), (c, 6) are combined to (c, 9)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3DEE72CE-58F1-644E-9AB9-E52DE62EF4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0264" y="1432874"/>
            <a:ext cx="8430493" cy="5060000"/>
          </a:xfrm>
        </p:spPr>
      </p:pic>
    </p:spTree>
    <p:extLst>
      <p:ext uri="{BB962C8B-B14F-4D97-AF65-F5344CB8AC3E}">
        <p14:creationId xmlns:p14="http://schemas.microsoft.com/office/powerpoint/2010/main" val="1406568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0420"/>
          </a:xfrm>
        </p:spPr>
        <p:txBody>
          <a:bodyPr>
            <a:normAutofit fontScale="90000"/>
          </a:bodyPr>
          <a:lstStyle/>
          <a:p>
            <a:r>
              <a:rPr lang="en-US" dirty="0"/>
              <a:t>MapReduce without Combiners</a:t>
            </a:r>
          </a:p>
        </p:txBody>
      </p:sp>
      <p:pic>
        <p:nvPicPr>
          <p:cNvPr id="7" name="Content Placeholder 6" descr="Diagram&#10;&#10;Description automatically generated">
            <a:extLst>
              <a:ext uri="{FF2B5EF4-FFF2-40B4-BE49-F238E27FC236}">
                <a16:creationId xmlns:a16="http://schemas.microsoft.com/office/drawing/2014/main" id="{0B2B157C-FB79-0947-B72A-A1D85E5B43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0" y="944990"/>
            <a:ext cx="7154562" cy="5547884"/>
          </a:xfrm>
        </p:spPr>
      </p:pic>
    </p:spTree>
    <p:extLst>
      <p:ext uri="{BB962C8B-B14F-4D97-AF65-F5344CB8AC3E}">
        <p14:creationId xmlns:p14="http://schemas.microsoft.com/office/powerpoint/2010/main" val="29931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0420"/>
          </a:xfrm>
        </p:spPr>
        <p:txBody>
          <a:bodyPr>
            <a:normAutofit fontScale="90000"/>
          </a:bodyPr>
          <a:lstStyle/>
          <a:p>
            <a:r>
              <a:rPr lang="en-US" dirty="0"/>
              <a:t>MapReduce with Combiners</a:t>
            </a:r>
          </a:p>
        </p:txBody>
      </p:sp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10256F3D-4923-A34D-8254-E6E707AAA2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0519" y="815546"/>
            <a:ext cx="8118389" cy="5677328"/>
          </a:xfrm>
        </p:spPr>
      </p:pic>
    </p:spTree>
    <p:extLst>
      <p:ext uri="{BB962C8B-B14F-4D97-AF65-F5344CB8AC3E}">
        <p14:creationId xmlns:p14="http://schemas.microsoft.com/office/powerpoint/2010/main" val="1426930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rmAutofit/>
          </a:bodyPr>
          <a:lstStyle/>
          <a:p>
            <a:r>
              <a:rPr lang="en-US" dirty="0"/>
              <a:t>How do we write Combiners? For Averages?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752"/>
            <a:ext cx="10515600" cy="4905211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 need to write 3 functions: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map()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combine()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reduce()</a:t>
            </a:r>
          </a:p>
          <a:p>
            <a:pPr>
              <a:spcBef>
                <a:spcPts val="600"/>
              </a:spcBef>
            </a:pPr>
            <a:endParaRPr lang="en-US" sz="3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3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 note that average of an average is not an average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What does this mean?</a:t>
            </a:r>
          </a:p>
          <a:p>
            <a:pPr>
              <a:spcBef>
                <a:spcPts val="600"/>
              </a:spcBef>
            </a:pPr>
            <a:endParaRPr lang="en-US" sz="3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423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Average of an Average is not an Average</a:t>
            </a:r>
            <a:endParaRPr lang="en-US" sz="3600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752"/>
            <a:ext cx="10515600" cy="4905211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Let’s say we have 2 partitions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Partition-1: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6), (K, 7)</a:t>
            </a:r>
          </a:p>
          <a:p>
            <a:pPr lvl="1">
              <a:spcBef>
                <a:spcPts val="600"/>
              </a:spcBef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Average of Partition-1: (6+7)/2 = 6.5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Partition-2: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8)</a:t>
            </a:r>
          </a:p>
          <a:p>
            <a:pPr lvl="1">
              <a:spcBef>
                <a:spcPts val="600"/>
              </a:spcBef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Average of Partition-2: (8)/1 = 8.0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Average of Partition-1 and Partition-2:</a:t>
            </a:r>
          </a:p>
          <a:p>
            <a:pPr lvl="1">
              <a:spcBef>
                <a:spcPts val="600"/>
              </a:spcBef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(6.5 + 8.0)/2 = </a:t>
            </a: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7.25</a:t>
            </a:r>
          </a:p>
          <a:p>
            <a:pPr lvl="1">
              <a:spcBef>
                <a:spcPts val="600"/>
              </a:spcBef>
            </a:pP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 get a wrong result since AVG function is not an associative function</a:t>
            </a:r>
          </a:p>
          <a:p>
            <a:pPr lvl="1">
              <a:spcBef>
                <a:spcPts val="600"/>
              </a:spcBef>
            </a:pPr>
            <a:endParaRPr lang="en-US" sz="2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Average(6, 7, 8) = (6+7+8)/3 = 21/3 = </a:t>
            </a:r>
            <a:r>
              <a:rPr lang="en-US" sz="24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7.0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b="1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Hmmmmmm</a:t>
            </a:r>
            <a:r>
              <a:rPr lang="en-US" sz="24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 How to solve this?</a:t>
            </a:r>
          </a:p>
        </p:txBody>
      </p:sp>
    </p:spTree>
    <p:extLst>
      <p:ext uri="{BB962C8B-B14F-4D97-AF65-F5344CB8AC3E}">
        <p14:creationId xmlns:p14="http://schemas.microsoft.com/office/powerpoint/2010/main" val="31207887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Make average of an average as an average</a:t>
            </a:r>
            <a:endParaRPr lang="en-US" sz="3600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752"/>
            <a:ext cx="10515600" cy="4905211"/>
          </a:xfrm>
        </p:spPr>
        <p:txBody>
          <a:bodyPr>
            <a:normAutofit lnSpcReduction="10000"/>
          </a:bodyPr>
          <a:lstStyle/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Let’s say we have 2 partitions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Partition-1: 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6), (K, 7)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Partition-2: 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8)</a:t>
            </a:r>
          </a:p>
          <a:p>
            <a:pPr>
              <a:spcBef>
                <a:spcPts val="600"/>
              </a:spcBef>
            </a:pPr>
            <a:endParaRPr lang="en-US" sz="32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Change map() to create </a:t>
            </a:r>
            <a:r>
              <a:rPr lang="en-US" sz="32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(temp, count))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Which makes AVG function as an associative function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(K, Integer) </a:t>
            </a:r>
            <a:r>
              <a:rPr lang="en-US" sz="2800" b="1" dirty="0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 (K, (Integer, Integer))</a:t>
            </a:r>
            <a:endParaRPr lang="en-US" sz="2800" b="1" dirty="0">
              <a:solidFill>
                <a:srgbClr val="002060"/>
              </a:solidFill>
              <a:highlight>
                <a:srgbClr val="FF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6) --&gt; (K, (6, 1))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7) --&gt; (K, (7, 1))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8) --&gt; (K, (8, 1))</a:t>
            </a:r>
          </a:p>
          <a:p>
            <a:pPr>
              <a:spcBef>
                <a:spcPts val="600"/>
              </a:spcBef>
            </a:pPr>
            <a:endParaRPr lang="en-US" sz="32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829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Make Average of an Average as an Average</a:t>
            </a:r>
            <a:endParaRPr lang="en-US" sz="3600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752"/>
            <a:ext cx="10515600" cy="4905211"/>
          </a:xfrm>
        </p:spPr>
        <p:txBody>
          <a:bodyPr>
            <a:normAutofit fontScale="62500" lnSpcReduction="20000"/>
          </a:bodyPr>
          <a:lstStyle/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Let’s say we have 2 partitions: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Partition-1: 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(6, 1)), (K, (7, 1))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Partition-2: 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(8, 1))</a:t>
            </a:r>
          </a:p>
          <a:p>
            <a:pPr marL="0" indent="0">
              <a:spcBef>
                <a:spcPts val="600"/>
              </a:spcBef>
              <a:buNone/>
            </a:pPr>
            <a:endParaRPr lang="en-US" sz="32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COMBINE( (K, (sum1, count1)) , (K, (sum2, count2)))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Average of </a:t>
            </a:r>
            <a:r>
              <a:rPr lang="en-US" sz="32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Partition </a:t>
            </a:r>
            <a:r>
              <a:rPr lang="en-US" sz="3200" dirty="0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: (K, (sum1+sum2, count1+count2))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Average of 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Partition-1 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(K, (6+7, 1+1)) = 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(13, 2))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Average of 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Partition-2 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(8, 1))</a:t>
            </a:r>
          </a:p>
          <a:p>
            <a:pPr>
              <a:spcBef>
                <a:spcPts val="600"/>
              </a:spcBef>
            </a:pPr>
            <a:endParaRPr lang="en-US" sz="32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3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Average(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Partition-1</a:t>
            </a:r>
            <a:r>
              <a:rPr lang="en-US" sz="3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Partition-2</a:t>
            </a:r>
            <a:r>
              <a:rPr lang="en-US" sz="3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=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(13+8, 2+1)) =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(21, 3)) =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(sum, count))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=&gt; (K, 21/3) = </a:t>
            </a:r>
            <a:r>
              <a:rPr lang="en-US" sz="4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7)</a:t>
            </a:r>
            <a:endParaRPr lang="en-US" sz="3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7329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3661"/>
          </a:xfrm>
        </p:spPr>
        <p:txBody>
          <a:bodyPr>
            <a:noAutofit/>
          </a:bodyPr>
          <a:lstStyle/>
          <a:p>
            <a:r>
              <a:rPr lang="en-US" sz="3200" dirty="0"/>
              <a:t>New Mapper function: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8786"/>
            <a:ext cx="10515600" cy="5378177"/>
          </a:xfrm>
        </p:spPr>
        <p:txBody>
          <a:bodyPr>
            <a:normAutofit fontScale="70000" lnSpcReduction="20000"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key: is a record number, to be ignored by mappers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# value: entire record as: “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CANADA,Toronto,38”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map(key, value)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tokens =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value.split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(“,”)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country = tokens[0]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city = tokens[1]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temperature = tokens[2]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new_key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country + “,” + city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if (temperature &gt;= 0) {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### value is a (sum, count) tuple, which enables associativity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### </a:t>
            </a:r>
            <a:r>
              <a:rPr lang="en-US" sz="1800" b="1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new_value</a:t>
            </a: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(sum, count)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800" b="1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new_value</a:t>
            </a: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(temperature, 1)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### emit(</a:t>
            </a:r>
            <a:r>
              <a:rPr lang="en-US" sz="1800" b="1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new_key</a:t>
            </a: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temperature)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emit(</a:t>
            </a:r>
            <a:r>
              <a:rPr lang="en-US" sz="1800" b="1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new_key</a:t>
            </a: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b="1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new_value</a:t>
            </a: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### emit(country, temperature)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emit(country, </a:t>
            </a:r>
            <a:r>
              <a:rPr lang="en-US" sz="1800" b="1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new_value</a:t>
            </a: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}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 will create the following (K,V) pairs: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18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CANADA,Toronto</a:t>
            </a: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(38, 1))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(“CANADA”, (38, 1))</a:t>
            </a:r>
          </a:p>
        </p:txBody>
      </p:sp>
    </p:spTree>
    <p:extLst>
      <p:ext uri="{BB962C8B-B14F-4D97-AF65-F5344CB8AC3E}">
        <p14:creationId xmlns:p14="http://schemas.microsoft.com/office/powerpoint/2010/main" val="2833467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Sample output of Mappers</a:t>
            </a:r>
            <a:endParaRPr lang="en-US" sz="3600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752"/>
            <a:ext cx="10681138" cy="4905211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Let’s say we have 2 partitions:</a:t>
            </a:r>
          </a:p>
          <a:p>
            <a:pPr>
              <a:spcBef>
                <a:spcPts val="600"/>
              </a:spcBef>
            </a:pP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Partition-1: </a:t>
            </a:r>
            <a:r>
              <a:rPr lang="en-US" sz="26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(6, 1)), (K, (7, 1))</a:t>
            </a:r>
          </a:p>
          <a:p>
            <a:pPr>
              <a:spcBef>
                <a:spcPts val="600"/>
              </a:spcBef>
            </a:pP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Partition-2: </a:t>
            </a:r>
            <a:r>
              <a:rPr lang="en-US" sz="26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(8, 1))</a:t>
            </a:r>
          </a:p>
          <a:p>
            <a:pPr>
              <a:spcBef>
                <a:spcPts val="600"/>
              </a:spcBef>
            </a:pP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Partition-3: </a:t>
            </a:r>
            <a:r>
              <a:rPr lang="en-US" sz="26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(10, 1)), (K, (20, 1)), (K, (30, 1))</a:t>
            </a:r>
          </a:p>
          <a:p>
            <a:pPr>
              <a:spcBef>
                <a:spcPts val="600"/>
              </a:spcBef>
            </a:pPr>
            <a:endParaRPr lang="en-US" sz="32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32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Combiner for Partition-1: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(K, (6+7, 1+1)) = 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(13, 2))</a:t>
            </a:r>
          </a:p>
          <a:p>
            <a:pPr>
              <a:spcBef>
                <a:spcPts val="600"/>
              </a:spcBef>
            </a:pPr>
            <a:endParaRPr lang="en-US" sz="32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Combiner for Partition-2: 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(8, 1))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Combiner for Partition-3: (K, (60, 3)) </a:t>
            </a:r>
          </a:p>
          <a:p>
            <a:pPr>
              <a:spcBef>
                <a:spcPts val="600"/>
              </a:spcBef>
            </a:pPr>
            <a:endParaRPr lang="en-US" sz="3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endParaRPr lang="en-US" sz="3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32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1006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Tuples in Python</a:t>
            </a:r>
            <a:endParaRPr lang="en-US" sz="3600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752"/>
            <a:ext cx="10681138" cy="442485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4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 = (78, 3)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4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a[0]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4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78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4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a[1]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4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en-US" sz="48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309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7811"/>
          </a:xfrm>
        </p:spPr>
        <p:txBody>
          <a:bodyPr>
            <a:noAutofit/>
          </a:bodyPr>
          <a:lstStyle/>
          <a:p>
            <a:r>
              <a:rPr lang="en-US" sz="3600" dirty="0"/>
              <a:t>Combiner function:  combine, but delay averaging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556"/>
            <a:ext cx="10515600" cy="4890317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# key: is a string, like “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”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# values: [(V1,1), (V2, 1), (V3, 1), …] 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combine(key, values) {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total = 0.0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count = 0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for v in values {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v_temperature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v[0]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v_count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v[1]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total +=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v_temperature</a:t>
            </a:r>
            <a:endParaRPr lang="en-US" sz="20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count +=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v_count</a:t>
            </a:r>
            <a:endParaRPr lang="en-US" sz="20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# do NOT calculate average, leave it to reduce() function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new_value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(total, count)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emit(key, 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new_value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3598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rmAutofit/>
          </a:bodyPr>
          <a:lstStyle/>
          <a:p>
            <a:r>
              <a:rPr lang="en-US" dirty="0"/>
              <a:t>Reducer function: find Average per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752"/>
            <a:ext cx="10515600" cy="5221122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# key: is a string, like “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”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# values: [(V1, 3), (V2, 1), (V3, 2), …] 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reduce(key, values) {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total = 0.0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count = 0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for v in values {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v_temperature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v[0]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v_count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v[1]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total +=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v_temperature</a:t>
            </a:r>
            <a:endParaRPr lang="en-US" sz="20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count +=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v_count</a:t>
            </a:r>
            <a:endParaRPr lang="en-US" sz="20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# calculate average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average = total / count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emit(key, average)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0948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rmAutofit/>
          </a:bodyPr>
          <a:lstStyle/>
          <a:p>
            <a:r>
              <a:rPr lang="en-US" dirty="0"/>
              <a:t>How does it work: Consider some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049" y="1271752"/>
            <a:ext cx="10775091" cy="5221122"/>
          </a:xfrm>
        </p:spPr>
        <p:txBody>
          <a:bodyPr>
            <a:normAutofit fontScale="625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Input Records: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b="1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5200" b="1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USA,Cupertino,28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5200" b="1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USA,Cupertino,12       Partition-1</a:t>
            </a:r>
            <a:endParaRPr lang="en-US" sz="52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5200" b="1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USA,Cupertino,50</a:t>
            </a:r>
            <a:endParaRPr lang="en-US" sz="5200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52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USA,Cupertino,10</a:t>
            </a:r>
            <a:endParaRPr lang="en-US" sz="52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52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USA,Cupertino,20</a:t>
            </a:r>
            <a:endParaRPr lang="en-US" sz="52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52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USA,Cupertino,30       Partition-2</a:t>
            </a:r>
            <a:endParaRPr lang="en-US" sz="52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52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USA,Cupertino,46</a:t>
            </a:r>
            <a:endParaRPr lang="en-US" sz="52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5F3A3AA2-06C3-E74C-B9EE-B047A654DCC1}"/>
              </a:ext>
            </a:extLst>
          </p:cNvPr>
          <p:cNvSpPr/>
          <p:nvPr/>
        </p:nvSpPr>
        <p:spPr>
          <a:xfrm>
            <a:off x="5412260" y="2038864"/>
            <a:ext cx="494270" cy="1099751"/>
          </a:xfrm>
          <a:prstGeom prst="rightBrace">
            <a:avLst>
              <a:gd name="adj1" fmla="val 0"/>
              <a:gd name="adj2" fmla="val 50000"/>
            </a:avLst>
          </a:prstGeom>
          <a:solidFill>
            <a:schemeClr val="bg1">
              <a:alpha val="96000"/>
            </a:schemeClr>
          </a:solidFill>
          <a:ln w="31750">
            <a:solidFill>
              <a:srgbClr val="002060">
                <a:alpha val="96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EFCB2A4E-CFF8-874D-AE58-8A921BF6E34B}"/>
              </a:ext>
            </a:extLst>
          </p:cNvPr>
          <p:cNvSpPr/>
          <p:nvPr/>
        </p:nvSpPr>
        <p:spPr>
          <a:xfrm>
            <a:off x="5424617" y="3355851"/>
            <a:ext cx="494270" cy="1846344"/>
          </a:xfrm>
          <a:prstGeom prst="rightBrace">
            <a:avLst>
              <a:gd name="adj1" fmla="val 0"/>
              <a:gd name="adj2" fmla="val 50000"/>
            </a:avLst>
          </a:prstGeom>
          <a:solidFill>
            <a:schemeClr val="bg1">
              <a:alpha val="96000"/>
            </a:schemeClr>
          </a:solidFill>
          <a:ln w="2222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6760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rmAutofit/>
          </a:bodyPr>
          <a:lstStyle/>
          <a:p>
            <a:r>
              <a:rPr lang="en-US" dirty="0"/>
              <a:t>How does it work: mappers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049" y="1271752"/>
            <a:ext cx="10775091" cy="5221122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Consider single key : with 2 partitions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 K = “</a:t>
            </a:r>
            <a:r>
              <a:rPr lang="en-US" sz="2400" b="1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u="sng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Partition-1 (P1):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400" b="1" u="sng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Partition-2 (P2):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(28, 1))      (K, (10, 1))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(12, 1))      (K, (20, 1))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(50, 1))      (K, (30, 1))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(K, (46, 1))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80CDC2-2810-9C47-9503-47DDD00FECF6}"/>
              </a:ext>
            </a:extLst>
          </p:cNvPr>
          <p:cNvCxnSpPr>
            <a:cxnSpLocks/>
          </p:cNvCxnSpPr>
          <p:nvPr/>
        </p:nvCxnSpPr>
        <p:spPr>
          <a:xfrm>
            <a:off x="3669957" y="2570205"/>
            <a:ext cx="0" cy="2508422"/>
          </a:xfrm>
          <a:prstGeom prst="line">
            <a:avLst/>
          </a:prstGeom>
          <a:ln w="730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9122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rmAutofit/>
          </a:bodyPr>
          <a:lstStyle/>
          <a:p>
            <a:r>
              <a:rPr lang="en-US" dirty="0"/>
              <a:t>How does it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049" y="1271752"/>
            <a:ext cx="10775091" cy="5221122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Consider 2 partitions for the same key: mappers output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Denote: </a:t>
            </a: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Partition-1 as P1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Partition-2 as P2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P1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(28, 1)), (K, (12, 1)), (K, (50, 1))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P2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(10, 1)), (K, (20, 1)), (K, (30, 1)), (K, (46, 1))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Combiner(P1):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(28+12+50, 1+1+1)) = (K, (90, 3))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Combiner(P2):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(10+20+30+46, 1+1+1+1)) = (K, (106, 4))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Reducer’s input: (K, </a:t>
            </a:r>
            <a:r>
              <a:rPr lang="en-US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[(90, 3), (106, 4)])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=&gt; (90+106)/(3+4) = 196 / 7 = 28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=&gt; output: </a:t>
            </a:r>
            <a:r>
              <a:rPr lang="en-US" sz="32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28)</a:t>
            </a:r>
            <a:endParaRPr lang="en-US" sz="1800" b="1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1528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12A32-9C70-A84C-BD70-6B6F25B70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consider for combiners &amp; reducers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9D696-28C9-7748-ADC9-DFD039AC4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Make their functions to be </a:t>
            </a:r>
            <a:r>
              <a:rPr lang="en-US" dirty="0">
                <a:solidFill>
                  <a:srgbClr val="0000FF"/>
                </a:solidFill>
              </a:rPr>
              <a:t>associative</a:t>
            </a:r>
            <a:r>
              <a:rPr lang="en-US" dirty="0"/>
              <a:t> and </a:t>
            </a:r>
            <a:r>
              <a:rPr lang="en-US" dirty="0">
                <a:solidFill>
                  <a:srgbClr val="0000FF"/>
                </a:solidFill>
              </a:rPr>
              <a:t>commutative</a:t>
            </a:r>
            <a:r>
              <a:rPr lang="en-US" dirty="0"/>
              <a:t>:</a:t>
            </a:r>
          </a:p>
          <a:p>
            <a:r>
              <a:rPr lang="en-US" dirty="0"/>
              <a:t>Let + be a binary function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3000" b="1" dirty="0">
                <a:solidFill>
                  <a:srgbClr val="0000FF"/>
                </a:solidFill>
                <a:effectLst/>
              </a:rPr>
              <a:t>Commutative Law: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sz="4000" dirty="0"/>
              <a:t>a + b</a:t>
            </a:r>
            <a:r>
              <a:rPr lang="en-US" sz="4000" b="1" dirty="0"/>
              <a:t>  = </a:t>
            </a:r>
            <a:r>
              <a:rPr lang="en-US" sz="4000" dirty="0"/>
              <a:t> b + a</a:t>
            </a:r>
          </a:p>
          <a:p>
            <a:endParaRPr lang="en-US" dirty="0"/>
          </a:p>
          <a:p>
            <a:r>
              <a:rPr lang="en-US" sz="3000" b="1" dirty="0">
                <a:solidFill>
                  <a:srgbClr val="0000FF"/>
                </a:solidFill>
                <a:effectLst/>
              </a:rPr>
              <a:t>Associative Law:</a:t>
            </a:r>
          </a:p>
          <a:p>
            <a:pPr marL="0" indent="0">
              <a:buNone/>
            </a:pPr>
            <a:r>
              <a:rPr lang="en-US" sz="4000" dirty="0"/>
              <a:t>		(a + b) + c</a:t>
            </a:r>
            <a:r>
              <a:rPr lang="en-US" sz="4000" b="1" dirty="0"/>
              <a:t>  = </a:t>
            </a:r>
            <a:r>
              <a:rPr lang="en-US" sz="4000" dirty="0"/>
              <a:t> a + (b + c)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9466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12A32-9C70-A84C-BD70-6B6F25B70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and Multiplication is Commutative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9D696-28C9-7748-ADC9-DFD039AC4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Addition:</a:t>
            </a:r>
          </a:p>
          <a:p>
            <a:pPr lvl="1"/>
            <a:r>
              <a:rPr lang="en-US" sz="2800" dirty="0"/>
              <a:t> 2 + 3 = 3 + 2 = 5</a:t>
            </a:r>
          </a:p>
          <a:p>
            <a:pPr lvl="1"/>
            <a:r>
              <a:rPr lang="en-US" sz="2800" dirty="0"/>
              <a:t> 100 + 200 = 200 + 100 = 300</a:t>
            </a:r>
          </a:p>
          <a:p>
            <a:pPr marL="457189" lvl="1" indent="0">
              <a:buNone/>
            </a:pPr>
            <a:endParaRPr lang="en-US" sz="2800" dirty="0"/>
          </a:p>
          <a:p>
            <a:r>
              <a:rPr lang="en-US" sz="2800" dirty="0"/>
              <a:t>Multiplication:</a:t>
            </a:r>
          </a:p>
          <a:p>
            <a:pPr lvl="1"/>
            <a:r>
              <a:rPr lang="en-US" sz="2800" dirty="0"/>
              <a:t> 2 * 5 = 5 * 2 = 10</a:t>
            </a:r>
          </a:p>
          <a:p>
            <a:pPr lvl="1"/>
            <a:r>
              <a:rPr lang="en-US" sz="2800" dirty="0"/>
              <a:t> 20 * 30 = 30 * 20  = 600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8451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12A32-9C70-A84C-BD70-6B6F25B70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Subtraction and Division is NOT Commutative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9D696-28C9-7748-ADC9-DFD039AC4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Subtraction:</a:t>
            </a:r>
          </a:p>
          <a:p>
            <a:pPr lvl="1"/>
            <a:r>
              <a:rPr lang="en-US" dirty="0"/>
              <a:t> 5 - 3 = 2</a:t>
            </a:r>
          </a:p>
          <a:p>
            <a:pPr lvl="1"/>
            <a:r>
              <a:rPr lang="en-US" dirty="0"/>
              <a:t> 3 - 5 = -2</a:t>
            </a:r>
          </a:p>
          <a:p>
            <a:pPr lvl="1"/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2 NOT EQUAL to -2</a:t>
            </a:r>
          </a:p>
          <a:p>
            <a:r>
              <a:rPr lang="en-US" b="1" dirty="0"/>
              <a:t>Division:</a:t>
            </a:r>
          </a:p>
          <a:p>
            <a:pPr lvl="1"/>
            <a:r>
              <a:rPr lang="en-US" dirty="0"/>
              <a:t> 10 / 2 = 5.0</a:t>
            </a:r>
          </a:p>
          <a:p>
            <a:pPr lvl="1"/>
            <a:r>
              <a:rPr lang="en-US" dirty="0"/>
              <a:t> 2 / 10 = 0.2</a:t>
            </a:r>
          </a:p>
          <a:p>
            <a:pPr lvl="1"/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5.0 NOT EQUAL to 0.2 </a:t>
            </a:r>
          </a:p>
        </p:txBody>
      </p:sp>
    </p:spTree>
    <p:extLst>
      <p:ext uri="{BB962C8B-B14F-4D97-AF65-F5344CB8AC3E}">
        <p14:creationId xmlns:p14="http://schemas.microsoft.com/office/powerpoint/2010/main" val="29400147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12A32-9C70-A84C-BD70-6B6F25B70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function is not Associative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9D696-28C9-7748-ADC9-DFD039AC4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Let Avg(a, b) = (</a:t>
            </a:r>
            <a:r>
              <a:rPr lang="en-US" sz="4400" dirty="0" err="1"/>
              <a:t>a+b</a:t>
            </a:r>
            <a:r>
              <a:rPr lang="en-US" sz="4400" dirty="0"/>
              <a:t>)/2</a:t>
            </a:r>
          </a:p>
          <a:p>
            <a:pPr marL="0" indent="0">
              <a:buNone/>
            </a:pPr>
            <a:r>
              <a:rPr lang="en-US" sz="4400" dirty="0"/>
              <a:t>Then</a:t>
            </a:r>
          </a:p>
          <a:p>
            <a:r>
              <a:rPr lang="en-US" sz="4400" dirty="0"/>
              <a:t>FACT: Avg (1, 2, 3) = 2.0</a:t>
            </a:r>
          </a:p>
          <a:p>
            <a:r>
              <a:rPr lang="en-US" sz="4400" dirty="0"/>
              <a:t>Avg(1,  Avg(2, 3)) = Avg(1, 2.5) = 1.75</a:t>
            </a:r>
          </a:p>
          <a:p>
            <a:r>
              <a:rPr lang="en-US" sz="4400" dirty="0"/>
              <a:t>2.0 </a:t>
            </a:r>
            <a:r>
              <a:rPr lang="en-US" sz="4400" dirty="0">
                <a:solidFill>
                  <a:srgbClr val="0000FF"/>
                </a:solidFill>
              </a:rPr>
              <a:t>NOT EQUAL </a:t>
            </a:r>
            <a:r>
              <a:rPr lang="en-US" sz="4400" dirty="0"/>
              <a:t>to 1.75</a:t>
            </a:r>
          </a:p>
        </p:txBody>
      </p:sp>
    </p:spTree>
    <p:extLst>
      <p:ext uri="{BB962C8B-B14F-4D97-AF65-F5344CB8AC3E}">
        <p14:creationId xmlns:p14="http://schemas.microsoft.com/office/powerpoint/2010/main" val="24558092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83"/>
            <a:ext cx="10515600" cy="683172"/>
          </a:xfrm>
        </p:spPr>
        <p:txBody>
          <a:bodyPr>
            <a:normAutofit/>
          </a:bodyPr>
          <a:lstStyle/>
          <a:p>
            <a:r>
              <a:rPr lang="en-US" dirty="0"/>
              <a:t>MapReduce Working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1848"/>
            <a:ext cx="10515600" cy="5315116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Consider the following input with 3 partitions: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Partition-1: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USA,Cupertino,58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USA,Cupertino,67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USA,Sunnyvale,88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USA,Sunnyvale,77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USA,Cupertino,78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Partition-2: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INDIA,Mumbai,90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INDIA,Mumbai,96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INDIA,Agra,98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INDIA,Agra,92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Partition-3: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USA,Cupertino,60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USA,Cupertino,80</a:t>
            </a:r>
          </a:p>
        </p:txBody>
      </p:sp>
    </p:spTree>
    <p:extLst>
      <p:ext uri="{BB962C8B-B14F-4D97-AF65-F5344CB8AC3E}">
        <p14:creationId xmlns:p14="http://schemas.microsoft.com/office/powerpoint/2010/main" val="11838009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83"/>
            <a:ext cx="10515600" cy="683172"/>
          </a:xfrm>
        </p:spPr>
        <p:txBody>
          <a:bodyPr>
            <a:normAutofit/>
          </a:bodyPr>
          <a:lstStyle/>
          <a:p>
            <a:r>
              <a:rPr lang="en-US" dirty="0"/>
              <a:t>MapReduce Working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1848"/>
            <a:ext cx="10515600" cy="5315116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Mappers output: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Partition-1: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(“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(58, 1)), (“USA”, (58, 1))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(“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(67, 1)), (“USA”, (67, 1))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(“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USA,Sunnyvale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(88, 1)), (“USA”, (88, 1))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(“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USA,Sunnyvale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(77, 1)), (“USA”, (77, 1))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(“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(78, 1)), (“USA”, (78, 1))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Partition-2: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(“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INDIA,Mumbai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(90, 1)), (“INDIA”, (90, 1))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(“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INDIA,Mumbai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(96, 1)), (“INDIA”, (96, 1))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(“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INDIA,Agra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(98, 1)), (“INDIA”, (98, 1))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(“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INDIA,Agra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(92, 1)), (“INDIA”, (92, 1))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Partition-3: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(“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(60, 1)), (“USA”, (60, 1))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(“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(80, 1)), (“USA”, (80, 1))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3962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83"/>
            <a:ext cx="10515600" cy="683172"/>
          </a:xfrm>
        </p:spPr>
        <p:txBody>
          <a:bodyPr>
            <a:normAutofit/>
          </a:bodyPr>
          <a:lstStyle/>
          <a:p>
            <a:r>
              <a:rPr lang="en-US" dirty="0"/>
              <a:t>MapReduce Working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1848"/>
            <a:ext cx="10515600" cy="531511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Combiners output: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Partition-1: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(“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(58+67+78, 1+1+1))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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(203, 3))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(”USA”, (58+67+78+88+77, 1+1+1+1+1))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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(”USA”, (368, 5))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(“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USA,Sunnyvale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(88+77, 1+1))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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USA,Sunnyvale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(165, 2))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Partition-2: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(“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INDIA,Mumbai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(90+96, 1+1))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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INDIA,Mumbai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(186, 2))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(“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INDIA,Agra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(98+92, 1+1))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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INDIA,Agra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(190, 2))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(“INDIA”, (90+96+98+92, 1+1+1+1))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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(“INDIA”, (376, 4)) </a:t>
            </a:r>
            <a:endParaRPr lang="en-US" sz="20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Partition-3: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(“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(60+80, 1+1))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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(140, 2))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(“USA”, (60+80, 1+1))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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(“USA”, (140, 2))</a:t>
            </a: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302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83"/>
            <a:ext cx="10515600" cy="683172"/>
          </a:xfrm>
        </p:spPr>
        <p:txBody>
          <a:bodyPr>
            <a:normAutofit/>
          </a:bodyPr>
          <a:lstStyle/>
          <a:p>
            <a:r>
              <a:rPr lang="en-US" dirty="0"/>
              <a:t>MapReduce Working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1848"/>
            <a:ext cx="10515600" cy="531511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u="sng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Combiners output (all partitions):</a:t>
            </a: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(203, 3))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(“USA”, (368, 5))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USA,Sunnyvale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(165, 2))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INDIA,Mumbai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(186, 2))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INDIA,Agra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(190, 2))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(“INDIA”, (376, 4)) </a:t>
            </a:r>
            <a:endParaRPr lang="en-US" sz="20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(140, 2))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(“USA”, (140, 2))</a:t>
            </a: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Combiners output 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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as input to Sort &amp; Shuffle</a:t>
            </a:r>
            <a:endParaRPr lang="en-US" sz="2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3428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83"/>
            <a:ext cx="10515600" cy="683172"/>
          </a:xfrm>
        </p:spPr>
        <p:txBody>
          <a:bodyPr>
            <a:normAutofit/>
          </a:bodyPr>
          <a:lstStyle/>
          <a:p>
            <a:r>
              <a:rPr lang="en-US" dirty="0"/>
              <a:t>MapReduce Working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1848"/>
            <a:ext cx="10515600" cy="5315116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u="sng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Combiners output (all partitions):</a:t>
            </a: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(203, 3))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(“USA”, (368, 5))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USA,Sunnyvale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(165, 2))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INDIA,Mumbai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(186, 2))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INDIA,Agra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(190, 2))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(“INDIA”, (376, 4)) </a:t>
            </a:r>
            <a:endParaRPr lang="en-US" sz="1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(140, 2))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(“USA”, (140, 2))</a:t>
            </a:r>
            <a:endParaRPr lang="en-US" sz="1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Combiners output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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as input to Sort &amp; Shuffle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[(203, 3), (140, 2)])</a:t>
            </a:r>
            <a:endParaRPr lang="en-US" sz="20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(“USA”, [(368, 5), (140, 2)])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USA,Sunnyvale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[(165, 2)])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INDIA,Mumbai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[(186, 2)])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INDIA,Agra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[(190, 2)])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(“INDIA”, [(376, 4)]) </a:t>
            </a:r>
            <a:endParaRPr lang="en-US" sz="20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0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3710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83"/>
            <a:ext cx="10515600" cy="683172"/>
          </a:xfrm>
        </p:spPr>
        <p:txBody>
          <a:bodyPr>
            <a:normAutofit/>
          </a:bodyPr>
          <a:lstStyle/>
          <a:p>
            <a:r>
              <a:rPr lang="en-US" dirty="0"/>
              <a:t>MapReduce Working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1848"/>
            <a:ext cx="10515600" cy="5315116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b="1" u="sng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Sort &amp; Shuffle output: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[(203, 3), (140, 2)])</a:t>
            </a:r>
            <a:endParaRPr lang="en-US" sz="20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(“USA”, [(368, 5), (140, 2)])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USA,Sunnyvale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[(165, 2)])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INDIA,Mumbai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[(186, 2)])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INDIA,Agra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[(190, 2)])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(“INDIA”, [(376, 4)])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u="sng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Reducer’s output: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(203+140)/(3+2))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USA,Cupertino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68.60)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(“USA”, [(368, 5), (140, 2)])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(“USA”, 72.57)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USA,Sunnyvale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[(165, 2)])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USA,Sunnyvale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82.50)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INDIA,Mumbai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[(186, 2)])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INDIA,Mumbai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93.00)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INDIA,Agra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[(190, 2)])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INDIA,Agra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”, 95.00)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(“INDIA”, [(376, 4)])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(“INDIA”, 94.00)</a:t>
            </a:r>
          </a:p>
          <a:p>
            <a:pPr marL="0" indent="0">
              <a:spcBef>
                <a:spcPts val="600"/>
              </a:spcBef>
              <a:buNone/>
            </a:pPr>
            <a:endParaRPr lang="en-US" sz="2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0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9061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12A32-9C70-A84C-BD70-6B6F25B70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75398"/>
          </a:xfrm>
        </p:spPr>
        <p:txBody>
          <a:bodyPr>
            <a:normAutofit fontScale="90000"/>
          </a:bodyPr>
          <a:lstStyle/>
          <a:p>
            <a:r>
              <a:rPr lang="en-US" dirty="0"/>
              <a:t>Benefits of Combiners: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9D696-28C9-7748-ADC9-DFD039AC4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3200" dirty="0"/>
              <a:t>Combiners act as mini-reducers</a:t>
            </a:r>
          </a:p>
          <a:p>
            <a:pPr marL="514350" indent="-514350">
              <a:buAutoNum type="arabicPeriod"/>
            </a:pPr>
            <a:r>
              <a:rPr lang="en-US" sz="3200" dirty="0"/>
              <a:t>Minimize the number of (key, value) emitted in computing network</a:t>
            </a:r>
          </a:p>
          <a:p>
            <a:pPr marL="514350" indent="-514350">
              <a:buAutoNum type="arabicPeriod"/>
            </a:pPr>
            <a:r>
              <a:rPr lang="en-US" sz="3200" dirty="0"/>
              <a:t>Optimize (key, value) per partition and utilize resources</a:t>
            </a:r>
          </a:p>
          <a:p>
            <a:pPr marL="514350" indent="-514350">
              <a:buAutoNum type="arabicPeriod"/>
            </a:pPr>
            <a:r>
              <a:rPr lang="en-US" sz="3200" dirty="0"/>
              <a:t>Do not create (key, [V1, V2, …, </a:t>
            </a:r>
            <a:r>
              <a:rPr lang="en-US" sz="3200" dirty="0" err="1"/>
              <a:t>Vn</a:t>
            </a:r>
            <a:r>
              <a:rPr lang="en-US" sz="3200" dirty="0"/>
              <a:t>]) where n is a large number: might create Out of </a:t>
            </a:r>
            <a:r>
              <a:rPr lang="en-US" sz="3200"/>
              <a:t>Memory error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97722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12A32-9C70-A84C-BD70-6B6F25B70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9D696-28C9-7748-ADC9-DFD039AC4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1. Monoidify! Monoids as a Design Principle for Efficient MapReduce Algorithms (paper)  by Jimmy Lin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2. Data Algorithms  (book)  </a:t>
            </a:r>
          </a:p>
          <a:p>
            <a:pPr marL="0" indent="0">
              <a:buNone/>
            </a:pPr>
            <a:r>
              <a:rPr lang="en-US" sz="3200" dirty="0"/>
              <a:t>by Mahmoud Parsian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3. Data Algorithms with Spark (book</a:t>
            </a:r>
            <a:r>
              <a:rPr lang="en-US" sz="3200"/>
              <a:t>)  </a:t>
            </a:r>
          </a:p>
          <a:p>
            <a:pPr marL="0" indent="0">
              <a:buNone/>
            </a:pPr>
            <a:r>
              <a:rPr lang="en-US" sz="3200"/>
              <a:t>by </a:t>
            </a:r>
            <a:r>
              <a:rPr lang="en-US" sz="3200" dirty="0"/>
              <a:t>Mahmoud Parsian</a:t>
            </a:r>
          </a:p>
        </p:txBody>
      </p:sp>
    </p:spTree>
    <p:extLst>
      <p:ext uri="{BB962C8B-B14F-4D97-AF65-F5344CB8AC3E}">
        <p14:creationId xmlns:p14="http://schemas.microsoft.com/office/powerpoint/2010/main" val="3792664486"/>
      </p:ext>
    </p:extLst>
  </p:cSld>
  <p:clrMapOvr>
    <a:masterClrMapping/>
  </p:clrMapOvr>
</p:sld>
</file>

<file path=ppt/theme/theme1.xml><?xml version="1.0" encoding="utf-8"?>
<a:theme xmlns:a="http://schemas.openxmlformats.org/drawingml/2006/main" name="scu-ppt-master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scu-ppt-master</Template>
  <TotalTime>1070</TotalTime>
  <Words>3635</Words>
  <Application>Microsoft Macintosh PowerPoint</Application>
  <PresentationFormat>Widescreen</PresentationFormat>
  <Paragraphs>467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Aptos</vt:lpstr>
      <vt:lpstr>Arial</vt:lpstr>
      <vt:lpstr>Calibri Light</vt:lpstr>
      <vt:lpstr>Consolas</vt:lpstr>
      <vt:lpstr>Courier New</vt:lpstr>
      <vt:lpstr>Franklin Gothic Medium Cond</vt:lpstr>
      <vt:lpstr>Helvetica Light</vt:lpstr>
      <vt:lpstr>Wingdings</vt:lpstr>
      <vt:lpstr>scu-ppt-master</vt:lpstr>
      <vt:lpstr>MapReduce Example:  World Temperature  (with combiners)</vt:lpstr>
      <vt:lpstr>Find Average Temperature per City</vt:lpstr>
      <vt:lpstr>MapReduce job components</vt:lpstr>
      <vt:lpstr>MapReduce job: Input path</vt:lpstr>
      <vt:lpstr>MapReduce job: Output path</vt:lpstr>
      <vt:lpstr>Input to mappers</vt:lpstr>
      <vt:lpstr>Mapper function</vt:lpstr>
      <vt:lpstr>What if we want to exclude  temperatures less than 0: Filtering</vt:lpstr>
      <vt:lpstr>What if we want to find average  temperatures by country as well</vt:lpstr>
      <vt:lpstr>After ALL mappers are done:  Sort &amp; Shuffle will take place automagically</vt:lpstr>
      <vt:lpstr>Reducer function (longer version)</vt:lpstr>
      <vt:lpstr>Reducer function (shorter version)</vt:lpstr>
      <vt:lpstr>Reducer function: (longer version)  what if we want to exclude averages less than 25</vt:lpstr>
      <vt:lpstr>Reducer function: (shorter version)  what if we want to exclude averages less than 25</vt:lpstr>
      <vt:lpstr>What about Combiners?</vt:lpstr>
      <vt:lpstr>What about Combiners?  (c, 3), (c, 6) are combined to (c, 9)</vt:lpstr>
      <vt:lpstr>MapReduce without Combiners</vt:lpstr>
      <vt:lpstr>MapReduce with Combiners</vt:lpstr>
      <vt:lpstr>How do we write Combiners? For Averages?</vt:lpstr>
      <vt:lpstr>Average of an Average is not an Average</vt:lpstr>
      <vt:lpstr>Make average of an average as an average</vt:lpstr>
      <vt:lpstr>Make Average of an Average as an Average</vt:lpstr>
      <vt:lpstr>New Mapper function:</vt:lpstr>
      <vt:lpstr>Sample output of Mappers</vt:lpstr>
      <vt:lpstr>Tuples in Python</vt:lpstr>
      <vt:lpstr>Combiner function:  combine, but delay averaging</vt:lpstr>
      <vt:lpstr>Reducer function: find Average per Key</vt:lpstr>
      <vt:lpstr>How does it work: Consider some input</vt:lpstr>
      <vt:lpstr>How does it work: mappers output</vt:lpstr>
      <vt:lpstr>How does it work</vt:lpstr>
      <vt:lpstr>What to consider for combiners &amp; reducers</vt:lpstr>
      <vt:lpstr>Addition and Multiplication is Commutative</vt:lpstr>
      <vt:lpstr>Subtraction and Division is NOT Commutative</vt:lpstr>
      <vt:lpstr>Average function is not Associative</vt:lpstr>
      <vt:lpstr>MapReduce Working Example</vt:lpstr>
      <vt:lpstr>MapReduce Working Example</vt:lpstr>
      <vt:lpstr>MapReduce Working Example</vt:lpstr>
      <vt:lpstr>MapReduce Working Example</vt:lpstr>
      <vt:lpstr>MapReduce Working Example</vt:lpstr>
      <vt:lpstr>MapReduce Working Example</vt:lpstr>
      <vt:lpstr>Benefits of Combiners: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MapReduce Example: World Temprature</dc:title>
  <dc:creator>Parsian, Mahmoud</dc:creator>
  <cp:lastModifiedBy>Mahmoud Parsian</cp:lastModifiedBy>
  <cp:revision>46</cp:revision>
  <dcterms:created xsi:type="dcterms:W3CDTF">2022-04-02T06:18:14Z</dcterms:created>
  <dcterms:modified xsi:type="dcterms:W3CDTF">2026-08-31T04:37:46Z</dcterms:modified>
</cp:coreProperties>
</file>