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5" r:id="rId4"/>
    <p:sldId id="266" r:id="rId5"/>
    <p:sldId id="267" r:id="rId6"/>
    <p:sldId id="258" r:id="rId7"/>
    <p:sldId id="259" r:id="rId8"/>
    <p:sldId id="260" r:id="rId9"/>
    <p:sldId id="261" r:id="rId10"/>
    <p:sldId id="262" r:id="rId11"/>
    <p:sldId id="263" r:id="rId12"/>
    <p:sldId id="293" r:id="rId13"/>
    <p:sldId id="264" r:id="rId14"/>
    <p:sldId id="294" r:id="rId15"/>
    <p:sldId id="289" r:id="rId16"/>
    <p:sldId id="290" r:id="rId17"/>
    <p:sldId id="295" r:id="rId18"/>
    <p:sldId id="291" r:id="rId19"/>
    <p:sldId id="292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2AA49-4688-B64D-93CF-6D7A4105D206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D05E7-B722-6343-8B20-E0A7D677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05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577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209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69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653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9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5943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950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0554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818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855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8024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2544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2569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8183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546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5806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199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1997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7124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6045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8502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4384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07041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191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990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CCEB-BFDA-674C-86B0-F015AF4D0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027" y="1924494"/>
            <a:ext cx="9144000" cy="1701576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Example:</a:t>
            </a:r>
            <a:br>
              <a:rPr lang="en-US" dirty="0"/>
            </a:br>
            <a:r>
              <a:rPr lang="en-US" dirty="0"/>
              <a:t> World Temperature </a:t>
            </a:r>
            <a:br>
              <a:rPr lang="en-US" dirty="0"/>
            </a:br>
            <a:r>
              <a:rPr lang="en-US" sz="2700" dirty="0"/>
              <a:t>(without combiners)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B0852-494A-7C4A-AF8E-1BC0B1CE8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27" y="4213511"/>
            <a:ext cx="9144000" cy="896007"/>
          </a:xfrm>
        </p:spPr>
        <p:txBody>
          <a:bodyPr/>
          <a:lstStyle/>
          <a:p>
            <a:r>
              <a:rPr lang="en-US" dirty="0"/>
              <a:t>Mahmoud Parsian</a:t>
            </a:r>
          </a:p>
          <a:p>
            <a:r>
              <a:rPr lang="en-US" sz="1600" dirty="0"/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22294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Average Temperature per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Input record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&lt;country&gt;&lt;,&gt;&lt;city&gt;&lt;,&gt;&lt;temperature&gt;</a:t>
            </a:r>
          </a:p>
          <a:p>
            <a:r>
              <a:rPr lang="en-US" dirty="0"/>
              <a:t>Example records: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USA,Cupertino,73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USA,Cupertino,73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CANADA,Toronto,29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CANADA,Toronto,48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INDIA,Mumbai,68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96486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Input path</a:t>
            </a:r>
          </a:p>
          <a:p>
            <a:r>
              <a:rPr lang="en-US" sz="3600" dirty="0"/>
              <a:t>Output path</a:t>
            </a:r>
          </a:p>
          <a:p>
            <a:r>
              <a:rPr lang="en-US" sz="3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3600" dirty="0"/>
              <a:t> function</a:t>
            </a:r>
          </a:p>
          <a:p>
            <a:r>
              <a:rPr lang="en-US" sz="3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reduce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3600" dirty="0"/>
              <a:t> function</a:t>
            </a:r>
          </a:p>
          <a:p>
            <a:r>
              <a:rPr lang="en-US" sz="3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combine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3600" dirty="0"/>
              <a:t>function [not required, optional]</a:t>
            </a:r>
          </a:p>
        </p:txBody>
      </p:sp>
    </p:spTree>
    <p:extLst>
      <p:ext uri="{BB962C8B-B14F-4D97-AF65-F5344CB8AC3E}">
        <p14:creationId xmlns:p14="http://schemas.microsoft.com/office/powerpoint/2010/main" val="1092344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Job: Input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Input path: </a:t>
            </a:r>
            <a:r>
              <a:rPr lang="en-US" sz="32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3200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32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/data/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All files in input path will be read:</a:t>
            </a:r>
          </a:p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/data/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usa.txt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/data/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canada.txt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/data/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india.txt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000" dirty="0"/>
              <a:t>…</a:t>
            </a:r>
          </a:p>
          <a:p>
            <a:pPr marL="0" indent="0">
              <a:buNone/>
            </a:pP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555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job: Output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Output path: </a:t>
            </a:r>
            <a:r>
              <a:rPr lang="en-US" sz="36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3600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36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/output/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  <a:highlight>
                  <a:srgbClr val="C0C0C0"/>
                </a:highlight>
              </a:rPr>
              <a:t>One output file is created per partition:</a:t>
            </a:r>
          </a:p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/output/_SUCCESS</a:t>
            </a:r>
          </a:p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/output/part1</a:t>
            </a:r>
          </a:p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/output/part2</a:t>
            </a:r>
          </a:p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/output/part3</a:t>
            </a:r>
          </a:p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528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to Mappers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 input to mappers as (key, value)</a:t>
            </a:r>
          </a:p>
          <a:p>
            <a:pPr marL="0" indent="0">
              <a:buNone/>
            </a:pPr>
            <a:r>
              <a:rPr lang="en-US" dirty="0"/>
              <a:t># key: is a record number, to be ignored by mappers (not needed) </a:t>
            </a:r>
          </a:p>
          <a:p>
            <a:pPr marL="0" indent="0">
              <a:buNone/>
            </a:pPr>
            <a:r>
              <a:rPr lang="en-US" dirty="0"/>
              <a:t># value: entire record as: “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USA,Cupertino,73”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&lt;mapper logic&gt;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47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record number, to be ignored by mappers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value: entire record as: “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USA,Cupertino,73”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tokenize input record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tokens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value.split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(“,”)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country = tokens[0]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city = tokens[1]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temperature = tokens[2]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create a new key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new_key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country + “,” + city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emit(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new_key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will create the following (K,V) pair: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USA,Cupertino”, 73)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885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we want to exclude </a:t>
            </a:r>
            <a:br>
              <a:rPr lang="en-US" dirty="0"/>
            </a:br>
            <a:r>
              <a:rPr lang="en-US" dirty="0"/>
              <a:t>temperatures less than 0: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record number, to be ignored by mappers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value: entire record as: “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CANADA,Toronto,-28”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tokens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value.split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(“,”)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country = tokens[0]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city = tokens[1]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temperature = tokens[2]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new_key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country + “,” + city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apply a filter here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(temperature &gt;= 0)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emit(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new_key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will NOT create any (K,V) pair (since 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is negative)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31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we want to find average temperatures </a:t>
            </a:r>
            <a:br>
              <a:rPr lang="en-US" dirty="0"/>
            </a:br>
            <a:r>
              <a:rPr lang="en-US" dirty="0"/>
              <a:t>by country as well for positive temperatures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record number, to be ignored by mappers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value: entire record as: “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CANADA,Toronto,38”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tokens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value.split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(“,”)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country = tokens[0]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city = tokens[1]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temperature = tokens[2]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new_key = country + “,” + city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(temperature &gt;= 0)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emit(new_key,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emit(country,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will create the following (K,V) pairs: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38)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(“CANADA”, 38)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68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After ALL mappers are done:</a:t>
            </a:r>
            <a:br>
              <a:rPr lang="en-US" dirty="0"/>
            </a:br>
            <a:r>
              <a:rPr lang="en-US" dirty="0"/>
              <a:t> Sort &amp; Shuffle will take place automagically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Sort &amp; Shuffle will create the following output (which will be fed to reducers):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[45, 44, 90,…, 87])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[20, 40, 80, 77, 33, 25, …, 38])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-US" b="1" u="sng" dirty="0">
                <a:solidFill>
                  <a:schemeClr val="tx1"/>
                </a:solidFill>
              </a:rPr>
              <a:t>Sort &amp; Shuffle’s</a:t>
            </a:r>
            <a:r>
              <a:rPr lang="en-US" b="1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 is: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(“key-as-string”, [V1, V2, V3, …])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V1, V2, V3, … are temperatures</a:t>
            </a:r>
          </a:p>
        </p:txBody>
      </p:sp>
    </p:spTree>
    <p:extLst>
      <p:ext uri="{BB962C8B-B14F-4D97-AF65-F5344CB8AC3E}">
        <p14:creationId xmlns:p14="http://schemas.microsoft.com/office/powerpoint/2010/main" val="2405369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627"/>
          </a:xfrm>
        </p:spPr>
        <p:txBody>
          <a:bodyPr/>
          <a:lstStyle/>
          <a:p>
            <a:r>
              <a:rPr lang="en-US" dirty="0"/>
              <a:t>Reducer function (longer 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lnSpcReduction="1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values: [V1, V2, V3, …]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0.0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0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for v in values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total += v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count += 1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average = total / count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emit(key, average)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67.80)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80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627"/>
          </a:xfrm>
        </p:spPr>
        <p:txBody>
          <a:bodyPr/>
          <a:lstStyle/>
          <a:p>
            <a:r>
              <a:rPr lang="en-US" dirty="0"/>
              <a:t>Reducer function (shorter 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values: [V1, V2, V3, …]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sum(values)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(values)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average = total / count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emit(key, average)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67.80)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98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1093076"/>
          </a:xfrm>
        </p:spPr>
        <p:txBody>
          <a:bodyPr>
            <a:normAutofit fontScale="90000"/>
          </a:bodyPr>
          <a:lstStyle/>
          <a:p>
            <a:r>
              <a:rPr lang="en-US" dirty="0"/>
              <a:t>Reducer function (longer version): </a:t>
            </a:r>
            <a:br>
              <a:rPr lang="en-US" dirty="0"/>
            </a:br>
            <a:r>
              <a:rPr lang="en-US" dirty="0"/>
              <a:t>what if we want to exclude averages less than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160"/>
            <a:ext cx="10515600" cy="4999804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or “USA”, …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values: [V1, V2, V3, …]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0.0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0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for v in values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total += v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count += 1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average = total / count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apply a filter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(average &gt;= 25)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emit(key, average)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67.80)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56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1093076"/>
          </a:xfrm>
        </p:spPr>
        <p:txBody>
          <a:bodyPr>
            <a:normAutofit fontScale="90000"/>
          </a:bodyPr>
          <a:lstStyle/>
          <a:p>
            <a:r>
              <a:rPr lang="en-US" dirty="0"/>
              <a:t>Reducer function (shorter version): </a:t>
            </a:r>
            <a:br>
              <a:rPr lang="en-US" dirty="0"/>
            </a:br>
            <a:r>
              <a:rPr lang="en-US" dirty="0"/>
              <a:t>what if we want to exclude averages less than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160"/>
            <a:ext cx="10515600" cy="4999804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or “USA”, …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values: [V1, V2, V3, …]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sum(values)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(values)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average = total / count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apply a filter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(average &gt;= 25)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emit(key, average)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67.80)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203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Consider the following input: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USA,Cupertino,58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USA,Cupertino,67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USA,Sunnyvale,88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USA,Sunnyvale,77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USA,Cupertino,78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INDIA,Mumbai,90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INDIA,Mumbai,96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INDIA,Agra,98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INDIA,Agra,92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83800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Mappers output: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record: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“USA,Cupertino,58”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Will create: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(“USA,Cupertino”, 58),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58)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396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Mappers output: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(“USA,Cupertino”, 58),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58)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(“USA,Cupertino”, 67),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67)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88),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88)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77),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77)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(“USA,Cupertino”, 78),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78)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90),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90)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96),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96)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98),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98)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92),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92)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53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Sort &amp; Shuffle output: 6 unique keys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ourier" pitchFamily="2" charset="0"/>
                <a:cs typeface="Consolas" panose="020B0609020204030204" pitchFamily="49" charset="0"/>
              </a:rPr>
              <a:t>General output: (key, [value_1, value_2, …])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[58, 67, 78]),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[88, 77]),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[58, 67, 78, 88, 77]),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[90, 96]),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[98, 92]),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[90, 96, 98, 92])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957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Sort &amp; Shuffle output: as input to reducers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b="1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 of reducers (not ordered):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67.67),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82.5),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73.6),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93),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95),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94)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796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/>
              <a:t>1. </a:t>
            </a:r>
            <a:r>
              <a:rPr lang="en-US" sz="3200" dirty="0" err="1"/>
              <a:t>Monoidify</a:t>
            </a:r>
            <a:r>
              <a:rPr lang="en-US" sz="3200" dirty="0"/>
              <a:t>! Monoids as a Design Principle for Efficient MapReduce Algorithms (paper)  </a:t>
            </a:r>
          </a:p>
          <a:p>
            <a:pPr marL="0" indent="0">
              <a:buNone/>
            </a:pPr>
            <a:r>
              <a:rPr lang="en-US" sz="3200" dirty="0"/>
              <a:t>by Jimmy Lin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Data Algorithms  (book) , Publisher: O’Reilly </a:t>
            </a:r>
          </a:p>
          <a:p>
            <a:pPr marL="0" indent="0">
              <a:buNone/>
            </a:pPr>
            <a:r>
              <a:rPr lang="en-US" sz="3200" dirty="0"/>
              <a:t>by Mahmoud Parsian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3. Data Algorithms with Spark (book) , Publisher: O’Reilly </a:t>
            </a:r>
          </a:p>
          <a:p>
            <a:pPr marL="0" indent="0">
              <a:buNone/>
            </a:pPr>
            <a:r>
              <a:rPr lang="en-US" sz="3200" dirty="0"/>
              <a:t>by Mahmoud Parsian</a:t>
            </a:r>
          </a:p>
        </p:txBody>
      </p:sp>
    </p:spTree>
    <p:extLst>
      <p:ext uri="{BB962C8B-B14F-4D97-AF65-F5344CB8AC3E}">
        <p14:creationId xmlns:p14="http://schemas.microsoft.com/office/powerpoint/2010/main" val="109772210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1060</TotalTime>
  <Words>1518</Words>
  <Application>Microsoft Macintosh PowerPoint</Application>
  <PresentationFormat>Widescreen</PresentationFormat>
  <Paragraphs>242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Arial</vt:lpstr>
      <vt:lpstr>Calibri Light</vt:lpstr>
      <vt:lpstr>Consolas</vt:lpstr>
      <vt:lpstr>Courier</vt:lpstr>
      <vt:lpstr>Courier New</vt:lpstr>
      <vt:lpstr>Franklin Gothic Medium Cond</vt:lpstr>
      <vt:lpstr>Helvetica Light</vt:lpstr>
      <vt:lpstr>Wingdings</vt:lpstr>
      <vt:lpstr>scu-ppt-master</vt:lpstr>
      <vt:lpstr>MapReduce Example:  World Temperature  (without combiners)</vt:lpstr>
      <vt:lpstr>Find Average Temperature per City</vt:lpstr>
      <vt:lpstr>MapReduce Job Components</vt:lpstr>
      <vt:lpstr>MapReduce Job: Input path</vt:lpstr>
      <vt:lpstr>MapReduce job: Output path</vt:lpstr>
      <vt:lpstr>Input to Mappers</vt:lpstr>
      <vt:lpstr>Mapper function</vt:lpstr>
      <vt:lpstr>What if we want to exclude  temperatures less than 0: Filtering</vt:lpstr>
      <vt:lpstr>What if we want to find average temperatures  by country as well for positive temperatures</vt:lpstr>
      <vt:lpstr>After ALL mappers are done:  Sort &amp; Shuffle will take place automagically</vt:lpstr>
      <vt:lpstr>Reducer function (longer version)</vt:lpstr>
      <vt:lpstr>Reducer function (shorter version)</vt:lpstr>
      <vt:lpstr>Reducer function (longer version):  what if we want to exclude averages less than 25</vt:lpstr>
      <vt:lpstr>Reducer function (shorter version):  what if we want to exclude averages less than 25</vt:lpstr>
      <vt:lpstr>MapReduce Working Example</vt:lpstr>
      <vt:lpstr>MapReduce Working Example</vt:lpstr>
      <vt:lpstr>MapReduce Working Example</vt:lpstr>
      <vt:lpstr>MapReduce Working Example</vt:lpstr>
      <vt:lpstr>MapReduce Working Example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MapReduce Example: World Temprature</dc:title>
  <dc:creator>Parsian, Mahmoud</dc:creator>
  <cp:lastModifiedBy>Mahmoud Parsian</cp:lastModifiedBy>
  <cp:revision>35</cp:revision>
  <dcterms:created xsi:type="dcterms:W3CDTF">2022-04-02T06:18:14Z</dcterms:created>
  <dcterms:modified xsi:type="dcterms:W3CDTF">2026-08-31T04:36:36Z</dcterms:modified>
</cp:coreProperties>
</file>