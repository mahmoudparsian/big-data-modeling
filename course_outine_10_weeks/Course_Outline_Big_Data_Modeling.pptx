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56" r:id="rId2"/>
    <p:sldId id="288" r:id="rId3"/>
    <p:sldId id="292" r:id="rId4"/>
    <p:sldId id="291" r:id="rId5"/>
    <p:sldId id="257" r:id="rId6"/>
    <p:sldId id="289" r:id="rId7"/>
    <p:sldId id="290" r:id="rId8"/>
    <p:sldId id="287" r:id="rId9"/>
    <p:sldId id="258" r:id="rId10"/>
    <p:sldId id="260" r:id="rId11"/>
    <p:sldId id="277" r:id="rId12"/>
    <p:sldId id="278" r:id="rId13"/>
    <p:sldId id="263" r:id="rId14"/>
    <p:sldId id="262" r:id="rId15"/>
    <p:sldId id="271" r:id="rId16"/>
    <p:sldId id="272" r:id="rId17"/>
    <p:sldId id="275" r:id="rId18"/>
    <p:sldId id="280" r:id="rId19"/>
    <p:sldId id="261" r:id="rId20"/>
    <p:sldId id="281" r:id="rId21"/>
    <p:sldId id="279" r:id="rId22"/>
    <p:sldId id="282" r:id="rId23"/>
    <p:sldId id="273" r:id="rId24"/>
    <p:sldId id="284" r:id="rId25"/>
    <p:sldId id="283" r:id="rId26"/>
    <p:sldId id="268" r:id="rId27"/>
    <p:sldId id="264" r:id="rId28"/>
    <p:sldId id="269" r:id="rId29"/>
    <p:sldId id="270" r:id="rId30"/>
    <p:sldId id="274" r:id="rId31"/>
    <p:sldId id="285" r:id="rId32"/>
    <p:sldId id="286" r:id="rId33"/>
    <p:sldId id="276" r:id="rId34"/>
    <p:sldId id="266" r:id="rId35"/>
    <p:sldId id="267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27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65E93-E323-764B-9CF0-D55E433161EB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B93C6-1C82-724F-BFBF-243ECDC88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7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5600" y="3991335"/>
            <a:ext cx="9144000" cy="1395551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5600" y="5386885"/>
            <a:ext cx="9144000" cy="55671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Google Shape;11;p9">
            <a:extLst>
              <a:ext uri="{FF2B5EF4-FFF2-40B4-BE49-F238E27FC236}">
                <a16:creationId xmlns:a16="http://schemas.microsoft.com/office/drawing/2014/main" id="{F562F608-3FAF-F944-B5A5-1195B295175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3509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406843"/>
            <a:ext cx="9144000" cy="3070496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489609"/>
            <a:ext cx="9144000" cy="623015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9843B12E-2970-164E-96C4-CA89A1450BB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837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B50043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42BD6F60-39BB-9B49-8AE1-7982FC4CA8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36741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5" name="Google Shape;19;p11">
            <a:extLst>
              <a:ext uri="{FF2B5EF4-FFF2-40B4-BE49-F238E27FC236}">
                <a16:creationId xmlns:a16="http://schemas.microsoft.com/office/drawing/2014/main" id="{56B763D1-B56A-134D-84FC-A52CB9F6A5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234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434167"/>
            <a:ext cx="5365749" cy="539751"/>
          </a:xfrm>
        </p:spPr>
        <p:txBody>
          <a:bodyPr anchor="t">
            <a:normAutofit/>
          </a:bodyPr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11297"/>
            <a:ext cx="10515600" cy="4065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D1EBC6D6-B7A7-8349-BB7D-34239AFEBB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041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851" y="976617"/>
            <a:ext cx="10515600" cy="1003801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8851" y="378638"/>
            <a:ext cx="5365749" cy="539751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851" y="2111297"/>
            <a:ext cx="10515600" cy="20558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FE203F3-27C1-6942-B96E-19FD27429AF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191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695" y="1081798"/>
            <a:ext cx="5365271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584" y="542605"/>
            <a:ext cx="536574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695" y="2756452"/>
            <a:ext cx="11071829" cy="3420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960ADD97-4AD0-0A42-9114-EBC9F2ED47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858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174027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634834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634834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5134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3586056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3046863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0" y="3046863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15;p10">
            <a:extLst>
              <a:ext uri="{FF2B5EF4-FFF2-40B4-BE49-F238E27FC236}">
                <a16:creationId xmlns:a16="http://schemas.microsoft.com/office/drawing/2014/main" id="{8A3194B9-CC43-E546-A5E4-9AD4D155F1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219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620991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1081798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1081799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876801" y="3667447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A7E0C015-0061-4141-B120-DD81D01FA9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530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0128" y="1464895"/>
            <a:ext cx="6713723" cy="83252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128" y="85083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60128" y="2371725"/>
            <a:ext cx="6713723" cy="31797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" y="0"/>
            <a:ext cx="3839572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DE36E4F5-5D6D-DF48-B7A4-0AC093DE605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2456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33" y="1110976"/>
            <a:ext cx="5876111" cy="13638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5632" y="533317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5633" y="2512705"/>
            <a:ext cx="5876111" cy="33086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42744" y="1600200"/>
            <a:ext cx="3657600" cy="36576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24FE092B-3872-D545-8104-23189B691C1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67012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337" y="1078391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24" y="267111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9675" y="1078391"/>
            <a:ext cx="3352799" cy="5000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50866" y="1078393"/>
            <a:ext cx="3352799" cy="50009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0CAD2A9F-C0BE-1D4C-9CB5-9F353CB7EC5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46615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6" y="1081242"/>
            <a:ext cx="8789076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5115337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EF772DB-EBED-AC4E-A6B4-D6788D3D616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9892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9067" y="1620992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89067" y="318715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05" y="447391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1305" y="2401603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DD728A0-FBA7-A944-9FC3-D964968E5F8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31305" y="4349939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64431A57-6760-9247-9E2A-0A0473D22C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0268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1081242"/>
            <a:ext cx="8621925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78752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56028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96661309-1A64-9B40-8E09-EB7C41D02D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4113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231" y="3424738"/>
            <a:ext cx="3535680" cy="2855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11316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94468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7" name="Google Shape;30;p13">
            <a:extLst>
              <a:ext uri="{FF2B5EF4-FFF2-40B4-BE49-F238E27FC236}">
                <a16:creationId xmlns:a16="http://schemas.microsoft.com/office/drawing/2014/main" id="{4B5F8AAA-BFCE-4243-BCCA-044109B0E3F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00650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12F6D154-7CC0-C540-AA65-63CBA5A00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4514" y="3587178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2EB95A51-2BFE-CF45-AF89-35310B6F255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27599" y="3587177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0A9B9C3-F6C3-E14E-B1BC-001989E7B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10751" y="3587175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20" name="Google Shape;30;p13">
            <a:extLst>
              <a:ext uri="{FF2B5EF4-FFF2-40B4-BE49-F238E27FC236}">
                <a16:creationId xmlns:a16="http://schemas.microsoft.com/office/drawing/2014/main" id="{F6FCBC8F-7CCE-2C4C-AAF7-4952D113F07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20957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4568" y="281392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41798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605" y="2277977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9474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9EF3CB1-11C9-364F-BB5B-A911A25998F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8862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236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B1F5A97-5AAD-B944-ACE3-759382926F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61978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D467BC90-669B-E145-A934-88F0093AEA0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651366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0012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0F56272-45A8-464E-A2EF-92E963522C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84993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91AC9B6C-283F-8246-AA1C-A18DA4F7E3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74381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6ABE50-ACB3-F540-B07F-B7E5E31B4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07883" y="2277978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AEEAAA06-A9FA-5C44-BDE5-45762EF595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292753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AB995A1D-84D4-B04C-B7C1-C51D005CC92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482141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9" name="Google Shape;30;p13">
            <a:extLst>
              <a:ext uri="{FF2B5EF4-FFF2-40B4-BE49-F238E27FC236}">
                <a16:creationId xmlns:a16="http://schemas.microsoft.com/office/drawing/2014/main" id="{846B281D-577A-2847-8901-3BC5DDAA2F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00829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467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9" name="Google Shape;30;p13">
            <a:extLst>
              <a:ext uri="{FF2B5EF4-FFF2-40B4-BE49-F238E27FC236}">
                <a16:creationId xmlns:a16="http://schemas.microsoft.com/office/drawing/2014/main" id="{52095448-BA23-8B4C-9877-FF23F4EB99C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8091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Google Shape;30;p13">
            <a:extLst>
              <a:ext uri="{FF2B5EF4-FFF2-40B4-BE49-F238E27FC236}">
                <a16:creationId xmlns:a16="http://schemas.microsoft.com/office/drawing/2014/main" id="{E74E0DDA-6146-E846-9C90-721AC3DB063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81353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30;p13">
            <a:extLst>
              <a:ext uri="{FF2B5EF4-FFF2-40B4-BE49-F238E27FC236}">
                <a16:creationId xmlns:a16="http://schemas.microsoft.com/office/drawing/2014/main" id="{EF4D445F-0EE7-E74E-B0B3-D782FE7112F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7735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33"/>
            </a:lvl2pPr>
            <a:lvl3pPr>
              <a:defRPr sz="1867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DCDAFC0-B225-9546-961B-DC5B9BDD748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31642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EE4A9134-7030-7749-89EA-6705EE97561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4969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3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72127"/>
            <a:ext cx="10515600" cy="4604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C6A4C-6C9C-1247-9E17-AAB2A147EAAC}"/>
              </a:ext>
            </a:extLst>
          </p:cNvPr>
          <p:cNvSpPr txBox="1"/>
          <p:nvPr/>
        </p:nvSpPr>
        <p:spPr>
          <a:xfrm>
            <a:off x="2052578" y="72534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571506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267" b="0" i="0" kern="120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100000"/>
        </a:lnSpc>
        <a:spcBef>
          <a:spcPts val="1000"/>
        </a:spcBef>
        <a:buClr>
          <a:schemeClr val="bg2">
            <a:lumMod val="25000"/>
          </a:schemeClr>
        </a:buClr>
        <a:buSzPct val="85000"/>
        <a:buFont typeface="Arial" panose="020B0604020202020204" pitchFamily="34" charset="0"/>
        <a:buChar char="•"/>
        <a:defRPr sz="2667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685783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Courier New" panose="02070309020205020404" pitchFamily="49" charset="0"/>
        <a:buChar char="o"/>
        <a:defRPr sz="2400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1142971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Wingdings" pitchFamily="2" charset="2"/>
        <a:buChar char="§"/>
        <a:defRPr sz="2133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en.wikipedia.org/wiki/Apache_Spark&amp;ved=2ahUKEwjC_uu_rM6WAxUNLTQIHciVNXoQy_kOeggIAggBCAwQAw&amp;opi=89978449&amp;cd&amp;psig=AOvVaw2VE3PYCvo5HgQqdSV_BRzO&amp;ust=1788385288151000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793820"/>
            <a:ext cx="9144000" cy="340747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Big Data </a:t>
            </a:r>
            <a:br>
              <a:rPr lang="en-US" dirty="0"/>
            </a:br>
            <a:r>
              <a:rPr lang="en-US" dirty="0"/>
              <a:t>Modeling &amp; Analytics</a:t>
            </a:r>
            <a:br>
              <a:rPr lang="en-US" dirty="0"/>
            </a:br>
            <a:r>
              <a:rPr lang="en-US" sz="4400" dirty="0"/>
              <a:t>(</a:t>
            </a:r>
            <a:r>
              <a:rPr lang="en-US" sz="4400" dirty="0">
                <a:solidFill>
                  <a:srgbClr val="00B0F0"/>
                </a:solidFill>
              </a:rPr>
              <a:t>course outline</a:t>
            </a:r>
            <a:r>
              <a:rPr lang="en-US" sz="4400" dirty="0"/>
              <a:t>)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4680581"/>
            <a:ext cx="9144000" cy="959386"/>
          </a:xfrm>
        </p:spPr>
        <p:txBody>
          <a:bodyPr>
            <a:no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Mahmoud Parsian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Ph.D. in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4037632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638-B2D6-95E9-A973-3576A94C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050C-745B-BB10-EB31-67B29EBCB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2915E2-5634-69F9-B951-73B2F49D6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is Big Data?</a:t>
            </a:r>
          </a:p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 is  Big data Modeling?</a:t>
            </a:r>
          </a:p>
          <a:p>
            <a:r>
              <a:rPr lang="en-US" sz="3200" dirty="0">
                <a:solidFill>
                  <a:schemeClr val="tx1"/>
                </a:solidFill>
              </a:rPr>
              <a:t>3.   What  is  Big Data Modeling &amp; Analytics?</a:t>
            </a:r>
          </a:p>
          <a:p>
            <a:r>
              <a:rPr lang="en-US" sz="3200" dirty="0">
                <a:solidFill>
                  <a:schemeClr val="tx1"/>
                </a:solidFill>
              </a:rPr>
              <a:t>4.  </a:t>
            </a:r>
            <a:r>
              <a:rPr lang="en-US" sz="3200" dirty="0">
                <a:solidFill>
                  <a:srgbClr val="00B0F0"/>
                </a:solidFill>
              </a:rPr>
              <a:t>Solutions</a:t>
            </a:r>
            <a:r>
              <a:rPr lang="en-US" sz="3200" dirty="0">
                <a:solidFill>
                  <a:schemeClr val="tx1"/>
                </a:solidFill>
              </a:rPr>
              <a:t> to Big Data Modeling &amp; Analytics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MapReduce paradigm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Spark/PySpark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Amazon Athena &amp; Google’s Big Query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…</a:t>
            </a:r>
          </a:p>
          <a:p>
            <a:endParaRPr lang="en-US" sz="3200" dirty="0">
              <a:solidFill>
                <a:srgbClr val="00B0F0"/>
              </a:solidFill>
            </a:endParaRP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8165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D7243-15AD-425E-DFCF-2A2EE95FA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8F834-4DE8-3048-DAA2-4FBC5C624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76435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1. What is Big Data?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19F36D-D67A-B1D0-6CD3-5B3D4D9B0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899"/>
            <a:ext cx="9144000" cy="5114611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Big Data</a:t>
            </a:r>
            <a:r>
              <a:rPr lang="en-US" sz="3200" dirty="0">
                <a:solidFill>
                  <a:schemeClr val="tx1"/>
                </a:solidFill>
              </a:rPr>
              <a:t> refers to datasets that are </a:t>
            </a:r>
            <a:r>
              <a:rPr lang="en-US" sz="3200" u="sng" dirty="0">
                <a:solidFill>
                  <a:schemeClr val="tx1"/>
                </a:solidFill>
                <a:highlight>
                  <a:srgbClr val="00FF00"/>
                </a:highlight>
              </a:rPr>
              <a:t>so massive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u="sng" dirty="0">
                <a:solidFill>
                  <a:srgbClr val="0070C0"/>
                </a:solidFill>
                <a:highlight>
                  <a:srgbClr val="00FF00"/>
                </a:highlight>
              </a:rPr>
              <a:t>fast-moving</a:t>
            </a:r>
            <a:r>
              <a:rPr lang="en-US" sz="3200" dirty="0">
                <a:solidFill>
                  <a:schemeClr val="tx1"/>
                </a:solidFill>
              </a:rPr>
              <a:t>,  and </a:t>
            </a:r>
            <a:r>
              <a:rPr lang="en-US" sz="3200" u="sng" dirty="0">
                <a:solidFill>
                  <a:srgbClr val="7030A0"/>
                </a:solidFill>
                <a:highlight>
                  <a:srgbClr val="00FF00"/>
                </a:highlight>
              </a:rPr>
              <a:t>complex</a:t>
            </a:r>
            <a:r>
              <a:rPr lang="en-US" sz="3200" dirty="0">
                <a:solidFill>
                  <a:schemeClr val="tx1"/>
                </a:solidFill>
              </a:rPr>
              <a:t> that traditional data-processing </a:t>
            </a:r>
          </a:p>
          <a:p>
            <a:r>
              <a:rPr lang="en-US" sz="3200" dirty="0">
                <a:solidFill>
                  <a:schemeClr val="tx1"/>
                </a:solidFill>
              </a:rPr>
              <a:t>software cannot capture, store, or analyze them effectively</a:t>
            </a:r>
            <a:r>
              <a:rPr lang="en-US" sz="3200" b="1" dirty="0">
                <a:solidFill>
                  <a:schemeClr val="tx1"/>
                </a:solidFill>
              </a:rPr>
              <a:t>.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Instead of relying on a  </a:t>
            </a:r>
            <a:r>
              <a:rPr lang="en-US" sz="3200" dirty="0">
                <a:solidFill>
                  <a:schemeClr val="accent1"/>
                </a:solidFill>
                <a:highlight>
                  <a:srgbClr val="0000FF"/>
                </a:highlight>
              </a:rPr>
              <a:t>single computer 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dirty="0">
                <a:solidFill>
                  <a:schemeClr val="tx1"/>
                </a:solidFill>
              </a:rPr>
              <a:t>big data requires </a:t>
            </a:r>
            <a:r>
              <a:rPr lang="en-US" sz="3200" u="sng" dirty="0">
                <a:solidFill>
                  <a:schemeClr val="tx1"/>
                </a:solidFill>
              </a:rPr>
              <a:t>specialized frameworks </a:t>
            </a:r>
            <a:r>
              <a:rPr lang="en-US" sz="3200" dirty="0">
                <a:solidFill>
                  <a:schemeClr val="tx1"/>
                </a:solidFill>
              </a:rPr>
              <a:t>like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Apache Spark</a:t>
            </a:r>
            <a:endParaRPr lang="en-US" sz="3200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Cluster Computing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Snowflake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Amazon Athena / Google’s BigQuery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endParaRPr lang="en-US" sz="3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77715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F8F14-B0A6-8471-A8BF-4EB97946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C0D2-3D42-409E-6E8A-3022A7934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353BF7-8743-7C25-95E3-4E6ADA5D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modeling is the process of </a:t>
            </a:r>
            <a:r>
              <a:rPr lang="en-US" sz="3600" dirty="0">
                <a:solidFill>
                  <a:srgbClr val="00B0F0"/>
                </a:solidFill>
              </a:rPr>
              <a:t>organizing large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F0"/>
                </a:solidFill>
              </a:rPr>
              <a:t>fast-moving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F0"/>
                </a:solidFill>
              </a:rPr>
              <a:t>diverse datasets </a:t>
            </a:r>
            <a:r>
              <a:rPr lang="en-US" sz="3600" dirty="0">
                <a:solidFill>
                  <a:schemeClr val="tx1"/>
                </a:solidFill>
              </a:rPr>
              <a:t>so they can be </a:t>
            </a:r>
            <a:r>
              <a:rPr lang="en-US" sz="3600" dirty="0">
                <a:solidFill>
                  <a:srgbClr val="00B050"/>
                </a:solidFill>
              </a:rPr>
              <a:t>stored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50"/>
                </a:solidFill>
              </a:rPr>
              <a:t>processed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  <a:r>
              <a:rPr lang="en-US" sz="3600" dirty="0">
                <a:solidFill>
                  <a:srgbClr val="00B050"/>
                </a:solidFill>
              </a:rPr>
              <a:t>analyzed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50"/>
                </a:solidFill>
              </a:rPr>
              <a:t>understood</a:t>
            </a:r>
            <a:r>
              <a:rPr lang="en-US" sz="3600" dirty="0">
                <a:solidFill>
                  <a:schemeClr val="tx1"/>
                </a:solidFill>
              </a:rPr>
              <a:t> efficiently.</a:t>
            </a:r>
          </a:p>
          <a:p>
            <a:endParaRPr lang="en-US" sz="3600" dirty="0"/>
          </a:p>
          <a:p>
            <a:r>
              <a:rPr lang="en-US" sz="3600" b="1" u="sng" dirty="0"/>
              <a:t>Key Characteristics</a:t>
            </a:r>
            <a:endParaRPr lang="en-US" sz="3600" b="1" u="sng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1. Volume</a:t>
            </a:r>
            <a:r>
              <a:rPr lang="en-US" sz="3600" dirty="0">
                <a:solidFill>
                  <a:schemeClr val="tx1"/>
                </a:solidFill>
              </a:rPr>
              <a:t>: Handles massive amounts of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2. Velocity</a:t>
            </a:r>
            <a:r>
              <a:rPr lang="en-US" sz="3600" dirty="0">
                <a:solidFill>
                  <a:schemeClr val="tx1"/>
                </a:solidFill>
              </a:rPr>
              <a:t>: Supports rapidly generated and processed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3. Variety</a:t>
            </a:r>
            <a:r>
              <a:rPr lang="en-US" sz="3600" dirty="0">
                <a:solidFill>
                  <a:schemeClr val="tx1"/>
                </a:solidFill>
              </a:rPr>
              <a:t>: Combines structured, semi-structured, and unstructured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4. Veracity</a:t>
            </a:r>
            <a:r>
              <a:rPr lang="en-US" sz="3600" dirty="0">
                <a:solidFill>
                  <a:schemeClr val="tx1"/>
                </a:solidFill>
              </a:rPr>
              <a:t>: The quality, reliability, and trust of the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5. Scalability</a:t>
            </a:r>
            <a:r>
              <a:rPr lang="en-US" sz="3600" dirty="0">
                <a:solidFill>
                  <a:schemeClr val="tx1"/>
                </a:solidFill>
              </a:rPr>
              <a:t>: Adapts as data and user demand grow</a:t>
            </a: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146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92500"/>
          </a:bodyPr>
          <a:lstStyle/>
          <a:p>
            <a:r>
              <a:rPr lang="en-US" sz="3600" dirty="0"/>
              <a:t># Common Models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Data lakes and Lake-Houses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NoSQL models: document, key-value, column, and graph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Distributed data warehouses (Snowflake)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Batch and streaming architectures (Spark)</a:t>
            </a:r>
          </a:p>
          <a:p>
            <a:endParaRPr lang="en-US" sz="3600" dirty="0"/>
          </a:p>
          <a:p>
            <a:r>
              <a:rPr lang="en-US" sz="3600" dirty="0"/>
              <a:t>&gt; Goal: </a:t>
            </a:r>
            <a:r>
              <a:rPr lang="en-US" sz="3600" dirty="0">
                <a:solidFill>
                  <a:srgbClr val="00B0F0"/>
                </a:solidFill>
              </a:rPr>
              <a:t>Turn complex raw data into a reliable structure for analysis and decision-making.</a:t>
            </a: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6493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69774-946E-B260-E4C8-F247732A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5835-EA10-131F-D9B6-525812083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5C9645-A45B-E966-6AAB-2EA599B16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analytics uses modeled data to discover patterns, </a:t>
            </a:r>
          </a:p>
          <a:p>
            <a:r>
              <a:rPr lang="en-US" sz="3600" dirty="0">
                <a:solidFill>
                  <a:schemeClr val="tx1"/>
                </a:solidFill>
              </a:rPr>
              <a:t>explain outcomes, predict future events, and recommend actions.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Analytics Types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Descriptive: What happened?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Diagnostic: Why did it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Predictive: What is likely to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Prescriptive: What action should be taken?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Typical Workflow</a:t>
            </a:r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</a:rPr>
              <a:t>Collect → Clean → Model → Process → Analyze → Visualize → Act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03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968A-F75F-7263-50D7-75791B9A7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F246D-7A97-8661-9CA0-D068C54041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B0F0"/>
                </a:solidFill>
              </a:rPr>
              <a:t>Business Value</a:t>
            </a:r>
            <a:r>
              <a:rPr lang="en-US" sz="3600" dirty="0"/>
              <a:t> of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B49BE-0C8C-8FDB-F16E-E88633B66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92500"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Faster, evidence-based decisions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Improved customer experiences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Fraud and risk detection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Operational efficiency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Forecasting and innovation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Building AI-LLM models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Strong analytics </a:t>
            </a:r>
            <a:r>
              <a:rPr lang="en-US" sz="3600" dirty="0">
                <a:solidFill>
                  <a:schemeClr val="tx1"/>
                </a:solidFill>
              </a:rPr>
              <a:t>depends</a:t>
            </a:r>
            <a:r>
              <a:rPr lang="en-US" sz="3600" dirty="0">
                <a:solidFill>
                  <a:srgbClr val="00B0F0"/>
                </a:solidFill>
              </a:rPr>
              <a:t> on a scalable, accurate, </a:t>
            </a: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and well-governed data model.</a:t>
            </a:r>
          </a:p>
        </p:txBody>
      </p:sp>
    </p:spTree>
    <p:extLst>
      <p:ext uri="{BB962C8B-B14F-4D97-AF65-F5344CB8AC3E}">
        <p14:creationId xmlns:p14="http://schemas.microsoft.com/office/powerpoint/2010/main" val="1219775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E3BA-5316-BF9D-F70F-56560679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7236-BD85-4A18-23D9-EB2B61B0F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716376"/>
          </a:xfrm>
        </p:spPr>
        <p:txBody>
          <a:bodyPr>
            <a:normAutofit fontScale="90000"/>
          </a:bodyPr>
          <a:lstStyle/>
          <a:p>
            <a:r>
              <a:rPr lang="en-US" dirty="0"/>
              <a:t>Main Course Components: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A3236A-EEC5-EDBF-E424-319C91C75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2074410"/>
            <a:ext cx="9144000" cy="4134677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1. </a:t>
            </a:r>
            <a:r>
              <a:rPr lang="en-US" sz="3600" dirty="0">
                <a:solidFill>
                  <a:srgbClr val="00B0F0"/>
                </a:solidFill>
              </a:rPr>
              <a:t>Introduction to MapReduce Paradigm (25%)</a:t>
            </a:r>
          </a:p>
          <a:p>
            <a:pPr algn="l"/>
            <a:r>
              <a:rPr lang="en-US" sz="3600" dirty="0"/>
              <a:t>2. </a:t>
            </a:r>
            <a:r>
              <a:rPr lang="en-US" sz="3600" dirty="0">
                <a:solidFill>
                  <a:srgbClr val="FF0000"/>
                </a:solidFill>
              </a:rPr>
              <a:t>Spark and PySpark (60%)</a:t>
            </a:r>
          </a:p>
          <a:p>
            <a:pPr algn="l"/>
            <a:r>
              <a:rPr lang="en-US" sz="3600" dirty="0"/>
              <a:t>3. </a:t>
            </a:r>
            <a:r>
              <a:rPr lang="en-US" sz="3600" dirty="0">
                <a:solidFill>
                  <a:srgbClr val="00B050"/>
                </a:solidFill>
              </a:rPr>
              <a:t>Serverless SQL Access to Big Data (15%)</a:t>
            </a:r>
            <a:endParaRPr lang="en-US" sz="1200" dirty="0">
              <a:solidFill>
                <a:srgbClr val="00B05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1012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33414" y="287567"/>
            <a:ext cx="4192655" cy="750402"/>
          </a:xfrm>
        </p:spPr>
        <p:txBody>
          <a:bodyPr>
            <a:normAutofit/>
          </a:bodyPr>
          <a:lstStyle/>
          <a:p>
            <a:r>
              <a:rPr lang="en-US" dirty="0"/>
              <a:t>Big 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998" y="1037969"/>
            <a:ext cx="9895002" cy="4565148"/>
          </a:xfrm>
        </p:spPr>
        <p:txBody>
          <a:bodyPr>
            <a:normAutofit/>
          </a:bodyPr>
          <a:lstStyle/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80131A01-A343-3243-8C0C-F4C051A95EC8}"/>
              </a:ext>
            </a:extLst>
          </p:cNvPr>
          <p:cNvSpPr/>
          <p:nvPr/>
        </p:nvSpPr>
        <p:spPr>
          <a:xfrm>
            <a:off x="1080230" y="2797226"/>
            <a:ext cx="2030770" cy="2069889"/>
          </a:xfrm>
          <a:prstGeom prst="foldedCorner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Input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1. Text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2. Transactions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3. DNA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4. Cancer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D9EB00-CC87-1948-B4C0-5EBF92C2A194}"/>
              </a:ext>
            </a:extLst>
          </p:cNvPr>
          <p:cNvSpPr/>
          <p:nvPr/>
        </p:nvSpPr>
        <p:spPr>
          <a:xfrm>
            <a:off x="4000121" y="2855485"/>
            <a:ext cx="4192654" cy="2067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Data Analysis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Transformations &amp; Actions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Mappers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Filters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Reducers</a:t>
            </a:r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A942C44-4FF8-0948-98C7-ED21DF3F7C0C}"/>
              </a:ext>
            </a:extLst>
          </p:cNvPr>
          <p:cNvSpPr/>
          <p:nvPr/>
        </p:nvSpPr>
        <p:spPr>
          <a:xfrm>
            <a:off x="9004052" y="3175686"/>
            <a:ext cx="1404730" cy="916080"/>
          </a:xfrm>
          <a:prstGeom prst="foldedCorner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Desired </a:t>
            </a:r>
          </a:p>
          <a:p>
            <a:pPr algn="ctr"/>
            <a:r>
              <a:rPr lang="en-US" sz="2400" dirty="0"/>
              <a:t>Output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DB2D79-6942-6348-B510-E1EAEC3A74C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11000" y="3832171"/>
            <a:ext cx="889121" cy="56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AEE2C5-33D1-6B4E-8C29-074E7A60DC5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8192775" y="3633726"/>
            <a:ext cx="811277" cy="255429"/>
          </a:xfrm>
          <a:prstGeom prst="straightConnector1">
            <a:avLst/>
          </a:prstGeom>
          <a:ln w="31750">
            <a:solidFill>
              <a:schemeClr val="tx1">
                <a:alpha val="94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017890-C925-904A-B21E-6384DDF3BFF9}"/>
              </a:ext>
            </a:extLst>
          </p:cNvPr>
          <p:cNvSpPr/>
          <p:nvPr/>
        </p:nvSpPr>
        <p:spPr>
          <a:xfrm>
            <a:off x="2385445" y="1202700"/>
            <a:ext cx="1881808" cy="1033669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1. MapReduce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72B3A01-9C2E-DA40-8B22-023FFE73018B}"/>
              </a:ext>
            </a:extLst>
          </p:cNvPr>
          <p:cNvSpPr/>
          <p:nvPr/>
        </p:nvSpPr>
        <p:spPr>
          <a:xfrm>
            <a:off x="4451420" y="1202701"/>
            <a:ext cx="2461846" cy="112312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2.</a:t>
            </a:r>
          </a:p>
          <a:p>
            <a:pPr algn="ctr"/>
            <a:r>
              <a:rPr lang="en-US" sz="2400" dirty="0"/>
              <a:t>Spark/PySpark</a:t>
            </a:r>
          </a:p>
          <a:p>
            <a:pPr algn="ctr"/>
            <a:r>
              <a:rPr lang="en-US" sz="2400" dirty="0"/>
              <a:t>RDD/</a:t>
            </a:r>
            <a:r>
              <a:rPr lang="en-US" sz="2400" dirty="0" err="1"/>
              <a:t>DataFrame</a:t>
            </a:r>
            <a:endParaRPr lang="en-US" sz="24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385219-E031-504C-8EC0-1185515601A3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82343" y="2325825"/>
            <a:ext cx="414105" cy="52966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931F5A5-0E52-4D3E-3C91-209CA1644140}"/>
              </a:ext>
            </a:extLst>
          </p:cNvPr>
          <p:cNvSpPr/>
          <p:nvPr/>
        </p:nvSpPr>
        <p:spPr>
          <a:xfrm>
            <a:off x="7172985" y="1291451"/>
            <a:ext cx="2002735" cy="1033669"/>
          </a:xfrm>
          <a:prstGeom prst="round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2060"/>
                </a:solidFill>
              </a:rPr>
              <a:t>3.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Amazon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Athena (SQL)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3C9E8F-AC65-554B-EFCE-6DE2142AF8F5}"/>
              </a:ext>
            </a:extLst>
          </p:cNvPr>
          <p:cNvCxnSpPr>
            <a:cxnSpLocks/>
          </p:cNvCxnSpPr>
          <p:nvPr/>
        </p:nvCxnSpPr>
        <p:spPr>
          <a:xfrm flipH="1">
            <a:off x="6830667" y="2340330"/>
            <a:ext cx="424898" cy="5022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874E25-F3A4-8706-151D-7E2633C31F01}"/>
              </a:ext>
            </a:extLst>
          </p:cNvPr>
          <p:cNvCxnSpPr>
            <a:cxnSpLocks/>
          </p:cNvCxnSpPr>
          <p:nvPr/>
        </p:nvCxnSpPr>
        <p:spPr>
          <a:xfrm>
            <a:off x="3418232" y="2264006"/>
            <a:ext cx="970001" cy="53322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5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MapReduce</a:t>
            </a:r>
            <a:r>
              <a:rPr lang="en-US" sz="3000" dirty="0">
                <a:solidFill>
                  <a:srgbClr val="002060"/>
                </a:solidFill>
              </a:rPr>
              <a:t> is a programming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MapReduce has 3 functions: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endParaRPr lang="en-US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87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For MapReduce, we will use: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Pseudo code (not executable)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PySpark code (runs on Spark)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2060"/>
                </a:solidFill>
              </a:rPr>
              <a:t> For MapReduce, we will focus on learning MapReduce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</a:rPr>
              <a:t>For MapReduce, </a:t>
            </a:r>
            <a:r>
              <a:rPr lang="en-US" sz="3600" b="1" dirty="0">
                <a:solidFill>
                  <a:srgbClr val="002060"/>
                </a:solidFill>
              </a:rPr>
              <a:t>pseudo-code </a:t>
            </a:r>
            <a:endParaRPr lang="en-US" sz="3600" dirty="0">
              <a:solidFill>
                <a:srgbClr val="002060"/>
              </a:solidFill>
            </a:endParaRP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2060"/>
                </a:solidFill>
              </a:rPr>
              <a:t>examples are given in </a:t>
            </a:r>
            <a:r>
              <a:rPr lang="en-US" sz="2400" dirty="0"/>
              <a:t>Lin, J., &amp; Dyer, C. (2010). </a:t>
            </a:r>
            <a:r>
              <a:rPr lang="en-US" sz="2400" i="1" dirty="0"/>
              <a:t>Data-intensive text processing with MapReduce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8205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Components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MapReduce has 3 functions: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Mapper function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Reducer function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r>
              <a:rPr lang="en-US" sz="8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Optional combiner function</a:t>
            </a:r>
            <a:endParaRPr lang="en-US" sz="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685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830006"/>
          </a:xfrm>
        </p:spPr>
        <p:txBody>
          <a:bodyPr/>
          <a:lstStyle/>
          <a:p>
            <a:r>
              <a:rPr lang="en-US" dirty="0"/>
              <a:t>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1482811"/>
            <a:ext cx="9362303" cy="4556247"/>
          </a:xfrm>
        </p:spPr>
        <p:txBody>
          <a:bodyPr>
            <a:normAutofit fontScale="92500" lnSpcReduction="10000"/>
          </a:bodyPr>
          <a:lstStyle/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70C0"/>
                </a:solidFill>
              </a:rPr>
              <a:t>MapReduce is a foundation model/paradigm for distributed computing using clusters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50"/>
                </a:solidFill>
              </a:rPr>
              <a:t>MapReduce implementations: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Hadoop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Spark</a:t>
            </a:r>
            <a:r>
              <a:rPr lang="en-US" sz="3200" dirty="0">
                <a:solidFill>
                  <a:schemeClr val="tx1"/>
                </a:solidFill>
              </a:rPr>
              <a:t> implements superset of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Tez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Amazon Athena</a:t>
            </a:r>
            <a:r>
              <a:rPr lang="en-US" sz="3200" dirty="0">
                <a:solidFill>
                  <a:schemeClr val="tx1"/>
                </a:solidFill>
              </a:rPr>
              <a:t>: S</a:t>
            </a:r>
            <a:r>
              <a:rPr lang="en-US" sz="3200" dirty="0"/>
              <a:t>erverless SQL service</a:t>
            </a:r>
            <a:endParaRPr lang="en-US" sz="3200" dirty="0">
              <a:solidFill>
                <a:schemeClr val="tx1"/>
              </a:solidFill>
            </a:endParaRP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Google BigQuery</a:t>
            </a:r>
            <a:r>
              <a:rPr lang="en-US" sz="3200" dirty="0">
                <a:solidFill>
                  <a:schemeClr val="tx1"/>
                </a:solidFill>
              </a:rPr>
              <a:t>:  </a:t>
            </a:r>
            <a:r>
              <a:rPr lang="en-US" sz="3000" dirty="0"/>
              <a:t>distributed execution graph and shuffle architecture</a:t>
            </a:r>
            <a:endParaRPr lang="en-US" sz="3200" dirty="0">
              <a:solidFill>
                <a:schemeClr val="tx1"/>
              </a:solidFill>
            </a:endParaRPr>
          </a:p>
          <a:p>
            <a:pPr marL="457211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206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4996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29343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Paradigm: High-Level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71600"/>
            <a:ext cx="9144000" cy="4333461"/>
          </a:xfrm>
        </p:spPr>
        <p:txBody>
          <a:bodyPr>
            <a:normAutofit/>
          </a:bodyPr>
          <a:lstStyle/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BFEAB-8BBF-7B20-3166-F2CEF8513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1828800"/>
            <a:ext cx="8890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88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7187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</a:t>
            </a:r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8F8E1082-1B75-2177-A0EF-659F97E9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470453"/>
            <a:ext cx="7780638" cy="39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101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729050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Example-1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67678915-5579-AD05-8CBE-3D9BBEB9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508" y="1161537"/>
            <a:ext cx="7092778" cy="433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00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6301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Example-2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D06AB53C-CE79-F689-64B2-7DA6C35E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62682"/>
            <a:ext cx="8534400" cy="427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51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(1)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Input data is partitioned by a partitioner into chunks and sent to Mappers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Assume your input is comprised of 80,000,000,000 records, which might be partitioned into 40,000 chunks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Number of partitions: 40,000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Each partition will have about 2,000,000 records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Maximum mapper parallelism can be 40,000 mappers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80,000,000,000 = 40,000 x 2,000,000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mapper function, map(K, V) is executed on all partitions in parallel (as much as possible – depends on resources available).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map(K, V) generates any number of (key, value) pairs such as: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{(K1, V1), (K2, V2), …}</a:t>
            </a:r>
            <a:r>
              <a:rPr lang="en-US" dirty="0">
                <a:solidFill>
                  <a:schemeClr val="tx1"/>
                </a:solidFill>
              </a:rPr>
              <a:t>. For example, K can be a record number and V can be the actual input record </a:t>
            </a:r>
          </a:p>
        </p:txBody>
      </p:sp>
    </p:spTree>
    <p:extLst>
      <p:ext uri="{BB962C8B-B14F-4D97-AF65-F5344CB8AC3E}">
        <p14:creationId xmlns:p14="http://schemas.microsoft.com/office/powerpoint/2010/main" val="6897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All mappers output go to </a:t>
            </a:r>
            <a:r>
              <a:rPr lang="en-US" b="1" i="1" u="sng" dirty="0">
                <a:solidFill>
                  <a:srgbClr val="00B050"/>
                </a:solidFill>
              </a:rPr>
              <a:t>Sort &amp; Shuffle</a:t>
            </a:r>
            <a:r>
              <a:rPr lang="en-US" b="1" i="1" u="sng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</a:rPr>
              <a:t>phase, which groups values by unique keys (similar to GROUP BY in SQL).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Sort &amp; Shuffle  </a:t>
            </a:r>
            <a:r>
              <a:rPr lang="en-US" dirty="0">
                <a:solidFill>
                  <a:schemeClr val="tx1"/>
                </a:solidFill>
              </a:rPr>
              <a:t>creates (key, value) pairs as: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[v1, v2,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key_2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[u1, u2,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r>
              <a:rPr lang="en-US" dirty="0">
                <a:solidFill>
                  <a:schemeClr val="tx1"/>
                </a:solidFill>
              </a:rPr>
              <a:t>Where 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</a:rPr>
              <a:t>{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key_1, key_2, …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} </a:t>
            </a:r>
          </a:p>
          <a:p>
            <a:r>
              <a:rPr lang="en-US" dirty="0">
                <a:solidFill>
                  <a:schemeClr val="tx1"/>
                </a:solidFill>
              </a:rPr>
              <a:t>are the unique keys created by all mappers</a:t>
            </a:r>
          </a:p>
        </p:txBody>
      </p:sp>
    </p:spTree>
    <p:extLst>
      <p:ext uri="{BB962C8B-B14F-4D97-AF65-F5344CB8AC3E}">
        <p14:creationId xmlns:p14="http://schemas.microsoft.com/office/powerpoint/2010/main" val="2903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1196" y="426667"/>
            <a:ext cx="9144000" cy="646042"/>
          </a:xfrm>
        </p:spPr>
        <p:txBody>
          <a:bodyPr>
            <a:noAutofit/>
          </a:bodyPr>
          <a:lstStyle/>
          <a:p>
            <a:r>
              <a:rPr lang="en-US" sz="3600">
                <a:solidFill>
                  <a:srgbClr val="002060"/>
                </a:solidFill>
              </a:rPr>
              <a:t>Solving a Big Data Problem with MapReduce (3)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Output of Sort &amp; Shuffle goes to reducers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 reducer operates on (key, value) pairs where key is in</a:t>
            </a:r>
          </a:p>
          <a:p>
            <a:r>
              <a:rPr lang="en-US">
                <a:solidFill>
                  <a:schemeClr val="tx1"/>
                </a:solidFill>
                <a:latin typeface="Courier" pitchFamily="2" charset="0"/>
              </a:rPr>
              <a:t>{ key_1, key_2, …, </a:t>
            </a:r>
            <a:r>
              <a:rPr lang="en-US" err="1">
                <a:solidFill>
                  <a:schemeClr val="tx1"/>
                </a:solidFill>
                <a:latin typeface="Courier" pitchFamily="2" charset="0"/>
              </a:rPr>
              <a:t>key_n</a:t>
            </a:r>
            <a:r>
              <a:rPr lang="en-US">
                <a:solidFill>
                  <a:schemeClr val="tx1"/>
                </a:solidFill>
                <a:latin typeface="Courier" pitchFamily="2" charset="0"/>
              </a:rPr>
              <a:t> } </a:t>
            </a:r>
          </a:p>
          <a:p>
            <a:r>
              <a:rPr lang="en-US">
                <a:solidFill>
                  <a:schemeClr val="tx1"/>
                </a:solidFill>
              </a:rPr>
              <a:t>and value is an associated value for the key.</a:t>
            </a:r>
          </a:p>
          <a:p>
            <a:r>
              <a:rPr lang="en-US">
                <a:solidFill>
                  <a:schemeClr val="tx1"/>
                </a:solidFill>
              </a:rPr>
              <a:t>Therefore, the following reducers can be executed in parallel:</a:t>
            </a:r>
          </a:p>
          <a:p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reduce(key_1, [v1, v2,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reduce(key_2, [u1, u2,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</a:t>
            </a:r>
            <a:r>
              <a:rPr lang="en-US" sz="20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Each reducer can create any number </a:t>
            </a:r>
          </a:p>
          <a:p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  of new (key, value) pairs.</a:t>
            </a:r>
          </a:p>
          <a:p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8186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6437"/>
            <a:ext cx="9144000" cy="77572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 b="1">
                <a:solidFill>
                  <a:srgbClr val="00B0F0"/>
                </a:solidFill>
              </a:rPr>
              <a:t>Apache Spark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00B0F0"/>
                </a:solidFill>
              </a:rPr>
              <a:t>Apache </a:t>
            </a:r>
            <a:r>
              <a:rPr lang="en-US" sz="3200" b="1">
                <a:solidFill>
                  <a:srgbClr val="00B0F0"/>
                </a:solidFill>
              </a:rPr>
              <a:t>Spark</a:t>
            </a:r>
            <a:r>
              <a:rPr lang="en-US" sz="3200">
                <a:solidFill>
                  <a:schemeClr val="tx1"/>
                </a:solidFill>
              </a:rPr>
              <a:t> is a multi-language (Java, Python, Scala) engine for executing data engineering, data science, and machine learning on single-node machines or clusters.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PySpark</a:t>
            </a:r>
            <a:r>
              <a:rPr lang="en-US" sz="4400">
                <a:solidFill>
                  <a:schemeClr val="tx1"/>
                </a:solidFill>
              </a:rPr>
              <a:t> is a Python API for Spark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Spark</a:t>
            </a:r>
            <a:r>
              <a:rPr lang="en-US" sz="4400">
                <a:solidFill>
                  <a:schemeClr val="tx1"/>
                </a:solidFill>
              </a:rPr>
              <a:t> is a superset of MapReduce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>
                <a:solidFill>
                  <a:srgbClr val="00B0F0"/>
                </a:solidFill>
              </a:rPr>
              <a:t>Spark</a:t>
            </a:r>
            <a:r>
              <a:rPr lang="en-US" sz="3600">
                <a:solidFill>
                  <a:schemeClr val="tx1"/>
                </a:solidFill>
              </a:rPr>
              <a:t> web site:  https://</a:t>
            </a:r>
            <a:r>
              <a:rPr lang="en-US" sz="3600" err="1">
                <a:solidFill>
                  <a:schemeClr val="tx1"/>
                </a:solidFill>
              </a:rPr>
              <a:t>spark.apache.org</a:t>
            </a:r>
            <a:endParaRPr lang="en-US" sz="3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802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>
                <a:solidFill>
                  <a:srgbClr val="00B0F0"/>
                </a:solidFill>
              </a:rPr>
              <a:t>Apache Spark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For Apache </a:t>
            </a:r>
            <a:r>
              <a:rPr lang="en-US" sz="3200" b="1">
                <a:solidFill>
                  <a:schemeClr val="tx1"/>
                </a:solidFill>
                <a:latin typeface="Avenir Next" panose="020B0503020202020204" pitchFamily="34" charset="0"/>
              </a:rPr>
              <a:t>Spark</a:t>
            </a:r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 , we will use 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PySpark and </a:t>
            </a:r>
          </a:p>
          <a:p>
            <a:pPr algn="l"/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write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actual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executable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programs:</a:t>
            </a:r>
          </a:p>
          <a:p>
            <a:pPr algn="l"/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&gt;&gt;&gt; # spark is an instance of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SparkSession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 object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spark.sparkContext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              .parallelize(range(0, 100))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rdd.count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100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rdd.reduce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(lambda x, y: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x+y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4950</a:t>
            </a:r>
          </a:p>
        </p:txBody>
      </p:sp>
    </p:spTree>
    <p:extLst>
      <p:ext uri="{BB962C8B-B14F-4D97-AF65-F5344CB8AC3E}">
        <p14:creationId xmlns:p14="http://schemas.microsoft.com/office/powerpoint/2010/main" val="276345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558" y="291090"/>
            <a:ext cx="8144758" cy="932688"/>
          </a:xfrm>
        </p:spPr>
        <p:txBody>
          <a:bodyPr>
            <a:normAutofit/>
          </a:bodyPr>
          <a:lstStyle/>
          <a:p>
            <a:r>
              <a:rPr lang="en-US" sz="5400"/>
              <a:t>Apache Spark: Components</a:t>
            </a:r>
          </a:p>
        </p:txBody>
      </p:sp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212027B5-0886-D1E6-5EBB-38CF05BB9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027" y="1322173"/>
            <a:ext cx="8622303" cy="498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4031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A1AF-706C-7E4A-FDB5-E88A3BE41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59739-A3F6-8212-95F5-133AA5A4F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593889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50"/>
                </a:solidFill>
              </a:rPr>
              <a:t>Spark run modes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06FFD3-B64D-1F7B-35AF-B891B6FD5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4338"/>
            <a:ext cx="9144000" cy="4729079"/>
          </a:xfrm>
        </p:spPr>
        <p:txBody>
          <a:bodyPr>
            <a:normAutofit fontScale="62500" lnSpcReduction="20000"/>
          </a:bodyPr>
          <a:lstStyle/>
          <a:p>
            <a:r>
              <a:rPr lang="en-US" sz="3200" b="1" i="1">
                <a:solidFill>
                  <a:srgbClr val="00B0F0"/>
                </a:solidFill>
                <a:latin typeface="Avenir Next" panose="020B0503020202020204" pitchFamily="34" charset="0"/>
              </a:rPr>
              <a:t>Local Mode Single machine: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Runs entirely on a single computer or laptop.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Threads for execution: Uses local threads to simulate worker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Testing and development: Best used for debugging and running quick tests.</a:t>
            </a:r>
          </a:p>
          <a:p>
            <a:endParaRPr lang="en-US" sz="2800">
              <a:solidFill>
                <a:schemeClr val="tx1"/>
              </a:solidFill>
              <a:latin typeface="Avenir Next" panose="020B0503020202020204" pitchFamily="34" charset="0"/>
            </a:endParaRPr>
          </a:p>
          <a:p>
            <a:r>
              <a:rPr lang="en-US" sz="2800" b="1" i="1">
                <a:solidFill>
                  <a:srgbClr val="00B0F0"/>
                </a:solidFill>
                <a:latin typeface="Avenir Next" panose="020B0503020202020204" pitchFamily="34" charset="0"/>
              </a:rPr>
              <a:t>Cluster Modes:</a:t>
            </a:r>
          </a:p>
          <a:p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In cluster modes, the main distinction is where the Spark Driver (the program that coordinates the work) runs.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Client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External driver: The driver runs on the machine where the job was submitted. Interactive use: Best for interactive shells, notebooks, and local debugging. Network dependent: If your local machine disconnects, the job fails.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Cluster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Internal driver: The driver runs inside a worker node within the cluster. Production standard: Best for scheduled production jobs. Independent: You can close your laptop and the job will keep running.</a:t>
            </a:r>
            <a:endParaRPr lang="en-US" sz="28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92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4C889-35E5-DA56-6C16-9F4FC74D8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7B0A-47E2-4A23-2934-11DC0BD2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482" y="370704"/>
            <a:ext cx="8669518" cy="60548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F0"/>
                </a:solidFill>
              </a:rPr>
              <a:t>Apache Spark</a:t>
            </a:r>
            <a:r>
              <a:rPr lang="en-US"/>
              <a:t>: runs in a cluster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44790D-F51F-2A0D-5A0E-4B6BF7096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70" y="1136651"/>
            <a:ext cx="7316230" cy="4584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0425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29068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/>
              <a:t>Apache Spark: Cluster Manager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A5A6EA09-4F57-E43B-8CE5-84BD65000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31" y="1027871"/>
            <a:ext cx="7656167" cy="480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5998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1117212"/>
          </a:xfrm>
        </p:spPr>
        <p:txBody>
          <a:bodyPr>
            <a:noAutofit/>
          </a:bodyPr>
          <a:lstStyle/>
          <a:p>
            <a:r>
              <a:rPr lang="en-US" sz="4000"/>
              <a:t>Spark Data Abstractions:</a:t>
            </a:r>
            <a:br>
              <a:rPr lang="en-US" sz="4000"/>
            </a:br>
            <a:r>
              <a:rPr lang="en-US" sz="4000"/>
              <a:t>Read/Write </a:t>
            </a:r>
            <a:r>
              <a:rPr lang="en-US" sz="2800"/>
              <a:t>from/to </a:t>
            </a:r>
            <a:r>
              <a:rPr lang="en-US" sz="4000"/>
              <a:t>Many Data Sources</a:t>
            </a:r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AEA5789F-0CF5-4CAA-D8D7-D72084C1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71351"/>
            <a:ext cx="6635750" cy="2804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6445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1660"/>
            <a:ext cx="9144000" cy="690641"/>
          </a:xfrm>
        </p:spPr>
        <p:txBody>
          <a:bodyPr>
            <a:normAutofit fontScale="90000"/>
          </a:bodyPr>
          <a:lstStyle/>
          <a:p>
            <a:r>
              <a:rPr lang="en-US" dirty="0"/>
              <a:t>Spark Data Abstractions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42301"/>
            <a:ext cx="9144000" cy="487200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Your data can be represented as an </a:t>
            </a: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RDD</a:t>
            </a:r>
            <a:r>
              <a:rPr lang="en-US" sz="3200" dirty="0">
                <a:solidFill>
                  <a:schemeClr val="tx1"/>
                </a:solidFill>
              </a:rPr>
              <a:t> and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1. Resilient Distributed Datasets (RDD)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data type T </a:t>
            </a:r>
          </a:p>
          <a:p>
            <a:pPr lvl="1" algn="l"/>
            <a:r>
              <a:rPr lang="en-US" sz="2800" dirty="0"/>
              <a:t>     (integer, string, tuples, arrays, dictionary, …)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data points (elements/records)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2.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/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table of rows and named columns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rows of data</a:t>
            </a:r>
          </a:p>
        </p:txBody>
      </p:sp>
    </p:spTree>
    <p:extLst>
      <p:ext uri="{BB962C8B-B14F-4D97-AF65-F5344CB8AC3E}">
        <p14:creationId xmlns:p14="http://schemas.microsoft.com/office/powerpoint/2010/main" val="349563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1544546"/>
          </a:xfrm>
        </p:spPr>
        <p:txBody>
          <a:bodyPr>
            <a:normAutofit fontScale="90000"/>
          </a:bodyPr>
          <a:lstStyle/>
          <a:p>
            <a:r>
              <a:rPr lang="en-US" sz="3600"/>
              <a:t>Spark Data Abstractions: RDDs</a:t>
            </a:r>
            <a:br>
              <a:rPr lang="en-US" sz="3600"/>
            </a:br>
            <a:r>
              <a:rPr lang="en-US" sz="3600"/>
              <a:t>Billions of data elements</a:t>
            </a:r>
            <a:br>
              <a:rPr lang="en-US"/>
            </a:br>
            <a:r>
              <a:rPr lang="en-US" b="1"/>
              <a:t>Each element</a:t>
            </a:r>
            <a:r>
              <a:rPr lang="en-US"/>
              <a:t>: </a:t>
            </a:r>
            <a:r>
              <a:rPr lang="en-US" sz="3600">
                <a:latin typeface="Courier" pitchFamily="2" charset="0"/>
              </a:rPr>
              <a:t>(String, (Float, Float))</a:t>
            </a:r>
            <a:endParaRPr lang="en-US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03003-7654-F6E6-3F41-F63F0836835D}"/>
              </a:ext>
            </a:extLst>
          </p:cNvPr>
          <p:cNvSpPr/>
          <p:nvPr/>
        </p:nvSpPr>
        <p:spPr>
          <a:xfrm>
            <a:off x="3892378" y="2883839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(3.0, 4.5))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87292-774D-A2E0-8CFD-AA9655E89DC9}"/>
              </a:ext>
            </a:extLst>
          </p:cNvPr>
          <p:cNvSpPr/>
          <p:nvPr/>
        </p:nvSpPr>
        <p:spPr>
          <a:xfrm>
            <a:off x="3892378" y="3521408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(gene-2, (1.0, 1.5))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C70153-45FB-FDB9-BA3D-071A040BE1E9}"/>
              </a:ext>
            </a:extLst>
          </p:cNvPr>
          <p:cNvSpPr/>
          <p:nvPr/>
        </p:nvSpPr>
        <p:spPr>
          <a:xfrm>
            <a:off x="3892381" y="4129844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(2.1, 1.6))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C54BA7-A88E-2D55-E068-B678EDBF8D95}"/>
              </a:ext>
            </a:extLst>
          </p:cNvPr>
          <p:cNvSpPr/>
          <p:nvPr/>
        </p:nvSpPr>
        <p:spPr>
          <a:xfrm>
            <a:off x="3892380" y="4747682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A70693-A1D8-34A9-453A-168C09D12FEF}"/>
              </a:ext>
            </a:extLst>
          </p:cNvPr>
          <p:cNvSpPr/>
          <p:nvPr/>
        </p:nvSpPr>
        <p:spPr>
          <a:xfrm>
            <a:off x="3892379" y="5365520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(gene-8, (3.1, 5.1))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FFCA8E-1E83-60DF-7F07-5461F30BA5AE}"/>
              </a:ext>
            </a:extLst>
          </p:cNvPr>
          <p:cNvSpPr txBox="1"/>
          <p:nvPr/>
        </p:nvSpPr>
        <p:spPr>
          <a:xfrm>
            <a:off x="2413066" y="3059668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Element-1: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BEB91C-B550-5236-0253-66528F8B1595}"/>
              </a:ext>
            </a:extLst>
          </p:cNvPr>
          <p:cNvSpPr txBox="1"/>
          <p:nvPr/>
        </p:nvSpPr>
        <p:spPr>
          <a:xfrm>
            <a:off x="2413067" y="3645661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Element-2: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15F95-1521-1672-10E9-96080CB96D8F}"/>
              </a:ext>
            </a:extLst>
          </p:cNvPr>
          <p:cNvSpPr txBox="1"/>
          <p:nvPr/>
        </p:nvSpPr>
        <p:spPr>
          <a:xfrm>
            <a:off x="2413067" y="4254097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Element-3:</a:t>
            </a:r>
          </a:p>
        </p:txBody>
      </p:sp>
    </p:spTree>
    <p:extLst>
      <p:ext uri="{BB962C8B-B14F-4D97-AF65-F5344CB8AC3E}">
        <p14:creationId xmlns:p14="http://schemas.microsoft.com/office/powerpoint/2010/main" val="3213318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915159"/>
          </a:xfrm>
        </p:spPr>
        <p:txBody>
          <a:bodyPr/>
          <a:lstStyle/>
          <a:p>
            <a:r>
              <a:rPr lang="en-US"/>
              <a:t>Spark Data Abstractions: </a:t>
            </a:r>
            <a:r>
              <a:rPr lang="en-US" err="1"/>
              <a:t>DataFrame</a:t>
            </a:r>
            <a:endParaRPr lang="en-US"/>
          </a:p>
        </p:txBody>
      </p:sp>
      <p:pic>
        <p:nvPicPr>
          <p:cNvPr id="5" name="Picture 4" descr="A picture containing table&#10;&#10;Description automatically generated">
            <a:extLst>
              <a:ext uri="{FF2B5EF4-FFF2-40B4-BE49-F238E27FC236}">
                <a16:creationId xmlns:a16="http://schemas.microsoft.com/office/drawing/2014/main" id="{6E2B3B01-5246-5903-CF12-03E98989E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97" y="1510134"/>
            <a:ext cx="6974193" cy="4223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771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A789-7630-C07F-0654-840EAA72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5ADA6-B5AC-B13F-D189-E33AC37985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64F60-1DE9-C80D-70EC-328910181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Initialize a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Create a sample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("Alice", "Sales", 45000),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("Bob", "Engineering", 60000), …]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columns = ["name", "department", "salary"]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columns)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Register the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a Temporary SQL View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df.createOrReplaceTempView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("employees")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7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3647-9AF1-2D76-7E26-DD8DA334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105C1-885E-6C5A-B75B-A8F33913C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461809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 </a:t>
            </a:r>
            <a:r>
              <a:rPr lang="en-US" sz="1600" dirty="0"/>
              <a:t>continued…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CF5A37-3326-FDE9-46DF-659A22AE7E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rmAutofit fontScale="62500" lnSpcReduction="20000"/>
          </a:bodyPr>
          <a:lstStyle/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Run an SQL query using </a:t>
            </a:r>
            <a:r>
              <a:rPr lang="en-US" sz="2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("""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SELECT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department,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COUNT(*)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total_employees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AVG(salary)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employees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GROUP BY department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HAVING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42000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ORDER BY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DESC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""")</a:t>
            </a:r>
          </a:p>
          <a:p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Display the results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query_result.show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  </a:t>
            </a:r>
          </a:p>
        </p:txBody>
      </p:sp>
    </p:spTree>
    <p:extLst>
      <p:ext uri="{BB962C8B-B14F-4D97-AF65-F5344CB8AC3E}">
        <p14:creationId xmlns:p14="http://schemas.microsoft.com/office/powerpoint/2010/main" val="2836948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74035"/>
            <a:ext cx="9144000" cy="1222893"/>
          </a:xfrm>
        </p:spPr>
        <p:txBody>
          <a:bodyPr>
            <a:normAutofit fontScale="90000"/>
          </a:bodyPr>
          <a:lstStyle/>
          <a:p>
            <a:r>
              <a:rPr lang="en-US"/>
              <a:t>3. Main Course Components</a:t>
            </a:r>
            <a:br>
              <a:rPr lang="en-US"/>
            </a:br>
            <a:r>
              <a:rPr lang="en-US" sz="4800"/>
              <a:t>Serverless SQL Access to Big Data (15%)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209"/>
            <a:ext cx="9144000" cy="3558208"/>
          </a:xfrm>
        </p:spPr>
        <p:txBody>
          <a:bodyPr>
            <a:normAutofit/>
          </a:bodyPr>
          <a:lstStyle/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Amazon Athena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Google BigQuery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Snowflake</a:t>
            </a:r>
          </a:p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392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/>
              <a:t>Amazon Athena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9144000" cy="4144617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Interactive query service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Serverless. Zero infrastructure. Zero administration.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Put your data in S3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Access your data by SQL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Pay by query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Fast performance</a:t>
            </a:r>
          </a:p>
        </p:txBody>
      </p:sp>
    </p:spTree>
    <p:extLst>
      <p:ext uri="{BB962C8B-B14F-4D97-AF65-F5344CB8AC3E}">
        <p14:creationId xmlns:p14="http://schemas.microsoft.com/office/powerpoint/2010/main" val="336496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8093"/>
            <a:ext cx="9144000" cy="915159"/>
          </a:xfrm>
        </p:spPr>
        <p:txBody>
          <a:bodyPr/>
          <a:lstStyle/>
          <a:p>
            <a:r>
              <a:rPr lang="en-US"/>
              <a:t>Amazon Athena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A8FA6E48-77E3-5068-7DC9-F7519FBE0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659" y="1878226"/>
            <a:ext cx="7253417" cy="315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580650"/>
      </p:ext>
    </p:extLst>
  </p:cSld>
  <p:clrMapOvr>
    <a:masterClrMapping/>
  </p:clrMapOvr>
</p:sld>
</file>

<file path=ppt/theme/theme1.xml><?xml version="1.0" encoding="utf-8"?>
<a:theme xmlns:a="http://schemas.openxmlformats.org/drawingml/2006/main" name="scu-ppt-master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scu-ppt-master</Template>
  <TotalTime>2309</TotalTime>
  <Words>1715</Words>
  <Application>Microsoft Macintosh PowerPoint</Application>
  <PresentationFormat>Widescreen</PresentationFormat>
  <Paragraphs>244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6" baseType="lpstr">
      <vt:lpstr>Aptos</vt:lpstr>
      <vt:lpstr>Arial</vt:lpstr>
      <vt:lpstr>Avenir Next</vt:lpstr>
      <vt:lpstr>Calibri Light</vt:lpstr>
      <vt:lpstr>Consolas</vt:lpstr>
      <vt:lpstr>Courier</vt:lpstr>
      <vt:lpstr>Courier New</vt:lpstr>
      <vt:lpstr>Franklin Gothic Medium Cond</vt:lpstr>
      <vt:lpstr>Helvetica Light</vt:lpstr>
      <vt:lpstr>Wingdings</vt:lpstr>
      <vt:lpstr>scu-ppt-master</vt:lpstr>
      <vt:lpstr>Big Data  Modeling &amp; Analytics (course outline)</vt:lpstr>
      <vt:lpstr>Big Data Modeling &amp; Analytics?</vt:lpstr>
      <vt:lpstr>1. What is Big Data?</vt:lpstr>
      <vt:lpstr>What is a Big Data Modeling?</vt:lpstr>
      <vt:lpstr>What is a Big Data Modeling?</vt:lpstr>
      <vt:lpstr>What is a Big Data Modeling &amp; Analytics?</vt:lpstr>
      <vt:lpstr>Business Value of Big Data Modeling &amp; Analytics?</vt:lpstr>
      <vt:lpstr>Main Course Components:</vt:lpstr>
      <vt:lpstr>Big Data Analysis</vt:lpstr>
      <vt:lpstr>1. MapReduce Paradigm</vt:lpstr>
      <vt:lpstr>1. MapReduce Programs</vt:lpstr>
      <vt:lpstr>1. MapReduce Components</vt:lpstr>
      <vt:lpstr>MapReduce Paradigm</vt:lpstr>
      <vt:lpstr>MapReduce Paradigm: High-Level</vt:lpstr>
      <vt:lpstr>MapReduce Paradigm</vt:lpstr>
      <vt:lpstr>MapReduce Paradigm Example-1</vt:lpstr>
      <vt:lpstr>MapReduce Paradigm Example-2</vt:lpstr>
      <vt:lpstr>Solving a Big Data Problem with MapReduce (1)</vt:lpstr>
      <vt:lpstr>Solving a Big Data Problem with MapReduce (2)</vt:lpstr>
      <vt:lpstr>Solving a Big Data Problem with MapReduce (3)</vt:lpstr>
      <vt:lpstr>2. Apache Spark</vt:lpstr>
      <vt:lpstr>2. Apache Spark Programs</vt:lpstr>
      <vt:lpstr>Apache Spark: Components</vt:lpstr>
      <vt:lpstr>Spark run modes</vt:lpstr>
      <vt:lpstr>Apache Spark: runs in a cluster</vt:lpstr>
      <vt:lpstr>Apache Spark: Cluster Manager</vt:lpstr>
      <vt:lpstr>Spark Data Abstractions: Read/Write from/to Many Data Sources</vt:lpstr>
      <vt:lpstr>Spark Data Abstractions</vt:lpstr>
      <vt:lpstr>Spark Data Abstractions: RDDs Billions of data elements Each element: (String, (Float, Float))</vt:lpstr>
      <vt:lpstr>Spark Data Abstractions: DataFrame</vt:lpstr>
      <vt:lpstr>PySpark DataFrame Example</vt:lpstr>
      <vt:lpstr>PySpark DataFrame Example continued…</vt:lpstr>
      <vt:lpstr>3. Main Course Components Serverless SQL Access to Big Data (15%)</vt:lpstr>
      <vt:lpstr>Amazon Athena</vt:lpstr>
      <vt:lpstr>Amazon Athena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 Modeling &amp; Analytics</dc:title>
  <dc:creator>Parsian, Mahmoud</dc:creator>
  <cp:lastModifiedBy>Mahmoud Parsian</cp:lastModifiedBy>
  <cp:revision>35</cp:revision>
  <dcterms:created xsi:type="dcterms:W3CDTF">2022-03-27T03:42:59Z</dcterms:created>
  <dcterms:modified xsi:type="dcterms:W3CDTF">2026-09-01T22:21:43Z</dcterms:modified>
</cp:coreProperties>
</file>