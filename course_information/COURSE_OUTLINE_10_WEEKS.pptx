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256" r:id="rId2"/>
    <p:sldId id="288" r:id="rId3"/>
    <p:sldId id="292" r:id="rId4"/>
    <p:sldId id="291" r:id="rId5"/>
    <p:sldId id="257" r:id="rId6"/>
    <p:sldId id="289" r:id="rId7"/>
    <p:sldId id="290" r:id="rId8"/>
    <p:sldId id="287" r:id="rId9"/>
    <p:sldId id="258" r:id="rId10"/>
    <p:sldId id="260" r:id="rId11"/>
    <p:sldId id="293" r:id="rId12"/>
    <p:sldId id="277" r:id="rId13"/>
    <p:sldId id="278" r:id="rId14"/>
    <p:sldId id="263" r:id="rId15"/>
    <p:sldId id="262" r:id="rId16"/>
    <p:sldId id="271" r:id="rId17"/>
    <p:sldId id="272" r:id="rId18"/>
    <p:sldId id="275" r:id="rId19"/>
    <p:sldId id="280" r:id="rId20"/>
    <p:sldId id="261" r:id="rId21"/>
    <p:sldId id="281" r:id="rId22"/>
    <p:sldId id="279" r:id="rId23"/>
    <p:sldId id="282" r:id="rId24"/>
    <p:sldId id="273" r:id="rId25"/>
    <p:sldId id="284" r:id="rId26"/>
    <p:sldId id="283" r:id="rId27"/>
    <p:sldId id="268" r:id="rId28"/>
    <p:sldId id="264" r:id="rId29"/>
    <p:sldId id="269" r:id="rId30"/>
    <p:sldId id="270" r:id="rId31"/>
    <p:sldId id="274" r:id="rId32"/>
    <p:sldId id="285" r:id="rId33"/>
    <p:sldId id="286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276" r:id="rId42"/>
    <p:sldId id="266" r:id="rId43"/>
    <p:sldId id="267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C_uu_rM6WAxUNLTQIHciVNXoQy_kOeggIAggBCAwQAw&amp;opi=89978449&amp;cd&amp;psig=AOvVaw2VE3PYCvo5HgQqdSV_BRzO&amp;ust=1788385288151000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340747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&amp; Analytics</a:t>
            </a:r>
            <a:br>
              <a:rPr lang="en-US" dirty="0"/>
            </a:br>
            <a:r>
              <a:rPr lang="en-US" sz="4400" dirty="0"/>
              <a:t>(</a:t>
            </a:r>
            <a:r>
              <a:rPr lang="en-US" sz="4400" dirty="0">
                <a:solidFill>
                  <a:srgbClr val="00B0F0"/>
                </a:solidFill>
              </a:rPr>
              <a:t>course outline</a:t>
            </a:r>
            <a:r>
              <a:rPr lang="en-US" sz="4400" dirty="0"/>
              <a:t>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680581"/>
            <a:ext cx="9144000" cy="959386"/>
          </a:xfrm>
        </p:spPr>
        <p:txBody>
          <a:bodyPr>
            <a:no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Mahmoud Parsian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Ph.D. in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638-B2D6-95E9-A973-3576A94C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050C-745B-BB10-EB31-67B29EBC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915E2-5634-69F9-B951-73B2F49D6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is Big Data?</a:t>
            </a:r>
          </a:p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 is  Big data Modeling?</a:t>
            </a:r>
          </a:p>
          <a:p>
            <a:r>
              <a:rPr lang="en-US" sz="3200" dirty="0">
                <a:solidFill>
                  <a:schemeClr val="tx1"/>
                </a:solidFill>
              </a:rPr>
              <a:t>3.   What  is  Big Data Modeling &amp; Analytics?</a:t>
            </a:r>
          </a:p>
          <a:p>
            <a:r>
              <a:rPr lang="en-US" sz="3200" dirty="0">
                <a:solidFill>
                  <a:schemeClr val="tx1"/>
                </a:solidFill>
              </a:rPr>
              <a:t>4.  </a:t>
            </a:r>
            <a:r>
              <a:rPr lang="en-US" sz="3200" dirty="0">
                <a:solidFill>
                  <a:srgbClr val="00B0F0"/>
                </a:solidFill>
              </a:rPr>
              <a:t>Solutions</a:t>
            </a:r>
            <a:r>
              <a:rPr lang="en-US" sz="3200" dirty="0">
                <a:solidFill>
                  <a:schemeClr val="tx1"/>
                </a:solidFill>
              </a:rPr>
              <a:t> to Big Data Modeling &amp; Analytics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MapReduce paradigm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Spark/PySpark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Amazon Athena &amp; Google’s Big Query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…</a:t>
            </a:r>
          </a:p>
          <a:p>
            <a:endParaRPr lang="en-US" sz="3200" dirty="0">
              <a:solidFill>
                <a:srgbClr val="00B0F0"/>
              </a:solidFill>
            </a:endParaRP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8165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7243-15AD-425E-DFCF-2A2EE95FA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8F834-4DE8-3048-DAA2-4FBC5C624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76435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1. What is Big Data?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9F36D-D67A-B1D0-6CD3-5B3D4D9B0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899"/>
            <a:ext cx="9144000" cy="5114611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Big Data</a:t>
            </a:r>
            <a:r>
              <a:rPr lang="en-US" sz="3200" dirty="0">
                <a:solidFill>
                  <a:schemeClr val="tx1"/>
                </a:solidFill>
              </a:rPr>
              <a:t> refers to datasets that are </a:t>
            </a:r>
            <a:r>
              <a:rPr lang="en-US" sz="3200" u="sng" dirty="0">
                <a:solidFill>
                  <a:schemeClr val="tx1"/>
                </a:solidFill>
                <a:highlight>
                  <a:srgbClr val="00FF00"/>
                </a:highlight>
              </a:rPr>
              <a:t>so massive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u="sng" dirty="0">
                <a:solidFill>
                  <a:srgbClr val="0070C0"/>
                </a:solidFill>
                <a:highlight>
                  <a:srgbClr val="00FF00"/>
                </a:highlight>
              </a:rPr>
              <a:t>fast-moving</a:t>
            </a:r>
            <a:r>
              <a:rPr lang="en-US" sz="3200" dirty="0">
                <a:solidFill>
                  <a:schemeClr val="tx1"/>
                </a:solidFill>
              </a:rPr>
              <a:t>,  and </a:t>
            </a:r>
            <a:r>
              <a:rPr lang="en-US" sz="3200" u="sng" dirty="0">
                <a:solidFill>
                  <a:srgbClr val="7030A0"/>
                </a:solidFill>
                <a:highlight>
                  <a:srgbClr val="00FF00"/>
                </a:highlight>
              </a:rPr>
              <a:t>complex</a:t>
            </a:r>
            <a:r>
              <a:rPr lang="en-US" sz="3200" dirty="0">
                <a:solidFill>
                  <a:schemeClr val="tx1"/>
                </a:solidFill>
              </a:rPr>
              <a:t> that traditional data-processing </a:t>
            </a:r>
          </a:p>
          <a:p>
            <a:r>
              <a:rPr lang="en-US" sz="3200" dirty="0">
                <a:solidFill>
                  <a:schemeClr val="tx1"/>
                </a:solidFill>
              </a:rPr>
              <a:t>software cannot capture, store, or analyze them effectively</a:t>
            </a:r>
            <a:r>
              <a:rPr lang="en-US" sz="3200" b="1" dirty="0">
                <a:solidFill>
                  <a:schemeClr val="tx1"/>
                </a:solidFill>
              </a:rPr>
              <a:t>.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Instead of relying on a  </a:t>
            </a:r>
            <a:r>
              <a:rPr lang="en-US" sz="3200" dirty="0">
                <a:solidFill>
                  <a:schemeClr val="accent1"/>
                </a:solidFill>
                <a:highlight>
                  <a:srgbClr val="0000FF"/>
                </a:highlight>
              </a:rPr>
              <a:t>single computer 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dirty="0">
                <a:solidFill>
                  <a:schemeClr val="tx1"/>
                </a:solidFill>
              </a:rPr>
              <a:t>big data requires </a:t>
            </a:r>
            <a:r>
              <a:rPr lang="en-US" sz="3200" u="sng" dirty="0">
                <a:solidFill>
                  <a:schemeClr val="tx1"/>
                </a:solidFill>
              </a:rPr>
              <a:t>specialized frameworks </a:t>
            </a:r>
            <a:r>
              <a:rPr lang="en-US" sz="3200" dirty="0">
                <a:solidFill>
                  <a:schemeClr val="tx1"/>
                </a:solidFill>
              </a:rPr>
              <a:t>like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Apache Spark</a:t>
            </a:r>
            <a:endParaRPr lang="en-US" sz="3200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Cluster Computing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Snowflake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Amazon Athena / Google’s BigQuery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endParaRPr lang="en-US" sz="3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77715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F8F14-B0A6-8471-A8BF-4EB97946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C0D2-3D42-409E-6E8A-3022A7934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53BF7-8743-7C25-95E3-4E6ADA5D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modeling is the process of </a:t>
            </a:r>
            <a:r>
              <a:rPr lang="en-US" sz="3600" dirty="0">
                <a:solidFill>
                  <a:srgbClr val="00B0F0"/>
                </a:solidFill>
              </a:rPr>
              <a:t>organizing large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F0"/>
                </a:solidFill>
              </a:rPr>
              <a:t>fast-moving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F0"/>
                </a:solidFill>
              </a:rPr>
              <a:t>diverse datasets </a:t>
            </a:r>
            <a:r>
              <a:rPr lang="en-US" sz="3600" dirty="0">
                <a:solidFill>
                  <a:schemeClr val="tx1"/>
                </a:solidFill>
              </a:rPr>
              <a:t>so they can be </a:t>
            </a:r>
            <a:r>
              <a:rPr lang="en-US" sz="3600" dirty="0">
                <a:solidFill>
                  <a:srgbClr val="00B050"/>
                </a:solidFill>
              </a:rPr>
              <a:t>stored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50"/>
                </a:solidFill>
              </a:rPr>
              <a:t>processed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  <a:r>
              <a:rPr lang="en-US" sz="3600" dirty="0">
                <a:solidFill>
                  <a:srgbClr val="00B050"/>
                </a:solidFill>
              </a:rPr>
              <a:t>analyzed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50"/>
                </a:solidFill>
              </a:rPr>
              <a:t>understood</a:t>
            </a:r>
            <a:r>
              <a:rPr lang="en-US" sz="3600" dirty="0">
                <a:solidFill>
                  <a:schemeClr val="tx1"/>
                </a:solidFill>
              </a:rPr>
              <a:t> efficiently.</a:t>
            </a:r>
          </a:p>
          <a:p>
            <a:endParaRPr lang="en-US" sz="3600" dirty="0"/>
          </a:p>
          <a:p>
            <a:r>
              <a:rPr lang="en-US" sz="3600" b="1" u="sng" dirty="0"/>
              <a:t>Key Characteristics</a:t>
            </a:r>
            <a:endParaRPr lang="en-US" sz="3600" b="1" u="sng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1. Volume</a:t>
            </a:r>
            <a:r>
              <a:rPr lang="en-US" sz="3600" dirty="0">
                <a:solidFill>
                  <a:schemeClr val="tx1"/>
                </a:solidFill>
              </a:rPr>
              <a:t>: Handles massive amounts of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2. Velocity</a:t>
            </a:r>
            <a:r>
              <a:rPr lang="en-US" sz="3600" dirty="0">
                <a:solidFill>
                  <a:schemeClr val="tx1"/>
                </a:solidFill>
              </a:rPr>
              <a:t>: Supports rapidly generated and processed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3. Variety</a:t>
            </a:r>
            <a:r>
              <a:rPr lang="en-US" sz="3600" dirty="0">
                <a:solidFill>
                  <a:schemeClr val="tx1"/>
                </a:solidFill>
              </a:rPr>
              <a:t>: Combines structured, semi-structured, and unstructured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4. Veracity</a:t>
            </a:r>
            <a:r>
              <a:rPr lang="en-US" sz="3600" dirty="0">
                <a:solidFill>
                  <a:schemeClr val="tx1"/>
                </a:solidFill>
              </a:rPr>
              <a:t>: The quality, reliability, and trust of the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5. Scalability</a:t>
            </a:r>
            <a:r>
              <a:rPr lang="en-US" sz="3600" dirty="0">
                <a:solidFill>
                  <a:schemeClr val="tx1"/>
                </a:solidFill>
              </a:rPr>
              <a:t>: Adapts as data and user demand grow</a:t>
            </a: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146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# Common Models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Data lakes and Lake-Houses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NoSQL models: document, key-value, column, and graph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Distributed data warehouses (Snowflake)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Batch and streaming architectures (Spark)</a:t>
            </a:r>
          </a:p>
          <a:p>
            <a:endParaRPr lang="en-US" sz="3600" dirty="0"/>
          </a:p>
          <a:p>
            <a:r>
              <a:rPr lang="en-US" sz="3600" dirty="0"/>
              <a:t>&gt; Goal: </a:t>
            </a:r>
            <a:r>
              <a:rPr lang="en-US" sz="3600" dirty="0">
                <a:solidFill>
                  <a:srgbClr val="00B0F0"/>
                </a:solidFill>
              </a:rPr>
              <a:t>Turn complex raw data into a reliable structure for analysis and decision-making.</a:t>
            </a: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69774-946E-B260-E4C8-F247732A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5835-EA10-131F-D9B6-525812083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5C9645-A45B-E966-6AAB-2EA599B16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analytics uses modeled data to discover patterns, </a:t>
            </a:r>
          </a:p>
          <a:p>
            <a:r>
              <a:rPr lang="en-US" sz="3600" dirty="0">
                <a:solidFill>
                  <a:schemeClr val="tx1"/>
                </a:solidFill>
              </a:rPr>
              <a:t>explain outcomes, predict future events, and recommend actions.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Analytics Types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Descriptive: What happened?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Diagnostic: Why did it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Predictive: What is likely to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Prescriptive: What action should be taken?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Typical Workflow</a:t>
            </a:r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</a:rPr>
              <a:t>Collect → Clean → Model → Process → Analyze → Visualize → Act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03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968A-F75F-7263-50D7-75791B9A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246D-7A97-8661-9CA0-D068C5404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Business Value</a:t>
            </a:r>
            <a:r>
              <a:rPr lang="en-US" sz="3600" dirty="0"/>
              <a:t> of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B49BE-0C8C-8FDB-F16E-E88633B66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925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Faster, evidence-based decisions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Improved customer experiences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Fraud and risk detection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Operational efficiency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Forecasting and innovation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AI-LLM models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Strong analytics </a:t>
            </a:r>
            <a:r>
              <a:rPr lang="en-US" sz="3600" dirty="0">
                <a:solidFill>
                  <a:schemeClr val="tx1"/>
                </a:solidFill>
              </a:rPr>
              <a:t>depends</a:t>
            </a:r>
            <a:r>
              <a:rPr lang="en-US" sz="3600" dirty="0">
                <a:solidFill>
                  <a:srgbClr val="00B0F0"/>
                </a:solidFill>
              </a:rPr>
              <a:t> on a scalable, accurate, </a:t>
            </a: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and well-governed data model.</a:t>
            </a:r>
          </a:p>
        </p:txBody>
      </p:sp>
    </p:spTree>
    <p:extLst>
      <p:ext uri="{BB962C8B-B14F-4D97-AF65-F5344CB8AC3E}">
        <p14:creationId xmlns:p14="http://schemas.microsoft.com/office/powerpoint/2010/main" val="121977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3BA-5316-BF9D-F70F-56560679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7236-BD85-4A18-23D9-EB2B61B0F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716376"/>
          </a:xfrm>
        </p:spPr>
        <p:txBody>
          <a:bodyPr>
            <a:normAutofit fontScale="90000"/>
          </a:bodyPr>
          <a:lstStyle/>
          <a:p>
            <a:r>
              <a:rPr lang="en-US" dirty="0"/>
              <a:t>Main 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3236A-EEC5-EDBF-E424-319C91C75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074410"/>
            <a:ext cx="9144000" cy="4134677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1.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1012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33414" y="287567"/>
            <a:ext cx="4192655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1080230" y="2797226"/>
            <a:ext cx="2030770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4000121" y="2855485"/>
            <a:ext cx="4192654" cy="2067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9004052" y="3175686"/>
            <a:ext cx="1404730" cy="916080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11000" y="3832171"/>
            <a:ext cx="889121" cy="56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8192775" y="3633726"/>
            <a:ext cx="811277" cy="255429"/>
          </a:xfrm>
          <a:prstGeom prst="straightConnector1">
            <a:avLst/>
          </a:prstGeom>
          <a:ln w="31750">
            <a:solidFill>
              <a:schemeClr val="tx1">
                <a:alpha val="94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385445" y="1202700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451420" y="1202701"/>
            <a:ext cx="2461846" cy="11231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Spark/PySpark</a:t>
            </a:r>
          </a:p>
          <a:p>
            <a:pPr algn="ctr"/>
            <a:r>
              <a:rPr lang="en-US" sz="2400" dirty="0"/>
              <a:t>RDD/</a:t>
            </a:r>
            <a:r>
              <a:rPr lang="en-US" sz="2400" dirty="0" err="1"/>
              <a:t>DataFrame</a:t>
            </a:r>
            <a:endParaRPr lang="en-US" sz="24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82343" y="2325825"/>
            <a:ext cx="414105" cy="52966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7172985" y="129145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874E25-F3A4-8706-151D-7E2633C31F01}"/>
              </a:ext>
            </a:extLst>
          </p:cNvPr>
          <p:cNvCxnSpPr>
            <a:cxnSpLocks/>
          </p:cNvCxnSpPr>
          <p:nvPr/>
        </p:nvCxnSpPr>
        <p:spPr>
          <a:xfrm>
            <a:off x="3418232" y="2264006"/>
            <a:ext cx="970001" cy="53322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9F049-FB3C-F3EA-FE6C-9B23A107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CB78C-22E5-141A-23D5-6E5445BD39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63529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Paradigm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8F92D-46A1-6B82-6845-2C0B522B7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47800"/>
            <a:ext cx="7772400" cy="3608614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19252A4-2E91-97FC-D02F-3C7B6C906D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567965"/>
            <a:ext cx="9144000" cy="3968678"/>
          </a:xfrm>
        </p:spPr>
        <p:txBody>
          <a:bodyPr>
            <a:normAutofit/>
          </a:bodyPr>
          <a:lstStyle/>
          <a:p>
            <a:pPr marL="457200" lvl="1"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210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MapReduce has 3 functions: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Optional combiner function</a:t>
            </a:r>
            <a:endParaRPr lang="en-US" sz="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1"/>
            <a:ext cx="9362303" cy="4556247"/>
          </a:xfrm>
        </p:spPr>
        <p:txBody>
          <a:bodyPr>
            <a:normAutofit fontScale="92500"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Hadoop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Spark</a:t>
            </a:r>
            <a:r>
              <a:rPr lang="en-US" sz="3200" dirty="0">
                <a:solidFill>
                  <a:schemeClr val="tx1"/>
                </a:solidFill>
              </a:rPr>
              <a:t>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Tez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Amazon Athena</a:t>
            </a:r>
            <a:r>
              <a:rPr lang="en-US" sz="3200" dirty="0">
                <a:solidFill>
                  <a:schemeClr val="tx1"/>
                </a:solidFill>
              </a:rPr>
              <a:t>: S</a:t>
            </a:r>
            <a:r>
              <a:rPr lang="en-US" sz="3200" dirty="0"/>
              <a:t>erverless SQL service</a:t>
            </a:r>
            <a:endParaRPr lang="en-US" sz="3200" dirty="0">
              <a:solidFill>
                <a:schemeClr val="tx1"/>
              </a:solidFill>
            </a:endParaRP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Google BigQuery</a:t>
            </a:r>
            <a:r>
              <a:rPr lang="en-US" sz="3200" dirty="0">
                <a:solidFill>
                  <a:schemeClr val="tx1"/>
                </a:solidFill>
              </a:rPr>
              <a:t>:  </a:t>
            </a:r>
            <a:r>
              <a:rPr lang="en-US" sz="3000" dirty="0"/>
              <a:t>distributed execution graph and shuffle architecture</a:t>
            </a:r>
            <a:endParaRPr lang="en-US" sz="3200" dirty="0">
              <a:solidFill>
                <a:schemeClr val="tx1"/>
              </a:solidFill>
            </a:endParaRP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map(K, V)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>
                <a:solidFill>
                  <a:schemeClr val="tx1"/>
                </a:solidFill>
                <a:latin typeface="Courier" pitchFamily="2" charset="0"/>
              </a:rPr>
              <a:t>{ key_1, key_2, …, </a:t>
            </a:r>
            <a:r>
              <a:rPr lang="en-US" err="1">
                <a:solidFill>
                  <a:schemeClr val="tx1"/>
                </a:solidFill>
                <a:latin typeface="Courier" pitchFamily="2" charset="0"/>
              </a:rPr>
              <a:t>key_n</a:t>
            </a:r>
            <a:r>
              <a:rPr lang="en-US">
                <a:solidFill>
                  <a:schemeClr val="tx1"/>
                </a:solidFill>
                <a:latin typeface="Courier" pitchFamily="2" charset="0"/>
              </a:rPr>
              <a:t> } </a:t>
            </a:r>
          </a:p>
          <a:p>
            <a:r>
              <a:rPr lang="en-US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 b="1">
                <a:solidFill>
                  <a:srgbClr val="00B0F0"/>
                </a:solidFill>
              </a:rPr>
              <a:t>Apache Spark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00B0F0"/>
                </a:solidFill>
              </a:rPr>
              <a:t>Apache </a:t>
            </a:r>
            <a:r>
              <a:rPr lang="en-US" sz="3200" b="1">
                <a:solidFill>
                  <a:srgbClr val="00B0F0"/>
                </a:solidFill>
              </a:rPr>
              <a:t>Spark</a:t>
            </a:r>
            <a:r>
              <a:rPr lang="en-US" sz="320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PySpark</a:t>
            </a:r>
            <a:r>
              <a:rPr lang="en-US" sz="440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Spark</a:t>
            </a:r>
            <a:r>
              <a:rPr lang="en-US" sz="440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>
                <a:solidFill>
                  <a:srgbClr val="00B0F0"/>
                </a:solidFill>
              </a:rPr>
              <a:t>Spark</a:t>
            </a:r>
            <a:r>
              <a:rPr lang="en-US" sz="3600">
                <a:solidFill>
                  <a:schemeClr val="tx1"/>
                </a:solidFill>
              </a:rPr>
              <a:t> web site:  https://</a:t>
            </a:r>
            <a:r>
              <a:rPr lang="en-US" sz="3600" err="1">
                <a:solidFill>
                  <a:schemeClr val="tx1"/>
                </a:solidFill>
              </a:rPr>
              <a:t>spark.apache.org</a:t>
            </a:r>
            <a:endParaRPr lang="en-US" sz="3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F0"/>
                </a:solidFill>
              </a:rPr>
              <a:t>Apache Spark</a:t>
            </a:r>
            <a:r>
              <a:rPr lang="en-US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/>
              <a:t>Spark Data Abstractions:</a:t>
            </a:r>
            <a:br>
              <a:rPr lang="en-US" sz="4000"/>
            </a:br>
            <a:r>
              <a:rPr lang="en-US" sz="4000"/>
              <a:t>Read/Write </a:t>
            </a:r>
            <a:r>
              <a:rPr lang="en-US" sz="2800"/>
              <a:t>from/to </a:t>
            </a:r>
            <a:r>
              <a:rPr lang="en-US" sz="400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87200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and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</a:p>
          <a:p>
            <a:pPr lvl="1" algn="l"/>
            <a:r>
              <a:rPr lang="en-US" sz="2800" dirty="0"/>
              <a:t>     (integer, string, tuples, arrays, dictionary,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table of rows and named columns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544546"/>
          </a:xfrm>
        </p:spPr>
        <p:txBody>
          <a:bodyPr>
            <a:normAutofit fontScale="90000"/>
          </a:bodyPr>
          <a:lstStyle/>
          <a:p>
            <a:r>
              <a:rPr lang="en-US" sz="3600"/>
              <a:t>Spark Data Abstractions: RDDs</a:t>
            </a:r>
            <a:br>
              <a:rPr lang="en-US" sz="3600"/>
            </a:br>
            <a:r>
              <a:rPr lang="en-US" sz="3600"/>
              <a:t>Billions of data elements</a:t>
            </a:r>
            <a:br>
              <a:rPr lang="en-US"/>
            </a:br>
            <a:r>
              <a:rPr lang="en-US" b="1"/>
              <a:t>Each element</a:t>
            </a:r>
            <a:r>
              <a:rPr lang="en-US"/>
              <a:t>: </a:t>
            </a:r>
            <a:r>
              <a:rPr lang="en-US" sz="3600">
                <a:latin typeface="Courier" pitchFamily="2" charset="0"/>
              </a:rPr>
              <a:t>(String, (Float, Float))</a:t>
            </a:r>
            <a:endParaRPr lang="en-US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Element-3:</a:t>
            </a: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/>
              <a:t>Spark Data Abstractions: </a:t>
            </a:r>
            <a:r>
              <a:rPr lang="en-US" err="1"/>
              <a:t>DataFrame</a:t>
            </a:r>
            <a:endParaRPr lang="en-US"/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Initialize a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sample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Register the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a Temporary SQL View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461809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</a:t>
            </a:r>
            <a:r>
              <a:rPr lang="en-US" sz="1600" dirty="0"/>
              <a:t>continued…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 fontScale="62500" lnSpcReduction="20000"/>
          </a:bodyPr>
          <a:lstStyle/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Run an SQL query using </a:t>
            </a:r>
            <a:r>
              <a:rPr lang="en-US" sz="2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Display the results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A3B6A-5B89-5D74-D46B-44E067DB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F6548-3DB0-678C-C8BB-E0D55AF7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2 - 0001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6889B5-12DB-781B-4371-A7941F95D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This example introduces key intermediate concepts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like </a:t>
            </a:r>
            <a:r>
              <a:rPr lang="en-US" sz="2000" b="1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aggregation (</a:t>
            </a:r>
            <a:r>
              <a:rPr lang="en-US" sz="2000" b="1" dirty="0" err="1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groupBy</a:t>
            </a:r>
            <a:r>
              <a:rPr lang="en-US" sz="2000" b="1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2000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built-in column functions </a:t>
            </a:r>
          </a:p>
          <a:p>
            <a:r>
              <a:rPr lang="en-US" sz="2000" b="1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(when, avg)</a:t>
            </a:r>
            <a:r>
              <a:rPr lang="en-US" sz="2000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and </a:t>
            </a:r>
            <a:r>
              <a:rPr lang="en-US" sz="2000" b="1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handling null values (</a:t>
            </a:r>
            <a:r>
              <a:rPr lang="en-US" sz="2000" b="1" dirty="0" err="1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na.fill</a:t>
            </a:r>
            <a:r>
              <a:rPr lang="en-US" sz="2000" b="1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2000" dirty="0">
                <a:solidFill>
                  <a:schemeClr val="tx1"/>
                </a:solidFill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Import required libraries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functions as F</a:t>
            </a:r>
          </a:p>
          <a:p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Initialize a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12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09814-836A-9F2E-CF70-F041505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40E5E-C8C3-2F82-62F7-746DF27FF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2 - 0002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EA4932-BD18-AF16-7EED-950443E21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 Sample e-commerce transaction data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(with some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missing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values)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1200.0,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45.50,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150.0,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22.00, "UK"),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80.00,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15.75,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),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schema = ["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"Category", "Amount", "Country"]</a:t>
            </a:r>
          </a:p>
        </p:txBody>
      </p:sp>
    </p:spTree>
    <p:extLst>
      <p:ext uri="{BB962C8B-B14F-4D97-AF65-F5344CB8AC3E}">
        <p14:creationId xmlns:p14="http://schemas.microsoft.com/office/powerpoint/2010/main" val="1344424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F0AB-1BA2-CDE4-756D-8F40C225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B8B1-BB12-1BF5-1805-696B156B85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2 - 0003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7D4A7-DC41-3406-4535-1893411EAF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Create a 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schema=schema)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Raw Data ---")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Raw Data ---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 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</p:txBody>
      </p:sp>
    </p:spTree>
    <p:extLst>
      <p:ext uri="{BB962C8B-B14F-4D97-AF65-F5344CB8AC3E}">
        <p14:creationId xmlns:p14="http://schemas.microsoft.com/office/powerpoint/2010/main" val="3838501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FFE11-A2FC-B4C5-719D-E513CB53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B281-72F4-A0A8-C822-84C3275DC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2 - 0004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63606-0952-DB88-CB9A-9846EB917E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Data Cleaning: Handle missing values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Amounts with 0.0, and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Countries with 'Unknown’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df.na.fill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({"Amount": 0.0, "Country": "Unknown"}) 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6. Data Transformation: Add a conditional "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Customer_Segment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 column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High spenders (&gt; $500), Medium spenders (&gt; $0), and Inactive ($0)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df_cleaned.withColumn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"Segment",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F.when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500, "High")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.when(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0, "Medium")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.otherwise("Inactive"))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Cleaned and Transformed Data ---")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df_transformed.show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7681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5D853-9238-05FD-5E78-5D5C79B60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38278-3D88-2213-DBB2-CE359F4EE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2 - 0005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C9F955-54F6-F168-6C67-7A0806AE2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Cleaned and Transformed Data ---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Category|Amount|Country|Segment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   High|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0.0|   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US|Inactive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15.75|Unknown| Medium|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+------+-----------+------+-------+-------+</a:t>
            </a:r>
          </a:p>
        </p:txBody>
      </p:sp>
    </p:spTree>
    <p:extLst>
      <p:ext uri="{BB962C8B-B14F-4D97-AF65-F5344CB8AC3E}">
        <p14:creationId xmlns:p14="http://schemas.microsoft.com/office/powerpoint/2010/main" val="3139502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807E0-766D-74F2-79CA-5B5E1CBFC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148F-E00D-6F02-670E-AF88CB5B45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2 - 0006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D4C2F-A2C4-9BB5-9623-5F12F87EB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7. Data Aggregation: Calculate metrics by Category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Total spend, average spend, and distinct customer count per category 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df_transformed.groupBy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("Category").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F.sum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F.round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F.avg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Average_Spend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F.countDistinct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F.desc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"))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Aggregated Category Metrics ---") </a:t>
            </a: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df_metrics.show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71302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A8E2-C461-788F-42A8-9083DC3DA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A550C-07F0-F49E-364B-838253ACC5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2 - 0007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6EBF6-F292-FA1B-928C-7F87045BAF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Aggregated Category Metrics ---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20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Category|Total_Revenue|Average_Spend|Unique_Customers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|Electronics|       1350.0|        450.0|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      125.5|        62.75|               1|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      37.75|        18.88|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</p:txBody>
      </p:sp>
    </p:spTree>
    <p:extLst>
      <p:ext uri="{BB962C8B-B14F-4D97-AF65-F5344CB8AC3E}">
        <p14:creationId xmlns:p14="http://schemas.microsoft.com/office/powerpoint/2010/main" val="117815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/>
              <a:t>3. Main Course Components</a:t>
            </a:r>
            <a:br>
              <a:rPr lang="en-US"/>
            </a:br>
            <a:r>
              <a:rPr lang="en-US" sz="4800"/>
              <a:t>Serverless SQL Access to Big Data (15%)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Snowflake</a:t>
            </a:r>
          </a:p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/>
              <a:t>Amazon Athena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Fast performance</a:t>
            </a: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2354</TotalTime>
  <Words>2482</Words>
  <Application>Microsoft Macintosh PowerPoint</Application>
  <PresentationFormat>Widescreen</PresentationFormat>
  <Paragraphs>334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4" baseType="lpstr">
      <vt:lpstr>Aptos</vt:lpstr>
      <vt:lpstr>Arial</vt:lpstr>
      <vt:lpstr>Avenir Next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&amp; Analytics (course outline)</vt:lpstr>
      <vt:lpstr>Big Data Modeling &amp; Analytics?</vt:lpstr>
      <vt:lpstr>1. What is Big Data?</vt:lpstr>
      <vt:lpstr>What is a Big Data Modeling?</vt:lpstr>
      <vt:lpstr>What is a Big Data Modeling?</vt:lpstr>
      <vt:lpstr>What is a Big Data Modeling &amp; Analytics?</vt:lpstr>
      <vt:lpstr>Business Value of Big Data Modeling &amp; Analytics?</vt:lpstr>
      <vt:lpstr>Main Course Components:</vt:lpstr>
      <vt:lpstr>Big Data Analysis</vt:lpstr>
      <vt:lpstr>1. MapReduce Paradigm</vt:lpstr>
      <vt:lpstr>1. MapReduce Paradigm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</vt:lpstr>
      <vt:lpstr>2. Apache Spark Programs</vt:lpstr>
      <vt:lpstr>Apache Spark: Components</vt:lpstr>
      <vt:lpstr>Spark run modes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element: (String, (Float, Float))</vt:lpstr>
      <vt:lpstr>Spark Data Abstractions: DataFrame</vt:lpstr>
      <vt:lpstr>PySpark DataFrame Example</vt:lpstr>
      <vt:lpstr>PySpark DataFrame Example continued…</vt:lpstr>
      <vt:lpstr>PySpark DataFrame Example 2 - 0001</vt:lpstr>
      <vt:lpstr>PySpark DataFrame Example 2 - 0002</vt:lpstr>
      <vt:lpstr>PySpark DataFrame Example 2 - 0003</vt:lpstr>
      <vt:lpstr>PySpark DataFrame Example 2 - 0004</vt:lpstr>
      <vt:lpstr>PySpark DataFrame Example 2 - 0005</vt:lpstr>
      <vt:lpstr>PySpark DataFrame Example 2 - 0006</vt:lpstr>
      <vt:lpstr>PySpark DataFrame Example 2 - 0007</vt:lpstr>
      <vt:lpstr>3. Main Course Components Serverless SQL Access to Big Data (15%)</vt:lpstr>
      <vt:lpstr>Amazon Athena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38</cp:revision>
  <dcterms:created xsi:type="dcterms:W3CDTF">2022-03-27T03:42:59Z</dcterms:created>
  <dcterms:modified xsi:type="dcterms:W3CDTF">2026-09-09T06:39:46Z</dcterms:modified>
</cp:coreProperties>
</file>