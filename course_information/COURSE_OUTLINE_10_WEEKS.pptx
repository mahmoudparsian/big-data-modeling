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sldIdLst>
    <p:sldId id="256" r:id="rId2"/>
    <p:sldId id="288" r:id="rId3"/>
    <p:sldId id="292" r:id="rId4"/>
    <p:sldId id="291" r:id="rId5"/>
    <p:sldId id="257" r:id="rId6"/>
    <p:sldId id="289" r:id="rId7"/>
    <p:sldId id="290" r:id="rId8"/>
    <p:sldId id="287" r:id="rId9"/>
    <p:sldId id="258" r:id="rId10"/>
    <p:sldId id="260" r:id="rId11"/>
    <p:sldId id="293" r:id="rId12"/>
    <p:sldId id="277" r:id="rId13"/>
    <p:sldId id="278" r:id="rId14"/>
    <p:sldId id="263" r:id="rId15"/>
    <p:sldId id="262" r:id="rId16"/>
    <p:sldId id="271" r:id="rId17"/>
    <p:sldId id="272" r:id="rId18"/>
    <p:sldId id="275" r:id="rId19"/>
    <p:sldId id="280" r:id="rId20"/>
    <p:sldId id="261" r:id="rId21"/>
    <p:sldId id="281" r:id="rId22"/>
    <p:sldId id="279" r:id="rId23"/>
    <p:sldId id="282" r:id="rId24"/>
    <p:sldId id="273" r:id="rId25"/>
    <p:sldId id="284" r:id="rId26"/>
    <p:sldId id="283" r:id="rId27"/>
    <p:sldId id="268" r:id="rId28"/>
    <p:sldId id="264" r:id="rId29"/>
    <p:sldId id="269" r:id="rId30"/>
    <p:sldId id="270" r:id="rId31"/>
    <p:sldId id="274" r:id="rId32"/>
    <p:sldId id="285" r:id="rId33"/>
    <p:sldId id="286" r:id="rId34"/>
    <p:sldId id="276" r:id="rId35"/>
    <p:sldId id="266" r:id="rId36"/>
    <p:sldId id="267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C_uu_rM6WAxUNLTQIHciVNXoQy_kOeggIAggBCAwQAw&amp;opi=89978449&amp;cd&amp;psig=AOvVaw2VE3PYCvo5HgQqdSV_BRzO&amp;ust=178838528815100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340747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r>
              <a:rPr lang="en-US" sz="4400" dirty="0"/>
              <a:t>(</a:t>
            </a:r>
            <a:r>
              <a:rPr lang="en-US" sz="4400" dirty="0">
                <a:solidFill>
                  <a:srgbClr val="00B0F0"/>
                </a:solidFill>
              </a:rPr>
              <a:t>course outline</a:t>
            </a:r>
            <a:r>
              <a:rPr lang="en-US" sz="4400" dirty="0"/>
              <a:t>)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680581"/>
            <a:ext cx="9144000" cy="959386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is Big Data?</a:t>
            </a:r>
          </a:p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 is 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  What  is 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4. 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Amazon Athena &amp; Google’s Big Query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F0"/>
                </a:solidFill>
              </a:rPr>
              <a:t>…</a:t>
            </a: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7243-15AD-425E-DFCF-2A2EE95FA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8F834-4DE8-3048-DAA2-4FBC5C624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76435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1. What is Big Data?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9F36D-D67A-B1D0-6CD3-5B3D4D9B0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899"/>
            <a:ext cx="9144000" cy="5114611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Big Data</a:t>
            </a:r>
            <a:r>
              <a:rPr lang="en-US" sz="3200" dirty="0">
                <a:solidFill>
                  <a:schemeClr val="tx1"/>
                </a:solidFill>
              </a:rPr>
              <a:t> refers to datasets that are </a:t>
            </a:r>
            <a:r>
              <a:rPr lang="en-US" sz="3200" u="sng" dirty="0">
                <a:solidFill>
                  <a:schemeClr val="tx1"/>
                </a:solidFill>
                <a:highlight>
                  <a:srgbClr val="00FF00"/>
                </a:highlight>
              </a:rPr>
              <a:t>so massive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u="sng" dirty="0">
                <a:solidFill>
                  <a:srgbClr val="0070C0"/>
                </a:solidFill>
                <a:highlight>
                  <a:srgbClr val="00FF00"/>
                </a:highlight>
              </a:rPr>
              <a:t>fast-moving</a:t>
            </a:r>
            <a:r>
              <a:rPr lang="en-US" sz="3200" dirty="0">
                <a:solidFill>
                  <a:schemeClr val="tx1"/>
                </a:solidFill>
              </a:rPr>
              <a:t>,  and </a:t>
            </a:r>
            <a:r>
              <a:rPr lang="en-US" sz="3200" u="sng" dirty="0">
                <a:solidFill>
                  <a:srgbClr val="7030A0"/>
                </a:solidFill>
                <a:highlight>
                  <a:srgbClr val="00FF00"/>
                </a:highlight>
              </a:rPr>
              <a:t>complex</a:t>
            </a:r>
            <a:r>
              <a:rPr lang="en-US" sz="3200" dirty="0">
                <a:solidFill>
                  <a:schemeClr val="tx1"/>
                </a:solidFill>
              </a:rPr>
              <a:t> that traditional data-processing </a:t>
            </a:r>
          </a:p>
          <a:p>
            <a:r>
              <a:rPr lang="en-US" sz="3200" dirty="0">
                <a:solidFill>
                  <a:schemeClr val="tx1"/>
                </a:solidFill>
              </a:rPr>
              <a:t>software cannot capture, store, or analyze them effectively</a:t>
            </a:r>
            <a:r>
              <a:rPr lang="en-US" sz="3200" b="1" dirty="0">
                <a:solidFill>
                  <a:schemeClr val="tx1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Instead of relying on a  </a:t>
            </a:r>
            <a:r>
              <a:rPr lang="en-US" sz="3200" dirty="0">
                <a:solidFill>
                  <a:schemeClr val="accent1"/>
                </a:solidFill>
                <a:highlight>
                  <a:srgbClr val="0000FF"/>
                </a:highlight>
              </a:rPr>
              <a:t>single computer 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dirty="0">
                <a:solidFill>
                  <a:schemeClr val="tx1"/>
                </a:solidFill>
              </a:rPr>
              <a:t>big data requires </a:t>
            </a:r>
            <a:r>
              <a:rPr lang="en-US" sz="3200" u="sng" dirty="0">
                <a:solidFill>
                  <a:schemeClr val="tx1"/>
                </a:solidFill>
              </a:rPr>
              <a:t>specialized frameworks </a:t>
            </a:r>
            <a:r>
              <a:rPr lang="en-US" sz="3200" dirty="0">
                <a:solidFill>
                  <a:schemeClr val="tx1"/>
                </a:solidFill>
              </a:rPr>
              <a:t>like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Apache Spark</a:t>
            </a:r>
            <a:endParaRPr lang="en-US" sz="3200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Cluster Computing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Snowflake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C0C0C0"/>
                </a:highlight>
              </a:rPr>
              <a:t>Amazon Athena / Google’s BigQuery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endParaRPr lang="en-US" sz="3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77715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modeling 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complex raw data into a reliable structure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Descriptive: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Diagnostic: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Predictive: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Prescriptive: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of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92500"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716376"/>
          </a:xfrm>
        </p:spPr>
        <p:txBody>
          <a:bodyPr>
            <a:normAutofit fontScale="90000"/>
          </a:bodyPr>
          <a:lstStyle/>
          <a:p>
            <a:r>
              <a:rPr lang="en-US" dirty="0"/>
              <a:t>Main 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074410"/>
            <a:ext cx="9144000" cy="4134677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1.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3414" y="287567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067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6"/>
            <a:ext cx="1404730" cy="916080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11000" y="3832171"/>
            <a:ext cx="889121" cy="56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8192775" y="3633726"/>
            <a:ext cx="811277" cy="255429"/>
          </a:xfrm>
          <a:prstGeom prst="straightConnector1">
            <a:avLst/>
          </a:prstGeom>
          <a:ln w="31750">
            <a:solidFill>
              <a:schemeClr val="tx1">
                <a:alpha val="94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</a:t>
            </a:r>
            <a:r>
              <a:rPr lang="en-US" sz="2400" dirty="0" err="1"/>
              <a:t>DataFrame</a:t>
            </a:r>
            <a:endParaRPr lang="en-US" sz="24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F049-FB3C-F3EA-FE6C-9B23A10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B78C-22E5-141A-23D5-6E5445BD3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63529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Paradigm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8F92D-46A1-6B82-6845-2C0B522B7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47800"/>
            <a:ext cx="7772400" cy="360861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19252A4-2E91-97FC-D02F-3C7B6C906D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567965"/>
            <a:ext cx="9144000" cy="3968678"/>
          </a:xfrm>
        </p:spPr>
        <p:txBody>
          <a:bodyPr>
            <a:normAutofit/>
          </a:bodyPr>
          <a:lstStyle/>
          <a:p>
            <a:pPr marL="457200" lvl="1"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21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algn="l"/>
            <a:r>
              <a:rPr lang="en-US" sz="3600" dirty="0"/>
              <a:t>MapReduce has 3 functions: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Optional combiner function</a:t>
            </a:r>
            <a:endParaRPr lang="en-US" sz="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1"/>
            <a:ext cx="9362303" cy="4556247"/>
          </a:xfrm>
        </p:spPr>
        <p:txBody>
          <a:bodyPr>
            <a:normAutofit fontScale="92500"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Hadoop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Spark</a:t>
            </a:r>
            <a:r>
              <a:rPr lang="en-US" sz="3200" dirty="0">
                <a:solidFill>
                  <a:schemeClr val="tx1"/>
                </a:solidFill>
              </a:rPr>
              <a:t>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Tez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Amazon Athena</a:t>
            </a:r>
            <a:r>
              <a:rPr lang="en-US" sz="3200" dirty="0">
                <a:solidFill>
                  <a:schemeClr val="tx1"/>
                </a:solidFill>
              </a:rPr>
              <a:t>: S</a:t>
            </a:r>
            <a:r>
              <a:rPr lang="en-US" sz="3200" dirty="0"/>
              <a:t>erverless SQL service</a:t>
            </a:r>
            <a:endParaRPr lang="en-US" sz="3200" dirty="0">
              <a:solidFill>
                <a:schemeClr val="tx1"/>
              </a:solidFill>
            </a:endParaRP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Google BigQuery</a:t>
            </a:r>
            <a:r>
              <a:rPr lang="en-US" sz="3200" dirty="0">
                <a:solidFill>
                  <a:schemeClr val="tx1"/>
                </a:solidFill>
              </a:rPr>
              <a:t>:  </a:t>
            </a:r>
            <a:r>
              <a:rPr lang="en-US" sz="3000" dirty="0"/>
              <a:t>distributed execution graph and shuffle architecture</a:t>
            </a:r>
            <a:endParaRPr lang="en-US" sz="3200" dirty="0">
              <a:solidFill>
                <a:schemeClr val="tx1"/>
              </a:solidFill>
            </a:endParaRP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map(K, V)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>
                <a:solidFill>
                  <a:schemeClr val="tx1"/>
                </a:solidFill>
                <a:latin typeface="Courier" pitchFamily="2" charset="0"/>
              </a:rPr>
              <a:t>{ key_1, key_2, …, </a:t>
            </a:r>
            <a:r>
              <a:rPr lang="en-US" err="1">
                <a:solidFill>
                  <a:schemeClr val="tx1"/>
                </a:solidFill>
                <a:latin typeface="Courier" pitchFamily="2" charset="0"/>
              </a:rPr>
              <a:t>key_n</a:t>
            </a:r>
            <a:r>
              <a:rPr lang="en-US">
                <a:solidFill>
                  <a:schemeClr val="tx1"/>
                </a:solidFill>
                <a:latin typeface="Courier" pitchFamily="2" charset="0"/>
              </a:rPr>
              <a:t> } </a:t>
            </a:r>
          </a:p>
          <a:p>
            <a:r>
              <a:rPr lang="en-US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 b="1">
                <a:solidFill>
                  <a:srgbClr val="00B0F0"/>
                </a:solidFill>
              </a:rPr>
              <a:t>Apache Spark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00B0F0"/>
                </a:solidFill>
              </a:rPr>
              <a:t>Apache </a:t>
            </a:r>
            <a:r>
              <a:rPr lang="en-US" sz="3200" b="1">
                <a:solidFill>
                  <a:srgbClr val="00B0F0"/>
                </a:solidFill>
              </a:rPr>
              <a:t>Spark</a:t>
            </a:r>
            <a:r>
              <a:rPr lang="en-US" sz="320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PySpark</a:t>
            </a:r>
            <a:r>
              <a:rPr lang="en-US" sz="440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>
                <a:solidFill>
                  <a:srgbClr val="00B0F0"/>
                </a:solidFill>
              </a:rPr>
              <a:t>Spark</a:t>
            </a:r>
            <a:r>
              <a:rPr lang="en-US" sz="440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>
                <a:solidFill>
                  <a:srgbClr val="00B0F0"/>
                </a:solidFill>
              </a:rPr>
              <a:t>Spark</a:t>
            </a:r>
            <a:r>
              <a:rPr lang="en-US" sz="3600">
                <a:solidFill>
                  <a:schemeClr val="tx1"/>
                </a:solidFill>
              </a:rPr>
              <a:t> web site:  https://</a:t>
            </a:r>
            <a:r>
              <a:rPr lang="en-US" sz="3600" err="1">
                <a:solidFill>
                  <a:schemeClr val="tx1"/>
                </a:solidFill>
              </a:rPr>
              <a:t>spark.apache.org</a:t>
            </a:r>
            <a:endParaRPr lang="en-US" sz="3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</a:t>
            </a:r>
            <a:r>
              <a:rPr lang="en-US" sz="3200" dirty="0" err="1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table of rows and named columns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544546"/>
          </a:xfrm>
        </p:spPr>
        <p:txBody>
          <a:bodyPr>
            <a:normAutofit fontScale="90000"/>
          </a:bodyPr>
          <a:lstStyle/>
          <a:p>
            <a:r>
              <a:rPr lang="en-US" sz="3600"/>
              <a:t>Spark Data Abstractions: RDDs</a:t>
            </a:r>
            <a:br>
              <a:rPr lang="en-US" sz="3600"/>
            </a:br>
            <a:r>
              <a:rPr lang="en-US" sz="3600"/>
              <a:t>Billions of data elements</a:t>
            </a:r>
            <a:br>
              <a:rPr lang="en-US"/>
            </a:br>
            <a:r>
              <a:rPr lang="en-US" b="1"/>
              <a:t>Each element</a:t>
            </a:r>
            <a:r>
              <a:rPr lang="en-US"/>
              <a:t>: </a:t>
            </a:r>
            <a:r>
              <a:rPr lang="en-US" sz="3600">
                <a:latin typeface="Courier" pitchFamily="2" charset="0"/>
              </a:rPr>
              <a:t>(String, (Float, Float))</a:t>
            </a:r>
            <a:endParaRPr lang="en-US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/>
              <a:t>Spark Data Abstractions: </a:t>
            </a:r>
            <a:r>
              <a:rPr lang="en-US" err="1"/>
              <a:t>DataFrame</a:t>
            </a:r>
            <a:endParaRPr lang="en-US"/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Initialize a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sample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Register the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DataFrame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as a Temporary SQL View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461809"/>
          </a:xfrm>
        </p:spPr>
        <p:txBody>
          <a:bodyPr>
            <a:noAutofit/>
          </a:bodyPr>
          <a:lstStyle/>
          <a:p>
            <a:r>
              <a:rPr lang="en-US" sz="3200" dirty="0" err="1"/>
              <a:t>PySpark</a:t>
            </a:r>
            <a:r>
              <a:rPr lang="en-US" sz="3200" dirty="0"/>
              <a:t> </a:t>
            </a:r>
            <a:r>
              <a:rPr lang="en-US" sz="3200" dirty="0" err="1"/>
              <a:t>DataFrame</a:t>
            </a:r>
            <a:r>
              <a:rPr lang="en-US" sz="3200" dirty="0"/>
              <a:t> Example </a:t>
            </a:r>
            <a:r>
              <a:rPr lang="en-US" sz="1600" dirty="0"/>
              <a:t>continued…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 fontScale="62500" lnSpcReduction="20000"/>
          </a:bodyPr>
          <a:lstStyle/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Run an SQL query using </a:t>
            </a:r>
            <a:r>
              <a:rPr lang="en-US" sz="2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/>
              <a:t>Amazon Athena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/>
              <a:t>Fast performance</a:t>
            </a: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2318</TotalTime>
  <Words>1719</Words>
  <Application>Microsoft Macintosh PowerPoint</Application>
  <PresentationFormat>Widescreen</PresentationFormat>
  <Paragraphs>245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7" baseType="lpstr">
      <vt:lpstr>Aptos</vt:lpstr>
      <vt:lpstr>Arial</vt:lpstr>
      <vt:lpstr>Avenir Next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(course outline)</vt:lpstr>
      <vt:lpstr>Big Data Modeling &amp; Analytics?</vt:lpstr>
      <vt:lpstr>1. What is Big Data?</vt:lpstr>
      <vt:lpstr>What is a Big Data Modeling?</vt:lpstr>
      <vt:lpstr>What is a Big Data Modeling?</vt:lpstr>
      <vt:lpstr>What is a Big Data Modeling &amp; Analytics?</vt:lpstr>
      <vt:lpstr>Business Value of Big Data Modeling &amp; Analytics?</vt:lpstr>
      <vt:lpstr>Main Course Components:</vt:lpstr>
      <vt:lpstr>Big Data Analysis</vt:lpstr>
      <vt:lpstr>1. MapReduce Paradigm</vt:lpstr>
      <vt:lpstr>1. MapReduce Paradigm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</vt:lpstr>
      <vt:lpstr>2. Apache Spark Programs</vt:lpstr>
      <vt:lpstr>Apache Spark: Components</vt:lpstr>
      <vt:lpstr>Spark run modes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element: (String, (Float, Float))</vt:lpstr>
      <vt:lpstr>Spark Data Abstractions: DataFrame</vt:lpstr>
      <vt:lpstr>PySpark DataFrame Example</vt:lpstr>
      <vt:lpstr>PySpark DataFrame Example continued…</vt:lpstr>
      <vt:lpstr>3. Main Course Components Serverless SQL Access to Big Data (15%)</vt:lpstr>
      <vt:lpstr>Amazon Athena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36</cp:revision>
  <dcterms:created xsi:type="dcterms:W3CDTF">2022-03-27T03:42:59Z</dcterms:created>
  <dcterms:modified xsi:type="dcterms:W3CDTF">2026-09-09T05:58:39Z</dcterms:modified>
</cp:coreProperties>
</file>