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6"/>
  </p:notesMasterIdLst>
  <p:sldIdLst>
    <p:sldId id="256" r:id="rId2"/>
    <p:sldId id="288" r:id="rId3"/>
    <p:sldId id="292" r:id="rId4"/>
    <p:sldId id="291" r:id="rId5"/>
    <p:sldId id="257" r:id="rId6"/>
    <p:sldId id="289" r:id="rId7"/>
    <p:sldId id="290" r:id="rId8"/>
    <p:sldId id="287" r:id="rId9"/>
    <p:sldId id="258" r:id="rId10"/>
    <p:sldId id="260" r:id="rId11"/>
    <p:sldId id="293" r:id="rId12"/>
    <p:sldId id="277" r:id="rId13"/>
    <p:sldId id="278" r:id="rId14"/>
    <p:sldId id="263" r:id="rId15"/>
    <p:sldId id="262" r:id="rId16"/>
    <p:sldId id="271" r:id="rId17"/>
    <p:sldId id="272" r:id="rId18"/>
    <p:sldId id="275" r:id="rId19"/>
    <p:sldId id="280" r:id="rId20"/>
    <p:sldId id="261" r:id="rId21"/>
    <p:sldId id="281" r:id="rId22"/>
    <p:sldId id="279" r:id="rId23"/>
    <p:sldId id="282" r:id="rId24"/>
    <p:sldId id="273" r:id="rId25"/>
    <p:sldId id="284" r:id="rId26"/>
    <p:sldId id="283" r:id="rId27"/>
    <p:sldId id="268" r:id="rId28"/>
    <p:sldId id="264" r:id="rId29"/>
    <p:sldId id="269" r:id="rId30"/>
    <p:sldId id="270" r:id="rId31"/>
    <p:sldId id="274" r:id="rId32"/>
    <p:sldId id="285" r:id="rId33"/>
    <p:sldId id="286" r:id="rId34"/>
    <p:sldId id="301" r:id="rId35"/>
    <p:sldId id="294" r:id="rId36"/>
    <p:sldId id="295" r:id="rId37"/>
    <p:sldId id="296" r:id="rId38"/>
    <p:sldId id="297" r:id="rId39"/>
    <p:sldId id="298" r:id="rId40"/>
    <p:sldId id="299" r:id="rId41"/>
    <p:sldId id="300" r:id="rId42"/>
    <p:sldId id="276" r:id="rId43"/>
    <p:sldId id="266" r:id="rId44"/>
    <p:sldId id="267" r:id="rId4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327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165E93-E323-764B-9CF0-D55E433161EB}" type="datetimeFigureOut">
              <a:rPr lang="en-US" smtClean="0"/>
              <a:t>9/9/26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1B93C6-1C82-724F-BFBF-243ECDC88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077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5600" y="3991335"/>
            <a:ext cx="9144000" cy="1395551"/>
          </a:xfr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5600" y="5386885"/>
            <a:ext cx="9144000" cy="556715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5" name="Google Shape;11;p9">
            <a:extLst>
              <a:ext uri="{FF2B5EF4-FFF2-40B4-BE49-F238E27FC236}">
                <a16:creationId xmlns:a16="http://schemas.microsoft.com/office/drawing/2014/main" id="{F562F608-3FAF-F944-B5A5-1195B295175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23509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406843"/>
            <a:ext cx="9144000" cy="3070496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489609"/>
            <a:ext cx="9144000" cy="623015"/>
          </a:xfrm>
        </p:spPr>
        <p:txBody>
          <a:bodyPr/>
          <a:lstStyle>
            <a:lvl1pPr marL="0" indent="0" algn="ctr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6" name="Google Shape;11;p9">
            <a:extLst>
              <a:ext uri="{FF2B5EF4-FFF2-40B4-BE49-F238E27FC236}">
                <a16:creationId xmlns:a16="http://schemas.microsoft.com/office/drawing/2014/main" id="{9843B12E-2970-164E-96C4-CA89A1450BB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08375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B50043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6" name="Google Shape;11;p9">
            <a:extLst>
              <a:ext uri="{FF2B5EF4-FFF2-40B4-BE49-F238E27FC236}">
                <a16:creationId xmlns:a16="http://schemas.microsoft.com/office/drawing/2014/main" id="{42BD6F60-39BB-9B49-8AE1-7982FC4CA8D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36741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5" name="Google Shape;19;p11">
            <a:extLst>
              <a:ext uri="{FF2B5EF4-FFF2-40B4-BE49-F238E27FC236}">
                <a16:creationId xmlns:a16="http://schemas.microsoft.com/office/drawing/2014/main" id="{56B763D1-B56A-134D-84FC-A52CB9F6A54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542343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287372-0917-854E-8E17-C067520FD8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1434167"/>
            <a:ext cx="5365749" cy="539751"/>
          </a:xfrm>
        </p:spPr>
        <p:txBody>
          <a:bodyPr anchor="t">
            <a:normAutofit/>
          </a:bodyPr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111297"/>
            <a:ext cx="10515600" cy="40656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19;p11">
            <a:extLst>
              <a:ext uri="{FF2B5EF4-FFF2-40B4-BE49-F238E27FC236}">
                <a16:creationId xmlns:a16="http://schemas.microsoft.com/office/drawing/2014/main" id="{D1EBC6D6-B7A7-8349-BB7D-34239AFEBBC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6041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8851" y="976617"/>
            <a:ext cx="10515600" cy="1003801"/>
          </a:xfrm>
        </p:spPr>
        <p:txBody>
          <a:bodyPr anchor="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287372-0917-854E-8E17-C067520FD8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28851" y="378638"/>
            <a:ext cx="5365749" cy="539751"/>
          </a:xfrm>
        </p:spPr>
        <p:txBody>
          <a:bodyPr anchor="b">
            <a:normAutofit/>
          </a:bodyPr>
          <a:lstStyle>
            <a:lvl1pPr marL="0" indent="0" algn="l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8851" y="2111297"/>
            <a:ext cx="10515600" cy="20558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FE203F3-27C1-6942-B96E-19FD27429AF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294496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41918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695" y="1081798"/>
            <a:ext cx="5365271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8584" y="542605"/>
            <a:ext cx="536574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695" y="2756452"/>
            <a:ext cx="11071829" cy="3420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19;p11">
            <a:extLst>
              <a:ext uri="{FF2B5EF4-FFF2-40B4-BE49-F238E27FC236}">
                <a16:creationId xmlns:a16="http://schemas.microsoft.com/office/drawing/2014/main" id="{960ADD97-4AD0-0A42-9114-EBC9F2ED478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22858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9" y="1174027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7" y="634834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1" y="634834"/>
            <a:ext cx="6713723" cy="27941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A4D5AD4-5321-1C4A-B2C2-36ACAEAE06A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294496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351343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7" y="3586056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3046863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0" y="3046863"/>
            <a:ext cx="6713723" cy="27941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A4D5AD4-5321-1C4A-B2C2-36ACAEAE06A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15;p10">
            <a:extLst>
              <a:ext uri="{FF2B5EF4-FFF2-40B4-BE49-F238E27FC236}">
                <a16:creationId xmlns:a16="http://schemas.microsoft.com/office/drawing/2014/main" id="{8A3194B9-CC43-E546-A5E4-9AD4D155F1B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221960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9" y="1620991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7" y="1081798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1" y="1081799"/>
            <a:ext cx="6713723" cy="23472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876801" y="3667447"/>
            <a:ext cx="6713723" cy="23472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A7E0C015-0061-4141-B120-DD81D01FA98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05307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0128" y="1464895"/>
            <a:ext cx="6713723" cy="83252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60128" y="85083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60128" y="2371725"/>
            <a:ext cx="6713723" cy="31797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6B87FA-C788-0C43-A60C-5EB49C9779C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1" y="0"/>
            <a:ext cx="3839572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DE36E4F5-5D6D-DF48-B7A4-0AC093DE605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024562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5633" y="1110976"/>
            <a:ext cx="5876111" cy="136381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5632" y="533317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5633" y="2512705"/>
            <a:ext cx="5876111" cy="33086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6B87FA-C788-0C43-A60C-5EB49C9779C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642744" y="1600200"/>
            <a:ext cx="3657600" cy="36576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24FE092B-3872-D545-8104-23189B691C1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670121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8337" y="1078391"/>
            <a:ext cx="3665612" cy="157109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24" y="2671110"/>
            <a:ext cx="3665939" cy="539751"/>
          </a:xfrm>
        </p:spPr>
        <p:txBody>
          <a:bodyPr anchor="ctr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9675" y="1078391"/>
            <a:ext cx="3352799" cy="50009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250866" y="1078393"/>
            <a:ext cx="3352799" cy="50009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0CAD2A9F-C0BE-1D4C-9CB5-9F353CB7EC5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466157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6" y="1081242"/>
            <a:ext cx="8789076" cy="108245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54204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1476" y="2493845"/>
            <a:ext cx="4275325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5115337" y="2493845"/>
            <a:ext cx="4275325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7EF772DB-EBED-AC4E-A6B4-D6788D3D616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098920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9067" y="1620992"/>
            <a:ext cx="3665612" cy="157109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89067" y="3187150"/>
            <a:ext cx="3665939" cy="539751"/>
          </a:xfrm>
        </p:spPr>
        <p:txBody>
          <a:bodyPr anchor="ctr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05" y="447391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331305" y="2401603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DD728A0-FBA7-A944-9FC3-D964968E5F8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31305" y="4349939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0" name="Google Shape;30;p13">
            <a:extLst>
              <a:ext uri="{FF2B5EF4-FFF2-40B4-BE49-F238E27FC236}">
                <a16:creationId xmlns:a16="http://schemas.microsoft.com/office/drawing/2014/main" id="{64431A57-6760-9247-9E2A-0A0473D22C6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102686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7" y="1081242"/>
            <a:ext cx="8621925" cy="108245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54204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1476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78752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99CB098-C913-FF47-8D6F-4433AECCD961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8156028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0" name="Google Shape;30;p13">
            <a:extLst>
              <a:ext uri="{FF2B5EF4-FFF2-40B4-BE49-F238E27FC236}">
                <a16:creationId xmlns:a16="http://schemas.microsoft.com/office/drawing/2014/main" id="{96661309-1A64-9B40-8E09-EB7C41D02DD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841134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5038" y="361423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50287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7271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8231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231" y="3424738"/>
            <a:ext cx="3535680" cy="28557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50356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DFEEC4C-3952-3241-AFFA-9FF6C2A44C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11316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11316" y="3471305"/>
            <a:ext cx="3535680" cy="2798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33508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97BD52A3-D0F5-C34B-B923-D91286004F7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94468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99CB098-C913-FF47-8D6F-4433AECCD961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8194468" y="3471305"/>
            <a:ext cx="3535680" cy="2798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7" name="Google Shape;30;p13">
            <a:extLst>
              <a:ext uri="{FF2B5EF4-FFF2-40B4-BE49-F238E27FC236}">
                <a16:creationId xmlns:a16="http://schemas.microsoft.com/office/drawing/2014/main" id="{4B5F8AAA-BFCE-4243-BCCA-044109B0E3F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100650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5038" y="361423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50287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7271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8231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12F6D154-7CC0-C540-AA65-63CBA5A0006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64514" y="3587178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50356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DFEEC4C-3952-3241-AFFA-9FF6C2A44C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11316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2EB95A51-2BFE-CF45-AF89-35310B6F255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727599" y="3587177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33508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97BD52A3-D0F5-C34B-B923-D91286004F7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94468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50A9B9C3-F6C3-E14E-B1BC-001989E7BF8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610751" y="3587175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20" name="Google Shape;30;p13">
            <a:extLst>
              <a:ext uri="{FF2B5EF4-FFF2-40B4-BE49-F238E27FC236}">
                <a16:creationId xmlns:a16="http://schemas.microsoft.com/office/drawing/2014/main" id="{F6FCBC8F-7CCE-2C4C-AAF7-4952D113F07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620957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4568" y="281392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41798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4605" y="2277977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9474" y="2588653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9EF3CB1-11C9-364F-BB5B-A911A25998F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58862" y="3591434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92365" y="2277975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B1F5A97-5AAD-B944-ACE3-759382926FC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61978" y="2591402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D467BC90-669B-E145-A934-88F0093AEA0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651366" y="3594183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00125" y="2277975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20F56272-45A8-464E-A2EF-92E963522CC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384993" y="2591402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11">
            <a:extLst>
              <a:ext uri="{FF2B5EF4-FFF2-40B4-BE49-F238E27FC236}">
                <a16:creationId xmlns:a16="http://schemas.microsoft.com/office/drawing/2014/main" id="{91AC9B6C-283F-8246-AA1C-A18DA4F7E34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574381" y="3594183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6ABE50-ACB3-F540-B07F-B7E5E31B4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07883" y="2277978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AEEAAA06-A9FA-5C44-BDE5-45762EF595D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292753" y="2588653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Picture Placeholder 11">
            <a:extLst>
              <a:ext uri="{FF2B5EF4-FFF2-40B4-BE49-F238E27FC236}">
                <a16:creationId xmlns:a16="http://schemas.microsoft.com/office/drawing/2014/main" id="{AB995A1D-84D4-B04C-B7C1-C51D005CC92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482141" y="3591434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19" name="Google Shape;30;p13">
            <a:extLst>
              <a:ext uri="{FF2B5EF4-FFF2-40B4-BE49-F238E27FC236}">
                <a16:creationId xmlns:a16="http://schemas.microsoft.com/office/drawing/2014/main" id="{846B281D-577A-2847-8901-3BC5DDAA2F4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000829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467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9" name="Google Shape;30;p13">
            <a:extLst>
              <a:ext uri="{FF2B5EF4-FFF2-40B4-BE49-F238E27FC236}">
                <a16:creationId xmlns:a16="http://schemas.microsoft.com/office/drawing/2014/main" id="{52095448-BA23-8B4C-9877-FF23F4EB99C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5809148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5" name="Google Shape;30;p13">
            <a:extLst>
              <a:ext uri="{FF2B5EF4-FFF2-40B4-BE49-F238E27FC236}">
                <a16:creationId xmlns:a16="http://schemas.microsoft.com/office/drawing/2014/main" id="{E74E0DDA-6146-E846-9C90-721AC3DB063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813537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30;p13">
            <a:extLst>
              <a:ext uri="{FF2B5EF4-FFF2-40B4-BE49-F238E27FC236}">
                <a16:creationId xmlns:a16="http://schemas.microsoft.com/office/drawing/2014/main" id="{EF4D445F-0EE7-E74E-B0B3-D782FE7112F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47735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133"/>
            </a:lvl2pPr>
            <a:lvl3pPr>
              <a:defRPr sz="1867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7DCDAFC0-B225-9546-961B-DC5B9BDD748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9316420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EE4A9134-7030-7749-89EA-6705EE97561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349695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038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572127"/>
            <a:ext cx="10515600" cy="46048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9C6A4C-6C9C-1247-9E17-AAB2A147EAAC}"/>
              </a:ext>
            </a:extLst>
          </p:cNvPr>
          <p:cNvSpPr txBox="1"/>
          <p:nvPr/>
        </p:nvSpPr>
        <p:spPr>
          <a:xfrm>
            <a:off x="2052578" y="725348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571506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267" b="0" i="0" kern="1200">
          <a:solidFill>
            <a:schemeClr val="tx1"/>
          </a:solidFill>
          <a:latin typeface="Franklin Gothic Medium Cond" panose="020B0606030402020204" pitchFamily="34" charset="0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100000"/>
        </a:lnSpc>
        <a:spcBef>
          <a:spcPts val="1000"/>
        </a:spcBef>
        <a:buClr>
          <a:schemeClr val="bg2">
            <a:lumMod val="25000"/>
          </a:schemeClr>
        </a:buClr>
        <a:buSzPct val="85000"/>
        <a:buFont typeface="Arial" panose="020B0604020202020204" pitchFamily="34" charset="0"/>
        <a:buChar char="•"/>
        <a:defRPr sz="2667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685783" indent="-228594" algn="l" defTabSz="914377" rtl="0" eaLnBrk="1" latinLnBrk="0" hangingPunct="1">
        <a:lnSpc>
          <a:spcPct val="100000"/>
        </a:lnSpc>
        <a:spcBef>
          <a:spcPts val="500"/>
        </a:spcBef>
        <a:buClr>
          <a:schemeClr val="bg2">
            <a:lumMod val="25000"/>
          </a:schemeClr>
        </a:buClr>
        <a:buSzPct val="85000"/>
        <a:buFont typeface="Courier New" panose="02070309020205020404" pitchFamily="49" charset="0"/>
        <a:buChar char="o"/>
        <a:defRPr sz="2400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1142971" indent="-228594" algn="l" defTabSz="914377" rtl="0" eaLnBrk="1" latinLnBrk="0" hangingPunct="1">
        <a:lnSpc>
          <a:spcPct val="100000"/>
        </a:lnSpc>
        <a:spcBef>
          <a:spcPts val="500"/>
        </a:spcBef>
        <a:buClr>
          <a:schemeClr val="bg2">
            <a:lumMod val="25000"/>
          </a:schemeClr>
        </a:buClr>
        <a:buSzPct val="85000"/>
        <a:buFont typeface="Wingdings" pitchFamily="2" charset="2"/>
        <a:buChar char="§"/>
        <a:defRPr sz="2133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67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67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oogle.com/url?sa=i&amp;source=web&amp;rct=j&amp;url=https://en.wikipedia.org/wiki/Apache_Spark&amp;ved=2ahUKEwjC_uu_rM6WAxUNLTQIHciVNXoQy_kOeggIAggBCAwQAw&amp;opi=89978449&amp;cd&amp;psig=AOvVaw2VE3PYCvo5HgQqdSV_BRzO&amp;ust=1788385288151000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793820"/>
            <a:ext cx="9144000" cy="340747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Big Data </a:t>
            </a:r>
            <a:br>
              <a:rPr lang="en-US" dirty="0"/>
            </a:br>
            <a:r>
              <a:rPr lang="en-US" dirty="0"/>
              <a:t>Modeling &amp; Analytics</a:t>
            </a:r>
            <a:br>
              <a:rPr lang="en-US" dirty="0"/>
            </a:br>
            <a:r>
              <a:rPr lang="en-US" sz="4400" dirty="0"/>
              <a:t>(</a:t>
            </a:r>
            <a:r>
              <a:rPr lang="en-US" sz="4400" dirty="0">
                <a:solidFill>
                  <a:srgbClr val="00B0F0"/>
                </a:solidFill>
              </a:rPr>
              <a:t>course outline</a:t>
            </a:r>
            <a:r>
              <a:rPr lang="en-US" sz="4400" dirty="0"/>
              <a:t>)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5600" y="4680581"/>
            <a:ext cx="9144000" cy="959386"/>
          </a:xfrm>
        </p:spPr>
        <p:txBody>
          <a:bodyPr>
            <a:no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Mahmoud Parsian</a:t>
            </a:r>
          </a:p>
          <a:p>
            <a:pPr algn="ctr"/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Ph.D. in Computer Science</a:t>
            </a:r>
          </a:p>
        </p:txBody>
      </p:sp>
    </p:spTree>
    <p:extLst>
      <p:ext uri="{BB962C8B-B14F-4D97-AF65-F5344CB8AC3E}">
        <p14:creationId xmlns:p14="http://schemas.microsoft.com/office/powerpoint/2010/main" val="4037632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08638-B2D6-95E9-A973-3576A94C2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5050C-745B-BB10-EB31-67B29EBCBB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solidFill>
                  <a:srgbClr val="0070C0"/>
                </a:solidFill>
              </a:rPr>
              <a:t>Big Data Modeling &amp; Analytics?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2915E2-5634-69F9-B951-73B2F49D6C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900"/>
            <a:ext cx="9144000" cy="4983188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sz="3200" dirty="0">
                <a:solidFill>
                  <a:schemeClr val="tx1"/>
                </a:solidFill>
              </a:rPr>
              <a:t>What is Big Data?</a:t>
            </a:r>
          </a:p>
          <a:p>
            <a:pPr marL="514350" indent="-514350">
              <a:buAutoNum type="arabicPeriod"/>
            </a:pPr>
            <a:r>
              <a:rPr lang="en-US" sz="3200" dirty="0">
                <a:solidFill>
                  <a:schemeClr val="tx1"/>
                </a:solidFill>
              </a:rPr>
              <a:t>What  is  Big data Modeling?</a:t>
            </a:r>
          </a:p>
          <a:p>
            <a:r>
              <a:rPr lang="en-US" sz="3200" dirty="0">
                <a:solidFill>
                  <a:schemeClr val="tx1"/>
                </a:solidFill>
              </a:rPr>
              <a:t>3.   What  is  Big Data Modeling &amp; Analytics?</a:t>
            </a:r>
          </a:p>
          <a:p>
            <a:r>
              <a:rPr lang="en-US" sz="3200" dirty="0">
                <a:solidFill>
                  <a:schemeClr val="tx1"/>
                </a:solidFill>
              </a:rPr>
              <a:t>4.  </a:t>
            </a:r>
            <a:r>
              <a:rPr lang="en-US" sz="3200" dirty="0">
                <a:solidFill>
                  <a:srgbClr val="00B0F0"/>
                </a:solidFill>
              </a:rPr>
              <a:t>Solutions</a:t>
            </a:r>
            <a:r>
              <a:rPr lang="en-US" sz="3200" dirty="0">
                <a:solidFill>
                  <a:schemeClr val="tx1"/>
                </a:solidFill>
              </a:rPr>
              <a:t> to Big Data Modeling &amp; Analytics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F0"/>
                </a:solidFill>
              </a:rPr>
              <a:t>MapReduce paradigm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F0"/>
                </a:solidFill>
              </a:rPr>
              <a:t>Spark/PySpark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F0"/>
                </a:solidFill>
              </a:rPr>
              <a:t>Amazon Athena &amp; Google’s Big Query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F0"/>
                </a:solidFill>
              </a:rPr>
              <a:t>…</a:t>
            </a:r>
          </a:p>
          <a:p>
            <a:endParaRPr lang="en-US" sz="3200" dirty="0">
              <a:solidFill>
                <a:srgbClr val="00B0F0"/>
              </a:solidFill>
            </a:endParaRPr>
          </a:p>
          <a:p>
            <a:endParaRPr lang="en-US" sz="36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281650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D7243-15AD-425E-DFCF-2A2EE95FA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8F834-4DE8-3048-DAA2-4FBC5C624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764352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0070C0"/>
                </a:solidFill>
              </a:rPr>
              <a:t>1. What is Big Data?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19F36D-D67A-B1D0-6CD3-5B3D4D9B07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899"/>
            <a:ext cx="9144000" cy="5114611"/>
          </a:xfrm>
        </p:spPr>
        <p:txBody>
          <a:bodyPr>
            <a:normAutofit fontScale="92500" lnSpcReduction="20000"/>
          </a:bodyPr>
          <a:lstStyle/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Big Data</a:t>
            </a:r>
            <a:r>
              <a:rPr lang="en-US" sz="3200" dirty="0">
                <a:solidFill>
                  <a:schemeClr val="tx1"/>
                </a:solidFill>
              </a:rPr>
              <a:t> refers to datasets that are </a:t>
            </a:r>
            <a:r>
              <a:rPr lang="en-US" sz="3200" u="sng" dirty="0">
                <a:solidFill>
                  <a:schemeClr val="tx1"/>
                </a:solidFill>
                <a:highlight>
                  <a:srgbClr val="00FF00"/>
                </a:highlight>
              </a:rPr>
              <a:t>so massive</a:t>
            </a:r>
            <a:r>
              <a:rPr lang="en-US" sz="3200" dirty="0">
                <a:solidFill>
                  <a:schemeClr val="tx1"/>
                </a:solidFill>
              </a:rPr>
              <a:t>, </a:t>
            </a:r>
          </a:p>
          <a:p>
            <a:r>
              <a:rPr lang="en-US" sz="3200" u="sng" dirty="0">
                <a:solidFill>
                  <a:srgbClr val="0070C0"/>
                </a:solidFill>
                <a:highlight>
                  <a:srgbClr val="00FF00"/>
                </a:highlight>
              </a:rPr>
              <a:t>fast-moving</a:t>
            </a:r>
            <a:r>
              <a:rPr lang="en-US" sz="3200" dirty="0">
                <a:solidFill>
                  <a:schemeClr val="tx1"/>
                </a:solidFill>
              </a:rPr>
              <a:t>,  and </a:t>
            </a:r>
            <a:r>
              <a:rPr lang="en-US" sz="3200" u="sng" dirty="0">
                <a:solidFill>
                  <a:srgbClr val="7030A0"/>
                </a:solidFill>
                <a:highlight>
                  <a:srgbClr val="00FF00"/>
                </a:highlight>
              </a:rPr>
              <a:t>complex</a:t>
            </a:r>
            <a:r>
              <a:rPr lang="en-US" sz="3200" dirty="0">
                <a:solidFill>
                  <a:schemeClr val="tx1"/>
                </a:solidFill>
              </a:rPr>
              <a:t> that traditional data-processing </a:t>
            </a:r>
          </a:p>
          <a:p>
            <a:r>
              <a:rPr lang="en-US" sz="3200" dirty="0">
                <a:solidFill>
                  <a:schemeClr val="tx1"/>
                </a:solidFill>
              </a:rPr>
              <a:t>software cannot capture, store, or analyze them effectively</a:t>
            </a:r>
            <a:r>
              <a:rPr lang="en-US" sz="3200" b="1" dirty="0">
                <a:solidFill>
                  <a:schemeClr val="tx1"/>
                </a:solidFill>
              </a:rPr>
              <a:t>.</a:t>
            </a:r>
            <a:r>
              <a:rPr lang="en-US" sz="3200" dirty="0">
                <a:solidFill>
                  <a:schemeClr val="tx1"/>
                </a:solidFill>
              </a:rPr>
              <a:t> </a:t>
            </a:r>
          </a:p>
          <a:p>
            <a:endParaRPr lang="en-US" sz="3200" dirty="0">
              <a:solidFill>
                <a:schemeClr val="tx1"/>
              </a:solidFill>
            </a:endParaRPr>
          </a:p>
          <a:p>
            <a:r>
              <a:rPr lang="en-US" sz="3200" dirty="0">
                <a:solidFill>
                  <a:schemeClr val="tx1"/>
                </a:solidFill>
              </a:rPr>
              <a:t>Instead of relying on a  </a:t>
            </a:r>
            <a:r>
              <a:rPr lang="en-US" sz="3200" dirty="0">
                <a:solidFill>
                  <a:schemeClr val="accent1"/>
                </a:solidFill>
                <a:highlight>
                  <a:srgbClr val="0000FF"/>
                </a:highlight>
              </a:rPr>
              <a:t>single computer </a:t>
            </a:r>
            <a:r>
              <a:rPr lang="en-US" sz="3200" dirty="0">
                <a:solidFill>
                  <a:schemeClr val="tx1"/>
                </a:solidFill>
              </a:rPr>
              <a:t>, </a:t>
            </a:r>
          </a:p>
          <a:p>
            <a:r>
              <a:rPr lang="en-US" sz="3200" dirty="0">
                <a:solidFill>
                  <a:schemeClr val="tx1"/>
                </a:solidFill>
              </a:rPr>
              <a:t>big data requires </a:t>
            </a:r>
            <a:r>
              <a:rPr lang="en-US" sz="3200" u="sng" dirty="0">
                <a:solidFill>
                  <a:schemeClr val="tx1"/>
                </a:solidFill>
              </a:rPr>
              <a:t>specialized frameworks </a:t>
            </a:r>
            <a:r>
              <a:rPr lang="en-US" sz="3200" dirty="0">
                <a:solidFill>
                  <a:schemeClr val="tx1"/>
                </a:solidFill>
              </a:rPr>
              <a:t>like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C0C0C0"/>
                </a:highlight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Apache Spark</a:t>
            </a:r>
            <a:endParaRPr lang="en-US" sz="3200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C0C0C0"/>
                </a:highlight>
              </a:rPr>
              <a:t>Cluster Computing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C0C0C0"/>
                </a:highlight>
              </a:rPr>
              <a:t>Snowflake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C0C0C0"/>
                </a:highlight>
              </a:rPr>
              <a:t>Amazon Athena / Google’s BigQuery</a:t>
            </a:r>
          </a:p>
          <a:p>
            <a:endParaRPr lang="en-US" sz="3200" dirty="0">
              <a:solidFill>
                <a:schemeClr val="tx1"/>
              </a:solidFill>
            </a:endParaRPr>
          </a:p>
          <a:p>
            <a:endParaRPr lang="en-US" sz="32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377715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F8F14-B0A6-8471-A8BF-4EB979468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EC0D2-3D42-409E-6E8A-3022A79345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What is a Big Data Modeling?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353BF7-8743-7C25-95E3-4E6ADA5D66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900"/>
            <a:ext cx="9144000" cy="4983188"/>
          </a:xfrm>
        </p:spPr>
        <p:txBody>
          <a:bodyPr>
            <a:normAutofit fontScale="70000" lnSpcReduction="20000"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Big data modeling  </a:t>
            </a:r>
            <a:r>
              <a:rPr lang="en-US" sz="3600" dirty="0">
                <a:solidFill>
                  <a:schemeClr val="tx1"/>
                </a:solidFill>
              </a:rPr>
              <a:t>is the process of </a:t>
            </a:r>
            <a:r>
              <a:rPr lang="en-US" sz="3600" dirty="0">
                <a:solidFill>
                  <a:srgbClr val="00B0F0"/>
                </a:solidFill>
              </a:rPr>
              <a:t>organizing large</a:t>
            </a:r>
            <a:r>
              <a:rPr lang="en-US" sz="3600" dirty="0">
                <a:solidFill>
                  <a:schemeClr val="tx1"/>
                </a:solidFill>
              </a:rPr>
              <a:t>, </a:t>
            </a:r>
          </a:p>
          <a:p>
            <a:r>
              <a:rPr lang="en-US" sz="3600" dirty="0">
                <a:solidFill>
                  <a:srgbClr val="00B0F0"/>
                </a:solidFill>
              </a:rPr>
              <a:t>fast-moving</a:t>
            </a:r>
            <a:r>
              <a:rPr lang="en-US" sz="3600" dirty="0">
                <a:solidFill>
                  <a:schemeClr val="tx1"/>
                </a:solidFill>
              </a:rPr>
              <a:t>, and </a:t>
            </a:r>
            <a:r>
              <a:rPr lang="en-US" sz="3600" dirty="0">
                <a:solidFill>
                  <a:srgbClr val="00B0F0"/>
                </a:solidFill>
              </a:rPr>
              <a:t>diverse datasets </a:t>
            </a:r>
            <a:r>
              <a:rPr lang="en-US" sz="3600" dirty="0">
                <a:solidFill>
                  <a:schemeClr val="tx1"/>
                </a:solidFill>
              </a:rPr>
              <a:t>so they can be </a:t>
            </a:r>
            <a:r>
              <a:rPr lang="en-US" sz="3600" dirty="0">
                <a:solidFill>
                  <a:srgbClr val="00B050"/>
                </a:solidFill>
              </a:rPr>
              <a:t>stored</a:t>
            </a:r>
            <a:r>
              <a:rPr lang="en-US" sz="3600" dirty="0">
                <a:solidFill>
                  <a:schemeClr val="tx1"/>
                </a:solidFill>
              </a:rPr>
              <a:t>, </a:t>
            </a:r>
          </a:p>
          <a:p>
            <a:r>
              <a:rPr lang="en-US" sz="3600" dirty="0">
                <a:solidFill>
                  <a:srgbClr val="00B050"/>
                </a:solidFill>
              </a:rPr>
              <a:t>processed</a:t>
            </a:r>
            <a:r>
              <a:rPr lang="en-US" sz="3600" dirty="0">
                <a:solidFill>
                  <a:schemeClr val="tx1"/>
                </a:solidFill>
              </a:rPr>
              <a:t>, </a:t>
            </a:r>
            <a:r>
              <a:rPr lang="en-US" sz="3600" dirty="0">
                <a:solidFill>
                  <a:srgbClr val="00B050"/>
                </a:solidFill>
              </a:rPr>
              <a:t>analyzed</a:t>
            </a:r>
            <a:r>
              <a:rPr lang="en-US" sz="3600" dirty="0">
                <a:solidFill>
                  <a:schemeClr val="tx1"/>
                </a:solidFill>
              </a:rPr>
              <a:t>, and </a:t>
            </a:r>
            <a:r>
              <a:rPr lang="en-US" sz="3600" dirty="0">
                <a:solidFill>
                  <a:srgbClr val="00B050"/>
                </a:solidFill>
              </a:rPr>
              <a:t>understood</a:t>
            </a:r>
            <a:r>
              <a:rPr lang="en-US" sz="3600" dirty="0">
                <a:solidFill>
                  <a:schemeClr val="tx1"/>
                </a:solidFill>
              </a:rPr>
              <a:t> efficiently.</a:t>
            </a:r>
          </a:p>
          <a:p>
            <a:endParaRPr lang="en-US" sz="3600" dirty="0"/>
          </a:p>
          <a:p>
            <a:r>
              <a:rPr lang="en-US" sz="3600" b="1" u="sng" dirty="0"/>
              <a:t>Key Characteristics of Big Data:</a:t>
            </a:r>
            <a:endParaRPr lang="en-US" sz="3600" b="1" u="sng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rgbClr val="00B0F0"/>
                </a:solidFill>
              </a:rPr>
              <a:t>1. Volume</a:t>
            </a:r>
            <a:r>
              <a:rPr lang="en-US" sz="3600" dirty="0">
                <a:solidFill>
                  <a:schemeClr val="tx1"/>
                </a:solidFill>
              </a:rPr>
              <a:t>: Handles massive amounts of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2. Velocity</a:t>
            </a:r>
            <a:r>
              <a:rPr lang="en-US" sz="3600" dirty="0">
                <a:solidFill>
                  <a:schemeClr val="tx1"/>
                </a:solidFill>
              </a:rPr>
              <a:t>: Supports rapidly generated and processed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3. Variety</a:t>
            </a:r>
            <a:r>
              <a:rPr lang="en-US" sz="3600" dirty="0">
                <a:solidFill>
                  <a:schemeClr val="tx1"/>
                </a:solidFill>
              </a:rPr>
              <a:t>: Combines structured, semi-structured, and unstructured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4. Veracity</a:t>
            </a:r>
            <a:r>
              <a:rPr lang="en-US" sz="3600" dirty="0">
                <a:solidFill>
                  <a:schemeClr val="tx1"/>
                </a:solidFill>
              </a:rPr>
              <a:t>: The quality, reliability, and trust of the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5. Scalability</a:t>
            </a:r>
            <a:r>
              <a:rPr lang="en-US" sz="3600" dirty="0">
                <a:solidFill>
                  <a:schemeClr val="tx1"/>
                </a:solidFill>
              </a:rPr>
              <a:t>: Adapts as data and user demand grow</a:t>
            </a:r>
          </a:p>
          <a:p>
            <a:endParaRPr lang="en-US" sz="36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614690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What is a Big Data Modeling?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900"/>
            <a:ext cx="9144000" cy="4983188"/>
          </a:xfrm>
        </p:spPr>
        <p:txBody>
          <a:bodyPr>
            <a:normAutofit fontScale="92500"/>
          </a:bodyPr>
          <a:lstStyle/>
          <a:p>
            <a:r>
              <a:rPr lang="en-US" sz="3600" dirty="0"/>
              <a:t># Common Models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Data lakes and Lake-Houses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NoSQL models: document, key-value, column, and graph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Distributed data warehouses (Snowflake)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Batch and streaming architectures (Spark)</a:t>
            </a:r>
          </a:p>
          <a:p>
            <a:endParaRPr lang="en-US" sz="3600" dirty="0"/>
          </a:p>
          <a:p>
            <a:r>
              <a:rPr lang="en-US" sz="3600" dirty="0"/>
              <a:t>&gt; Goal: </a:t>
            </a:r>
            <a:r>
              <a:rPr lang="en-US" sz="3600" dirty="0">
                <a:solidFill>
                  <a:srgbClr val="00B0F0"/>
                </a:solidFill>
              </a:rPr>
              <a:t>Turn </a:t>
            </a:r>
            <a:r>
              <a:rPr lang="en-US" sz="3600" u="sng" dirty="0">
                <a:solidFill>
                  <a:srgbClr val="00B0F0"/>
                </a:solidFill>
              </a:rPr>
              <a:t>complex raw data</a:t>
            </a:r>
            <a:r>
              <a:rPr lang="en-US" sz="3600" dirty="0">
                <a:solidFill>
                  <a:srgbClr val="00B0F0"/>
                </a:solidFill>
              </a:rPr>
              <a:t> into a </a:t>
            </a:r>
            <a:r>
              <a:rPr lang="en-US" sz="3600" u="sng" dirty="0">
                <a:solidFill>
                  <a:srgbClr val="00B0F0"/>
                </a:solidFill>
              </a:rPr>
              <a:t>reliable structure</a:t>
            </a:r>
            <a:r>
              <a:rPr lang="en-US" sz="3600" dirty="0">
                <a:solidFill>
                  <a:srgbClr val="00B0F0"/>
                </a:solidFill>
              </a:rPr>
              <a:t> for analysis and decision-making.</a:t>
            </a: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264933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69774-946E-B260-E4C8-F247732A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45835-EA10-131F-D9B6-525812083D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What is a Big Data Modeling &amp; Analytics?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5C9645-A45B-E966-6AAB-2EA599B16D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994787"/>
            <a:ext cx="9144000" cy="5214301"/>
          </a:xfrm>
        </p:spPr>
        <p:txBody>
          <a:bodyPr>
            <a:normAutofit fontScale="70000" lnSpcReduction="20000"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Big data analytics uses modeled data to discover patterns, </a:t>
            </a:r>
          </a:p>
          <a:p>
            <a:r>
              <a:rPr lang="en-US" sz="3600" dirty="0">
                <a:solidFill>
                  <a:schemeClr val="tx1"/>
                </a:solidFill>
              </a:rPr>
              <a:t>explain outcomes, predict future events, and recommend actions.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rgbClr val="00B0F0"/>
                </a:solidFill>
              </a:rPr>
              <a:t>## Analytics Types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</a:t>
            </a:r>
            <a:r>
              <a:rPr lang="en-US" sz="3600" dirty="0">
                <a:solidFill>
                  <a:schemeClr val="tx1"/>
                </a:solidFill>
                <a:highlight>
                  <a:srgbClr val="00FF00"/>
                </a:highlight>
              </a:rPr>
              <a:t>Descriptive</a:t>
            </a:r>
            <a:r>
              <a:rPr lang="en-US" sz="3600" dirty="0">
                <a:solidFill>
                  <a:schemeClr val="tx1"/>
                </a:solidFill>
              </a:rPr>
              <a:t>: What happened?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</a:t>
            </a:r>
            <a:r>
              <a:rPr lang="en-US" sz="3600" dirty="0">
                <a:solidFill>
                  <a:schemeClr val="tx1"/>
                </a:solidFill>
                <a:highlight>
                  <a:srgbClr val="00FF00"/>
                </a:highlight>
              </a:rPr>
              <a:t>Diagnostic</a:t>
            </a:r>
            <a:r>
              <a:rPr lang="en-US" sz="3600" dirty="0">
                <a:solidFill>
                  <a:schemeClr val="tx1"/>
                </a:solidFill>
              </a:rPr>
              <a:t>: Why did it happen?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</a:t>
            </a:r>
            <a:r>
              <a:rPr lang="en-US" sz="3600" dirty="0">
                <a:solidFill>
                  <a:schemeClr val="tx1"/>
                </a:solidFill>
                <a:highlight>
                  <a:srgbClr val="00FF00"/>
                </a:highlight>
              </a:rPr>
              <a:t>Predictive</a:t>
            </a:r>
            <a:r>
              <a:rPr lang="en-US" sz="3600" dirty="0">
                <a:solidFill>
                  <a:schemeClr val="tx1"/>
                </a:solidFill>
              </a:rPr>
              <a:t>: What is likely to happen?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</a:t>
            </a:r>
            <a:r>
              <a:rPr lang="en-US" sz="3600" dirty="0">
                <a:solidFill>
                  <a:schemeClr val="tx1"/>
                </a:solidFill>
                <a:highlight>
                  <a:srgbClr val="00FF00"/>
                </a:highlight>
              </a:rPr>
              <a:t>Prescriptive</a:t>
            </a:r>
            <a:r>
              <a:rPr lang="en-US" sz="3600" dirty="0">
                <a:solidFill>
                  <a:schemeClr val="tx1"/>
                </a:solidFill>
              </a:rPr>
              <a:t>: What action should be taken?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rgbClr val="00B0F0"/>
                </a:solidFill>
              </a:rPr>
              <a:t>## Typical Workflow</a:t>
            </a:r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chemeClr val="tx1"/>
                </a:solidFill>
              </a:rPr>
              <a:t>Collect → Clean → Model → Process → Analyze → Visualize → Act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003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8968A-F75F-7263-50D7-75791B9A7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F246D-7A97-8661-9CA0-D068C54041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solidFill>
                  <a:srgbClr val="00B0F0"/>
                </a:solidFill>
              </a:rPr>
              <a:t>Business Value</a:t>
            </a:r>
            <a:r>
              <a:rPr lang="en-US" sz="3600" dirty="0"/>
              <a:t> of Big Data Modeling &amp; Analytics?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5B49BE-0C8C-8FDB-F16E-E88633B66A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994787"/>
            <a:ext cx="9144000" cy="5214301"/>
          </a:xfrm>
        </p:spPr>
        <p:txBody>
          <a:bodyPr>
            <a:normAutofit fontScale="92500" lnSpcReduction="10000"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Faster, evidence-based decisions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Improved customer experiences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Fraud and risk detection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Operational efficiency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Forecasting and innovation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Building AI-LLM models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pPr marL="571500" indent="-571500">
              <a:buFont typeface="Wingdings" pitchFamily="2" charset="2"/>
              <a:buChar char="Ø"/>
            </a:pPr>
            <a:r>
              <a:rPr lang="en-US" sz="3600" dirty="0">
                <a:solidFill>
                  <a:srgbClr val="00B0F0"/>
                </a:solidFill>
              </a:rPr>
              <a:t>Strong analytics </a:t>
            </a:r>
            <a:r>
              <a:rPr lang="en-US" sz="3600" dirty="0">
                <a:solidFill>
                  <a:schemeClr val="tx1"/>
                </a:solidFill>
              </a:rPr>
              <a:t>depends</a:t>
            </a:r>
            <a:r>
              <a:rPr lang="en-US" sz="3600" dirty="0">
                <a:solidFill>
                  <a:srgbClr val="00B0F0"/>
                </a:solidFill>
              </a:rPr>
              <a:t> on a scalable, accurate, </a:t>
            </a:r>
          </a:p>
          <a:p>
            <a:pPr marL="571500" indent="-571500">
              <a:buFont typeface="Wingdings" pitchFamily="2" charset="2"/>
              <a:buChar char="Ø"/>
            </a:pPr>
            <a:r>
              <a:rPr lang="en-US" sz="3600" dirty="0">
                <a:solidFill>
                  <a:srgbClr val="00B0F0"/>
                </a:solidFill>
              </a:rPr>
              <a:t>and well-governed data model.</a:t>
            </a:r>
          </a:p>
        </p:txBody>
      </p:sp>
    </p:spTree>
    <p:extLst>
      <p:ext uri="{BB962C8B-B14F-4D97-AF65-F5344CB8AC3E}">
        <p14:creationId xmlns:p14="http://schemas.microsoft.com/office/powerpoint/2010/main" val="1219775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AE3BA-5316-BF9D-F70F-56560679E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F7236-BD85-4A18-23D9-EB2B61B0FD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299289"/>
          </a:xfrm>
        </p:spPr>
        <p:txBody>
          <a:bodyPr>
            <a:normAutofit fontScale="90000"/>
          </a:bodyPr>
          <a:lstStyle/>
          <a:p>
            <a:r>
              <a:rPr lang="en-US" dirty="0"/>
              <a:t>Big Data Modeling</a:t>
            </a:r>
            <a:br>
              <a:rPr lang="en-US" dirty="0"/>
            </a:br>
            <a:r>
              <a:rPr lang="en-US" dirty="0"/>
              <a:t>Course Components: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A3236A-EEC5-EDBF-E424-319C91C75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2632669"/>
            <a:ext cx="9144000" cy="2572378"/>
          </a:xfrm>
        </p:spPr>
        <p:txBody>
          <a:bodyPr>
            <a:normAutofit/>
          </a:bodyPr>
          <a:lstStyle/>
          <a:p>
            <a:pPr algn="l"/>
            <a:r>
              <a:rPr lang="en-US" sz="3600" dirty="0"/>
              <a:t>1. </a:t>
            </a:r>
            <a:r>
              <a:rPr lang="en-US" sz="3600" dirty="0">
                <a:solidFill>
                  <a:srgbClr val="00B0F0"/>
                </a:solidFill>
              </a:rPr>
              <a:t>Introduction to MapReduce Paradigm (25%)</a:t>
            </a:r>
          </a:p>
          <a:p>
            <a:pPr algn="l"/>
            <a:r>
              <a:rPr lang="en-US" sz="3600" dirty="0"/>
              <a:t>2. </a:t>
            </a:r>
            <a:r>
              <a:rPr lang="en-US" sz="3600" dirty="0">
                <a:solidFill>
                  <a:srgbClr val="FF0000"/>
                </a:solidFill>
              </a:rPr>
              <a:t>Spark and PySpark (60%)</a:t>
            </a:r>
          </a:p>
          <a:p>
            <a:pPr algn="l"/>
            <a:r>
              <a:rPr lang="en-US" sz="3600" dirty="0"/>
              <a:t>3. </a:t>
            </a:r>
            <a:r>
              <a:rPr lang="en-US" sz="3600" dirty="0">
                <a:solidFill>
                  <a:srgbClr val="00B050"/>
                </a:solidFill>
              </a:rPr>
              <a:t>Serverless SQL Access to Big Data (15%)</a:t>
            </a:r>
            <a:endParaRPr lang="en-US" sz="1200" dirty="0">
              <a:solidFill>
                <a:srgbClr val="00B050"/>
              </a:solidFill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610126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33414" y="287567"/>
            <a:ext cx="4192655" cy="750402"/>
          </a:xfrm>
        </p:spPr>
        <p:txBody>
          <a:bodyPr>
            <a:normAutofit/>
          </a:bodyPr>
          <a:lstStyle/>
          <a:p>
            <a:r>
              <a:rPr lang="en-US" dirty="0"/>
              <a:t>Big Data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2998" y="1037969"/>
            <a:ext cx="9895002" cy="4565148"/>
          </a:xfrm>
        </p:spPr>
        <p:txBody>
          <a:bodyPr>
            <a:normAutofit/>
          </a:bodyPr>
          <a:lstStyle/>
          <a:p>
            <a:pPr lvl="1" algn="l"/>
            <a:endParaRPr lang="en-US" sz="12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Folded Corner 3">
            <a:extLst>
              <a:ext uri="{FF2B5EF4-FFF2-40B4-BE49-F238E27FC236}">
                <a16:creationId xmlns:a16="http://schemas.microsoft.com/office/drawing/2014/main" id="{80131A01-A343-3243-8C0C-F4C051A95EC8}"/>
              </a:ext>
            </a:extLst>
          </p:cNvPr>
          <p:cNvSpPr/>
          <p:nvPr/>
        </p:nvSpPr>
        <p:spPr>
          <a:xfrm>
            <a:off x="1080230" y="2797226"/>
            <a:ext cx="2030770" cy="2069889"/>
          </a:xfrm>
          <a:prstGeom prst="foldedCorner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Input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1. Text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2. Transactions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3. DNA Data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4. Cancer data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…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D9EB00-CC87-1948-B4C0-5EBF92C2A194}"/>
              </a:ext>
            </a:extLst>
          </p:cNvPr>
          <p:cNvSpPr/>
          <p:nvPr/>
        </p:nvSpPr>
        <p:spPr>
          <a:xfrm>
            <a:off x="4000121" y="2855485"/>
            <a:ext cx="4192654" cy="20673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Data Analysis</a:t>
            </a:r>
          </a:p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Transformations &amp; Actions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Mappers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Filters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Reducers</a:t>
            </a:r>
          </a:p>
        </p:txBody>
      </p:sp>
      <p:sp>
        <p:nvSpPr>
          <p:cNvPr id="6" name="Folded Corner 5">
            <a:extLst>
              <a:ext uri="{FF2B5EF4-FFF2-40B4-BE49-F238E27FC236}">
                <a16:creationId xmlns:a16="http://schemas.microsoft.com/office/drawing/2014/main" id="{FA942C44-4FF8-0948-98C7-ED21DF3F7C0C}"/>
              </a:ext>
            </a:extLst>
          </p:cNvPr>
          <p:cNvSpPr/>
          <p:nvPr/>
        </p:nvSpPr>
        <p:spPr>
          <a:xfrm>
            <a:off x="9004052" y="3175686"/>
            <a:ext cx="1404730" cy="916080"/>
          </a:xfrm>
          <a:prstGeom prst="foldedCorner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Desired </a:t>
            </a:r>
          </a:p>
          <a:p>
            <a:pPr algn="ctr"/>
            <a:r>
              <a:rPr lang="en-US" sz="2400" dirty="0"/>
              <a:t>Output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7DB2D79-6942-6348-B510-E1EAEC3A74C2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111000" y="3832171"/>
            <a:ext cx="889121" cy="56984"/>
          </a:xfrm>
          <a:prstGeom prst="straightConnector1">
            <a:avLst/>
          </a:prstGeom>
          <a:ln w="222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EAEE2C5-33D1-6B4E-8C29-074E7A60DC57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8192775" y="3633726"/>
            <a:ext cx="811277" cy="255429"/>
          </a:xfrm>
          <a:prstGeom prst="straightConnector1">
            <a:avLst/>
          </a:prstGeom>
          <a:ln w="31750">
            <a:solidFill>
              <a:schemeClr val="tx1">
                <a:alpha val="94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4017890-C925-904A-B21E-6384DDF3BFF9}"/>
              </a:ext>
            </a:extLst>
          </p:cNvPr>
          <p:cNvSpPr/>
          <p:nvPr/>
        </p:nvSpPr>
        <p:spPr>
          <a:xfrm>
            <a:off x="2385445" y="1202700"/>
            <a:ext cx="1881808" cy="1033669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1. MapReduce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72B3A01-9C2E-DA40-8B22-023FFE73018B}"/>
              </a:ext>
            </a:extLst>
          </p:cNvPr>
          <p:cNvSpPr/>
          <p:nvPr/>
        </p:nvSpPr>
        <p:spPr>
          <a:xfrm>
            <a:off x="4451420" y="1202701"/>
            <a:ext cx="2461846" cy="1123124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2.</a:t>
            </a:r>
          </a:p>
          <a:p>
            <a:pPr algn="ctr"/>
            <a:r>
              <a:rPr lang="en-US" sz="2400" dirty="0"/>
              <a:t>Spark/PySpark</a:t>
            </a:r>
          </a:p>
          <a:p>
            <a:pPr algn="ctr"/>
            <a:r>
              <a:rPr lang="en-US" sz="2400" dirty="0"/>
              <a:t>RDD/</a:t>
            </a:r>
            <a:r>
              <a:rPr lang="en-US" sz="2400" dirty="0" err="1"/>
              <a:t>DataFrame</a:t>
            </a:r>
            <a:endParaRPr lang="en-US" sz="24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3385219-E031-504C-8EC0-1185515601A3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5682343" y="2325825"/>
            <a:ext cx="414105" cy="52966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931F5A5-0E52-4D3E-3C91-209CA1644140}"/>
              </a:ext>
            </a:extLst>
          </p:cNvPr>
          <p:cNvSpPr/>
          <p:nvPr/>
        </p:nvSpPr>
        <p:spPr>
          <a:xfrm>
            <a:off x="7172985" y="1291451"/>
            <a:ext cx="2002735" cy="1033669"/>
          </a:xfrm>
          <a:prstGeom prst="round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2060"/>
                </a:solidFill>
              </a:rPr>
              <a:t>3.</a:t>
            </a:r>
          </a:p>
          <a:p>
            <a:pPr algn="ctr"/>
            <a:r>
              <a:rPr lang="en-US" sz="2400" dirty="0">
                <a:solidFill>
                  <a:srgbClr val="002060"/>
                </a:solidFill>
              </a:rPr>
              <a:t>Amazon</a:t>
            </a:r>
          </a:p>
          <a:p>
            <a:pPr algn="ctr"/>
            <a:r>
              <a:rPr lang="en-US" sz="2400" dirty="0">
                <a:solidFill>
                  <a:srgbClr val="002060"/>
                </a:solidFill>
              </a:rPr>
              <a:t>Athena (SQL)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23C9E8F-AC65-554B-EFCE-6DE2142AF8F5}"/>
              </a:ext>
            </a:extLst>
          </p:cNvPr>
          <p:cNvCxnSpPr>
            <a:cxnSpLocks/>
          </p:cNvCxnSpPr>
          <p:nvPr/>
        </p:nvCxnSpPr>
        <p:spPr>
          <a:xfrm flipH="1">
            <a:off x="6830667" y="2340330"/>
            <a:ext cx="424898" cy="50226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7874E25-F3A4-8706-151D-7E2633C31F01}"/>
              </a:ext>
            </a:extLst>
          </p:cNvPr>
          <p:cNvCxnSpPr>
            <a:cxnSpLocks/>
          </p:cNvCxnSpPr>
          <p:nvPr/>
        </p:nvCxnSpPr>
        <p:spPr>
          <a:xfrm>
            <a:off x="3418232" y="2264006"/>
            <a:ext cx="970001" cy="53322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0506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915159"/>
          </a:xfrm>
        </p:spPr>
        <p:txBody>
          <a:bodyPr/>
          <a:lstStyle/>
          <a:p>
            <a:r>
              <a:rPr lang="en-US" dirty="0"/>
              <a:t>1. MapReduce Paradigm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89652"/>
            <a:ext cx="9144000" cy="4283765"/>
          </a:xfrm>
        </p:spPr>
        <p:txBody>
          <a:bodyPr>
            <a:norm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b="1" dirty="0">
                <a:solidFill>
                  <a:srgbClr val="002060"/>
                </a:solidFill>
              </a:rPr>
              <a:t>MapReduce</a:t>
            </a:r>
            <a:r>
              <a:rPr lang="en-US" sz="3000" dirty="0">
                <a:solidFill>
                  <a:srgbClr val="002060"/>
                </a:solidFill>
              </a:rPr>
              <a:t> is a programming </a:t>
            </a:r>
            <a:r>
              <a:rPr lang="en-US" sz="3000" b="1" dirty="0">
                <a:solidFill>
                  <a:srgbClr val="002060"/>
                </a:solidFill>
              </a:rPr>
              <a:t>paradigm/model</a:t>
            </a:r>
            <a:r>
              <a:rPr lang="en-US" sz="3000" dirty="0">
                <a:solidFill>
                  <a:srgbClr val="002060"/>
                </a:solidFill>
              </a:rPr>
              <a:t> that enables </a:t>
            </a:r>
            <a:r>
              <a:rPr lang="en-US" sz="3000" b="1" dirty="0">
                <a:solidFill>
                  <a:srgbClr val="002060"/>
                </a:solidFill>
              </a:rPr>
              <a:t>massive scalability </a:t>
            </a:r>
            <a:r>
              <a:rPr lang="en-US" sz="3000" dirty="0">
                <a:solidFill>
                  <a:srgbClr val="002060"/>
                </a:solidFill>
              </a:rPr>
              <a:t>across hundreds or thousands of servers in a cluster.</a:t>
            </a:r>
            <a:endParaRPr lang="en-US" sz="3600" dirty="0"/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dirty="0"/>
              <a:t>MapReduce has 3 functions: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map()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reduce()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combine()</a:t>
            </a:r>
            <a:endParaRPr lang="en-US" sz="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38766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9F049-FB3C-F3EA-FE6C-9B23A1072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CB78C-22E5-141A-23D5-6E5445BD39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663529"/>
          </a:xfrm>
        </p:spPr>
        <p:txBody>
          <a:bodyPr>
            <a:normAutofit fontScale="90000"/>
          </a:bodyPr>
          <a:lstStyle/>
          <a:p>
            <a:r>
              <a:rPr lang="en-US" dirty="0"/>
              <a:t>1. MapReduce Paradigm: 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highlight>
                  <a:srgbClr val="00FF00"/>
                </a:highlight>
              </a:rPr>
              <a:t>split  data into chunks: then parallelize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38F92D-46A1-6B82-6845-2C0B522B7A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447800"/>
            <a:ext cx="7772400" cy="3608614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19252A4-2E91-97FC-D02F-3C7B6C906D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748413"/>
            <a:ext cx="9144000" cy="3788230"/>
          </a:xfrm>
        </p:spPr>
        <p:txBody>
          <a:bodyPr>
            <a:normAutofit/>
          </a:bodyPr>
          <a:lstStyle/>
          <a:p>
            <a:pPr marL="457200" lvl="1" algn="l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42100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915159"/>
          </a:xfrm>
        </p:spPr>
        <p:txBody>
          <a:bodyPr/>
          <a:lstStyle/>
          <a:p>
            <a:r>
              <a:rPr lang="en-US" dirty="0"/>
              <a:t>1. MapReduce Programs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89652"/>
            <a:ext cx="9144000" cy="4283765"/>
          </a:xfrm>
        </p:spPr>
        <p:txBody>
          <a:bodyPr>
            <a:normAutofit lnSpcReduction="10000"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b="1" dirty="0">
                <a:solidFill>
                  <a:srgbClr val="002060"/>
                </a:solidFill>
              </a:rPr>
              <a:t>For MapReduce, we will use: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rgbClr val="002060"/>
                </a:solidFill>
              </a:rPr>
              <a:t>Pseudo code (not executable)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rgbClr val="002060"/>
                </a:solidFill>
              </a:rPr>
              <a:t>PySpark code (runs on Spark)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2060"/>
                </a:solidFill>
              </a:rPr>
              <a:t> For MapReduce, we will focus on learning MapReduce </a:t>
            </a:r>
            <a:r>
              <a:rPr lang="en-US" sz="3000" b="1" dirty="0">
                <a:solidFill>
                  <a:srgbClr val="002060"/>
                </a:solidFill>
              </a:rPr>
              <a:t>paradigm/model</a:t>
            </a:r>
            <a:r>
              <a:rPr lang="en-US" sz="3000" dirty="0">
                <a:solidFill>
                  <a:srgbClr val="002060"/>
                </a:solidFill>
              </a:rPr>
              <a:t> that enables </a:t>
            </a:r>
            <a:r>
              <a:rPr lang="en-US" sz="3000" b="1" dirty="0">
                <a:solidFill>
                  <a:srgbClr val="002060"/>
                </a:solidFill>
              </a:rPr>
              <a:t>massive scalability </a:t>
            </a:r>
            <a:r>
              <a:rPr lang="en-US" sz="3000" dirty="0">
                <a:solidFill>
                  <a:srgbClr val="002060"/>
                </a:solidFill>
              </a:rPr>
              <a:t>across hundreds or thousands of servers in a cluster.</a:t>
            </a:r>
            <a:endParaRPr lang="en-US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002060"/>
                </a:solidFill>
              </a:rPr>
              <a:t>For MapReduce, </a:t>
            </a:r>
            <a:r>
              <a:rPr lang="en-US" sz="3600" b="1" dirty="0">
                <a:solidFill>
                  <a:srgbClr val="002060"/>
                </a:solidFill>
              </a:rPr>
              <a:t>pseudo-code </a:t>
            </a:r>
            <a:endParaRPr lang="en-US" sz="3600" dirty="0">
              <a:solidFill>
                <a:srgbClr val="002060"/>
              </a:solidFill>
            </a:endParaRP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2060"/>
                </a:solidFill>
              </a:rPr>
              <a:t>examples are given in </a:t>
            </a:r>
            <a:r>
              <a:rPr lang="en-US" sz="2400" dirty="0"/>
              <a:t>Lin, J., &amp; Dyer, C. (2010). </a:t>
            </a:r>
            <a:r>
              <a:rPr lang="en-US" sz="2400" i="1" dirty="0"/>
              <a:t>Data-intensive text processing with MapReduce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8205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6"/>
            <a:ext cx="9144000" cy="703722"/>
          </a:xfrm>
        </p:spPr>
        <p:txBody>
          <a:bodyPr>
            <a:normAutofit fontScale="90000"/>
          </a:bodyPr>
          <a:lstStyle/>
          <a:p>
            <a:r>
              <a:rPr lang="en-US" dirty="0"/>
              <a:t>1. MapReduce Components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467060"/>
            <a:ext cx="9144000" cy="4506358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sz="3600" dirty="0"/>
              <a:t>MapReduce: 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dirty="0"/>
              <a:t>split data into chunks and then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dirty="0"/>
              <a:t>use  3 functions:</a:t>
            </a:r>
          </a:p>
          <a:p>
            <a:pPr marL="457200" lvl="1" algn="l"/>
            <a:r>
              <a:rPr lang="en-US" sz="3200" b="1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map()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3000" dirty="0">
                <a:latin typeface="Consolas" panose="020B0609020204030204" pitchFamily="49" charset="0"/>
                <a:cs typeface="Consolas" panose="020B0609020204030204" pitchFamily="49" charset="0"/>
              </a:rPr>
              <a:t>Mapper function</a:t>
            </a:r>
          </a:p>
          <a:p>
            <a:pPr marL="457200" lvl="1" algn="l"/>
            <a:r>
              <a:rPr lang="en-US" sz="3200" b="1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reduce()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3000" dirty="0">
                <a:latin typeface="Consolas" panose="020B0609020204030204" pitchFamily="49" charset="0"/>
                <a:cs typeface="Consolas" panose="020B0609020204030204" pitchFamily="49" charset="0"/>
              </a:rPr>
              <a:t>Reducer function</a:t>
            </a:r>
          </a:p>
          <a:p>
            <a:pPr marL="457200" lvl="1" algn="l"/>
            <a:r>
              <a:rPr lang="en-US" sz="3200" b="1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combine()</a:t>
            </a:r>
            <a:r>
              <a:rPr lang="en-US" sz="800" b="1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2600" dirty="0">
                <a:latin typeface="Consolas" panose="020B0609020204030204" pitchFamily="49" charset="0"/>
                <a:cs typeface="Consolas" panose="020B0609020204030204" pitchFamily="49" charset="0"/>
              </a:rPr>
              <a:t>Optional combiner function</a:t>
            </a:r>
            <a:endParaRPr lang="en-US" sz="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endParaRPr lang="en-US" sz="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96857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6"/>
            <a:ext cx="9144000" cy="830006"/>
          </a:xfrm>
        </p:spPr>
        <p:txBody>
          <a:bodyPr/>
          <a:lstStyle/>
          <a:p>
            <a:r>
              <a:rPr lang="en-US" dirty="0"/>
              <a:t>MapReduce Paradigm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1482811"/>
            <a:ext cx="9362303" cy="4556247"/>
          </a:xfrm>
        </p:spPr>
        <p:txBody>
          <a:bodyPr>
            <a:normAutofit fontScale="92500" lnSpcReduction="10000"/>
          </a:bodyPr>
          <a:lstStyle/>
          <a:p>
            <a:pPr marL="457211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70C0"/>
                </a:solidFill>
              </a:rPr>
              <a:t>MapReduce is a foundation model/paradigm for distributed computing using clusters</a:t>
            </a:r>
          </a:p>
          <a:p>
            <a:pPr marL="457211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50"/>
                </a:solidFill>
              </a:rPr>
              <a:t>MapReduce implementations: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Apache Hadoop</a:t>
            </a:r>
            <a:r>
              <a:rPr lang="en-US" sz="3200" dirty="0">
                <a:solidFill>
                  <a:schemeClr val="tx1"/>
                </a:solidFill>
              </a:rPr>
              <a:t> implements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Apache Spark</a:t>
            </a:r>
            <a:r>
              <a:rPr lang="en-US" sz="3200" dirty="0">
                <a:solidFill>
                  <a:schemeClr val="tx1"/>
                </a:solidFill>
              </a:rPr>
              <a:t> implements superset of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Apache Tez</a:t>
            </a:r>
            <a:r>
              <a:rPr lang="en-US" sz="3200" dirty="0">
                <a:solidFill>
                  <a:schemeClr val="tx1"/>
                </a:solidFill>
              </a:rPr>
              <a:t> implements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Amazon Athena</a:t>
            </a:r>
            <a:r>
              <a:rPr lang="en-US" sz="3200" dirty="0">
                <a:solidFill>
                  <a:schemeClr val="tx1"/>
                </a:solidFill>
              </a:rPr>
              <a:t>: S</a:t>
            </a:r>
            <a:r>
              <a:rPr lang="en-US" sz="3200" dirty="0"/>
              <a:t>erverless SQL service</a:t>
            </a:r>
            <a:endParaRPr lang="en-US" sz="3200" dirty="0">
              <a:solidFill>
                <a:schemeClr val="tx1"/>
              </a:solidFill>
            </a:endParaRP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Google BigQuery</a:t>
            </a:r>
            <a:r>
              <a:rPr lang="en-US" sz="3200" dirty="0">
                <a:solidFill>
                  <a:schemeClr val="tx1"/>
                </a:solidFill>
              </a:rPr>
              <a:t>:  </a:t>
            </a:r>
            <a:r>
              <a:rPr lang="en-US" sz="3000" dirty="0"/>
              <a:t>distributed execution graph and shuffle architecture</a:t>
            </a:r>
            <a:endParaRPr lang="en-US" sz="3200" dirty="0">
              <a:solidFill>
                <a:schemeClr val="tx1"/>
              </a:solidFill>
            </a:endParaRPr>
          </a:p>
          <a:p>
            <a:pPr marL="457211" indent="-457200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002060"/>
              </a:solidFill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149967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629343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Paradigm: High-Level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371600"/>
            <a:ext cx="9144000" cy="4333461"/>
          </a:xfrm>
        </p:spPr>
        <p:txBody>
          <a:bodyPr>
            <a:normAutofit/>
          </a:bodyPr>
          <a:lstStyle/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1BFEAB-8BBF-7B20-3166-F2CEF8513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000" y="1828800"/>
            <a:ext cx="88900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884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718795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</a:t>
            </a:r>
          </a:p>
        </p:txBody>
      </p:sp>
      <p:pic>
        <p:nvPicPr>
          <p:cNvPr id="6" name="Picture 5" descr="Diagram, schematic&#10;&#10;Description automatically generated">
            <a:extLst>
              <a:ext uri="{FF2B5EF4-FFF2-40B4-BE49-F238E27FC236}">
                <a16:creationId xmlns:a16="http://schemas.microsoft.com/office/drawing/2014/main" id="{8F8E1082-1B75-2177-A0EF-659F97E96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470453"/>
            <a:ext cx="7780638" cy="397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4101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2486"/>
            <a:ext cx="9144000" cy="729050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 Example-1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67678915-5579-AD05-8CBE-3D9BBEB99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6508" y="1161537"/>
            <a:ext cx="7092778" cy="4337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002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2486"/>
            <a:ext cx="9144000" cy="630195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 Example-2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D06AB53C-CE79-F689-64B2-7DA6C35EC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62682"/>
            <a:ext cx="8534400" cy="4275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3511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96349"/>
            <a:ext cx="9144000" cy="646042"/>
          </a:xfrm>
        </p:spPr>
        <p:txBody>
          <a:bodyPr>
            <a:noAutofit/>
          </a:bodyPr>
          <a:lstStyle/>
          <a:p>
            <a:r>
              <a:rPr lang="en-US" sz="3600" dirty="0">
                <a:solidFill>
                  <a:srgbClr val="002060"/>
                </a:solidFill>
              </a:rPr>
              <a:t>Solving a Big Data Problem with MapReduce (1)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 lnSpcReduction="10000"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Input data is partitioned by a partitioner into chunks and sent to Mappers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Assume your input is comprised of 80,000,000,000 records, which might be partitioned into 40,000 chunks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Number of partitions: 40,000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Each partition will have about 2,000,000 records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Maximum mapper parallelism can be 40,000 mappers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80,000,000,000 = 40,000 x 2,000,000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 mapper function, map(K, V) is executed on all partitions in parallel (as much as possible – depends on resources available).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The map(K, V) generates any number of (key, value) pairs such as: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Courier" pitchFamily="2" charset="0"/>
              </a:rPr>
              <a:t>{(K1, V1), (K2, V2), …}</a:t>
            </a:r>
            <a:r>
              <a:rPr lang="en-US" dirty="0">
                <a:solidFill>
                  <a:schemeClr val="tx1"/>
                </a:solidFill>
              </a:rPr>
              <a:t>. For example, K can be a record number and V can be the actual input record </a:t>
            </a:r>
          </a:p>
        </p:txBody>
      </p:sp>
    </p:spTree>
    <p:extLst>
      <p:ext uri="{BB962C8B-B14F-4D97-AF65-F5344CB8AC3E}">
        <p14:creationId xmlns:p14="http://schemas.microsoft.com/office/powerpoint/2010/main" val="689740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96349"/>
            <a:ext cx="9144000" cy="646042"/>
          </a:xfrm>
        </p:spPr>
        <p:txBody>
          <a:bodyPr>
            <a:noAutofit/>
          </a:bodyPr>
          <a:lstStyle/>
          <a:p>
            <a:r>
              <a:rPr lang="en-US" sz="3600" dirty="0">
                <a:solidFill>
                  <a:srgbClr val="002060"/>
                </a:solidFill>
              </a:rPr>
              <a:t>Solving a Big Data Problem with MapReduce (2)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All mappers output go to </a:t>
            </a:r>
            <a:r>
              <a:rPr lang="en-US" b="1" i="1" u="sng" dirty="0">
                <a:solidFill>
                  <a:srgbClr val="00B050"/>
                </a:solidFill>
              </a:rPr>
              <a:t>Sort &amp; Shuffle</a:t>
            </a:r>
            <a:r>
              <a:rPr lang="en-US" b="1" i="1" u="sng" dirty="0">
                <a:solidFill>
                  <a:schemeClr val="tx1"/>
                </a:solidFill>
              </a:rPr>
              <a:t>  </a:t>
            </a:r>
            <a:r>
              <a:rPr lang="en-US" dirty="0">
                <a:solidFill>
                  <a:schemeClr val="tx1"/>
                </a:solidFill>
              </a:rPr>
              <a:t>phase, which groups values by unique keys (similar to GROUP BY in SQL).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50"/>
                </a:solidFill>
              </a:rPr>
              <a:t>Sort &amp; Shuffle  </a:t>
            </a:r>
            <a:r>
              <a:rPr lang="en-US" dirty="0">
                <a:solidFill>
                  <a:schemeClr val="tx1"/>
                </a:solidFill>
              </a:rPr>
              <a:t>creates (key, value) pairs as: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key_1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[v1, v2, …])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key_2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[u1, u2, …])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…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[t1, t2, …])</a:t>
            </a:r>
          </a:p>
          <a:p>
            <a:r>
              <a:rPr lang="en-US" dirty="0">
                <a:solidFill>
                  <a:schemeClr val="tx1"/>
                </a:solidFill>
              </a:rPr>
              <a:t>Where  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</a:rPr>
              <a:t>{ 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key_1, key_2, … </a:t>
            </a:r>
            <a:r>
              <a:rPr lang="en-US" b="1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} </a:t>
            </a:r>
          </a:p>
          <a:p>
            <a:r>
              <a:rPr lang="en-US" dirty="0">
                <a:solidFill>
                  <a:schemeClr val="tx1"/>
                </a:solidFill>
              </a:rPr>
              <a:t>are the unique keys created by all mappers</a:t>
            </a:r>
          </a:p>
        </p:txBody>
      </p:sp>
    </p:spTree>
    <p:extLst>
      <p:ext uri="{BB962C8B-B14F-4D97-AF65-F5344CB8AC3E}">
        <p14:creationId xmlns:p14="http://schemas.microsoft.com/office/powerpoint/2010/main" val="2903010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1196" y="426667"/>
            <a:ext cx="9144000" cy="646042"/>
          </a:xfrm>
        </p:spPr>
        <p:txBody>
          <a:bodyPr>
            <a:noAutofit/>
          </a:bodyPr>
          <a:lstStyle/>
          <a:p>
            <a:r>
              <a:rPr lang="en-US" sz="3600">
                <a:solidFill>
                  <a:srgbClr val="002060"/>
                </a:solidFill>
              </a:rPr>
              <a:t>Solving a Big Data Problem with MapReduce (3)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Output of Sort &amp; Shuffle goes to reducers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A reducer operates on (key, value) pairs where key is in</a:t>
            </a:r>
          </a:p>
          <a:p>
            <a:r>
              <a:rPr lang="en-US">
                <a:solidFill>
                  <a:schemeClr val="tx1"/>
                </a:solidFill>
                <a:latin typeface="Courier" pitchFamily="2" charset="0"/>
              </a:rPr>
              <a:t>{ key_1, key_2, …, </a:t>
            </a:r>
            <a:r>
              <a:rPr lang="en-US" err="1">
                <a:solidFill>
                  <a:schemeClr val="tx1"/>
                </a:solidFill>
                <a:latin typeface="Courier" pitchFamily="2" charset="0"/>
              </a:rPr>
              <a:t>key_n</a:t>
            </a:r>
            <a:r>
              <a:rPr lang="en-US">
                <a:solidFill>
                  <a:schemeClr val="tx1"/>
                </a:solidFill>
                <a:latin typeface="Courier" pitchFamily="2" charset="0"/>
              </a:rPr>
              <a:t> } </a:t>
            </a:r>
          </a:p>
          <a:p>
            <a:r>
              <a:rPr lang="en-US">
                <a:solidFill>
                  <a:schemeClr val="tx1"/>
                </a:solidFill>
              </a:rPr>
              <a:t>and value is an associated value for the key.</a:t>
            </a:r>
          </a:p>
          <a:p>
            <a:r>
              <a:rPr lang="en-US">
                <a:solidFill>
                  <a:schemeClr val="tx1"/>
                </a:solidFill>
              </a:rPr>
              <a:t>Therefore, the following reducers can be executed in parallel:</a:t>
            </a:r>
          </a:p>
          <a:p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reduce(key_1, [v1, v2, …])</a:t>
            </a:r>
          </a:p>
          <a:p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reduce(key_2, [u1, u2, …])</a:t>
            </a:r>
          </a:p>
          <a:p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…</a:t>
            </a:r>
          </a:p>
          <a:p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</a:t>
            </a:r>
            <a:r>
              <a:rPr lang="en-US" sz="20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[t1, t2, …])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>
                <a:solidFill>
                  <a:srgbClr val="00B0F0"/>
                </a:solidFill>
                <a:latin typeface="Courier" pitchFamily="2" charset="0"/>
              </a:rPr>
              <a:t>Each reducer can create any number </a:t>
            </a:r>
          </a:p>
          <a:p>
            <a:r>
              <a:rPr lang="en-US" sz="2000" b="1">
                <a:solidFill>
                  <a:srgbClr val="00B0F0"/>
                </a:solidFill>
                <a:latin typeface="Courier" pitchFamily="2" charset="0"/>
              </a:rPr>
              <a:t>  of new (key, value) pairs.</a:t>
            </a:r>
          </a:p>
          <a:p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8186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16437"/>
            <a:ext cx="9144000" cy="775729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002060"/>
                </a:solidFill>
              </a:rPr>
              <a:t>2. </a:t>
            </a:r>
            <a:r>
              <a:rPr lang="en-US" b="1">
                <a:solidFill>
                  <a:srgbClr val="00B0F0"/>
                </a:solidFill>
              </a:rPr>
              <a:t>Apache Spark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729946"/>
            <a:ext cx="9144000" cy="4243471"/>
          </a:xfrm>
        </p:spPr>
        <p:txBody>
          <a:bodyPr>
            <a:norm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3200">
                <a:solidFill>
                  <a:srgbClr val="00B0F0"/>
                </a:solidFill>
              </a:rPr>
              <a:t>Apache </a:t>
            </a:r>
            <a:r>
              <a:rPr lang="en-US" sz="3200" b="1">
                <a:solidFill>
                  <a:srgbClr val="00B0F0"/>
                </a:solidFill>
              </a:rPr>
              <a:t>Spark</a:t>
            </a:r>
            <a:r>
              <a:rPr lang="en-US" sz="3200">
                <a:solidFill>
                  <a:schemeClr val="tx1"/>
                </a:solidFill>
              </a:rPr>
              <a:t> is a multi-language (Java, Python, Scala) engine for executing data engineering, data science, and machine learning on single-node machines or clusters.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4400">
                <a:solidFill>
                  <a:srgbClr val="00B0F0"/>
                </a:solidFill>
              </a:rPr>
              <a:t>PySpark</a:t>
            </a:r>
            <a:r>
              <a:rPr lang="en-US" sz="4400">
                <a:solidFill>
                  <a:schemeClr val="tx1"/>
                </a:solidFill>
              </a:rPr>
              <a:t> is a Python API for Spark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4400">
                <a:solidFill>
                  <a:srgbClr val="00B0F0"/>
                </a:solidFill>
              </a:rPr>
              <a:t>Spark</a:t>
            </a:r>
            <a:r>
              <a:rPr lang="en-US" sz="4400">
                <a:solidFill>
                  <a:schemeClr val="tx1"/>
                </a:solidFill>
              </a:rPr>
              <a:t> is a superset of MapReduce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4000">
                <a:solidFill>
                  <a:srgbClr val="00B0F0"/>
                </a:solidFill>
              </a:rPr>
              <a:t>Spark</a:t>
            </a:r>
            <a:r>
              <a:rPr lang="en-US" sz="3600">
                <a:solidFill>
                  <a:schemeClr val="tx1"/>
                </a:solidFill>
              </a:rPr>
              <a:t> web site:  https://</a:t>
            </a:r>
            <a:r>
              <a:rPr lang="en-US" sz="3600" err="1">
                <a:solidFill>
                  <a:schemeClr val="tx1"/>
                </a:solidFill>
              </a:rPr>
              <a:t>spark.apache.org</a:t>
            </a:r>
            <a:endParaRPr lang="en-US" sz="3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8027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84583"/>
            <a:ext cx="9144000" cy="607583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002060"/>
                </a:solidFill>
              </a:rPr>
              <a:t>2. </a:t>
            </a:r>
            <a:r>
              <a:rPr lang="en-US">
                <a:solidFill>
                  <a:srgbClr val="00B0F0"/>
                </a:solidFill>
              </a:rPr>
              <a:t>Apache Spark Programs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729946"/>
            <a:ext cx="9144000" cy="4243471"/>
          </a:xfrm>
        </p:spPr>
        <p:txBody>
          <a:bodyPr>
            <a:normAutofit fontScale="70000" lnSpcReduction="20000"/>
          </a:bodyPr>
          <a:lstStyle/>
          <a:p>
            <a:pPr algn="l"/>
            <a:r>
              <a:rPr lang="en-US" sz="3200">
                <a:solidFill>
                  <a:schemeClr val="tx1"/>
                </a:solidFill>
                <a:latin typeface="Avenir Next" panose="020B0503020202020204" pitchFamily="34" charset="0"/>
              </a:rPr>
              <a:t>For Apache </a:t>
            </a:r>
            <a:r>
              <a:rPr lang="en-US" sz="3200" b="1">
                <a:solidFill>
                  <a:schemeClr val="tx1"/>
                </a:solidFill>
                <a:latin typeface="Avenir Next" panose="020B0503020202020204" pitchFamily="34" charset="0"/>
              </a:rPr>
              <a:t>Spark</a:t>
            </a:r>
            <a:r>
              <a:rPr lang="en-US" sz="3200">
                <a:solidFill>
                  <a:schemeClr val="tx1"/>
                </a:solidFill>
                <a:latin typeface="Avenir Next" panose="020B0503020202020204" pitchFamily="34" charset="0"/>
              </a:rPr>
              <a:t> , we will use </a:t>
            </a:r>
            <a:r>
              <a:rPr lang="en-US" sz="4400">
                <a:solidFill>
                  <a:schemeClr val="tx1"/>
                </a:solidFill>
                <a:latin typeface="Avenir Next" panose="020B0503020202020204" pitchFamily="34" charset="0"/>
              </a:rPr>
              <a:t>PySpark and </a:t>
            </a:r>
          </a:p>
          <a:p>
            <a:pPr algn="l"/>
            <a:r>
              <a:rPr lang="en-US" sz="4400">
                <a:solidFill>
                  <a:schemeClr val="tx1"/>
                </a:solidFill>
                <a:latin typeface="Avenir Next" panose="020B0503020202020204" pitchFamily="34" charset="0"/>
              </a:rPr>
              <a:t>write </a:t>
            </a:r>
            <a:r>
              <a:rPr lang="en-US" sz="4400" b="1">
                <a:solidFill>
                  <a:schemeClr val="tx1"/>
                </a:solidFill>
                <a:latin typeface="Avenir Next" panose="020B0503020202020204" pitchFamily="34" charset="0"/>
              </a:rPr>
              <a:t>actual</a:t>
            </a:r>
            <a:r>
              <a:rPr lang="en-US" sz="4400">
                <a:solidFill>
                  <a:schemeClr val="tx1"/>
                </a:solidFill>
                <a:latin typeface="Avenir Next" panose="020B0503020202020204" pitchFamily="34" charset="0"/>
              </a:rPr>
              <a:t> </a:t>
            </a:r>
            <a:r>
              <a:rPr lang="en-US" sz="4400" b="1">
                <a:solidFill>
                  <a:schemeClr val="tx1"/>
                </a:solidFill>
                <a:latin typeface="Avenir Next" panose="020B0503020202020204" pitchFamily="34" charset="0"/>
              </a:rPr>
              <a:t>executable</a:t>
            </a:r>
            <a:r>
              <a:rPr lang="en-US" sz="4400">
                <a:solidFill>
                  <a:schemeClr val="tx1"/>
                </a:solidFill>
                <a:latin typeface="Avenir Next" panose="020B0503020202020204" pitchFamily="34" charset="0"/>
              </a:rPr>
              <a:t> </a:t>
            </a:r>
            <a:r>
              <a:rPr lang="en-US" sz="4400" b="1">
                <a:solidFill>
                  <a:schemeClr val="tx1"/>
                </a:solidFill>
                <a:latin typeface="Avenir Next" panose="020B0503020202020204" pitchFamily="34" charset="0"/>
              </a:rPr>
              <a:t>programs:</a:t>
            </a:r>
          </a:p>
          <a:p>
            <a:pPr algn="l"/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&gt;&gt;&gt; # spark is an instance of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SparkSession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 object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spark.sparkContext</a:t>
            </a:r>
            <a:endParaRPr lang="en-US" sz="320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              .parallelize(range(0, 100))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rdd.count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()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100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sum_of_values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rdd.reduce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(lambda x, y: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x+y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)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sum_of_values</a:t>
            </a:r>
            <a:endParaRPr lang="en-US" sz="320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4950</a:t>
            </a:r>
          </a:p>
        </p:txBody>
      </p:sp>
    </p:spTree>
    <p:extLst>
      <p:ext uri="{BB962C8B-B14F-4D97-AF65-F5344CB8AC3E}">
        <p14:creationId xmlns:p14="http://schemas.microsoft.com/office/powerpoint/2010/main" val="2763456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558" y="291090"/>
            <a:ext cx="8144758" cy="932688"/>
          </a:xfrm>
        </p:spPr>
        <p:txBody>
          <a:bodyPr>
            <a:normAutofit/>
          </a:bodyPr>
          <a:lstStyle/>
          <a:p>
            <a:r>
              <a:rPr lang="en-US" sz="5400"/>
              <a:t>Apache Spark: Components</a:t>
            </a:r>
          </a:p>
        </p:txBody>
      </p:sp>
      <p:pic>
        <p:nvPicPr>
          <p:cNvPr id="5" name="Picture 4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212027B5-0886-D1E6-5EBB-38CF05BB9F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027" y="1322173"/>
            <a:ext cx="8622303" cy="498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4031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CA1AF-706C-7E4A-FDB5-E88A3BE41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59739-A3F6-8212-95F5-133AA5A4F5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0449"/>
            <a:ext cx="9144000" cy="593889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00B050"/>
                </a:solidFill>
              </a:rPr>
              <a:t>Spark run modes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06FFD3-B64D-1F7B-35AF-B891B6FD5E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4338"/>
            <a:ext cx="9144000" cy="4729079"/>
          </a:xfrm>
        </p:spPr>
        <p:txBody>
          <a:bodyPr>
            <a:normAutofit fontScale="62500" lnSpcReduction="20000"/>
          </a:bodyPr>
          <a:lstStyle/>
          <a:p>
            <a:r>
              <a:rPr lang="en-US" sz="3200" b="1" i="1">
                <a:solidFill>
                  <a:srgbClr val="00B0F0"/>
                </a:solidFill>
                <a:latin typeface="Avenir Next" panose="020B0503020202020204" pitchFamily="34" charset="0"/>
              </a:rPr>
              <a:t>Local Mode Single machine: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Runs entirely on a single computer or laptop.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Threads for execution: Uses local threads to simulate worker nodes.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Testing and development: Best used for debugging and running quick tests.</a:t>
            </a:r>
          </a:p>
          <a:p>
            <a:endParaRPr lang="en-US" sz="2800">
              <a:solidFill>
                <a:schemeClr val="tx1"/>
              </a:solidFill>
              <a:latin typeface="Avenir Next" panose="020B0503020202020204" pitchFamily="34" charset="0"/>
            </a:endParaRPr>
          </a:p>
          <a:p>
            <a:r>
              <a:rPr lang="en-US" sz="2800" b="1" i="1">
                <a:solidFill>
                  <a:srgbClr val="00B0F0"/>
                </a:solidFill>
                <a:latin typeface="Avenir Next" panose="020B0503020202020204" pitchFamily="34" charset="0"/>
              </a:rPr>
              <a:t>Cluster Modes:</a:t>
            </a:r>
          </a:p>
          <a:p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In cluster modes, the main distinction is where the Spark Driver (the program that coordinates the work) runs.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>
                <a:solidFill>
                  <a:schemeClr val="tx1"/>
                </a:solidFill>
                <a:latin typeface="Avenir Next" panose="020B0503020202020204" pitchFamily="34" charset="0"/>
              </a:rPr>
              <a:t>Client Mode</a:t>
            </a: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: External driver: The driver runs on the machine where the job was submitted. Interactive use: Best for interactive shells, notebooks, and local debugging. Network dependent: If your local machine disconnects, the job fails.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>
                <a:solidFill>
                  <a:schemeClr val="tx1"/>
                </a:solidFill>
                <a:latin typeface="Avenir Next" panose="020B0503020202020204" pitchFamily="34" charset="0"/>
              </a:rPr>
              <a:t>Cluster Mode</a:t>
            </a: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: Internal driver: The driver runs inside a worker node within the cluster. Production standard: Best for scheduled production jobs. Independent: You can close your laptop and the job will keep running.</a:t>
            </a:r>
            <a:endParaRPr lang="en-US" sz="280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9289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4C889-35E5-DA56-6C16-9F4FC74D8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E7B0A-47E2-4A23-2934-11DC0BD2E6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98482" y="370704"/>
            <a:ext cx="8669518" cy="605480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00B0F0"/>
                </a:solidFill>
              </a:rPr>
              <a:t>Apache Spark</a:t>
            </a:r>
            <a:r>
              <a:rPr lang="en-US"/>
              <a:t>: runs in a cluster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44790D-F51F-2A0D-5A0E-4B6BF7096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870" y="1136651"/>
            <a:ext cx="7316230" cy="4584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0425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29068"/>
            <a:ext cx="9144000" cy="607583"/>
          </a:xfrm>
        </p:spPr>
        <p:txBody>
          <a:bodyPr>
            <a:normAutofit fontScale="90000"/>
          </a:bodyPr>
          <a:lstStyle/>
          <a:p>
            <a:r>
              <a:rPr lang="en-US"/>
              <a:t>Apache Spark: Cluster Manager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A5A6EA09-4F57-E43B-8CE5-84BD65000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731" y="1027871"/>
            <a:ext cx="7656167" cy="4802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5998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84583"/>
            <a:ext cx="9144000" cy="1117212"/>
          </a:xfrm>
        </p:spPr>
        <p:txBody>
          <a:bodyPr>
            <a:noAutofit/>
          </a:bodyPr>
          <a:lstStyle/>
          <a:p>
            <a:r>
              <a:rPr lang="en-US" sz="4000"/>
              <a:t>Spark Data Abstractions:</a:t>
            </a:r>
            <a:br>
              <a:rPr lang="en-US" sz="4000"/>
            </a:br>
            <a:r>
              <a:rPr lang="en-US" sz="4000"/>
              <a:t>Read/Write </a:t>
            </a:r>
            <a:r>
              <a:rPr lang="en-US" sz="2800"/>
              <a:t>from/to </a:t>
            </a:r>
            <a:r>
              <a:rPr lang="en-US" sz="4000"/>
              <a:t>Many Data Sources</a:t>
            </a:r>
          </a:p>
        </p:txBody>
      </p:sp>
      <p:pic>
        <p:nvPicPr>
          <p:cNvPr id="5" name="Picture 4" descr="A picture containing logo&#10;&#10;Description automatically generated">
            <a:extLst>
              <a:ext uri="{FF2B5EF4-FFF2-40B4-BE49-F238E27FC236}">
                <a16:creationId xmlns:a16="http://schemas.microsoft.com/office/drawing/2014/main" id="{AEA5789F-0CF5-4CAA-D8D7-D72084C1C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471351"/>
            <a:ext cx="6635750" cy="2804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36445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51660"/>
            <a:ext cx="9144000" cy="690641"/>
          </a:xfrm>
        </p:spPr>
        <p:txBody>
          <a:bodyPr>
            <a:normAutofit fontScale="90000"/>
          </a:bodyPr>
          <a:lstStyle/>
          <a:p>
            <a:r>
              <a:rPr lang="en-US" dirty="0"/>
              <a:t>Spark Data Abstractions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442301"/>
            <a:ext cx="9144000" cy="4872002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</a:rPr>
              <a:t>Your data can be represented as an </a:t>
            </a:r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RDD</a:t>
            </a:r>
            <a:r>
              <a:rPr lang="en-US" sz="3200" dirty="0">
                <a:solidFill>
                  <a:schemeClr val="tx1"/>
                </a:solidFill>
              </a:rPr>
              <a:t> and </a:t>
            </a:r>
            <a:r>
              <a:rPr lang="en-US" sz="3200" dirty="0" err="1">
                <a:solidFill>
                  <a:schemeClr val="tx1"/>
                </a:solidFill>
                <a:highlight>
                  <a:srgbClr val="00FF00"/>
                </a:highlight>
              </a:rPr>
              <a:t>DataFrame</a:t>
            </a:r>
            <a:endParaRPr lang="en-US" sz="3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1. Resilient Distributed Datasets (RDD)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Data is represented as a data type T </a:t>
            </a:r>
          </a:p>
          <a:p>
            <a:pPr lvl="1" algn="l"/>
            <a:r>
              <a:rPr lang="en-US" sz="2800" dirty="0"/>
              <a:t>     (integer, string, tuples, arrays, dictionary, …)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Billions of data points (elements/records)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2. </a:t>
            </a:r>
            <a:r>
              <a:rPr lang="en-US" sz="3200" dirty="0" err="1">
                <a:solidFill>
                  <a:schemeClr val="tx1"/>
                </a:solidFill>
                <a:highlight>
                  <a:srgbClr val="00FF00"/>
                </a:highlight>
              </a:rPr>
              <a:t>DataFrame</a:t>
            </a:r>
            <a:endParaRPr lang="en-US" sz="3200" dirty="0"/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Data is represented as a table of rows and named columns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Billions of rows of data</a:t>
            </a:r>
          </a:p>
        </p:txBody>
      </p:sp>
    </p:spTree>
    <p:extLst>
      <p:ext uri="{BB962C8B-B14F-4D97-AF65-F5344CB8AC3E}">
        <p14:creationId xmlns:p14="http://schemas.microsoft.com/office/powerpoint/2010/main" val="3495631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65772"/>
            <a:ext cx="9144000" cy="1876058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Spark Data Abstractions: RDDs</a:t>
            </a:r>
            <a:br>
              <a:rPr lang="en-US" sz="3600" dirty="0"/>
            </a:br>
            <a:r>
              <a:rPr lang="en-US" sz="3600" dirty="0"/>
              <a:t>Billions of data elements</a:t>
            </a:r>
            <a:br>
              <a:rPr lang="en-US" dirty="0"/>
            </a:br>
            <a:r>
              <a:rPr lang="en-US" b="1" dirty="0"/>
              <a:t>Each RDD element</a:t>
            </a:r>
            <a:r>
              <a:rPr lang="en-US" dirty="0"/>
              <a:t>: </a:t>
            </a:r>
            <a:r>
              <a:rPr lang="en-US" sz="2700" b="1" dirty="0">
                <a:latin typeface="Courier" pitchFamily="2" charset="0"/>
              </a:rPr>
              <a:t>(String, (Float, Float))</a:t>
            </a:r>
            <a:endParaRPr lang="en-US" b="1" dirty="0">
              <a:latin typeface="Courier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D03003-7654-F6E6-3F41-F63F0836835D}"/>
              </a:ext>
            </a:extLst>
          </p:cNvPr>
          <p:cNvSpPr/>
          <p:nvPr/>
        </p:nvSpPr>
        <p:spPr>
          <a:xfrm>
            <a:off x="3892378" y="2883839"/>
            <a:ext cx="4522573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(gene-1, (3.0, 4.5))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387292-774D-A2E0-8CFD-AA9655E89DC9}"/>
              </a:ext>
            </a:extLst>
          </p:cNvPr>
          <p:cNvSpPr/>
          <p:nvPr/>
        </p:nvSpPr>
        <p:spPr>
          <a:xfrm>
            <a:off x="3892378" y="3521408"/>
            <a:ext cx="4522573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(gene-2, (1.0, 1.5))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C70153-45FB-FDB9-BA3D-071A040BE1E9}"/>
              </a:ext>
            </a:extLst>
          </p:cNvPr>
          <p:cNvSpPr/>
          <p:nvPr/>
        </p:nvSpPr>
        <p:spPr>
          <a:xfrm>
            <a:off x="3892381" y="4129844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(gene-1, (2.1, 1.6))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C54BA7-A88E-2D55-E068-B678EDBF8D95}"/>
              </a:ext>
            </a:extLst>
          </p:cNvPr>
          <p:cNvSpPr/>
          <p:nvPr/>
        </p:nvSpPr>
        <p:spPr>
          <a:xfrm>
            <a:off x="3892380" y="4747682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/>
              <a:t>…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A70693-A1D8-34A9-453A-168C09D12FEF}"/>
              </a:ext>
            </a:extLst>
          </p:cNvPr>
          <p:cNvSpPr/>
          <p:nvPr/>
        </p:nvSpPr>
        <p:spPr>
          <a:xfrm>
            <a:off x="3892379" y="5365520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(gene-8, (3.1, 5.1))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FFCA8E-1E83-60DF-7F07-5461F30BA5AE}"/>
              </a:ext>
            </a:extLst>
          </p:cNvPr>
          <p:cNvSpPr txBox="1"/>
          <p:nvPr/>
        </p:nvSpPr>
        <p:spPr>
          <a:xfrm>
            <a:off x="2413066" y="3059668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Element-1: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BEB91C-B550-5236-0253-66528F8B1595}"/>
              </a:ext>
            </a:extLst>
          </p:cNvPr>
          <p:cNvSpPr txBox="1"/>
          <p:nvPr/>
        </p:nvSpPr>
        <p:spPr>
          <a:xfrm>
            <a:off x="2413067" y="3645661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Element-2: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D15F95-1521-1672-10E9-96080CB96D8F}"/>
              </a:ext>
            </a:extLst>
          </p:cNvPr>
          <p:cNvSpPr txBox="1"/>
          <p:nvPr/>
        </p:nvSpPr>
        <p:spPr>
          <a:xfrm>
            <a:off x="2413067" y="4254097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Element-3:</a:t>
            </a:r>
          </a:p>
        </p:txBody>
      </p:sp>
    </p:spTree>
    <p:extLst>
      <p:ext uri="{BB962C8B-B14F-4D97-AF65-F5344CB8AC3E}">
        <p14:creationId xmlns:p14="http://schemas.microsoft.com/office/powerpoint/2010/main" val="3213318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65772"/>
            <a:ext cx="9144000" cy="915159"/>
          </a:xfrm>
        </p:spPr>
        <p:txBody>
          <a:bodyPr/>
          <a:lstStyle/>
          <a:p>
            <a:r>
              <a:rPr lang="en-US"/>
              <a:t>Spark Data Abstractions: </a:t>
            </a:r>
            <a:r>
              <a:rPr lang="en-US" err="1"/>
              <a:t>DataFrame</a:t>
            </a:r>
            <a:endParaRPr lang="en-US"/>
          </a:p>
        </p:txBody>
      </p:sp>
      <p:pic>
        <p:nvPicPr>
          <p:cNvPr id="5" name="Picture 4" descr="A picture containing table&#10;&#10;Description automatically generated">
            <a:extLst>
              <a:ext uri="{FF2B5EF4-FFF2-40B4-BE49-F238E27FC236}">
                <a16:creationId xmlns:a16="http://schemas.microsoft.com/office/drawing/2014/main" id="{6E2B3B01-5246-5903-CF12-03E98989E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897" y="1510134"/>
            <a:ext cx="6974193" cy="4223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8771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4A789-7630-C07F-0654-840EAA723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5ADA6-B5AC-B13F-D189-E33AC37985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Example-1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564F60-1DE9-C80D-70EC-3289101810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/>
          </a:bodyPr>
          <a:lstStyle/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pyspark.sql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1. Initialize a 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endParaRPr lang="en-US" sz="18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 =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SparkSession.builder.appName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("demo").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getOrCreate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2. Create a sample 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DataFrame</a:t>
            </a:r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as 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endParaRPr lang="en-US" sz="18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 = [ ("Alice", "Sales", 45000), 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("Bob", "Engineering", 60000), …]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columns = ["name", "department", "salary"]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spark.createDataFrame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(data, columns)</a:t>
            </a:r>
          </a:p>
          <a:p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3. Register the 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DataFrame</a:t>
            </a:r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as a Temporary SQL View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df.createOrReplaceTempView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("employees")</a:t>
            </a:r>
            <a:endParaRPr lang="en-US" sz="16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7465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23647-9AF1-2D76-7E26-DD8DA3347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105C1-885E-6C5A-B75B-A8F33913C4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03316"/>
            <a:ext cx="9144000" cy="461809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Example-1 </a:t>
            </a:r>
            <a:r>
              <a:rPr lang="en-US" sz="1600" dirty="0"/>
              <a:t>continued…</a:t>
            </a:r>
            <a:endParaRPr lang="en-US" sz="3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CF5A37-3326-FDE9-46DF-659A22AE7E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35464"/>
            <a:ext cx="9144000" cy="4837953"/>
          </a:xfrm>
        </p:spPr>
        <p:txBody>
          <a:bodyPr>
            <a:normAutofit fontScale="62500" lnSpcReduction="20000"/>
          </a:bodyPr>
          <a:lstStyle/>
          <a:p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4. Run an SQL query using </a:t>
            </a:r>
            <a:r>
              <a:rPr lang="en-US" sz="2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spark.sql</a:t>
            </a:r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query_result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spark.sql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("""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SELECT 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department, 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COUNT(*) as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total_employees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AVG(salary) as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endParaRPr lang="en-US" sz="2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FROM employees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GROUP BY department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HAVING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42000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ORDER BY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DESC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""")</a:t>
            </a:r>
          </a:p>
          <a:p>
            <a:endParaRPr lang="en-US" sz="2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5. Display the results</a:t>
            </a:r>
          </a:p>
          <a:p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query_result.show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  </a:t>
            </a:r>
          </a:p>
        </p:txBody>
      </p:sp>
    </p:spTree>
    <p:extLst>
      <p:ext uri="{BB962C8B-B14F-4D97-AF65-F5344CB8AC3E}">
        <p14:creationId xmlns:p14="http://schemas.microsoft.com/office/powerpoint/2010/main" val="2836948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69E83-AC26-1D39-228D-CF195ADB5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B487F-7417-A4D6-1BF1-F1FD387ABA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01935"/>
            <a:ext cx="9144000" cy="582804"/>
          </a:xfrm>
        </p:spPr>
        <p:txBody>
          <a:bodyPr>
            <a:noAutofit/>
          </a:bodyPr>
          <a:lstStyle/>
          <a:p>
            <a:r>
              <a:rPr lang="en-US" sz="3200" dirty="0" err="1">
                <a:highlight>
                  <a:srgbClr val="00FFFF"/>
                </a:highlight>
              </a:rPr>
              <a:t>PySpark</a:t>
            </a:r>
            <a:r>
              <a:rPr lang="en-US" sz="3200" dirty="0">
                <a:highlight>
                  <a:srgbClr val="00FFFF"/>
                </a:highlight>
              </a:rPr>
              <a:t>: create a </a:t>
            </a:r>
            <a:r>
              <a:rPr lang="en-US" sz="3200" dirty="0" err="1">
                <a:highlight>
                  <a:srgbClr val="00FFFF"/>
                </a:highlight>
              </a:rPr>
              <a:t>DataFrame</a:t>
            </a:r>
            <a:r>
              <a:rPr lang="en-US" sz="3200" dirty="0">
                <a:highlight>
                  <a:srgbClr val="00FFFF"/>
                </a:highlight>
              </a:rPr>
              <a:t> from a CSV File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BEB1A1-4525-6F4C-F211-E8BCA829B9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35464"/>
            <a:ext cx="9144000" cy="483795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Read data from a CSV file with a header 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INPUT_PATH = "path/to/your/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file.csv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</a:p>
          <a:p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spark.read.csv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INPUT_PATH,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header=True, 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inferSchema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=True) </a:t>
            </a:r>
          </a:p>
          <a:p>
            <a:endParaRPr lang="en-US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Show the first few rows of the CSV data </a:t>
            </a:r>
          </a:p>
          <a:p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df.show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endParaRPr lang="en-US" sz="2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00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A3B6A-5B89-5D74-D46B-44E067DB7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F6548-3DB0-678C-C8BB-E0D55AF736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Example-2 -  01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6889B5-12DB-781B-4371-A7941F95D6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This example introduces key intermediate concepts 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like </a:t>
            </a:r>
            <a:r>
              <a:rPr lang="en-US" sz="2000" b="1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aggregation (</a:t>
            </a:r>
            <a:r>
              <a:rPr lang="en-US" sz="2000" b="1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groupBy</a:t>
            </a:r>
            <a:r>
              <a:rPr lang="en-US" sz="2000" b="1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sz="20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2000" b="1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built-in column functions </a:t>
            </a:r>
          </a:p>
          <a:p>
            <a:r>
              <a:rPr lang="en-US" sz="2000" b="1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(when, avg)</a:t>
            </a:r>
            <a:r>
              <a:rPr lang="en-US" sz="20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, and </a:t>
            </a:r>
            <a:r>
              <a:rPr lang="en-US" sz="2000" b="1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handling null values (</a:t>
            </a:r>
            <a:r>
              <a:rPr lang="en-US" sz="2000" b="1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na.fill</a:t>
            </a:r>
            <a:r>
              <a:rPr lang="en-US" sz="2000" b="1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sz="20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</a:p>
          <a:p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1. Import required libraries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pyspark.sql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pyspark.sql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functions as F</a:t>
            </a:r>
          </a:p>
          <a:p>
            <a:endParaRPr lang="en-US" sz="20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2. Initialize a </a:t>
            </a:r>
            <a:r>
              <a:rPr lang="en-US" sz="20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endParaRPr lang="en-US" sz="20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 =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SparkSession.builder.appName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("demo").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getOrCreate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124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09814-836A-9F2E-CF70-F0415055B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40E5E-C8C3-2F82-62F7-746DF27FF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Example-2 - 02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EA4932-BD18-AF16-7EED-950443E21A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 lnSpcReduction="10000"/>
          </a:bodyPr>
          <a:lstStyle/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3.  Sample e-commerce transaction data 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(with some </a:t>
            </a:r>
            <a:r>
              <a:rPr lang="en-US" sz="2000" dirty="0">
                <a:solidFill>
                  <a:schemeClr val="tx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missing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values)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 = [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User_A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"Electronics", 1200.0, "US"),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"Clothing", 45.50, "CA"),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User_C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"Electronics", </a:t>
            </a:r>
            <a:r>
              <a:rPr lang="en-US" sz="2000" dirty="0">
                <a:solidFill>
                  <a:schemeClr val="tx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None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"US"),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User_A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"Electronics", 150.0, "US"),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"Books", 22.00, "UK"),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"Clothing", 80.00, "CA"),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"Books", 15.75, </a:t>
            </a:r>
            <a:r>
              <a:rPr lang="en-US" sz="2000" dirty="0">
                <a:solidFill>
                  <a:schemeClr val="tx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None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),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 </a:t>
            </a:r>
          </a:p>
          <a:p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schema = ["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UserID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"Category", "Amount", "Country"]</a:t>
            </a:r>
          </a:p>
        </p:txBody>
      </p:sp>
    </p:spTree>
    <p:extLst>
      <p:ext uri="{BB962C8B-B14F-4D97-AF65-F5344CB8AC3E}">
        <p14:creationId xmlns:p14="http://schemas.microsoft.com/office/powerpoint/2010/main" val="1344424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F0AB-1BA2-CDE4-756D-8F40C225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EB8B1-BB12-1BF5-1805-696B156B85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Example-2 - 03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97D4A7-DC41-3406-4535-1893411EAF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4. Create a </a:t>
            </a:r>
            <a:r>
              <a:rPr lang="en-US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DataFrame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spark.createDataFrame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(data, schema=schema) 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print("--- Raw Data ---") </a:t>
            </a:r>
          </a:p>
          <a:p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df.show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--- Raw Data --- 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UserID</a:t>
            </a:r>
            <a:r>
              <a:rPr lang="en-US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   </a:t>
            </a:r>
            <a:r>
              <a:rPr lang="en-US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Category|Amount|Country</a:t>
            </a:r>
            <a:r>
              <a:rPr lang="en-US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|User_A|Electronics|1200.0|     US|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Clothing|  45.5|     CA|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User_C|Electronics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</a:t>
            </a:r>
            <a:r>
              <a:rPr lang="en-US" dirty="0">
                <a:solidFill>
                  <a:schemeClr val="tx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US|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User_A|Electronics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150.0|     US|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User_D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 Books|  22.0|     UK|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Clothing|  80.0|     CA|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 Books| 15.75|   </a:t>
            </a:r>
            <a:r>
              <a:rPr lang="en-US" dirty="0">
                <a:solidFill>
                  <a:schemeClr val="tx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</a:t>
            </a:r>
          </a:p>
        </p:txBody>
      </p:sp>
    </p:spTree>
    <p:extLst>
      <p:ext uri="{BB962C8B-B14F-4D97-AF65-F5344CB8AC3E}">
        <p14:creationId xmlns:p14="http://schemas.microsoft.com/office/powerpoint/2010/main" val="3838501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FFE11-A2FC-B4C5-719D-E513CB537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EB281-72F4-A0A8-C822-84C3275DC9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Example-2 - 04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563606-0952-DB88-CB9A-9846EB917E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 fontScale="92500" lnSpcReduction="10000"/>
          </a:bodyPr>
          <a:lstStyle/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5. Data Cleaning: Handle missing values </a:t>
            </a: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Fill missing Amounts with 0.0, and </a:t>
            </a: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Fill missing Countries with 'Unknown’ 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df_cleaned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df.na.fill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({"Amount": 0.0, "Country": "Unknown"}) </a:t>
            </a:r>
          </a:p>
          <a:p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6. Data Transformation: Add a conditional "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Customer_Segment</a:t>
            </a:r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" column </a:t>
            </a: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High spenders (&gt; $500), Medium spenders (&gt; $0), and Inactive ($0) 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df_transformed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df_cleaned.withColumn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"Segment", 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F.when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F.col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("Amount") &gt; 500, "High") 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.when(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F.col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("Amount") &gt; 0, "Medium") 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.otherwise("Inactive"))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print("--- Cleaned and Transformed Data ---") 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df_transformed.show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76818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5D853-9238-05FD-5E78-5D5C79B60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38278-3D88-2213-DBB2-CE359F4EE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Example-2 - 05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C9F955-54F6-F168-6C67-7A0806AE2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/>
          </a:bodyPr>
          <a:lstStyle/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--- Cleaned and Transformed Data ---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+------+-----------+------+-------+-------+</a:t>
            </a:r>
          </a:p>
          <a:p>
            <a:r>
              <a:rPr lang="en-US" sz="18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UserID</a:t>
            </a:r>
            <a:r>
              <a:rPr lang="en-US" sz="18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   </a:t>
            </a:r>
            <a:r>
              <a:rPr lang="en-US" sz="1800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Category|Amount|Country|Segment</a:t>
            </a:r>
            <a:r>
              <a:rPr lang="en-US" sz="18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+------+-----------+------+-------+-------+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|User_A|Electronics|1200.0|     US|   High|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Clothing|  45.5|     CA| Medium|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User_C|Electronics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0.0|    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US|Inactive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User_A|Electronics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150.0|     US| Medium|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User_D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 Books|  22.0|     UK| Medium|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Clothing|  80.0|     CA| Medium|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 Books| 15.75|Unknown| Medium|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+------+-----------+------+-------+-------+</a:t>
            </a:r>
          </a:p>
        </p:txBody>
      </p:sp>
    </p:spTree>
    <p:extLst>
      <p:ext uri="{BB962C8B-B14F-4D97-AF65-F5344CB8AC3E}">
        <p14:creationId xmlns:p14="http://schemas.microsoft.com/office/powerpoint/2010/main" val="3139502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807E0-766D-74F2-79CA-5B5E1CBFC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0148F-E00D-6F02-670E-AF88CB5B45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Example-2 - 06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4D4C2F-A2C4-9BB5-9623-5F12F87EBB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7. Data Aggregation: Calculate metrics by Category 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</a:t>
            </a:r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Total spend, average spend, and distinct customer count per category </a:t>
            </a:r>
            <a:endParaRPr lang="en-US" sz="20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df_metrics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df_transformed.groupBy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("Category").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agg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   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F.sum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("Amount").alias("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Total_Revenue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F.round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F.avg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("Amount").alias("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Average_Spend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"),   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F.countDistinct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UserID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").alias("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Unique_Customers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).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orderBy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F.desc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Total_Revenue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")) </a:t>
            </a:r>
          </a:p>
          <a:p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print("--- Aggregated Category Metrics ---") </a:t>
            </a:r>
          </a:p>
          <a:p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df_metrics.show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571302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8A8E2-C461-788F-42A8-9083DC3DA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A550C-07F0-F49E-364B-838253ACC5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Example-2 - 07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D6EBF6-F292-FA1B-928C-7F87045BAF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--- Aggregated Category Metrics ---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+-----------+-------------+-------------+----------------+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</a:t>
            </a:r>
            <a:r>
              <a:rPr lang="en-US" sz="2000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Category|Total_Revenue|Average_Spend|Unique_Customers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+-----------+-------------+-------------+----------------+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|Electronics|       1350.0|        450.0|               2|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Clothing|        125.5|        62.75|               1|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 Books|        37.75|        18.88|               2|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+-----------+-------------+-------------+----------------+</a:t>
            </a:r>
          </a:p>
        </p:txBody>
      </p:sp>
    </p:spTree>
    <p:extLst>
      <p:ext uri="{BB962C8B-B14F-4D97-AF65-F5344CB8AC3E}">
        <p14:creationId xmlns:p14="http://schemas.microsoft.com/office/powerpoint/2010/main" val="1178155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74035"/>
            <a:ext cx="9144000" cy="1222893"/>
          </a:xfrm>
        </p:spPr>
        <p:txBody>
          <a:bodyPr>
            <a:normAutofit fontScale="90000"/>
          </a:bodyPr>
          <a:lstStyle/>
          <a:p>
            <a:r>
              <a:rPr lang="en-US"/>
              <a:t>3. Main Course Components</a:t>
            </a:r>
            <a:br>
              <a:rPr lang="en-US"/>
            </a:br>
            <a:r>
              <a:rPr lang="en-US" sz="4800"/>
              <a:t>Serverless SQL Access to Big Data (15%)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415209"/>
            <a:ext cx="9144000" cy="3558208"/>
          </a:xfrm>
        </p:spPr>
        <p:txBody>
          <a:bodyPr>
            <a:normAutofit/>
          </a:bodyPr>
          <a:lstStyle/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3600" dirty="0"/>
              <a:t>Amazon Athena</a:t>
            </a:r>
          </a:p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4000" dirty="0"/>
              <a:t>Google BigQuery</a:t>
            </a:r>
          </a:p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4000" dirty="0"/>
              <a:t>Snowflake</a:t>
            </a:r>
          </a:p>
          <a:p>
            <a:pPr lvl="1" algn="l"/>
            <a:endParaRPr lang="en-US" sz="12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839248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706437"/>
          </a:xfrm>
        </p:spPr>
        <p:txBody>
          <a:bodyPr>
            <a:normAutofit fontScale="90000"/>
          </a:bodyPr>
          <a:lstStyle/>
          <a:p>
            <a:r>
              <a:rPr lang="en-US"/>
              <a:t>Amazon Athena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828800"/>
            <a:ext cx="9144000" cy="4144617"/>
          </a:xfrm>
        </p:spPr>
        <p:txBody>
          <a:bodyPr>
            <a:norm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Interactive query service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Serverless. Zero infrastructure. Zero administration.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Put your data in S3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Access your data by SQL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Pay by query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Fast performance</a:t>
            </a:r>
          </a:p>
        </p:txBody>
      </p:sp>
    </p:spTree>
    <p:extLst>
      <p:ext uri="{BB962C8B-B14F-4D97-AF65-F5344CB8AC3E}">
        <p14:creationId xmlns:p14="http://schemas.microsoft.com/office/powerpoint/2010/main" val="336496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28093"/>
            <a:ext cx="9144000" cy="915159"/>
          </a:xfrm>
        </p:spPr>
        <p:txBody>
          <a:bodyPr/>
          <a:lstStyle/>
          <a:p>
            <a:r>
              <a:rPr lang="en-US"/>
              <a:t>Amazon Athena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A8FA6E48-77E3-5068-7DC9-F7519FBE0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4659" y="1878226"/>
            <a:ext cx="7253417" cy="3150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580650"/>
      </p:ext>
    </p:extLst>
  </p:cSld>
  <p:clrMapOvr>
    <a:masterClrMapping/>
  </p:clrMapOvr>
</p:sld>
</file>

<file path=ppt/theme/theme1.xml><?xml version="1.0" encoding="utf-8"?>
<a:theme xmlns:a="http://schemas.openxmlformats.org/drawingml/2006/main" name="scu-ppt-master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scu-ppt-master</Template>
  <TotalTime>2517</TotalTime>
  <Words>2571</Words>
  <Application>Microsoft Macintosh PowerPoint</Application>
  <PresentationFormat>Widescreen</PresentationFormat>
  <Paragraphs>346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5" baseType="lpstr">
      <vt:lpstr>Aptos</vt:lpstr>
      <vt:lpstr>Arial</vt:lpstr>
      <vt:lpstr>Avenir Next</vt:lpstr>
      <vt:lpstr>Calibri Light</vt:lpstr>
      <vt:lpstr>Consolas</vt:lpstr>
      <vt:lpstr>Courier</vt:lpstr>
      <vt:lpstr>Courier New</vt:lpstr>
      <vt:lpstr>Franklin Gothic Medium Cond</vt:lpstr>
      <vt:lpstr>Helvetica Light</vt:lpstr>
      <vt:lpstr>Wingdings</vt:lpstr>
      <vt:lpstr>scu-ppt-master</vt:lpstr>
      <vt:lpstr>Big Data  Modeling &amp; Analytics (course outline)</vt:lpstr>
      <vt:lpstr>Big Data Modeling &amp; Analytics?</vt:lpstr>
      <vt:lpstr>1. What is Big Data?</vt:lpstr>
      <vt:lpstr>What is a Big Data Modeling?</vt:lpstr>
      <vt:lpstr>What is a Big Data Modeling?</vt:lpstr>
      <vt:lpstr>What is a Big Data Modeling &amp; Analytics?</vt:lpstr>
      <vt:lpstr>Business Value of Big Data Modeling &amp; Analytics?</vt:lpstr>
      <vt:lpstr>Big Data Modeling Course Components:</vt:lpstr>
      <vt:lpstr>Big Data Analysis</vt:lpstr>
      <vt:lpstr>1. MapReduce Paradigm</vt:lpstr>
      <vt:lpstr>1. MapReduce Paradigm:       split  data into chunks: then parallelize</vt:lpstr>
      <vt:lpstr>1. MapReduce Programs</vt:lpstr>
      <vt:lpstr>1. MapReduce Components</vt:lpstr>
      <vt:lpstr>MapReduce Paradigm</vt:lpstr>
      <vt:lpstr>MapReduce Paradigm: High-Level</vt:lpstr>
      <vt:lpstr>MapReduce Paradigm</vt:lpstr>
      <vt:lpstr>MapReduce Paradigm Example-1</vt:lpstr>
      <vt:lpstr>MapReduce Paradigm Example-2</vt:lpstr>
      <vt:lpstr>Solving a Big Data Problem with MapReduce (1)</vt:lpstr>
      <vt:lpstr>Solving a Big Data Problem with MapReduce (2)</vt:lpstr>
      <vt:lpstr>Solving a Big Data Problem with MapReduce (3)</vt:lpstr>
      <vt:lpstr>2. Apache Spark</vt:lpstr>
      <vt:lpstr>2. Apache Spark Programs</vt:lpstr>
      <vt:lpstr>Apache Spark: Components</vt:lpstr>
      <vt:lpstr>Spark run modes</vt:lpstr>
      <vt:lpstr>Apache Spark: runs in a cluster</vt:lpstr>
      <vt:lpstr>Apache Spark: Cluster Manager</vt:lpstr>
      <vt:lpstr>Spark Data Abstractions: Read/Write from/to Many Data Sources</vt:lpstr>
      <vt:lpstr>Spark Data Abstractions</vt:lpstr>
      <vt:lpstr>Spark Data Abstractions: RDDs Billions of data elements Each RDD element: (String, (Float, Float))</vt:lpstr>
      <vt:lpstr>Spark Data Abstractions: DataFrame</vt:lpstr>
      <vt:lpstr>PySpark DataFrame Example-1</vt:lpstr>
      <vt:lpstr>PySpark DataFrame Example-1 continued…</vt:lpstr>
      <vt:lpstr>PySpark: create a DataFrame from a CSV File</vt:lpstr>
      <vt:lpstr>PySpark DataFrame Example-2 -  01</vt:lpstr>
      <vt:lpstr>PySpark DataFrame Example-2 - 02</vt:lpstr>
      <vt:lpstr>PySpark DataFrame Example-2 - 03</vt:lpstr>
      <vt:lpstr>PySpark DataFrame Example-2 - 04</vt:lpstr>
      <vt:lpstr>PySpark DataFrame Example-2 - 05</vt:lpstr>
      <vt:lpstr>PySpark DataFrame Example-2 - 06</vt:lpstr>
      <vt:lpstr>PySpark DataFrame Example-2 - 07</vt:lpstr>
      <vt:lpstr>3. Main Course Components Serverless SQL Access to Big Data (15%)</vt:lpstr>
      <vt:lpstr>Amazon Athena</vt:lpstr>
      <vt:lpstr>Amazon Athena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 Data  Modeling &amp; Analytics</dc:title>
  <dc:creator>Parsian, Mahmoud</dc:creator>
  <cp:lastModifiedBy>Mahmoud Parsian</cp:lastModifiedBy>
  <cp:revision>43</cp:revision>
  <dcterms:created xsi:type="dcterms:W3CDTF">2022-03-27T03:42:59Z</dcterms:created>
  <dcterms:modified xsi:type="dcterms:W3CDTF">2026-09-10T08:09:08Z</dcterms:modified>
</cp:coreProperties>
</file>