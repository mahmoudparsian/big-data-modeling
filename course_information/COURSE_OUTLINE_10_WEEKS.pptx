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9"/>
  </p:notesMasterIdLst>
  <p:sldIdLst>
    <p:sldId id="256" r:id="rId2"/>
    <p:sldId id="288" r:id="rId3"/>
    <p:sldId id="292" r:id="rId4"/>
    <p:sldId id="291" r:id="rId5"/>
    <p:sldId id="257" r:id="rId6"/>
    <p:sldId id="289" r:id="rId7"/>
    <p:sldId id="290" r:id="rId8"/>
    <p:sldId id="302" r:id="rId9"/>
    <p:sldId id="287" r:id="rId10"/>
    <p:sldId id="258" r:id="rId11"/>
    <p:sldId id="260" r:id="rId12"/>
    <p:sldId id="293" r:id="rId13"/>
    <p:sldId id="277" r:id="rId14"/>
    <p:sldId id="278" r:id="rId15"/>
    <p:sldId id="263" r:id="rId16"/>
    <p:sldId id="262" r:id="rId17"/>
    <p:sldId id="271" r:id="rId18"/>
    <p:sldId id="272" r:id="rId19"/>
    <p:sldId id="275" r:id="rId20"/>
    <p:sldId id="280" r:id="rId21"/>
    <p:sldId id="261" r:id="rId22"/>
    <p:sldId id="281" r:id="rId23"/>
    <p:sldId id="279" r:id="rId24"/>
    <p:sldId id="282" r:id="rId25"/>
    <p:sldId id="273" r:id="rId26"/>
    <p:sldId id="284" r:id="rId27"/>
    <p:sldId id="304" r:id="rId28"/>
    <p:sldId id="283" r:id="rId29"/>
    <p:sldId id="268" r:id="rId30"/>
    <p:sldId id="264" r:id="rId31"/>
    <p:sldId id="269" r:id="rId32"/>
    <p:sldId id="270" r:id="rId33"/>
    <p:sldId id="274" r:id="rId34"/>
    <p:sldId id="285" r:id="rId35"/>
    <p:sldId id="286" r:id="rId36"/>
    <p:sldId id="301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276" r:id="rId45"/>
    <p:sldId id="266" r:id="rId46"/>
    <p:sldId id="303" r:id="rId47"/>
    <p:sldId id="267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96"/>
    <p:restoredTop sz="96327"/>
  </p:normalViewPr>
  <p:slideViewPr>
    <p:cSldViewPr snapToGrid="0" snapToObjects="1">
      <p:cViewPr varScale="1">
        <p:scale>
          <a:sx n="143" d="100"/>
          <a:sy n="143" d="100"/>
        </p:scale>
        <p:origin x="3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9734" y="6320283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1CCDD-D3EB-A388-581E-4D04CB9C14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C_uu_rM6WAxUNLTQIHciVNXoQy_kOeggIAggBCAwQAw&amp;opi=89978449&amp;cd&amp;psig=AOvVaw2VE3PYCvo5HgQqdSV_BRzO&amp;ust=1788385288151000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kluiG3P6WAxX9weYEHZKMJp4Qy_kOegYIAAgKEAE&amp;opi=89978449&amp;cd&amp;psig=AOvVaw2kb-3j96tX1u9rtOuUTg_V&amp;ust=1790047320946000" TargetMode="Externa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www.amazon.com/Clothing-Shoes-Jewelry-Athena/s?rh%3Dn%253A7141123011%252Cp_4%253AAthena&amp;ved=2ahUKEwiDsfH5zf6WAxXMCTQIHeh7NpEQy_kOegoIAggACAAICxAC&amp;opi=89978449&amp;cd&amp;psig=AOvVaw0E_UG1MNmsFBdX29JfT12B&amp;ust=1790043535686000" TargetMode="Externa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340747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&amp; Analytics</a:t>
            </a:r>
            <a:br>
              <a:rPr lang="en-US" dirty="0"/>
            </a:br>
            <a:br>
              <a:rPr lang="en-US" dirty="0"/>
            </a:br>
            <a:r>
              <a:rPr lang="en-US" sz="3600" dirty="0">
                <a:solidFill>
                  <a:srgbClr val="00B0F0"/>
                </a:solidFill>
              </a:rPr>
              <a:t>10 Weeks Course Outline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680581"/>
            <a:ext cx="9144000" cy="959386"/>
          </a:xfrm>
        </p:spPr>
        <p:txBody>
          <a:bodyPr>
            <a:no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Mahmoud Parsian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Ph.D. in Computer Science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E4AF838-0BE2-4E69-9255-C1424E4D1425}" type="slidenum">
              <a:rPr sz="1350">
                <a:solidFill>
                  <a:srgbClr val="555555"/>
                </a:solidFill>
              </a:rPr>
              <a:t>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638-B2D6-95E9-A973-3576A94C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050C-745B-BB10-EB31-67B29EBC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915E2-5634-69F9-B951-73B2F49D6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is Big Data?</a:t>
            </a:r>
          </a:p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 is  Big data Modeling?</a:t>
            </a:r>
          </a:p>
          <a:p>
            <a:r>
              <a:rPr lang="en-US" sz="3200" dirty="0">
                <a:solidFill>
                  <a:schemeClr val="tx1"/>
                </a:solidFill>
              </a:rPr>
              <a:t>3.   What  is  Big Data Modeling &amp; Analytics?</a:t>
            </a:r>
          </a:p>
          <a:p>
            <a:r>
              <a:rPr lang="en-US" sz="3200" dirty="0">
                <a:solidFill>
                  <a:schemeClr val="tx1"/>
                </a:solidFill>
              </a:rPr>
              <a:t>4.  </a:t>
            </a:r>
            <a:r>
              <a:rPr lang="en-US" sz="3200" dirty="0">
                <a:solidFill>
                  <a:srgbClr val="00B0F0"/>
                </a:solidFill>
              </a:rPr>
              <a:t>Solutions</a:t>
            </a:r>
            <a:r>
              <a:rPr lang="en-US" sz="3200" dirty="0">
                <a:solidFill>
                  <a:schemeClr val="tx1"/>
                </a:solidFill>
              </a:rPr>
              <a:t> to Big Data Modeling &amp; Analytics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0B050"/>
                </a:solidFill>
              </a:rPr>
              <a:t>1. MapReduce paradigm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0B050"/>
                </a:solidFill>
              </a:rPr>
              <a:t>2. Spark/PySpark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0B050"/>
                </a:solidFill>
              </a:rPr>
              <a:t>3. Amazon Athena &amp; Google’s </a:t>
            </a:r>
            <a:r>
              <a:rPr lang="en-US" sz="3200" b="1" dirty="0" err="1">
                <a:solidFill>
                  <a:srgbClr val="00B050"/>
                </a:solidFill>
              </a:rPr>
              <a:t>BigQuery</a:t>
            </a:r>
            <a:endParaRPr lang="en-US" sz="3200" b="1" dirty="0">
              <a:solidFill>
                <a:srgbClr val="00B0F0"/>
              </a:solidFill>
            </a:endParaRPr>
          </a:p>
          <a:p>
            <a:endParaRPr lang="en-US" sz="3200" dirty="0">
              <a:solidFill>
                <a:srgbClr val="00B0F0"/>
              </a:solidFill>
            </a:endParaRP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9723CD4-E252-411D-982D-B2872629E669}" type="slidenum">
              <a:rPr sz="1350">
                <a:solidFill>
                  <a:srgbClr val="555555"/>
                </a:solidFill>
              </a:rPr>
              <a:t>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65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7243-15AD-425E-DFCF-2A2EE95FA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8F834-4DE8-3048-DAA2-4FBC5C624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76435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1. What is Big Data?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9F36D-D67A-B1D0-6CD3-5B3D4D9B0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899"/>
            <a:ext cx="9144000" cy="5114611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Big Data</a:t>
            </a:r>
            <a:r>
              <a:rPr lang="en-US" sz="3200" dirty="0">
                <a:solidFill>
                  <a:schemeClr val="tx1"/>
                </a:solidFill>
              </a:rPr>
              <a:t> refers to datasets that are </a:t>
            </a:r>
            <a:r>
              <a:rPr lang="en-US" sz="3200" u="sng" dirty="0">
                <a:solidFill>
                  <a:schemeClr val="tx1"/>
                </a:solidFill>
                <a:highlight>
                  <a:srgbClr val="00FF00"/>
                </a:highlight>
              </a:rPr>
              <a:t>so massive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u="sng" dirty="0">
                <a:solidFill>
                  <a:srgbClr val="0070C0"/>
                </a:solidFill>
                <a:highlight>
                  <a:srgbClr val="00FF00"/>
                </a:highlight>
              </a:rPr>
              <a:t>fast-moving</a:t>
            </a:r>
            <a:r>
              <a:rPr lang="en-US" sz="3200" dirty="0">
                <a:solidFill>
                  <a:schemeClr val="tx1"/>
                </a:solidFill>
              </a:rPr>
              <a:t>,  and </a:t>
            </a:r>
            <a:r>
              <a:rPr lang="en-US" sz="3200" u="sng" dirty="0">
                <a:solidFill>
                  <a:srgbClr val="7030A0"/>
                </a:solidFill>
                <a:highlight>
                  <a:srgbClr val="00FF00"/>
                </a:highlight>
              </a:rPr>
              <a:t>complex</a:t>
            </a:r>
            <a:r>
              <a:rPr lang="en-US" sz="3200" dirty="0">
                <a:solidFill>
                  <a:schemeClr val="tx1"/>
                </a:solidFill>
              </a:rPr>
              <a:t> that traditional data-processing </a:t>
            </a:r>
          </a:p>
          <a:p>
            <a:r>
              <a:rPr lang="en-US" sz="3200" dirty="0">
                <a:solidFill>
                  <a:schemeClr val="tx1"/>
                </a:solidFill>
              </a:rPr>
              <a:t>software cannot capture, store, or analyze them effectively</a:t>
            </a:r>
            <a:r>
              <a:rPr lang="en-US" sz="3200" b="1" dirty="0">
                <a:solidFill>
                  <a:schemeClr val="tx1"/>
                </a:solidFill>
              </a:rPr>
              <a:t>.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Instead of relying on a  </a:t>
            </a:r>
            <a:r>
              <a:rPr lang="en-US" sz="3200" dirty="0">
                <a:solidFill>
                  <a:schemeClr val="accent1"/>
                </a:solidFill>
                <a:highlight>
                  <a:srgbClr val="0000FF"/>
                </a:highlight>
              </a:rPr>
              <a:t>single computer 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dirty="0">
                <a:solidFill>
                  <a:schemeClr val="tx1"/>
                </a:solidFill>
              </a:rPr>
              <a:t>big data requires </a:t>
            </a:r>
            <a:r>
              <a:rPr lang="en-US" sz="3200" u="sng" dirty="0">
                <a:solidFill>
                  <a:schemeClr val="tx1"/>
                </a:solidFill>
              </a:rPr>
              <a:t>cluster computing frameworks </a:t>
            </a:r>
            <a:r>
              <a:rPr lang="en-US" sz="3200" dirty="0">
                <a:solidFill>
                  <a:schemeClr val="tx1"/>
                </a:solidFill>
              </a:rPr>
              <a:t>like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FF"/>
                </a:highlight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Apache Spark</a:t>
            </a:r>
            <a:endParaRPr lang="en-US" sz="3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FF"/>
                </a:highlight>
              </a:rPr>
              <a:t>Snowflake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FF"/>
                </a:highlight>
              </a:rPr>
              <a:t>Amazon Athena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FF"/>
                </a:highlight>
              </a:rPr>
              <a:t>Google’s BigQuery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endParaRPr lang="en-US" sz="3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55B68B6A-B980-46CC-A2AF-BBC70662A6DE}" type="slidenum">
              <a:rPr sz="1350">
                <a:solidFill>
                  <a:srgbClr val="555555"/>
                </a:solidFill>
              </a:rPr>
              <a:t>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715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F8F14-B0A6-8471-A8BF-4EB97946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C0D2-3D42-409E-6E8A-3022A7934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53BF7-8743-7C25-95E3-4E6ADA5D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Big data modeling  </a:t>
            </a:r>
            <a:r>
              <a:rPr lang="en-US" sz="3600" dirty="0">
                <a:solidFill>
                  <a:schemeClr val="tx1"/>
                </a:solidFill>
              </a:rPr>
              <a:t>is the process of </a:t>
            </a:r>
            <a:r>
              <a:rPr lang="en-US" sz="3600" dirty="0">
                <a:solidFill>
                  <a:srgbClr val="00B0F0"/>
                </a:solidFill>
              </a:rPr>
              <a:t>organizing large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F0"/>
                </a:solidFill>
              </a:rPr>
              <a:t>fast-moving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F0"/>
                </a:solidFill>
              </a:rPr>
              <a:t>diverse datasets </a:t>
            </a:r>
            <a:r>
              <a:rPr lang="en-US" sz="3600" dirty="0">
                <a:solidFill>
                  <a:schemeClr val="tx1"/>
                </a:solidFill>
              </a:rPr>
              <a:t>so they can be </a:t>
            </a:r>
            <a:r>
              <a:rPr lang="en-US" sz="3600" dirty="0">
                <a:solidFill>
                  <a:srgbClr val="00B050"/>
                </a:solidFill>
              </a:rPr>
              <a:t>stored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50"/>
                </a:solidFill>
              </a:rPr>
              <a:t>processed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  <a:r>
              <a:rPr lang="en-US" sz="3600" dirty="0">
                <a:solidFill>
                  <a:srgbClr val="00B050"/>
                </a:solidFill>
              </a:rPr>
              <a:t>analyzed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50"/>
                </a:solidFill>
              </a:rPr>
              <a:t>understood</a:t>
            </a:r>
            <a:r>
              <a:rPr lang="en-US" sz="3600" dirty="0">
                <a:solidFill>
                  <a:schemeClr val="tx1"/>
                </a:solidFill>
              </a:rPr>
              <a:t> efficiently.</a:t>
            </a:r>
          </a:p>
          <a:p>
            <a:endParaRPr lang="en-US" sz="3600" dirty="0"/>
          </a:p>
          <a:p>
            <a:r>
              <a:rPr lang="en-US" sz="3600" b="1" u="sng" dirty="0"/>
              <a:t>Key Characteristics of Big Data:</a:t>
            </a:r>
            <a:endParaRPr lang="en-US" sz="3600" b="1" u="sng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1. Volume</a:t>
            </a:r>
            <a:r>
              <a:rPr lang="en-US" sz="3600" dirty="0">
                <a:solidFill>
                  <a:schemeClr val="tx1"/>
                </a:solidFill>
              </a:rPr>
              <a:t>: Handles massive amounts of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2. Velocity</a:t>
            </a:r>
            <a:r>
              <a:rPr lang="en-US" sz="3600" dirty="0">
                <a:solidFill>
                  <a:schemeClr val="tx1"/>
                </a:solidFill>
              </a:rPr>
              <a:t>: Supports rapidly generated and processed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3. Variety</a:t>
            </a:r>
            <a:r>
              <a:rPr lang="en-US" sz="3600" dirty="0">
                <a:solidFill>
                  <a:schemeClr val="tx1"/>
                </a:solidFill>
              </a:rPr>
              <a:t>: Combines structured, semi-structured, and unstructured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4. Veracity</a:t>
            </a:r>
            <a:r>
              <a:rPr lang="en-US" sz="3600" dirty="0">
                <a:solidFill>
                  <a:schemeClr val="tx1"/>
                </a:solidFill>
              </a:rPr>
              <a:t>: The quality, reliability, and trust of the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5. Scalability</a:t>
            </a:r>
            <a:r>
              <a:rPr lang="en-US" sz="3600" dirty="0">
                <a:solidFill>
                  <a:schemeClr val="tx1"/>
                </a:solidFill>
              </a:rPr>
              <a:t>: Adapts as data and user demand grow</a:t>
            </a: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D2C215F-622A-4B6A-98C5-30662BEA2626}" type="slidenum">
              <a:rPr sz="1350">
                <a:solidFill>
                  <a:srgbClr val="555555"/>
                </a:solidFill>
              </a:rPr>
              <a:t>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46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# Common Models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Data lakes and Lake-Houses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NoSQL models: document, key-value, column, and graph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Distributed data warehouses (Snowflake)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Batch and streaming architectures (Spark)</a:t>
            </a:r>
          </a:p>
          <a:p>
            <a:endParaRPr lang="en-US" sz="3600" dirty="0"/>
          </a:p>
          <a:p>
            <a:r>
              <a:rPr lang="en-US" sz="3600" dirty="0"/>
              <a:t>&gt; Goal: </a:t>
            </a:r>
            <a:r>
              <a:rPr lang="en-US" sz="3600" dirty="0">
                <a:solidFill>
                  <a:srgbClr val="00B0F0"/>
                </a:solidFill>
              </a:rPr>
              <a:t>Turn </a:t>
            </a:r>
            <a:r>
              <a:rPr lang="en-US" sz="3600" u="sng" dirty="0">
                <a:solidFill>
                  <a:srgbClr val="00B0F0"/>
                </a:solidFill>
              </a:rPr>
              <a:t>complex raw data</a:t>
            </a:r>
            <a:r>
              <a:rPr lang="en-US" sz="3600" dirty="0">
                <a:solidFill>
                  <a:srgbClr val="00B0F0"/>
                </a:solidFill>
              </a:rPr>
              <a:t> into a </a:t>
            </a:r>
            <a:r>
              <a:rPr lang="en-US" sz="3600" u="sng" dirty="0">
                <a:solidFill>
                  <a:srgbClr val="00B0F0"/>
                </a:solidFill>
              </a:rPr>
              <a:t>reliable structure</a:t>
            </a:r>
            <a:r>
              <a:rPr lang="en-US" sz="3600" dirty="0">
                <a:solidFill>
                  <a:srgbClr val="00B0F0"/>
                </a:solidFill>
              </a:rPr>
              <a:t> for analysis and decision-making.</a:t>
            </a: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369316FC-89B5-4051-8799-F7F620E44A97}" type="slidenum">
              <a:rPr sz="1350">
                <a:solidFill>
                  <a:srgbClr val="555555"/>
                </a:solidFill>
              </a:rPr>
              <a:t>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69774-946E-B260-E4C8-F247732A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5835-EA10-131F-D9B6-525812083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5C9645-A45B-E966-6AAB-2EA599B16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analytics uses modeled data to discover patterns, </a:t>
            </a:r>
          </a:p>
          <a:p>
            <a:r>
              <a:rPr lang="en-US" sz="3600" dirty="0">
                <a:solidFill>
                  <a:schemeClr val="tx1"/>
                </a:solidFill>
              </a:rPr>
              <a:t>explain outcomes, predict future events, and recommend actions.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Analytics Types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Descriptive</a:t>
            </a:r>
            <a:r>
              <a:rPr lang="en-US" sz="3600" dirty="0">
                <a:solidFill>
                  <a:schemeClr val="tx1"/>
                </a:solidFill>
              </a:rPr>
              <a:t>: What happened?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Diagnostic</a:t>
            </a:r>
            <a:r>
              <a:rPr lang="en-US" sz="3600" dirty="0">
                <a:solidFill>
                  <a:schemeClr val="tx1"/>
                </a:solidFill>
              </a:rPr>
              <a:t>: Why did it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Predictive</a:t>
            </a:r>
            <a:r>
              <a:rPr lang="en-US" sz="3600" dirty="0">
                <a:solidFill>
                  <a:schemeClr val="tx1"/>
                </a:solidFill>
              </a:rPr>
              <a:t>: What is likely to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Prescriptive</a:t>
            </a:r>
            <a:r>
              <a:rPr lang="en-US" sz="3600" dirty="0">
                <a:solidFill>
                  <a:schemeClr val="tx1"/>
                </a:solidFill>
              </a:rPr>
              <a:t>: What action should be taken?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Typical Workflow</a:t>
            </a:r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</a:rPr>
              <a:t>Collect → Clean → Model → Process → Analyze → Visualize → Act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98B38167-5F5E-4C91-9C66-0F9BB3BDD299}" type="slidenum">
              <a:rPr sz="1350">
                <a:solidFill>
                  <a:srgbClr val="555555"/>
                </a:solidFill>
              </a:rPr>
              <a:t>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03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968A-F75F-7263-50D7-75791B9A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246D-7A97-8661-9CA0-D068C5404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Business Value</a:t>
            </a:r>
            <a:r>
              <a:rPr lang="en-US" sz="3600" dirty="0"/>
              <a:t> of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B49BE-0C8C-8FDB-F16E-E88633B66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925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Faster, evidence-based decisions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Improved customer experiences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Fraud and risk detection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Operational efficiency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Forecasting and innovation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AI-LLM models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Strong analytics </a:t>
            </a:r>
            <a:r>
              <a:rPr lang="en-US" sz="3600" dirty="0">
                <a:solidFill>
                  <a:schemeClr val="tx1"/>
                </a:solidFill>
              </a:rPr>
              <a:t>depends</a:t>
            </a:r>
            <a:r>
              <a:rPr lang="en-US" sz="3600" dirty="0">
                <a:solidFill>
                  <a:srgbClr val="00B0F0"/>
                </a:solidFill>
              </a:rPr>
              <a:t> on a scalable, accurate, </a:t>
            </a: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and well-governed data model.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C6A4259-CAE8-4DE1-BDBF-FC9EC356B58B}" type="slidenum">
              <a:rPr sz="1350">
                <a:solidFill>
                  <a:srgbClr val="555555"/>
                </a:solidFill>
              </a:rPr>
              <a:t>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77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095EA-A599-331E-4F2C-8967A9ED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D5769-6ABF-0AA6-51D6-0D54A1D77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498169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🎯  Query-Driven Schema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DA6052-43FE-0EBE-459C-673355877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851647"/>
            <a:ext cx="8527098" cy="5450541"/>
          </a:xfrm>
        </p:spPr>
        <p:txBody>
          <a:bodyPr>
            <a:normAutofit fontScale="625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Unlike traditional relational modeling — where the schema is normalized first and queries are written against it afterward  — big data modeling typically works in the </a:t>
            </a:r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opposite order</a:t>
            </a:r>
            <a:r>
              <a:rPr lang="en-US" sz="3600" dirty="0">
                <a:solidFill>
                  <a:schemeClr val="tx1"/>
                </a:solidFill>
              </a:rPr>
              <a:t>: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1. </a:t>
            </a:r>
            <a:r>
              <a:rPr lang="en-US" sz="4500" dirty="0">
                <a:solidFill>
                  <a:schemeClr val="tx1"/>
                </a:solidFill>
                <a:highlight>
                  <a:srgbClr val="00FFFF"/>
                </a:highlight>
              </a:rPr>
              <a:t>Study the Requirements</a:t>
            </a:r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. </a:t>
            </a:r>
            <a:r>
              <a:rPr lang="en-US" sz="3600" dirty="0">
                <a:solidFill>
                  <a:schemeClr val="tx1"/>
                </a:solidFill>
              </a:rPr>
              <a:t>Identify who needs the data and why:  which dashboards, reports, ML features,  or applications will consume it.</a:t>
            </a:r>
          </a:p>
          <a:p>
            <a:endParaRPr lang="en-US" sz="36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 2. </a:t>
            </a:r>
            <a:r>
              <a:rPr lang="en-US" sz="4500" dirty="0">
                <a:solidFill>
                  <a:schemeClr val="tx1"/>
                </a:solidFill>
                <a:highlight>
                  <a:srgbClr val="00FFFF"/>
                </a:highlight>
              </a:rPr>
              <a:t>Enumerate the Access Patterns</a:t>
            </a:r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. </a:t>
            </a:r>
            <a:r>
              <a:rPr lang="en-US" sz="3600" dirty="0">
                <a:solidFill>
                  <a:schemeClr val="tx1"/>
                </a:solidFill>
              </a:rPr>
              <a:t>Determine exactly  how the data will be queried — which fields are filtered   on, which are aggregated, how the data is expected to  grow, and how fresh it needs to be.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3. </a:t>
            </a:r>
            <a:r>
              <a:rPr lang="en-US" sz="4500" dirty="0">
                <a:solidFill>
                  <a:schemeClr val="tx1"/>
                </a:solidFill>
                <a:highlight>
                  <a:srgbClr val="00FFFF"/>
                </a:highlight>
              </a:rPr>
              <a:t>Design the Schema to Fit those Queries</a:t>
            </a:r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. </a:t>
            </a:r>
            <a:r>
              <a:rPr lang="en-US" sz="3600" dirty="0">
                <a:solidFill>
                  <a:schemeClr val="tx1"/>
                </a:solidFill>
              </a:rPr>
              <a:t>Choose partition  keys, denormalization strategy, and physical layout so the  known queries run fast — even if that means duplicating  data or shaping the same entity differently across multiple  tables.</a:t>
            </a:r>
            <a:endParaRPr lang="en-US" sz="3600" dirty="0">
              <a:solidFill>
                <a:srgbClr val="00B0F0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EB2DC9-612A-F0EB-C714-ADEFAE3E346F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C6A4259-CAE8-4DE1-BDBF-FC9EC356B58B}" type="slidenum">
              <a:rPr sz="1350">
                <a:solidFill>
                  <a:srgbClr val="555555"/>
                </a:solidFill>
              </a:rPr>
              <a:t>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63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3BA-5316-BF9D-F70F-56560679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7236-BD85-4A18-23D9-EB2B61B0F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4353" y="844457"/>
            <a:ext cx="9144000" cy="1299289"/>
          </a:xfrm>
        </p:spPr>
        <p:txBody>
          <a:bodyPr>
            <a:normAutofit fontScale="90000"/>
          </a:bodyPr>
          <a:lstStyle/>
          <a:p>
            <a:r>
              <a:rPr lang="en-US" dirty="0"/>
              <a:t>Big Data Modeling</a:t>
            </a:r>
            <a:br>
              <a:rPr lang="en-US" dirty="0"/>
            </a:br>
            <a:r>
              <a:rPr lang="en-US" dirty="0"/>
              <a:t>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3236A-EEC5-EDBF-E424-319C91C75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632669"/>
            <a:ext cx="9144000" cy="2572378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3600" dirty="0"/>
              <a:t>1. Introduction to Big Data (5%)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4.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10E8A03-207E-4214-9D1C-29BFA44ED8E8}" type="slidenum">
              <a:rPr sz="1350">
                <a:solidFill>
                  <a:srgbClr val="555555"/>
                </a:solidFill>
              </a:rPr>
              <a:t>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012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171" y="280315"/>
            <a:ext cx="4192655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1080230" y="2797226"/>
            <a:ext cx="2030770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4000121" y="2855485"/>
            <a:ext cx="4192654" cy="2747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Joins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9004052" y="3175686"/>
            <a:ext cx="1404730" cy="916080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11000" y="3832171"/>
            <a:ext cx="889121" cy="397130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8192775" y="3633726"/>
            <a:ext cx="811277" cy="595575"/>
          </a:xfrm>
          <a:prstGeom prst="straightConnector1">
            <a:avLst/>
          </a:prstGeom>
          <a:ln w="31750">
            <a:solidFill>
              <a:schemeClr val="tx1">
                <a:alpha val="94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385445" y="1202700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451420" y="1202701"/>
            <a:ext cx="2461846" cy="11231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Spark/PySpark</a:t>
            </a:r>
          </a:p>
          <a:p>
            <a:pPr algn="ctr"/>
            <a:r>
              <a:rPr lang="en-US" sz="2400" dirty="0"/>
              <a:t>RDD/DataFrame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82343" y="2325825"/>
            <a:ext cx="414105" cy="52966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7172985" y="129145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874E25-F3A4-8706-151D-7E2633C31F01}"/>
              </a:ext>
            </a:extLst>
          </p:cNvPr>
          <p:cNvCxnSpPr>
            <a:cxnSpLocks/>
          </p:cNvCxnSpPr>
          <p:nvPr/>
        </p:nvCxnSpPr>
        <p:spPr>
          <a:xfrm>
            <a:off x="3418232" y="2264006"/>
            <a:ext cx="970001" cy="53322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0D52BCA-5C7A-4213-8185-6FA1258B6670}" type="slidenum">
              <a:rPr sz="1350">
                <a:solidFill>
                  <a:srgbClr val="555555"/>
                </a:solidFill>
              </a:rPr>
              <a:t>10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[optional function]</a:t>
            </a: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DD7D45F-6CAC-451F-8DF7-B8F1C03E7153}" type="slidenum">
              <a:rPr sz="1350">
                <a:solidFill>
                  <a:srgbClr val="555555"/>
                </a:solidFill>
              </a:rPr>
              <a:t>11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9F049-FB3C-F3EA-FE6C-9B23A107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CB78C-22E5-141A-23D5-6E5445BD39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63529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Paradigm in Action: 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highlight>
                  <a:srgbClr val="00FF00"/>
                </a:highlight>
              </a:rPr>
              <a:t>split  data into chunks: then parallelize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8F92D-46A1-6B82-6845-2C0B522B7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47800"/>
            <a:ext cx="7772400" cy="3608614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19252A4-2E91-97FC-D02F-3C7B6C906D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48413"/>
            <a:ext cx="9144000" cy="3788230"/>
          </a:xfrm>
        </p:spPr>
        <p:txBody>
          <a:bodyPr>
            <a:normAutofit/>
          </a:bodyPr>
          <a:lstStyle/>
          <a:p>
            <a:pPr marL="457200" lvl="1" algn="l"/>
            <a:endParaRPr lang="en-US" sz="1200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46E0F9F-9D80-452F-B288-B13DCB2BF98D}" type="slidenum">
              <a:rPr sz="1350">
                <a:solidFill>
                  <a:srgbClr val="555555"/>
                </a:solidFill>
              </a:rPr>
              <a:t>12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0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5960DE2C-97A4-4C39-BE40-723BCDCABF0B}" type="slidenum">
              <a:rPr sz="1350">
                <a:solidFill>
                  <a:srgbClr val="555555"/>
                </a:solidFill>
              </a:rPr>
              <a:t>13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703722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67060"/>
            <a:ext cx="9144000" cy="4506358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MapReduce:</a:t>
            </a:r>
            <a:r>
              <a:rPr lang="en-US" sz="3600" dirty="0"/>
              <a:t>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split data into chunks and then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use  3 functions and execute tasks in parallel: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[Optional combiner function]</a:t>
            </a: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6BC3BF8-7257-4F72-B43E-BF162A0EC35B}" type="slidenum">
              <a:rPr sz="1350">
                <a:solidFill>
                  <a:srgbClr val="555555"/>
                </a:solidFill>
              </a:rPr>
              <a:t>14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1"/>
            <a:ext cx="9362303" cy="4556247"/>
          </a:xfrm>
        </p:spPr>
        <p:txBody>
          <a:bodyPr>
            <a:normAutofit fontScale="92500"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Hadoop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Spark</a:t>
            </a:r>
            <a:r>
              <a:rPr lang="en-US" sz="3200" dirty="0">
                <a:solidFill>
                  <a:schemeClr val="tx1"/>
                </a:solidFill>
              </a:rPr>
              <a:t>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Tez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Amazon Athena</a:t>
            </a:r>
            <a:r>
              <a:rPr lang="en-US" sz="3200" dirty="0">
                <a:solidFill>
                  <a:schemeClr val="tx1"/>
                </a:solidFill>
              </a:rPr>
              <a:t>: S</a:t>
            </a:r>
            <a:r>
              <a:rPr lang="en-US" sz="3200" dirty="0"/>
              <a:t>erverless SQL service</a:t>
            </a:r>
            <a:endParaRPr lang="en-US" sz="3200" dirty="0">
              <a:solidFill>
                <a:schemeClr val="tx1"/>
              </a:solidFill>
            </a:endParaRP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Google BigQuery</a:t>
            </a:r>
            <a:r>
              <a:rPr lang="en-US" sz="3200" dirty="0">
                <a:solidFill>
                  <a:schemeClr val="tx1"/>
                </a:solidFill>
              </a:rPr>
              <a:t>:  </a:t>
            </a:r>
            <a:r>
              <a:rPr lang="en-US" sz="3000" dirty="0"/>
              <a:t>distributed execution graph and shuffle architecture</a:t>
            </a:r>
            <a:endParaRPr lang="en-US" sz="3200" dirty="0">
              <a:solidFill>
                <a:schemeClr val="tx1"/>
              </a:solidFill>
            </a:endParaRP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3AAEBFF-DC56-4066-B10A-AB3F3DDD182F}" type="slidenum">
              <a:rPr sz="1350">
                <a:solidFill>
                  <a:srgbClr val="555555"/>
                </a:solidFill>
              </a:rPr>
              <a:t>15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A9BFF73-70C8-433B-A248-EF5C6D3A88EF}" type="slidenum">
              <a:rPr sz="1350">
                <a:solidFill>
                  <a:srgbClr val="555555"/>
                </a:solidFill>
              </a:rPr>
              <a:t>16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  <p:sp>
        <p:nvSpPr>
          <p:cNvPr id="7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740E9F3-86C9-44C3-A56F-BB2E3C276860}" type="slidenum">
              <a:rPr sz="1350">
                <a:solidFill>
                  <a:srgbClr val="555555"/>
                </a:solidFill>
              </a:rPr>
              <a:t>17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7F59B27-C032-4F7B-8F96-BC395C676DA0}" type="slidenum">
              <a:rPr sz="1350">
                <a:solidFill>
                  <a:srgbClr val="555555"/>
                </a:solidFill>
              </a:rPr>
              <a:t>18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8DCD34D-0FF4-4BE5-BA92-EB2534BC6346}" type="slidenum">
              <a:rPr sz="1350">
                <a:solidFill>
                  <a:srgbClr val="555555"/>
                </a:solidFill>
              </a:rPr>
              <a:t>19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dirty="0">
                <a:solidFill>
                  <a:schemeClr val="tx1"/>
                </a:solidFill>
                <a:highlight>
                  <a:srgbClr val="00FFFF"/>
                </a:highlight>
              </a:rPr>
              <a:t>map(K, V)</a:t>
            </a:r>
            <a:r>
              <a:rPr lang="en-US" dirty="0">
                <a:solidFill>
                  <a:schemeClr val="tx1"/>
                </a:solidFill>
              </a:rPr>
              <a:t>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05C829C-1559-4088-9357-5A5857D20C71}" type="slidenum">
              <a:rPr sz="1350">
                <a:solidFill>
                  <a:srgbClr val="555555"/>
                </a:solidFill>
              </a:rPr>
              <a:t>20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738306D-979A-45C4-8C27-75E0D2901A15}" type="slidenum">
              <a:rPr sz="1350">
                <a:solidFill>
                  <a:srgbClr val="555555"/>
                </a:solidFill>
              </a:rPr>
              <a:t>21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{ key_1, key_2, …, 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}</a:t>
            </a: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 dirty="0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 dirty="0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BA6DFC4-19DE-4E6E-BE2F-858D8885306D}" type="slidenum">
              <a:rPr sz="1350">
                <a:solidFill>
                  <a:srgbClr val="555555"/>
                </a:solidFill>
              </a:rPr>
              <a:t>22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2. </a:t>
            </a:r>
            <a:r>
              <a:rPr lang="en-US" b="1" dirty="0">
                <a:solidFill>
                  <a:srgbClr val="00B0F0"/>
                </a:solidFill>
              </a:rPr>
              <a:t>Apache Spark: </a:t>
            </a:r>
            <a:r>
              <a:rPr lang="en-US" sz="2700" b="1" dirty="0"/>
              <a:t>engine for large-scale data analytics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B0F0"/>
                </a:solidFill>
              </a:rPr>
              <a:t>Spark</a:t>
            </a:r>
            <a:r>
              <a:rPr lang="en-US" sz="3200" dirty="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B0F0"/>
                </a:solidFill>
              </a:rPr>
              <a:t>PySpark</a:t>
            </a:r>
            <a:r>
              <a:rPr lang="en-US" sz="4400" dirty="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B0F0"/>
                </a:solidFill>
              </a:rPr>
              <a:t>Spark</a:t>
            </a:r>
            <a:r>
              <a:rPr lang="en-US" sz="4400" dirty="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0B0F0"/>
                </a:solidFill>
              </a:rPr>
              <a:t>Spark</a:t>
            </a:r>
            <a:r>
              <a:rPr lang="en-US" sz="3600" dirty="0">
                <a:solidFill>
                  <a:schemeClr val="tx1"/>
                </a:solidFill>
              </a:rPr>
              <a:t> web site:  https://</a:t>
            </a:r>
            <a:r>
              <a:rPr lang="en-US" sz="3600" dirty="0" err="1">
                <a:solidFill>
                  <a:schemeClr val="tx1"/>
                </a:solidFill>
              </a:rPr>
              <a:t>spark.apache.org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270BECFD-60E4-47ED-BA2F-171236B4C0B9}" type="slidenum">
              <a:rPr sz="1350">
                <a:solidFill>
                  <a:srgbClr val="555555"/>
                </a:solidFill>
              </a:rPr>
              <a:t>23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 dirty="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 dirty="0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 dirty="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C2409FE-059B-4BDD-B577-9C7B526F5793}" type="slidenum">
              <a:rPr sz="1350">
                <a:solidFill>
                  <a:srgbClr val="555555"/>
                </a:solidFill>
              </a:rPr>
              <a:t>24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909FE6B-E9D7-417A-B8A2-BA8457121B70}" type="slidenum">
              <a:rPr sz="1350">
                <a:solidFill>
                  <a:srgbClr val="555555"/>
                </a:solidFill>
              </a:rPr>
              <a:t>25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467E1A8-AC54-431C-BF00-83F62F9662C0}" type="slidenum">
              <a:rPr sz="1350">
                <a:solidFill>
                  <a:srgbClr val="555555"/>
                </a:solidFill>
              </a:rPr>
              <a:t>26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7521-4FD6-B136-9086-A0DF13E1E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D7DD3-AA9E-BBCC-D488-F7183ADC6E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3742"/>
            <a:ext cx="9144000" cy="528918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00B050"/>
                </a:solidFill>
              </a:rPr>
              <a:t>Spark Run Modes</a:t>
            </a:r>
            <a:r>
              <a:rPr lang="en-US" dirty="0">
                <a:solidFill>
                  <a:srgbClr val="00B050"/>
                </a:solidFill>
              </a:rPr>
              <a:t>: </a:t>
            </a:r>
            <a:r>
              <a:rPr lang="en-US" sz="3100" dirty="0"/>
              <a:t>Local Single Machine or Cluster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C81B28-F997-2557-1F48-41757570E3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1102660"/>
            <a:ext cx="8148918" cy="5181599"/>
          </a:xfrm>
        </p:spPr>
        <p:txBody>
          <a:bodyPr>
            <a:normAutofit fontScale="85000" lnSpcReduction="10000"/>
          </a:bodyPr>
          <a:lstStyle/>
          <a:p>
            <a:r>
              <a:rPr lang="en-US" sz="2800" dirty="0"/>
              <a:t>The code that runs on a single machine is the same code which runs it in a cluster of 100's of nodes: In </a:t>
            </a:r>
            <a:r>
              <a:rPr lang="en-US" sz="2800" dirty="0">
                <a:hlinkClick r:id="rId2"/>
              </a:rPr>
              <a:t>Spark</a:t>
            </a:r>
            <a:r>
              <a:rPr lang="en-US" sz="2800" dirty="0"/>
              <a:t>, this concept is expressed as: </a:t>
            </a:r>
          </a:p>
          <a:p>
            <a:r>
              <a:rPr lang="en-US" dirty="0"/>
              <a:t>"</a:t>
            </a:r>
            <a:r>
              <a:rPr lang="en-US" dirty="0">
                <a:solidFill>
                  <a:srgbClr val="00B0F0"/>
                </a:solidFill>
              </a:rPr>
              <a:t>The exact same PySpark code runs seamlessly on a single machine or scales out to a cluster of 100s of nodes </a:t>
            </a:r>
            <a:r>
              <a:rPr lang="en-US" u="sng" dirty="0">
                <a:solidFill>
                  <a:srgbClr val="00B0F0"/>
                </a:solidFill>
              </a:rPr>
              <a:t>without changing a single line of logic.</a:t>
            </a:r>
            <a:r>
              <a:rPr lang="en-US" u="sng" dirty="0"/>
              <a:t>”</a:t>
            </a:r>
          </a:p>
          <a:p>
            <a:endParaRPr lang="en-US" sz="3400" b="1" dirty="0">
              <a:solidFill>
                <a:srgbClr val="00B050"/>
              </a:solidFill>
            </a:endParaRPr>
          </a:p>
          <a:p>
            <a:r>
              <a:rPr lang="en-US" sz="3400" b="1" dirty="0">
                <a:solidFill>
                  <a:srgbClr val="00B050"/>
                </a:solidFill>
              </a:rPr>
              <a:t># Write Once. Run at Any Scale.</a:t>
            </a:r>
          </a:p>
          <a:p>
            <a:r>
              <a:rPr lang="en-US" dirty="0">
                <a:solidFill>
                  <a:schemeClr val="tx1"/>
                </a:solidFill>
              </a:rPr>
              <a:t>1. The </a:t>
            </a:r>
            <a:r>
              <a:rPr lang="en-US" i="1" dirty="0">
                <a:solidFill>
                  <a:schemeClr val="tx1"/>
                </a:solidFill>
                <a:highlight>
                  <a:srgbClr val="00FF00"/>
                </a:highlight>
              </a:rPr>
              <a:t>same code 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runs on a single machine or a cluster of 100s of nodes.</a:t>
            </a:r>
          </a:p>
          <a:p>
            <a:r>
              <a:rPr lang="en-US" dirty="0">
                <a:solidFill>
                  <a:schemeClr val="tx1"/>
                </a:solidFill>
              </a:rPr>
              <a:t>2. Develop locally: Build and test on one machine.</a:t>
            </a:r>
          </a:p>
          <a:p>
            <a:r>
              <a:rPr lang="en-US" dirty="0">
                <a:solidFill>
                  <a:schemeClr val="tx1"/>
                </a:solidFill>
              </a:rPr>
              <a:t>3. Scale through configuration: Choose the cluster and resources.</a:t>
            </a:r>
          </a:p>
          <a:p>
            <a:r>
              <a:rPr lang="en-US" dirty="0">
                <a:solidFill>
                  <a:schemeClr val="tx1"/>
                </a:solidFill>
              </a:rPr>
              <a:t>4. Let the engine distribute the work: It coordinates parallel execution across nodes.</a:t>
            </a:r>
          </a:p>
          <a:p>
            <a:r>
              <a:rPr lang="en-US" dirty="0">
                <a:solidFill>
                  <a:schemeClr val="tx1"/>
                </a:solidFill>
              </a:rPr>
              <a:t>5. With a distributed processing engine, the execution environment changes—the application code can stay the same.</a:t>
            </a:r>
          </a:p>
          <a:p>
            <a:endParaRPr lang="en-US" sz="28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80DF8B32-8D33-2D5E-5794-EBB2ED62AD62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467E1A8-AC54-431C-BF00-83F62F9662C0}" type="slidenum">
              <a:rPr sz="1350">
                <a:solidFill>
                  <a:srgbClr val="555555"/>
                </a:solidFill>
              </a:rPr>
              <a:t>27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8871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F0"/>
                </a:solidFill>
              </a:rPr>
              <a:t>Apache Spark</a:t>
            </a:r>
            <a:r>
              <a:rPr lang="en-US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7EC95170-0CEF-4301-A8FC-15A420A66C6F}" type="slidenum">
              <a:rPr sz="1350">
                <a:solidFill>
                  <a:srgbClr val="555555"/>
                </a:solidFill>
              </a:rPr>
              <a:t>28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0782FEE-6801-4492-8A1E-4EA88617AD41}" type="slidenum">
              <a:rPr sz="1350">
                <a:solidFill>
                  <a:srgbClr val="555555"/>
                </a:solidFill>
              </a:rPr>
              <a:t>29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/>
              <a:t>Spark Data Abstractions:</a:t>
            </a:r>
            <a:br>
              <a:rPr lang="en-US" sz="4000"/>
            </a:br>
            <a:r>
              <a:rPr lang="en-US" sz="4000"/>
              <a:t>Read/Write </a:t>
            </a:r>
            <a:r>
              <a:rPr lang="en-US" sz="2800"/>
              <a:t>from/to </a:t>
            </a:r>
            <a:r>
              <a:rPr lang="en-US" sz="400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1172B51-F80D-4CBB-ACBD-15C83187AF44}" type="slidenum">
              <a:rPr sz="1350">
                <a:solidFill>
                  <a:srgbClr val="555555"/>
                </a:solidFill>
              </a:rPr>
              <a:t>30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872002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and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</a:p>
          <a:p>
            <a:pPr algn="l"/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  <a:r>
              <a:rPr lang="en-US" sz="2400" dirty="0"/>
              <a:t>(</a:t>
            </a:r>
            <a:r>
              <a:rPr lang="en-US" sz="2400" b="1" dirty="0">
                <a:solidFill>
                  <a:srgbClr val="00B0F0"/>
                </a:solidFill>
              </a:rPr>
              <a:t>semi-structured data</a:t>
            </a:r>
            <a:r>
              <a:rPr lang="en-US" sz="2400" dirty="0"/>
              <a:t>)</a:t>
            </a:r>
            <a:endParaRPr lang="en-US" sz="2800" dirty="0"/>
          </a:p>
          <a:p>
            <a:pPr lvl="1" algn="l"/>
            <a:r>
              <a:rPr lang="en-US" sz="2800" dirty="0"/>
              <a:t>     (integer, string, tuples, arrays, dictionary,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</a:t>
            </a:r>
            <a:r>
              <a:rPr lang="en-US" sz="2800" dirty="0">
                <a:highlight>
                  <a:srgbClr val="FFFF00"/>
                </a:highlight>
              </a:rPr>
              <a:t>table of rows and named columns (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00B0F0"/>
                </a:solidFill>
              </a:rPr>
              <a:t>structured data </a:t>
            </a:r>
            <a:r>
              <a:rPr lang="en-US" sz="2800" dirty="0">
                <a:highlight>
                  <a:srgbClr val="FFFF00"/>
                </a:highlight>
              </a:rPr>
              <a:t>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9FF0978F-5FD8-45E3-B0E9-BE1F24706434}" type="slidenum">
              <a:rPr sz="1350">
                <a:solidFill>
                  <a:srgbClr val="555555"/>
                </a:solidFill>
              </a:rPr>
              <a:t>31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876058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Spark Data Abstractions: RDDs</a:t>
            </a:r>
            <a:br>
              <a:rPr lang="en-US" sz="3600" dirty="0"/>
            </a:br>
            <a:r>
              <a:rPr lang="en-US" sz="3600" dirty="0"/>
              <a:t>Billions of data elements</a:t>
            </a:r>
            <a:br>
              <a:rPr lang="en-US" dirty="0"/>
            </a:br>
            <a:r>
              <a:rPr lang="en-US" b="1" dirty="0"/>
              <a:t>Each RDD element</a:t>
            </a:r>
            <a:r>
              <a:rPr lang="en-US" dirty="0"/>
              <a:t>: </a:t>
            </a:r>
            <a:r>
              <a:rPr lang="en-US" sz="2700" b="1" dirty="0">
                <a:latin typeface="Courier" pitchFamily="2" charset="0"/>
              </a:rPr>
              <a:t>(String, (Float, Float))</a:t>
            </a:r>
            <a:endParaRPr lang="en-US" b="1" dirty="0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Element-3: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5A92995-1414-48C8-A13C-7CA6461455F7}" type="slidenum">
              <a:rPr sz="1350">
                <a:solidFill>
                  <a:srgbClr val="555555"/>
                </a:solidFill>
              </a:rPr>
              <a:t>32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 dirty="0"/>
              <a:t>Spark Data Abstractions: DataFrame</a:t>
            </a:r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DC42E2E-CCC3-45EA-A34E-36AABEE70CF0}" type="slidenum">
              <a:rPr sz="1350">
                <a:solidFill>
                  <a:srgbClr val="555555"/>
                </a:solidFill>
              </a:rPr>
              <a:t>33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Import required libraries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object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Create a sample DataFrame as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Register the DataFrame as a Temporary SQL View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9CCEE7C-8335-400E-8195-6B26E40CA9E7}" type="slidenum">
              <a:rPr sz="1350">
                <a:solidFill>
                  <a:srgbClr val="555555"/>
                </a:solidFill>
              </a:rPr>
              <a:t>34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461809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Example-1 </a:t>
            </a:r>
            <a:r>
              <a:rPr lang="en-US" sz="1600" dirty="0"/>
              <a:t>continued…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 fontScale="62500" lnSpcReduction="20000"/>
          </a:bodyPr>
          <a:lstStyle/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Run an SQL query using </a:t>
            </a:r>
            <a:r>
              <a:rPr lang="en-US" sz="2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6. Display the results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81E8F909-E498-482C-AD1F-24B58B16BF67}" type="slidenum">
              <a:rPr sz="1350">
                <a:solidFill>
                  <a:srgbClr val="555555"/>
                </a:solidFill>
              </a:rPr>
              <a:t>35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69E83-AC26-1D39-228D-CF195ADB5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B487F-7417-A4D6-1BF1-F1FD387AB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75041"/>
            <a:ext cx="9144000" cy="582804"/>
          </a:xfrm>
        </p:spPr>
        <p:txBody>
          <a:bodyPr>
            <a:noAutofit/>
          </a:bodyPr>
          <a:lstStyle/>
          <a:p>
            <a:r>
              <a:rPr lang="en-US" sz="3200" dirty="0">
                <a:highlight>
                  <a:srgbClr val="00FFFF"/>
                </a:highlight>
              </a:rPr>
              <a:t>PySpark: create a DataFrame from a CSV File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BEB1A1-4525-6F4C-F211-E8BCA829B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Autofit/>
          </a:bodyPr>
          <a:lstStyle/>
          <a:p>
            <a:r>
              <a:rPr lang="en-US" sz="16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Define your data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INPUT_PATH = "path/to/your/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file.csv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US" sz="1800" dirty="0">
              <a:solidFill>
                <a:schemeClr val="tx1"/>
              </a:solidFill>
              <a:highlight>
                <a:srgbClr val="00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Read data from a CSV file with a header and create a DataFrame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spark.read.csv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INPUT_PATH,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header=True,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inferSchema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=True) </a:t>
            </a:r>
            <a:endParaRPr lang="en-US" sz="1800" dirty="0">
              <a:solidFill>
                <a:schemeClr val="tx1"/>
              </a:solidFill>
              <a:highlight>
                <a:srgbClr val="00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Find number of rows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df.count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Show the first 10 rows of the DataFrame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(10)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5A282BB-56EA-4265-85E3-FC8197E1882B}" type="slidenum">
              <a:rPr sz="1350">
                <a:solidFill>
                  <a:srgbClr val="555555"/>
                </a:solidFill>
              </a:rPr>
              <a:t>36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A3B6A-5B89-5D74-D46B-44E067DB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F6548-3DB0-678C-C8BB-E0D55AF7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 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6889B5-12DB-781B-4371-A7941F95D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This example introduces key intermediate concepts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like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aggregation (groupBy)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built-in column functions </a:t>
            </a:r>
          </a:p>
          <a:p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(when, avg)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and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handling null values (</a:t>
            </a:r>
            <a:r>
              <a:rPr lang="en-US" sz="2000" b="1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na.fill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Import required libraries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functions as F</a:t>
            </a:r>
          </a:p>
          <a:p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Initialize a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75C4D696-821C-4F74-8F39-3CD4DD78B2BA}" type="slidenum">
              <a:rPr sz="1350">
                <a:solidFill>
                  <a:srgbClr val="555555"/>
                </a:solidFill>
              </a:rPr>
              <a:t>37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712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09814-836A-9F2E-CF70-F041505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40E5E-C8C3-2F82-62F7-746DF27FF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EA4932-BD18-AF16-7EED-950443E21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 Sample e-commerce transaction data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(with some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missing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values)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1200.0,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45.50,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150.0,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22.00, "UK"),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80.00,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15.75,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),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Column_names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"Category", "Amount", "Country"]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F43281D-5879-4807-9528-92802FC8C596}" type="slidenum">
              <a:rPr sz="1350">
                <a:solidFill>
                  <a:srgbClr val="555555"/>
                </a:solidFill>
              </a:rPr>
              <a:t>38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4424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F0AB-1BA2-CDE4-756D-8F40C225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B8B1-BB12-1BF5-1805-696B156B85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7D4A7-DC41-3406-4535-1893411EAF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Create a DataFrame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schema=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column_names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Raw Data ---")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Raw Data ---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 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69C1AB7-B47C-479E-81B8-1076FF142B5B}" type="slidenum">
              <a:rPr sz="1350">
                <a:solidFill>
                  <a:srgbClr val="555555"/>
                </a:solidFill>
              </a:rPr>
              <a:t>39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501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FFE11-A2FC-B4C5-719D-E513CB53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B281-72F4-A0A8-C822-84C3275DC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63606-0952-DB88-CB9A-9846EB917E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85000" lnSpcReduction="20000"/>
          </a:bodyPr>
          <a:lstStyle/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Data Cleaning: Handle missing values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Amounts with 0.0, and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Countries with 'Unknown’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df.na.fill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({"Amount": 0.0, "Country": "Unknown"}) 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6. Data Transformation: Add a conditional "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Customer_Segment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 column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High spenders (&gt; $500), Medium spenders (&gt; $0), and Inactive ($0)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df_cleaned.withColumn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"Segment",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F.when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500, "High")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.when(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0, "Medium")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.otherwise("Inactive")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7. Show the first 20 rows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Cleaned and Transformed Data ---")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df_transformed.show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(20)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61C735B-FB3D-4BB5-822E-3BD6FE3F9E97}" type="slidenum">
              <a:rPr sz="1350">
                <a:solidFill>
                  <a:srgbClr val="555555"/>
                </a:solidFill>
              </a:rPr>
              <a:t>40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81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5D853-9238-05FD-5E78-5D5C79B60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38278-3D88-2213-DBB2-CE359F4EE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C9F955-54F6-F168-6C67-7A0806AE2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Cleaned and Transformed Data ---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+------+-----------+------+-------+--------+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Category|Amount|Country|Segment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+------+-----------+------+-------+--------+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   High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0.0|   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US|Inactive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15.75|Unknown|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5C976C9-7303-4A34-897E-1F9FA86AD15F}" type="slidenum">
              <a:rPr sz="1350">
                <a:solidFill>
                  <a:srgbClr val="555555"/>
                </a:solidFill>
              </a:rPr>
              <a:t>41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502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807E0-766D-74F2-79CA-5B5E1CBFC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148F-E00D-6F02-670E-AF88CB5B45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D4C2F-A2C4-9BB5-9623-5F12F87EB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8. Data Aggregation: Calculate metrics by Category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Total spend, average spend, and distinct customer count per category 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df_transformed.groupBy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("Category").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F.sum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F.round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F.avg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Average_Spend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F.countDistinct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F.desc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"))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9. Show the first 20 rows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Aggregated Category Metrics ---") </a:t>
            </a: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df_metrics.show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(20)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3DC2FE05-9360-424B-8FE6-559B6FDE051B}" type="slidenum">
              <a:rPr sz="1350">
                <a:solidFill>
                  <a:srgbClr val="555555"/>
                </a:solidFill>
              </a:rPr>
              <a:t>42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1302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A8E2-C461-788F-42A8-9083DC3DA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A550C-07F0-F49E-364B-838253ACC5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6EBF6-F292-FA1B-928C-7F87045BAF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Aggregated Category Metrics ---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20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Category|Total_Revenue|Average_Spend|Unique_Customers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|Electronics|       1350.0|        450.0|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      125.5|        62.75|               1|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      37.75|        18.88|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778BBED-B3A7-495A-AE42-A012F5F1BCBF}" type="slidenum">
              <a:rPr sz="1350">
                <a:solidFill>
                  <a:srgbClr val="555555"/>
                </a:solidFill>
              </a:rPr>
              <a:t>43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5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/>
              <a:t>3. Main Course Components</a:t>
            </a:r>
            <a:br>
              <a:rPr lang="en-US"/>
            </a:br>
            <a:r>
              <a:rPr lang="en-US" sz="4800"/>
              <a:t>Serverless SQL Access to Big Data (15%)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Snowflake</a:t>
            </a:r>
          </a:p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6043AF3-28D1-406F-8137-F1BEDEF97D28}" type="slidenum">
              <a:rPr sz="1350">
                <a:solidFill>
                  <a:srgbClr val="555555"/>
                </a:solidFill>
              </a:rPr>
              <a:t>44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 sz="4900" dirty="0"/>
              <a:t>Amazon Athena</a:t>
            </a:r>
            <a:r>
              <a:rPr lang="en-US" dirty="0"/>
              <a:t>: </a:t>
            </a:r>
            <a:r>
              <a:rPr lang="en-US" sz="2700" dirty="0"/>
              <a:t>built from </a:t>
            </a:r>
            <a:r>
              <a:rPr lang="en-US" sz="2700" dirty="0" err="1"/>
              <a:t>PrestoDB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6920753" cy="4144617"/>
          </a:xfrm>
        </p:spPr>
        <p:txBody>
          <a:bodyPr>
            <a:normAutofit/>
          </a:bodyPr>
          <a:lstStyle/>
          <a:p>
            <a:r>
              <a:rPr lang="en-US" sz="4000" dirty="0">
                <a:hlinkClick r:id="rId2"/>
              </a:rPr>
              <a:t>Amazon Athena</a:t>
            </a:r>
            <a:r>
              <a:rPr lang="en-US" sz="4000" dirty="0"/>
              <a:t> </a:t>
            </a:r>
            <a:r>
              <a:rPr lang="en-US" sz="4000" dirty="0">
                <a:solidFill>
                  <a:schemeClr val="tx1"/>
                </a:solidFill>
              </a:rPr>
              <a:t>is a </a:t>
            </a:r>
            <a:r>
              <a:rPr lang="en-US" sz="4000" dirty="0">
                <a:solidFill>
                  <a:srgbClr val="00B0F0"/>
                </a:solidFill>
              </a:rPr>
              <a:t>serverless</a:t>
            </a:r>
            <a:r>
              <a:rPr lang="en-US" sz="4000" dirty="0">
                <a:solidFill>
                  <a:schemeClr val="tx1"/>
                </a:solidFill>
              </a:rPr>
              <a:t>, </a:t>
            </a:r>
            <a:r>
              <a:rPr lang="en-US" sz="4000" dirty="0">
                <a:solidFill>
                  <a:srgbClr val="00B0F0"/>
                </a:solidFill>
              </a:rPr>
              <a:t>interactive query service</a:t>
            </a:r>
            <a:r>
              <a:rPr lang="en-US" sz="4000" dirty="0">
                <a:solidFill>
                  <a:schemeClr val="tx1"/>
                </a:solidFill>
              </a:rPr>
              <a:t> provided by AWS that uses </a:t>
            </a:r>
            <a:r>
              <a:rPr lang="en-US" sz="4000" dirty="0" err="1">
                <a:solidFill>
                  <a:schemeClr val="tx1"/>
                </a:solidFill>
              </a:rPr>
              <a:t>PrestoDB</a:t>
            </a:r>
            <a:r>
              <a:rPr lang="en-US" sz="4000" dirty="0">
                <a:solidFill>
                  <a:schemeClr val="tx1"/>
                </a:solidFill>
              </a:rPr>
              <a:t> as its underlying distributed SQL query engine.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88D2668E-3CA8-4097-995B-77740B5AA64B}" type="slidenum">
              <a:rPr sz="1350">
                <a:solidFill>
                  <a:srgbClr val="555555"/>
                </a:solidFill>
              </a:rPr>
              <a:t>45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A115-EB2F-FDE3-B96A-AF6DDECC4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C70A6-3FB1-456E-05E1-4F9327659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 dirty="0"/>
              <a:t>Amazon Athena: </a:t>
            </a:r>
            <a:r>
              <a:rPr lang="en-US" sz="2700" dirty="0"/>
              <a:t>built from </a:t>
            </a:r>
            <a:r>
              <a:rPr lang="en-US" sz="2700" dirty="0" err="1"/>
              <a:t>PrestoDB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20C8A-1CC8-6FBC-2641-E07930C76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Fast performance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6E6500F1-507F-D89C-D1CF-9A3E7199B790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88D2668E-3CA8-4097-995B-77740B5AA64B}" type="slidenum">
              <a:rPr sz="1350">
                <a:solidFill>
                  <a:srgbClr val="555555"/>
                </a:solidFill>
              </a:rPr>
              <a:t>46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920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3786D0A-3E51-4025-9432-7D52E9C0627C}" type="slidenum">
              <a:rPr sz="1350">
                <a:solidFill>
                  <a:srgbClr val="555555"/>
                </a:solidFill>
              </a:rPr>
              <a:t>47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2662</TotalTime>
  <Words>3057</Words>
  <Application>Microsoft Macintosh PowerPoint</Application>
  <PresentationFormat>Widescreen</PresentationFormat>
  <Paragraphs>423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9" baseType="lpstr">
      <vt:lpstr>Aptos</vt:lpstr>
      <vt:lpstr>Arial</vt:lpstr>
      <vt:lpstr>Avenir Next</vt:lpstr>
      <vt:lpstr>Calibri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&amp; Analytics  10 Weeks Course Outline</vt:lpstr>
      <vt:lpstr>Big Data Modeling &amp; Analytics?</vt:lpstr>
      <vt:lpstr>1. What is Big Data?</vt:lpstr>
      <vt:lpstr>What is a Big Data Modeling?</vt:lpstr>
      <vt:lpstr>What is a Big Data Modeling?</vt:lpstr>
      <vt:lpstr>What is a Big Data Modeling &amp; Analytics?</vt:lpstr>
      <vt:lpstr>Business Value of Big Data Modeling &amp; Analytics?</vt:lpstr>
      <vt:lpstr>🎯  Query-Driven Schema Design</vt:lpstr>
      <vt:lpstr>Big Data Modeling Course Components:</vt:lpstr>
      <vt:lpstr>Big Data Analysis</vt:lpstr>
      <vt:lpstr>1. MapReduce Paradigm</vt:lpstr>
      <vt:lpstr>1. MapReduce Paradigm in Action:       split  data into chunks: then parallelize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Spark: engine for large-scale data analytics</vt:lpstr>
      <vt:lpstr>2. Apache Spark Programs</vt:lpstr>
      <vt:lpstr>Apache Spark: Components</vt:lpstr>
      <vt:lpstr>Spark Run Modes</vt:lpstr>
      <vt:lpstr>Spark Run Modes: Local Single Machine or Cluster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RDD element: (String, (Float, Float))</vt:lpstr>
      <vt:lpstr>Spark Data Abstractions: DataFrame</vt:lpstr>
      <vt:lpstr>PySpark DataFrame Example-1</vt:lpstr>
      <vt:lpstr>PySpark DataFrame Example-1 continued…</vt:lpstr>
      <vt:lpstr>PySpark: create a DataFrame from a CSV File</vt:lpstr>
      <vt:lpstr>PySpark DataFrame Example-2 -  01</vt:lpstr>
      <vt:lpstr>PySpark DataFrame Example-2 - 02</vt:lpstr>
      <vt:lpstr>PySpark DataFrame Example-2 - 03</vt:lpstr>
      <vt:lpstr>PySpark DataFrame Example-2 - 04</vt:lpstr>
      <vt:lpstr>PySpark DataFrame Example-2 - 05</vt:lpstr>
      <vt:lpstr>PySpark DataFrame Example-2 - 06</vt:lpstr>
      <vt:lpstr>PySpark DataFrame Example-2 - 07</vt:lpstr>
      <vt:lpstr>3. Main Course Components Serverless SQL Access to Big Data (15%)</vt:lpstr>
      <vt:lpstr>Amazon Athena: built from PrestoDB</vt:lpstr>
      <vt:lpstr>Amazon Athena: built from PrestoDB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56</cp:revision>
  <dcterms:created xsi:type="dcterms:W3CDTF">2022-03-27T03:42:59Z</dcterms:created>
  <dcterms:modified xsi:type="dcterms:W3CDTF">2026-09-21T03:46:40Z</dcterms:modified>
</cp:coreProperties>
</file>